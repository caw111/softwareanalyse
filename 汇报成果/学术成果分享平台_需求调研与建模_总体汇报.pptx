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2baa840d6a416a" /><Relationship Type="http://schemas.openxmlformats.org/officeDocument/2006/relationships/extended-properties" Target="/docProps/app.xml" Id="R349314a2c3324d43" /><Relationship Type="http://schemas.openxmlformats.org/officeDocument/2006/relationships/officeDocument" Target="/ppt/presentation.xml" Id="R5da5f1080cab45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a1f58bc214740"/>
  </p:sldMasterIdLst>
  <p:notesMasterIdLst>
    <p:notesMasterId xmlns:r="http://schemas.openxmlformats.org/officeDocument/2006/relationships" r:id="R37bc12a2c2684a30"/>
  </p:notesMasterIdLst>
  <p:sldIdLst>
    <p:sldId xmlns:r="http://schemas.openxmlformats.org/officeDocument/2006/relationships" id="256" r:id="R58d8c9483a974d0f"/>
    <p:sldId xmlns:r="http://schemas.openxmlformats.org/officeDocument/2006/relationships" id="257" r:id="Ra63751d6da8a4e1a"/>
    <p:sldId xmlns:r="http://schemas.openxmlformats.org/officeDocument/2006/relationships" id="258" r:id="R72f33adc867949ac"/>
    <p:sldId xmlns:r="http://schemas.openxmlformats.org/officeDocument/2006/relationships" id="259" r:id="Refbb984327ee4f49"/>
    <p:sldId xmlns:r="http://schemas.openxmlformats.org/officeDocument/2006/relationships" id="260" r:id="R16a671c8fdd44c00"/>
    <p:sldId xmlns:r="http://schemas.openxmlformats.org/officeDocument/2006/relationships" id="261" r:id="Raf014ef6f0024239"/>
    <p:sldId xmlns:r="http://schemas.openxmlformats.org/officeDocument/2006/relationships" id="262" r:id="R5859e7bb8ccf4b4f"/>
    <p:sldId xmlns:r="http://schemas.openxmlformats.org/officeDocument/2006/relationships" id="263" r:id="Rb6f8c1ed0c4b4fe4"/>
    <p:sldId xmlns:r="http://schemas.openxmlformats.org/officeDocument/2006/relationships" id="264" r:id="R7edca33354aa48f8"/>
    <p:sldId xmlns:r="http://schemas.openxmlformats.org/officeDocument/2006/relationships" id="265" r:id="R08d4671233d0442a"/>
    <p:sldId xmlns:r="http://schemas.openxmlformats.org/officeDocument/2006/relationships" id="266" r:id="R641eb486614d4789"/>
    <p:sldId xmlns:r="http://schemas.openxmlformats.org/officeDocument/2006/relationships" id="267" r:id="R300150edc2a34805"/>
    <p:sldId xmlns:r="http://schemas.openxmlformats.org/officeDocument/2006/relationships" id="268" r:id="Rf8b9fc5e78044f79"/>
    <p:sldId xmlns:r="http://schemas.openxmlformats.org/officeDocument/2006/relationships" id="269" r:id="R09435520c8994db4"/>
    <p:sldId xmlns:r="http://schemas.openxmlformats.org/officeDocument/2006/relationships" id="270" r:id="R99ec1d964195458d"/>
    <p:sldId xmlns:r="http://schemas.openxmlformats.org/officeDocument/2006/relationships" id="271" r:id="R0dff2f4b1153422d"/>
    <p:sldId xmlns:r="http://schemas.openxmlformats.org/officeDocument/2006/relationships" id="272" r:id="Ra981b2828c654a6c"/>
    <p:sldId xmlns:r="http://schemas.openxmlformats.org/officeDocument/2006/relationships" id="273" r:id="Ra1764648ce0b4b52"/>
    <p:sldId xmlns:r="http://schemas.openxmlformats.org/officeDocument/2006/relationships" id="274" r:id="Rb0df8396755a4a17"/>
    <p:sldId xmlns:r="http://schemas.openxmlformats.org/officeDocument/2006/relationships" id="275" r:id="Rd1d7a88cd9b94c1b"/>
    <p:sldId xmlns:r="http://schemas.openxmlformats.org/officeDocument/2006/relationships" id="276" r:id="Ra36512c9d5bc493b"/>
    <p:sldId xmlns:r="http://schemas.openxmlformats.org/officeDocument/2006/relationships" id="277" r:id="R57545ab72615445d"/>
    <p:sldId xmlns:r="http://schemas.openxmlformats.org/officeDocument/2006/relationships" id="278" r:id="R40b2aad90c7b4846"/>
    <p:sldId xmlns:r="http://schemas.openxmlformats.org/officeDocument/2006/relationships" id="279" r:id="R341632f7338f4d82"/>
    <p:sldId xmlns:r="http://schemas.openxmlformats.org/officeDocument/2006/relationships" id="280" r:id="R088d02d6be0a49d8"/>
    <p:sldId xmlns:r="http://schemas.openxmlformats.org/officeDocument/2006/relationships" id="281" r:id="R0dec281229ef49db"/>
    <p:sldId xmlns:r="http://schemas.openxmlformats.org/officeDocument/2006/relationships" id="282" r:id="R91729e9d0aa941d6"/>
    <p:sldId xmlns:r="http://schemas.openxmlformats.org/officeDocument/2006/relationships" id="283" r:id="R512b25137d664b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2d8b635c2f48d7" /><Relationship Type="http://schemas.openxmlformats.org/officeDocument/2006/relationships/slideMaster" Target="/ppt/slideMasters/slideMaster1.xml" Id="R746a1f58bc214740" /><Relationship Type="http://schemas.openxmlformats.org/officeDocument/2006/relationships/notesMaster" Target="/ppt/notesMasters/notesMaster1.xml" Id="R37bc12a2c2684a30" /><Relationship Type="http://schemas.openxmlformats.org/officeDocument/2006/relationships/presProps" Target="/ppt/presProps.xml" Id="R7a866637ef8e4c01" /><Relationship Type="http://schemas.openxmlformats.org/officeDocument/2006/relationships/tableStyles" Target="/ppt/tableStyles.xml" Id="Rb3c6cd855fdf444f" /><Relationship Type="http://schemas.openxmlformats.org/officeDocument/2006/relationships/slide" Target="/ppt/slides/slide1.xml" Id="R58d8c9483a974d0f" /><Relationship Type="http://schemas.openxmlformats.org/officeDocument/2006/relationships/slide" Target="/ppt/slides/slide2.xml" Id="Ra63751d6da8a4e1a" /><Relationship Type="http://schemas.openxmlformats.org/officeDocument/2006/relationships/slide" Target="/ppt/slides/slide3.xml" Id="R72f33adc867949ac" /><Relationship Type="http://schemas.openxmlformats.org/officeDocument/2006/relationships/slide" Target="/ppt/slides/slide4.xml" Id="Refbb984327ee4f49" /><Relationship Type="http://schemas.openxmlformats.org/officeDocument/2006/relationships/slide" Target="/ppt/slides/slide5.xml" Id="R16a671c8fdd44c00" /><Relationship Type="http://schemas.openxmlformats.org/officeDocument/2006/relationships/slide" Target="/ppt/slides/slide6.xml" Id="Raf014ef6f0024239" /><Relationship Type="http://schemas.openxmlformats.org/officeDocument/2006/relationships/slide" Target="/ppt/slides/slide7.xml" Id="R5859e7bb8ccf4b4f" /><Relationship Type="http://schemas.openxmlformats.org/officeDocument/2006/relationships/slide" Target="/ppt/slides/slide8.xml" Id="Rb6f8c1ed0c4b4fe4" /><Relationship Type="http://schemas.openxmlformats.org/officeDocument/2006/relationships/slide" Target="/ppt/slides/slide9.xml" Id="R7edca33354aa48f8" /><Relationship Type="http://schemas.openxmlformats.org/officeDocument/2006/relationships/slide" Target="/ppt/slides/slide10.xml" Id="R08d4671233d0442a" /><Relationship Type="http://schemas.openxmlformats.org/officeDocument/2006/relationships/slide" Target="/ppt/slides/slide11.xml" Id="R641eb486614d4789" /><Relationship Type="http://schemas.openxmlformats.org/officeDocument/2006/relationships/slide" Target="/ppt/slides/slide12.xml" Id="R300150edc2a34805" /><Relationship Type="http://schemas.openxmlformats.org/officeDocument/2006/relationships/slide" Target="/ppt/slides/slide13.xml" Id="Rf8b9fc5e78044f79" /><Relationship Type="http://schemas.openxmlformats.org/officeDocument/2006/relationships/slide" Target="/ppt/slides/slide14.xml" Id="R09435520c8994db4" /><Relationship Type="http://schemas.openxmlformats.org/officeDocument/2006/relationships/slide" Target="/ppt/slides/slide15.xml" Id="R99ec1d964195458d" /><Relationship Type="http://schemas.openxmlformats.org/officeDocument/2006/relationships/slide" Target="/ppt/slides/slide16.xml" Id="R0dff2f4b1153422d" /><Relationship Type="http://schemas.openxmlformats.org/officeDocument/2006/relationships/slide" Target="/ppt/slides/slide17.xml" Id="Ra981b2828c654a6c" /><Relationship Type="http://schemas.openxmlformats.org/officeDocument/2006/relationships/slide" Target="/ppt/slides/slide18.xml" Id="Ra1764648ce0b4b52" /><Relationship Type="http://schemas.openxmlformats.org/officeDocument/2006/relationships/slide" Target="/ppt/slides/slide19.xml" Id="Rb0df8396755a4a17" /><Relationship Type="http://schemas.openxmlformats.org/officeDocument/2006/relationships/slide" Target="/ppt/slides/slide20.xml" Id="Rd1d7a88cd9b94c1b" /><Relationship Type="http://schemas.openxmlformats.org/officeDocument/2006/relationships/slide" Target="/ppt/slides/slide21.xml" Id="Ra36512c9d5bc493b" /><Relationship Type="http://schemas.openxmlformats.org/officeDocument/2006/relationships/slide" Target="/ppt/slides/slide22.xml" Id="R57545ab72615445d" /><Relationship Type="http://schemas.openxmlformats.org/officeDocument/2006/relationships/slide" Target="/ppt/slides/slide23.xml" Id="R40b2aad90c7b4846" /><Relationship Type="http://schemas.openxmlformats.org/officeDocument/2006/relationships/slide" Target="/ppt/slides/slide24.xml" Id="R341632f7338f4d82" /><Relationship Type="http://schemas.openxmlformats.org/officeDocument/2006/relationships/slide" Target="/ppt/slides/slide25.xml" Id="R088d02d6be0a49d8" /><Relationship Type="http://schemas.openxmlformats.org/officeDocument/2006/relationships/slide" Target="/ppt/slides/slide26.xml" Id="R0dec281229ef49db" /><Relationship Type="http://schemas.openxmlformats.org/officeDocument/2006/relationships/slide" Target="/ppt/slides/slide27.xml" Id="R91729e9d0aa941d6" /><Relationship Type="http://schemas.openxmlformats.org/officeDocument/2006/relationships/slide" Target="/ppt/slides/slide28.xml" Id="R512b25137d66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29c43a1e81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f5cf8c95f4e69" /><Relationship Type="http://schemas.openxmlformats.org/officeDocument/2006/relationships/notesMaster" Target="/ppt/notesMasters/notesMaster1.xml" Id="Re4118f33399b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69a5f597c43af" /><Relationship Type="http://schemas.openxmlformats.org/officeDocument/2006/relationships/notesMaster" Target="/ppt/notesMasters/notesMaster1.xml" Id="R5ab0740d79d840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7ba11bcf454576" /><Relationship Type="http://schemas.openxmlformats.org/officeDocument/2006/relationships/notesMaster" Target="/ppt/notesMasters/notesMaster1.xml" Id="R3380fb5cd3b840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70f0104c3b4e2b" /><Relationship Type="http://schemas.openxmlformats.org/officeDocument/2006/relationships/notesMaster" Target="/ppt/notesMasters/notesMaster1.xml" Id="Rf9f53ec7dd0745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d48741b8aa439d" /><Relationship Type="http://schemas.openxmlformats.org/officeDocument/2006/relationships/notesMaster" Target="/ppt/notesMasters/notesMaster1.xml" Id="R4fe8630d55d4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fc38577f7241b2" /><Relationship Type="http://schemas.openxmlformats.org/officeDocument/2006/relationships/notesMaster" Target="/ppt/notesMasters/notesMaster1.xml" Id="R65c8324fe9c647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acaf0f0ff44f4d" /><Relationship Type="http://schemas.openxmlformats.org/officeDocument/2006/relationships/notesMaster" Target="/ppt/notesMasters/notesMaster1.xml" Id="Ra22e6101b9cc46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b2c3a7a3c34b1f" /><Relationship Type="http://schemas.openxmlformats.org/officeDocument/2006/relationships/notesMaster" Target="/ppt/notesMasters/notesMaster1.xml" Id="R137ee96858e54e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a5458c888544e4" /><Relationship Type="http://schemas.openxmlformats.org/officeDocument/2006/relationships/notesMaster" Target="/ppt/notesMasters/notesMaster1.xml" Id="Ra8716b8b30af46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9a7e2a76534ed6" /><Relationship Type="http://schemas.openxmlformats.org/officeDocument/2006/relationships/notesMaster" Target="/ppt/notesMasters/notesMaster1.xml" Id="Rfc51229c35d24f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8c38795ea34313" /><Relationship Type="http://schemas.openxmlformats.org/officeDocument/2006/relationships/notesMaster" Target="/ppt/notesMasters/notesMaster1.xml" Id="Racba2fe0fcc149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0f5f55d2634132" /><Relationship Type="http://schemas.openxmlformats.org/officeDocument/2006/relationships/notesMaster" Target="/ppt/notesMasters/notesMaster1.xml" Id="R689ed8f15ca040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18bf999d3d4820" /><Relationship Type="http://schemas.openxmlformats.org/officeDocument/2006/relationships/notesMaster" Target="/ppt/notesMasters/notesMaster1.xml" Id="R8666c0a337c548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2557d624334fac" /><Relationship Type="http://schemas.openxmlformats.org/officeDocument/2006/relationships/notesMaster" Target="/ppt/notesMasters/notesMaster1.xml" Id="R614da41e160447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b658ac45944ca6" /><Relationship Type="http://schemas.openxmlformats.org/officeDocument/2006/relationships/notesMaster" Target="/ppt/notesMasters/notesMaster1.xml" Id="R4d916d1d456148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00e8cb8e954317" /><Relationship Type="http://schemas.openxmlformats.org/officeDocument/2006/relationships/notesMaster" Target="/ppt/notesMasters/notesMaster1.xml" Id="R329a95eceebc45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377a1e95eb4669" /><Relationship Type="http://schemas.openxmlformats.org/officeDocument/2006/relationships/notesMaster" Target="/ppt/notesMasters/notesMaster1.xml" Id="R1d5b6075b29f4e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8c3d4f08984cae" /><Relationship Type="http://schemas.openxmlformats.org/officeDocument/2006/relationships/notesMaster" Target="/ppt/notesMasters/notesMaster1.xml" Id="R649e9685313345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5e1e56466e4228" /><Relationship Type="http://schemas.openxmlformats.org/officeDocument/2006/relationships/notesMaster" Target="/ppt/notesMasters/notesMaster1.xml" Id="R408dbeec934b46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70813a1cfd4516" /><Relationship Type="http://schemas.openxmlformats.org/officeDocument/2006/relationships/notesMaster" Target="/ppt/notesMasters/notesMaster1.xml" Id="R2af816bc36ba4d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afc9a25869428f" /><Relationship Type="http://schemas.openxmlformats.org/officeDocument/2006/relationships/notesMaster" Target="/ppt/notesMasters/notesMaster1.xml" Id="Rf1d17ed2078a4db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85742839594201" /><Relationship Type="http://schemas.openxmlformats.org/officeDocument/2006/relationships/notesMaster" Target="/ppt/notesMasters/notesMaster1.xml" Id="Ra261e397abd942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84fbd826d93487b" /><Relationship Type="http://schemas.openxmlformats.org/officeDocument/2006/relationships/notesMaster" Target="/ppt/notesMasters/notesMaster1.xml" Id="R05b2ad7d88064c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eed38712044f03" /><Relationship Type="http://schemas.openxmlformats.org/officeDocument/2006/relationships/notesMaster" Target="/ppt/notesMasters/notesMaster1.xml" Id="Rd99a3fbca2074c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601920700841ed" /><Relationship Type="http://schemas.openxmlformats.org/officeDocument/2006/relationships/notesMaster" Target="/ppt/notesMasters/notesMaster1.xml" Id="R143fc67995864ac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c0b467168543cb" /><Relationship Type="http://schemas.openxmlformats.org/officeDocument/2006/relationships/notesMaster" Target="/ppt/notesMasters/notesMaster1.xml" Id="R1a0d4336e63e401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7cbc0e3eb94031" /><Relationship Type="http://schemas.openxmlformats.org/officeDocument/2006/relationships/notesMaster" Target="/ppt/notesMasters/notesMaster1.xml" Id="R2e11ddf762054eb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cfb18611f043e5" /><Relationship Type="http://schemas.openxmlformats.org/officeDocument/2006/relationships/notesMaster" Target="/ppt/notesMasters/notesMaster1.xml" Id="R21e85adc2d844d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各位老师、同学好，本次汇报聚焦需求调研与需求建模。我们把普通用户、科研人员和管理员的资料统一起来，围绕四类成果说明平台要解决的问题、核心业务规则和模型，并明确已有证据与待验证内容。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来源：课程任务书；M01—M06；G01—G08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书将需求调研和需求建模列为两个评审阶段。目录中已有三份Markdown调研材料、数据源Word报告以及SRS、SPEC和八张图。我们发现分角色用例图较完整，但总用例和采集状态图没有独立成图。因此本汇报增加总用例和两类状态模型，类图与时序图作为下一阶段预研材料，不代替状态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来源：任务书物理第5—6、10页；M01—M06；G01—G08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有研究主要采用公开资料研读、数据源分析和同类平台对比。普通用户材料强调核实信息，科研人员材料强调归属与管理，数据源材料强调追踪与质量。我们把这些证据映射到需求、用例、规范和验收。目录中没有本小组实际问卷回收和访谈原始记录，所以画像只用于说明场景，后续要通过三角色访谈和接入样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来源：M01第1、8章；M02引言；M03第1—3、8节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体报告已比较十个平台，我们不逐一复述产品介绍，而是提炼四类机制。学者档案给出门户和身份关联的参考；书目与元数据平台支持开放接入；国内成果服务体现机构和多类型成果场景；科研整理工具提示收藏和来源核查的增强价值。平台坚持四类成果和可信归属，暂不把讨论社区、推荐或笔记全部列为必做，也不依赖原报告待核实的商业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来源：M01第2章；M02第4章；M03第2—3节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用户需要找得到并核实成果，科研人员需要维护本人门户，管理员需要让采集、审核和质量问题可控。角色按当前操作权限区分，一个人可以同时是查询者和科研人员。账号不是学者实体，门户认领通过后才建立管理绑定。管理员可以审核证明材料和公共数据，但并不因此自动获得私人笔记读取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来源：M01第6章；M02第1章；M03第4、7节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优先用OpenAlex，DBLP补充计算机领域，Crossref校验出版标识。专利优先核查官方公开服务，奖励按授奖机构公告接入。科研项目在总体报告里有来源讨论，但数据源专项报告及SPEC缺少完整链路，本次补充资助机构加项目编号的识别规则。先用论文支撑规模，另外三类仍需小样本可演示路径。没有可用批量访问的类型可采用任务书允许的模拟样本，并明确标识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来源：M01第3章；M04第2、11章；任务书正文第1—2、8页；OpenAlex、DBLP与NSFC官方说明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采用本地稳定领域、学科和方向层级，并保存外部标签和版本。各分类体系不完全等价，所以不能直接把NSFC、国家学科目录和OpenAlex逐级拼接。跨学科成果允许多个领域，未分类单列。每项成果保存至少一个来源，主字段保留来源选择依据；自动更新遇到人工修订冲突时进入复核，不悄悄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来源：M01第4、5章；M03第6.1、7节；M04第3、7、9章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资料使用P0、P1、P2和M、S、C两套表达。我们统一为基础必做、增强和后续可选。SRS把成果维护和基础统计列为P1、创新列为P2，容易导致遗漏任务书必做内容，需要回写修订。至少一项创新必须交付，建议在基础合作网络之上做筛选、共同成果回溯和最短共著路径；是否满足创新要求由评审确认。交易、付费和支付放在后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来源：任务书正文第1、3、8页；M01第7章；M03第4—6节；M05 FR-13/14/16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总用例将公开查询、门户认领、管理采集和数据治理放在同一边界里。左侧是访客、注册科研人员和已认领学者，右侧是管理员及外部数据源。权限继承由参与者泛化表达。公开统计和网络是用户目标，管理员负责审核、任务及质量。图中关联线不表达先后顺序；详细操作顺序在活动图和状态图中说明。分角色原图在附录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来源：任务书二（二）1；M02/M03；M05第3章；新增汇总模型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找某位作者近五年的成果为例，用户先输入姓名、机构或领域，系统展示人物候选。用户核对机构、代表成果和标识后，按实体ID查询，而不是把同名作者的论文全部混在一起。未确认身份时允许文本检索，但说明范围。多个筛选维度同时生效，详情展示来源与缺失字段，空结果和服务失败分开提示。返回时保留条件、排序和页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来源：M02第6—8、12.1、13章；M03第7.2节；G04/G05/G08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认领活动图已有科研人员、平台和管理员三条泳道。这里提炼其核心：申请人提供身份与成果证据，平台校验材料、重复申请和绑定状态，管理员核验。证据不足走补材料，不是直接驳回。通过后仍要原子检查唯一绑定，再授予权限和写审计。邮箱验证只证明邮箱控制，ORCID格式正确不证明本人；可交互绑定应使用认证流程。并发冲突时回到复核并保留原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来源：M03第7、10节；G03；M05 FR-11/12；https://info.orcid.org/documentation/collecting-and-sharing-orcid-ids/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集状态统一为待执行、运行中、成功、失败、重试和已停止。管理员启动或计划触发进入运行，失败保存错误与检查点，再按退避和次数上限重试。停止是终态，再执行建立新任务并关联旧任务。原SRS提到暂停但没有暂停及恢复状态，因此当前统一为停止。采集成功只指约定采集和解析完成，不代表数据质量、索引和整个系统都验收成功。完整事件与日志规则见配套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来源：任务书二（二）3；M05第8.1节；M06 SPEC-INGEST-01；本次补充模型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认领模型补入SRS缺少的待补充状态，与已有活动图一致。申请从草稿提交为待审核，再由管理员开始审核，审核可退回补充、驳回或绑定通过。待补充重新提交回到待审核；绑定竞争也回到待审核。草稿、待审核和待补充可撤回；终态历史不改写。已驳回后需要再次申请时建立新记录，避免重用旧申请破坏审核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来源：M03第7、10、13节；G03；M05第8.2节；本次统一模型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SRS给出了十六项功能需求，SPEC提供采集、清洗、去重、消歧、检索和质量六项规范。我们建议在原规范中补齐科研项目，而不是另造一套体系；认领与统计已有散落的规则，需要整理为独立模块规范。每份规范要明确做什么、输入输出、规则边界、异常、接口和验收，并与需求编号对应。后续代码履约从已评审规范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来源：M05第3—9章；M06第1—8章；M03第7节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清洗保留原值和比较值，规范DOI、日期精度及作者顺序。论文先用DOI去重，无DOI再做候选评分；专利区分公开文献、申请和家族；奖励用复合键。项目补充资助机构和项目编号，编号缺失只召回候选并人工确认。作者同名不能直接合并，身份和机构历史需要多项证据。表中阈值来自现有SPEC，是待标注样本验证的参数，不是已经达到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来源：M04第4—6章；M06 SPEC-DATA-01/02/03；项目为本次补充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索首先保证精确标识命中和标题优先，并列结果采用年份和成果ID形成稳定顺序。现有复合分包含文本、引用、时效和质量，实施前需要统一归一化与缺失值处理。统计使用与列表一致的数据版本，机构采用全计数，故机构数量合计可能大于总成果数。合作网络边必须能追踪共同论文，最短路径仅代表共著连接。基础统计和网络是必做，高级筛选及路径分析是拟选创新增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来源：M03第7.2/7.3节；M02第9章；M06 SPEC-SEARCH-01；G01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书要求最终入库至少一万条成果，我们将它转化为可测试环境，建议在二十并发、预热五分钟下检索P95不超过两秒，统计五秒以内。数据质量目标沿用已有规范：核心完整率至少百分之九十五，来源追踪百分之百，清洗和自动合并通过抽样验证。认领并发、幂等采集和非本人修改也要有失败场景。当前没有实测报告，这些数字均是目标，评审应确认测试设备、分母和抽样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来源：任务书四（二）；M03第8节；M05第7/9章；M06第3/5/6/7章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矩阵让评审能从任务书找到需求，再找到模型和SPEC，最后找到可执行的验收场景。例如门户认领对应提交与审核用例、活动图和认领状态图，验收要覆盖补材料、驳回、重复申请和并发绑定。采集对应六状态图和INGEST规范，统计对应统一口径及合作网络证据。原各角色报告局部编号要加前缀，统一以SRS的FR编号维护，防止同号异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来源：M05 FR-01—16；M06第1、8章；配套方案第12节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审前优先做四件事：修订SRS，把四类、维护、基础统计和一个创新的范围写清；同步模型，把待补充和停止语义写入正式状态表；补齐项目采集、编号、去重和检索的样例规范；保存真实访谈、接入实验和评审记录。这不是重新扩建系统，而是消除已有文件之间的冲突，使团队在后续分析、设计和实现时遵循同一份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来源：M01—M06差异核对；任务书需求调研／建模评审要求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总体方案是以可追踪的数据为底座，以公开检索和学者门户为入口，以审核和数据治理保证可信，以可解释统计支持共享。现有材料已经提供较多调研和规则，但需要统一范围、补足项目与状态模型，并完成真实验证和评审。本阶段交付应包括调研报告、SRS、SPEC、模型、汇报和证据，再由已评审需求进入系统分析、架构和构件设计。附录完整保留八张原图，供老师提问时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来源：任务书第二部分与里程碑；本次整合方案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答疑附录，不计入15分钟主讲。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此页完整保留小组原图。公开检索与统计；注册账户扩展个人功能。原图用于对应现有资料，主讲中的统一模型及优先级以配套方案为准。类图和时序图属于后续需求分析的预研材料。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来源：M02；G01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答疑附录，不计入15分钟主讲。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此页完整保留小组原图。认领前后权限分离；审核管理员参与。原图用于对应现有资料，主讲中的统一模型及优先级以配套方案为准。类图和时序图属于后续需求分析的预研材料。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来源：M03第9节；G02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答疑附录，不计入15分钟主讲。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此页完整保留小组原图。成果、学者和统计三条查询路径。原图用于对应现有资料，主讲中的统一模型及优先级以配套方案为准。类图和时序图属于后续需求分析的预研材料。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来源：M02；G04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答疑附录，不计入15分钟主讲。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此页完整保留小组原图。同名候选、条件校验、空结果与返回上下文。原图用于对应现有资料，主讲中的统一模型及优先级以配套方案为准。类图和时序图属于后续需求分析的预研材料。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来源：M02 UC-01；G05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答疑附录，不计入15分钟主讲。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此页完整保留小组原图。三泳道：核验、补充、绑定竞争与审计。原图用于对应现有资料，主讲中的统一模型及优先级以配套方案为准。类图和时序图属于后续需求分析的预研材料。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来源：M03第10节；G03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答疑附录，不计入15分钟主讲。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此页完整保留小组原图。资料核查、资源条件、笔记与统计辅助。原图用于对应现有资料，主讲中的统一模型及优先级以配套方案为准。类图和时序图属于后续需求分析的预研材料。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来源：M03；G06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答疑附录，不计入15分钟主讲。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此页完整保留小组原图。四类成果与贡献关系；采集任务等对象需后续补齐。原图用于对应现有资料，主讲中的统一模型及优先级以配套方案为准。类图和时序图属于后续需求分析的预研材料。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来源：M03；G07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答疑附录，不计入15分钟主讲。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此页完整保留小组原图。参数校验、索引查询、权限过滤与结果返回。原图用于对应现有资料，主讲中的统一模型及优先级以配套方案为准。类图和时序图属于后续需求分析的预研材料。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来源：M03；G08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63859c2844e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34386293604494" /><Relationship Type="http://schemas.openxmlformats.org/officeDocument/2006/relationships/slideLayout" Target="/ppt/slideLayouts/slideLayout1.xml" Id="R10038ef77fd346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38ef77fd346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e411a54c14e4d" /><Relationship Type="http://schemas.openxmlformats.org/officeDocument/2006/relationships/notesSlide" Target="/ppt/notesSlides/notesSlide1.xml" Id="Ra5687760660649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0556c65e448a1" /><Relationship Type="http://schemas.openxmlformats.org/officeDocument/2006/relationships/notesSlide" Target="/ppt/notesSlides/notesSlide2.xml" Id="R7877f0ffb9a4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d010f5f294ac8" /><Relationship Type="http://schemas.openxmlformats.org/officeDocument/2006/relationships/notesSlide" Target="/ppt/notesSlides/notesSlide3.xml" Id="Rc965f6a66f9b43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d66102afe480e" /><Relationship Type="http://schemas.openxmlformats.org/officeDocument/2006/relationships/notesSlide" Target="/ppt/notesSlides/notesSlide4.xml" Id="R2afff6ae3a9b49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5e7cba20e4944" /><Relationship Type="http://schemas.openxmlformats.org/officeDocument/2006/relationships/notesSlide" Target="/ppt/notesSlides/notesSlide5.xml" Id="R0502dafd7c554f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40d9585204a24" /><Relationship Type="http://schemas.openxmlformats.org/officeDocument/2006/relationships/notesSlide" Target="/ppt/notesSlides/notesSlide6.xml" Id="R2cad9268768b4f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04338bc2e4338" /><Relationship Type="http://schemas.openxmlformats.org/officeDocument/2006/relationships/notesSlide" Target="/ppt/notesSlides/notesSlide7.xml" Id="Ra359b774a6cd4a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e79c1228d4abc" /><Relationship Type="http://schemas.openxmlformats.org/officeDocument/2006/relationships/notesSlide" Target="/ppt/notesSlides/notesSlide8.xml" Id="R5da57fbe64cb4a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3eb7acd0147aa" /><Relationship Type="http://schemas.openxmlformats.org/officeDocument/2006/relationships/notesSlide" Target="/ppt/notesSlides/notesSlide9.xml" Id="Ref6faa22c26349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db0eeda71460f" /><Relationship Type="http://schemas.openxmlformats.org/officeDocument/2006/relationships/notesSlide" Target="/ppt/notesSlides/notesSlide10.xml" Id="Rc4af6dcde6c3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6f75481964e12" /><Relationship Type="http://schemas.openxmlformats.org/officeDocument/2006/relationships/notesSlide" Target="/ppt/notesSlides/notesSlide11.xml" Id="R98ef015b541a4a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673602ee844a5" /><Relationship Type="http://schemas.openxmlformats.org/officeDocument/2006/relationships/notesSlide" Target="/ppt/notesSlides/notesSlide12.xml" Id="Rcbcef2ca85894f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ee4ff63194f77" /><Relationship Type="http://schemas.openxmlformats.org/officeDocument/2006/relationships/notesSlide" Target="/ppt/notesSlides/notesSlide13.xml" Id="Rce7595bf2bf148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e0d90eb044f3f" /><Relationship Type="http://schemas.openxmlformats.org/officeDocument/2006/relationships/notesSlide" Target="/ppt/notesSlides/notesSlide14.xml" Id="Ra34c6dc535f940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d22d2048f4dc7" /><Relationship Type="http://schemas.openxmlformats.org/officeDocument/2006/relationships/notesSlide" Target="/ppt/notesSlides/notesSlide15.xml" Id="Rce72930bf7ec40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1750a4948440e" /><Relationship Type="http://schemas.openxmlformats.org/officeDocument/2006/relationships/notesSlide" Target="/ppt/notesSlides/notesSlide16.xml" Id="R4108cf37676043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9d04a79a94852" /><Relationship Type="http://schemas.openxmlformats.org/officeDocument/2006/relationships/notesSlide" Target="/ppt/notesSlides/notesSlide17.xml" Id="R1d81cf449cf24a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d576edf244362" /><Relationship Type="http://schemas.openxmlformats.org/officeDocument/2006/relationships/notesSlide" Target="/ppt/notesSlides/notesSlide18.xml" Id="R75bd0546295749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f8f9556ad499a" /><Relationship Type="http://schemas.openxmlformats.org/officeDocument/2006/relationships/notesSlide" Target="/ppt/notesSlides/notesSlide19.xml" Id="R953bd44e634d43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ce3626ad64a08" /><Relationship Type="http://schemas.openxmlformats.org/officeDocument/2006/relationships/notesSlide" Target="/ppt/notesSlides/notesSlide20.xml" Id="R7d7458c04a4b44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bc17d2ea143f3" /><Relationship Type="http://schemas.openxmlformats.org/officeDocument/2006/relationships/image" Target="/ppt/media/image.png" Id="R8a7df6a8530b412b" /><Relationship Type="http://schemas.openxmlformats.org/officeDocument/2006/relationships/notesSlide" Target="/ppt/notesSlides/notesSlide21.xml" Id="R22475267e4674d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732a4eedf4800" /><Relationship Type="http://schemas.openxmlformats.org/officeDocument/2006/relationships/image" Target="/ppt/media/image2.png" Id="R2caabe789fe44499" /><Relationship Type="http://schemas.openxmlformats.org/officeDocument/2006/relationships/notesSlide" Target="/ppt/notesSlides/notesSlide22.xml" Id="R5931bd3439864a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9d106be074c67" /><Relationship Type="http://schemas.openxmlformats.org/officeDocument/2006/relationships/image" Target="/ppt/media/image3.png" Id="R5f80b51883514efe" /><Relationship Type="http://schemas.openxmlformats.org/officeDocument/2006/relationships/notesSlide" Target="/ppt/notesSlides/notesSlide23.xml" Id="R4e694021c9dc4c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f0300be034bd9" /><Relationship Type="http://schemas.openxmlformats.org/officeDocument/2006/relationships/image" Target="/ppt/media/image4.png" Id="Re02ec82a5069490b" /><Relationship Type="http://schemas.openxmlformats.org/officeDocument/2006/relationships/notesSlide" Target="/ppt/notesSlides/notesSlide24.xml" Id="Rb3debf9db7d1406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2725eb63b4ea3" /><Relationship Type="http://schemas.openxmlformats.org/officeDocument/2006/relationships/image" Target="/ppt/media/image5.png" Id="Re04cfa4588374285" /><Relationship Type="http://schemas.openxmlformats.org/officeDocument/2006/relationships/notesSlide" Target="/ppt/notesSlides/notesSlide25.xml" Id="R10910a1c47114cd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c7253360e4dc0" /><Relationship Type="http://schemas.openxmlformats.org/officeDocument/2006/relationships/image" Target="/ppt/media/image6.png" Id="R538fb2c38c7c454b" /><Relationship Type="http://schemas.openxmlformats.org/officeDocument/2006/relationships/notesSlide" Target="/ppt/notesSlides/notesSlide26.xml" Id="R7f34ebb01e604ec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833d0eb86457d" /><Relationship Type="http://schemas.openxmlformats.org/officeDocument/2006/relationships/image" Target="/ppt/media/image7.png" Id="Rab6e3abdd0ca425b" /><Relationship Type="http://schemas.openxmlformats.org/officeDocument/2006/relationships/notesSlide" Target="/ppt/notesSlides/notesSlide27.xml" Id="Rf137788e86a649b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635364f9548c0" /><Relationship Type="http://schemas.openxmlformats.org/officeDocument/2006/relationships/image" Target="/ppt/media/image8.png" Id="R7dfd959f044c4341" /><Relationship Type="http://schemas.openxmlformats.org/officeDocument/2006/relationships/notesSlide" Target="/ppt/notesSlides/notesSlide28.xml" Id="R45cf553f095b49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3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学术成果分享平台">
            <a:extLst xmlns:a="http://schemas.openxmlformats.org/drawingml/2006/main">
              <a:ext uri="{FF2B5EF4-FFF2-40B4-BE49-F238E27FC236}">
                <a16:creationId xmlns:a16="http://schemas.microsoft.com/office/drawing/2014/main" id="{BB1310A2-D9F6-43A8-9033-4B78CACB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学术成果分享平台</a:t>
            </a:r>
          </a:p>
        </p:txBody>
      </p:sp>
      <p:sp>
        <p:nvSpPr>
          <p:cNvPr id="2" name="需求调研与需求建模总体方案">
            <a:extLst xmlns:a="http://schemas.openxmlformats.org/drawingml/2006/main">
              <a:ext uri="{FF2B5EF4-FFF2-40B4-BE49-F238E27FC236}">
                <a16:creationId xmlns:a16="http://schemas.microsoft.com/office/drawing/2014/main" id="{B3721A20-3701-4419-ADDE-DB5DB13F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rPr>
              <a:t>需求调研与需求建模总体方案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9AE16643-04C9-4EEE-A1EB-B3BEEB8A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可信数据 · 公开检索 · 学者门户">
            <a:extLst xmlns:a="http://schemas.openxmlformats.org/drawingml/2006/main">
              <a:ext uri="{FF2B5EF4-FFF2-40B4-BE49-F238E27FC236}">
                <a16:creationId xmlns:a16="http://schemas.microsoft.com/office/drawing/2014/main" id="{A7058347-16A9-48DE-A786-E2405A8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可信数据 · 公开检索 · 学者门户</a:t>
            </a:r>
          </a:p>
        </p:txBody>
      </p:sp>
      <p:sp>
        <p:nvSpPr>
          <p:cNvPr id="5" name="论文  /  授权专利  /  科研项目  /  获奖">
            <a:extLst xmlns:a="http://schemas.openxmlformats.org/drawingml/2006/main">
              <a:ext uri="{FF2B5EF4-FFF2-40B4-BE49-F238E27FC236}">
                <a16:creationId xmlns:a16="http://schemas.microsoft.com/office/drawing/2014/main" id="{01C0C3C9-03D4-407F-99C8-028096DD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rPr>
              <a:t>论文  /  授权专利  /  科研项目  /  获奖</a:t>
            </a:r>
          </a:p>
        </p:txBody>
      </p:sp>
      <p:sp>
        <p:nvSpPr>
          <p:cNvPr id="6" name="《软件系统分析与设计》课程实践（一）">
            <a:extLst xmlns:a="http://schemas.openxmlformats.org/drawingml/2006/main">
              <a:ext uri="{FF2B5EF4-FFF2-40B4-BE49-F238E27FC236}">
                <a16:creationId xmlns:a16="http://schemas.microsoft.com/office/drawing/2014/main" id="{14177F66-D623-4F57-B047-40D425CE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rPr>
              <a:t>《软件系统分析与设计》课程实践（一）</a:t>
            </a:r>
          </a:p>
        </p:txBody>
      </p:sp>
      <p:sp>
        <p:nvSpPr>
          <p:cNvPr id="7" name="15分钟主讲  ·  2026年10月7日">
            <a:extLst xmlns:a="http://schemas.openxmlformats.org/drawingml/2006/main">
              <a:ext uri="{FF2B5EF4-FFF2-40B4-BE49-F238E27FC236}">
                <a16:creationId xmlns:a16="http://schemas.microsoft.com/office/drawing/2014/main" id="{2301B458-8412-4FBD-9A82-39D3379A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rPr>
              <a:t>15分钟主讲  ·  2026年10月7日</a:t>
            </a:r>
          </a:p>
        </p:txBody>
      </p:sp>
    </p:spTree>
    <p:extLst>
      <p:ext uri="{BB962C8B-B14F-4D97-AF65-F5344CB8AC3E}">
        <p14:creationId xmlns:p14="http://schemas.microsoft.com/office/powerpoint/2010/main" val="1247898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阶段任务与现有交付">
            <a:extLst xmlns:a="http://schemas.openxmlformats.org/drawingml/2006/main">
              <a:ext uri="{FF2B5EF4-FFF2-40B4-BE49-F238E27FC236}">
                <a16:creationId xmlns:a16="http://schemas.microsoft.com/office/drawing/2014/main" id="{C3EBB3E6-F730-4049-9DF7-911CCF76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阶段任务与现有交付</a:t>
            </a:r>
          </a:p>
        </p:txBody>
      </p:sp>
      <p:sp>
        <p:nvSpPr>
          <p:cNvPr id="2" name="已有调研与规范；本次补齐模型并统一需求口径">
            <a:extLst xmlns:a="http://schemas.openxmlformats.org/drawingml/2006/main">
              <a:ext uri="{FF2B5EF4-FFF2-40B4-BE49-F238E27FC236}">
                <a16:creationId xmlns:a16="http://schemas.microsoft.com/office/drawing/2014/main" id="{6FB1C8A6-6CFE-4397-86E3-79AB71D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已有调研与规范；本次补齐模型并统一需求口径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9E5FAC1B-8ECD-4871-ADBC-82E718A8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876675"/>
                <a:gridCol w="5334000"/>
              </a:tblGrid>
              <a:tr h="7739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任务书要求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当前材料与本次补充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需求调研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方案、来源、分类、诉求、边界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3份角色／总体报告＋数据源报告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需求建模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用例、认领活动、两类状态、SRS／SPEC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已有分角色用例与活动；补总图和状态图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后续预研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业务类图、关键交互模型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已有类图与检索时序；归入需求分析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尚需真实访谈／样例验证及评审记录；文档存在不等于评审通过">
            <a:extLst xmlns:a="http://schemas.openxmlformats.org/drawingml/2006/main">
              <a:ext uri="{FF2B5EF4-FFF2-40B4-BE49-F238E27FC236}">
                <a16:creationId xmlns:a16="http://schemas.microsoft.com/office/drawing/2014/main" id="{5E1FD9FA-4435-4BE0-A362-A5D4E412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rPr>
              <a:t>尚需真实访谈／样例验证及评审记录；文档存在不等于评审通过</a:t>
            </a:r>
          </a:p>
        </p:txBody>
      </p:sp>
    </p:spTree>
    <p:extLst>
      <p:ext uri="{BB962C8B-B14F-4D97-AF65-F5344CB8AC3E}">
        <p14:creationId xmlns:p14="http://schemas.microsoft.com/office/powerpoint/2010/main" val="1781777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调研方法与证据边界">
            <a:extLst xmlns:a="http://schemas.openxmlformats.org/drawingml/2006/main">
              <a:ext uri="{FF2B5EF4-FFF2-40B4-BE49-F238E27FC236}">
                <a16:creationId xmlns:a16="http://schemas.microsoft.com/office/drawing/2014/main" id="{ECDA0F38-ECAB-43BC-85B1-B8930CEB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调研方法与证据边界</a:t>
            </a:r>
          </a:p>
        </p:txBody>
      </p:sp>
      <p:sp>
        <p:nvSpPr>
          <p:cNvPr id="2" name="公开资料结果用于提出需求，实地验证用于修订需求">
            <a:extLst xmlns:a="http://schemas.openxmlformats.org/drawingml/2006/main">
              <a:ext uri="{FF2B5EF4-FFF2-40B4-BE49-F238E27FC236}">
                <a16:creationId xmlns:a16="http://schemas.microsoft.com/office/drawing/2014/main" id="{3509ED25-B763-4DC7-AE3A-D432E0AD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公开资料结果用于提出需求，实地验证用于修订需求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F9CC640F-09C1-4DE2-BFE4-80AB4429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任务书与公开资料">
            <a:extLst xmlns:a="http://schemas.openxmlformats.org/drawingml/2006/main">
              <a:ext uri="{FF2B5EF4-FFF2-40B4-BE49-F238E27FC236}">
                <a16:creationId xmlns:a16="http://schemas.microsoft.com/office/drawing/2014/main" id="{3AA520A9-C96D-4975-BE2F-B3F0627E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任务书与公开资料</a:t>
            </a:r>
          </a:p>
        </p:txBody>
      </p:sp>
      <p:sp>
        <p:nvSpPr>
          <p:cNvPr id="5" name="提取必做功能、来源限制、分类与业务规则">
            <a:extLst xmlns:a="http://schemas.openxmlformats.org/drawingml/2006/main">
              <a:ext uri="{FF2B5EF4-FFF2-40B4-BE49-F238E27FC236}">
                <a16:creationId xmlns:a16="http://schemas.microsoft.com/office/drawing/2014/main" id="{EFCBD119-BD3B-4B23-B5CF-9942F9C3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提取必做功能、来源限制、分类与业务规则</a:t>
            </a:r>
          </a:p>
        </p:txBody>
      </p:sp>
      <p:sp>
        <p:nvSpPr>
          <p:cNvPr id="6" name="同类平台与角色场景">
            <a:extLst xmlns:a="http://schemas.openxmlformats.org/drawingml/2006/main">
              <a:ext uri="{FF2B5EF4-FFF2-40B4-BE49-F238E27FC236}">
                <a16:creationId xmlns:a16="http://schemas.microsoft.com/office/drawing/2014/main" id="{068AFEA4-1F8A-4B35-B50C-8790600F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同类平台与角色场景</a:t>
            </a:r>
          </a:p>
        </p:txBody>
      </p:sp>
      <p:sp>
        <p:nvSpPr>
          <p:cNvPr id="7" name="10个平台对比；三类角色的目标、权限和异常路径">
            <a:extLst xmlns:a="http://schemas.openxmlformats.org/drawingml/2006/main">
              <a:ext uri="{FF2B5EF4-FFF2-40B4-BE49-F238E27FC236}">
                <a16:creationId xmlns:a16="http://schemas.microsoft.com/office/drawing/2014/main" id="{91B9EB70-D286-442B-8029-0336A39B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10个平台对比；三类角色的目标、权限和异常路径</a:t>
            </a:r>
          </a:p>
        </p:txBody>
      </p:sp>
      <p:sp>
        <p:nvSpPr>
          <p:cNvPr id="8" name="需求追踪与后续验证">
            <a:extLst xmlns:a="http://schemas.openxmlformats.org/drawingml/2006/main">
              <a:ext uri="{FF2B5EF4-FFF2-40B4-BE49-F238E27FC236}">
                <a16:creationId xmlns:a16="http://schemas.microsoft.com/office/drawing/2014/main" id="{50C507BE-1463-4399-BA06-8DB1CCF9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需求追踪与后续验证</a:t>
            </a:r>
          </a:p>
        </p:txBody>
      </p:sp>
      <p:sp>
        <p:nvSpPr>
          <p:cNvPr id="9" name="证据 → 需求 → 用例／SPEC → 验收；补访谈、样例和评审记录">
            <a:extLst xmlns:a="http://schemas.openxmlformats.org/drawingml/2006/main">
              <a:ext uri="{FF2B5EF4-FFF2-40B4-BE49-F238E27FC236}">
                <a16:creationId xmlns:a16="http://schemas.microsoft.com/office/drawing/2014/main" id="{932E5577-1BB1-48E3-83E1-0B324A3B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证据 → 需求 → 用例／SPEC → 验收；补访谈、样例和评审记录</a:t>
            </a:r>
          </a:p>
        </p:txBody>
      </p:sp>
    </p:spTree>
    <p:extLst>
      <p:ext uri="{BB962C8B-B14F-4D97-AF65-F5344CB8AC3E}">
        <p14:creationId xmlns:p14="http://schemas.microsoft.com/office/powerpoint/2010/main" val="1525226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同类平台的借鉴方向">
            <a:extLst xmlns:a="http://schemas.openxmlformats.org/drawingml/2006/main">
              <a:ext uri="{FF2B5EF4-FFF2-40B4-BE49-F238E27FC236}">
                <a16:creationId xmlns:a16="http://schemas.microsoft.com/office/drawing/2014/main" id="{D049C673-03F0-4B87-B181-BCA2BEEB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同类平台的借鉴方向</a:t>
            </a:r>
          </a:p>
        </p:txBody>
      </p:sp>
      <p:sp>
        <p:nvSpPr>
          <p:cNvPr id="2" name="以需求机制为依据；规模、营收与价格不作为本次论据">
            <a:extLst xmlns:a="http://schemas.openxmlformats.org/drawingml/2006/main">
              <a:ext uri="{FF2B5EF4-FFF2-40B4-BE49-F238E27FC236}">
                <a16:creationId xmlns:a16="http://schemas.microsoft.com/office/drawing/2014/main" id="{C18CDD2F-465B-4C5A-8F76-1F76DB67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以需求机制为依据；规模、营收与价格不作为本次论据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5C60A74-4E33-4F39-9AED-6BAE193E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000500"/>
                <a:gridCol w="4781550"/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借鉴方向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现有调研对象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落到本平台的需求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身份与门户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ORCID、学者档案</a:t>
                      </a:r>
                    </a:p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ResearchGate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账号／学者分离，认领审核与纠错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开放书目与元数据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OpenAlex、DBLP、Crossref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多源接入、稳定标识、来源追踪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多类型与机构视角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知网、万方等成果服务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四类成果、机构排名、分类过滤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检索与科研整理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Scholar</a:t>
                      </a:r>
                    </a:p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Semantic Scholar等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同名核查、可解释检索；收藏导出作增强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820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类角色与权限边界">
            <a:extLst xmlns:a="http://schemas.openxmlformats.org/drawingml/2006/main">
              <a:ext uri="{FF2B5EF4-FFF2-40B4-BE49-F238E27FC236}">
                <a16:creationId xmlns:a16="http://schemas.microsoft.com/office/drawing/2014/main" id="{C9B6B5B0-249B-4F22-B15D-5446B23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三类角色与权限边界</a:t>
            </a:r>
          </a:p>
        </p:txBody>
      </p:sp>
      <p:sp>
        <p:nvSpPr>
          <p:cNvPr id="2" name="公开查询、本人管理、后台治理分别校验权限">
            <a:extLst xmlns:a="http://schemas.openxmlformats.org/drawingml/2006/main">
              <a:ext uri="{FF2B5EF4-FFF2-40B4-BE49-F238E27FC236}">
                <a16:creationId xmlns:a16="http://schemas.microsoft.com/office/drawing/2014/main" id="{06BB0950-7332-4678-8A7B-E3B05B2F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公开查询、本人管理、后台治理分别校验权限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DF79810-236A-4309-B1B9-EC900F7A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143250"/>
                <a:gridCol w="5448300"/>
              </a:tblGrid>
              <a:tr h="7858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用户目标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功能与边界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普通用户／访客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检索并核实信息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四类成果、学者门户、来源、统计；公开只读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科研人员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管理本人可信门户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认领、反馈、本人维护；公共修订需审核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保障身份与数据可信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来源和任务管理、认领审核、质量复核、审计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账号 ≠ 学者实体；只有“审核通过＋绑定成功”才能授予门户管理权">
            <a:extLst xmlns:a="http://schemas.openxmlformats.org/drawingml/2006/main">
              <a:ext uri="{FF2B5EF4-FFF2-40B4-BE49-F238E27FC236}">
                <a16:creationId xmlns:a16="http://schemas.microsoft.com/office/drawing/2014/main" id="{87DEB168-E2BF-4DAD-B660-2A8B91D7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rPr>
              <a:t>账号 ≠ 学者实体；只有“审核通过＋绑定成功”才能授予门户管理权</a:t>
            </a:r>
          </a:p>
        </p:txBody>
      </p:sp>
    </p:spTree>
    <p:extLst>
      <p:ext uri="{BB962C8B-B14F-4D97-AF65-F5344CB8AC3E}">
        <p14:creationId xmlns:p14="http://schemas.microsoft.com/office/powerpoint/2010/main" val="1351197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四类成果的数据来源方案">
            <a:extLst xmlns:a="http://schemas.openxmlformats.org/drawingml/2006/main">
              <a:ext uri="{FF2B5EF4-FFF2-40B4-BE49-F238E27FC236}">
                <a16:creationId xmlns:a16="http://schemas.microsoft.com/office/drawing/2014/main" id="{7A7EECAA-8ECA-4C41-9421-FFB37FF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四类成果的数据来源方案</a:t>
            </a:r>
          </a:p>
        </p:txBody>
      </p:sp>
      <p:sp>
        <p:nvSpPr>
          <p:cNvPr id="2" name="论文先支撑规模；四类成果均保留本期可用路径">
            <a:extLst xmlns:a="http://schemas.openxmlformats.org/drawingml/2006/main">
              <a:ext uri="{FF2B5EF4-FFF2-40B4-BE49-F238E27FC236}">
                <a16:creationId xmlns:a16="http://schemas.microsoft.com/office/drawing/2014/main" id="{5F45809A-8E3F-48D3-9D79-F3CA25BA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论文先支撑规模；四类成果均保留本期可用路径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11EE85CF-B054-4A85-8098-54807EEF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95800"/>
                <a:gridCol w="47625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一期候选来源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关键标识／接入证据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OpenAlex＋DBLP；Crossref校验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DOI／来源ID；API或快照样例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授权专利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国家知识产权局；EPO OPS候选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公开号、申请号、文献种类、授权依据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科研项目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NSFC公开查询／公告、科技部公示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资助机构＋项目编号；补样例和字段映射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获奖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国家科技奖励、CCF／电子学会等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授奖机构＋年度＋类别等级＋项目复合键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</a:tbl>
          </a:graphicData>
        </a:graphic>
      </p:graphicFrame>
      <p:sp>
        <p:nvSpPr>
          <p:cNvPr id="5" name="候选来源不等于已完成接入；许可、凭证、访问方式与样例须登记">
            <a:extLst xmlns:a="http://schemas.openxmlformats.org/drawingml/2006/main">
              <a:ext uri="{FF2B5EF4-FFF2-40B4-BE49-F238E27FC236}">
                <a16:creationId xmlns:a16="http://schemas.microsoft.com/office/drawing/2014/main" id="{39EA1426-1CD1-4391-AA55-DC246F65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rPr>
              <a:t>候选来源不等于已完成接入；许可、凭证、访问方式与样例须登记</a:t>
            </a:r>
          </a:p>
        </p:txBody>
      </p:sp>
    </p:spTree>
    <p:extLst>
      <p:ext uri="{BB962C8B-B14F-4D97-AF65-F5344CB8AC3E}">
        <p14:creationId xmlns:p14="http://schemas.microsoft.com/office/powerpoint/2010/main" val="1995870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领域分类与来源追踪">
            <a:extLst xmlns:a="http://schemas.openxmlformats.org/drawingml/2006/main">
              <a:ext uri="{FF2B5EF4-FFF2-40B4-BE49-F238E27FC236}">
                <a16:creationId xmlns:a16="http://schemas.microsoft.com/office/drawing/2014/main" id="{192FDD1D-CDF3-4E62-AC5A-5F27D2D3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领域分类与来源追踪</a:t>
            </a:r>
          </a:p>
        </p:txBody>
      </p:sp>
      <p:sp>
        <p:nvSpPr>
          <p:cNvPr id="2" name="本地分类稳定，外部分类可映射；每项成果都能回溯来源">
            <a:extLst xmlns:a="http://schemas.openxmlformats.org/drawingml/2006/main">
              <a:ext uri="{FF2B5EF4-FFF2-40B4-BE49-F238E27FC236}">
                <a16:creationId xmlns:a16="http://schemas.microsoft.com/office/drawing/2014/main" id="{98DD6432-479B-4DAC-991B-3E66CB9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本地分类稳定，外部分类可映射；每项成果都能回溯来源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0E4A2767-F5D2-4F3D-80B1-6E333E60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领域—学科—方向">
            <a:extLst xmlns:a="http://schemas.openxmlformats.org/drawingml/2006/main">
              <a:ext uri="{FF2B5EF4-FFF2-40B4-BE49-F238E27FC236}">
                <a16:creationId xmlns:a16="http://schemas.microsoft.com/office/drawing/2014/main" id="{DED7E982-7AF6-484A-B87C-1F99CE54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领域—学科—方向</a:t>
            </a:r>
          </a:p>
        </p:txBody>
      </p:sp>
      <p:sp>
        <p:nvSpPr>
          <p:cNvPr id="5" name="保留原分类ID、标签和版本；跨学科多标签，未分类单列">
            <a:extLst xmlns:a="http://schemas.openxmlformats.org/drawingml/2006/main">
              <a:ext uri="{FF2B5EF4-FFF2-40B4-BE49-F238E27FC236}">
                <a16:creationId xmlns:a16="http://schemas.microsoft.com/office/drawing/2014/main" id="{A3B56795-160A-4402-B9D7-044FDA10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保留原分类ID、标签和版本；跨学科多标签，未分类单列</a:t>
            </a:r>
          </a:p>
        </p:txBody>
      </p:sp>
      <p:sp>
        <p:nvSpPr>
          <p:cNvPr id="6" name="来源记录与字段证据">
            <a:extLst xmlns:a="http://schemas.openxmlformats.org/drawingml/2006/main">
              <a:ext uri="{FF2B5EF4-FFF2-40B4-BE49-F238E27FC236}">
                <a16:creationId xmlns:a16="http://schemas.microsoft.com/office/drawing/2014/main" id="{AE412749-267A-4A0D-AB3D-4AD2EF1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来源记录与字段证据</a:t>
            </a:r>
          </a:p>
        </p:txBody>
      </p:sp>
      <p:sp>
        <p:nvSpPr>
          <p:cNvPr id="7" name="来源ID／URL、采集与更新时间、内容校验值、解析版本、字段来源">
            <a:extLst xmlns:a="http://schemas.openxmlformats.org/drawingml/2006/main">
              <a:ext uri="{FF2B5EF4-FFF2-40B4-BE49-F238E27FC236}">
                <a16:creationId xmlns:a16="http://schemas.microsoft.com/office/drawing/2014/main" id="{3B8FDCAD-7E6D-4A97-94AD-A4D13CDB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来源ID／URL、采集与更新时间、内容校验值、解析版本、字段来源</a:t>
            </a:r>
          </a:p>
        </p:txBody>
      </p:sp>
      <p:sp>
        <p:nvSpPr>
          <p:cNvPr id="8" name="增量更新与人工修订">
            <a:extLst xmlns:a="http://schemas.openxmlformats.org/drawingml/2006/main">
              <a:ext uri="{FF2B5EF4-FFF2-40B4-BE49-F238E27FC236}">
                <a16:creationId xmlns:a16="http://schemas.microsoft.com/office/drawing/2014/main" id="{E5562E00-172B-452B-82A9-62B09B7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增量更新与人工修订</a:t>
            </a:r>
          </a:p>
        </p:txBody>
      </p:sp>
      <p:sp>
        <p:nvSpPr>
          <p:cNvPr id="9" name="按来源更新时间和公告变化更新；重复接入幂等，冲突进入复核">
            <a:extLst xmlns:a="http://schemas.openxmlformats.org/drawingml/2006/main">
              <a:ext uri="{FF2B5EF4-FFF2-40B4-BE49-F238E27FC236}">
                <a16:creationId xmlns:a16="http://schemas.microsoft.com/office/drawing/2014/main" id="{316592CE-D8B2-4908-B386-4696F529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按来源更新时间和公告变化更新；重复接入幂等，冲突进入复核</a:t>
            </a:r>
          </a:p>
        </p:txBody>
      </p:sp>
    </p:spTree>
    <p:extLst>
      <p:ext uri="{BB962C8B-B14F-4D97-AF65-F5344CB8AC3E}">
        <p14:creationId xmlns:p14="http://schemas.microsoft.com/office/powerpoint/2010/main" val="1138762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需求范围与统一优先级">
            <a:extLst xmlns:a="http://schemas.openxmlformats.org/drawingml/2006/main">
              <a:ext uri="{FF2B5EF4-FFF2-40B4-BE49-F238E27FC236}">
                <a16:creationId xmlns:a16="http://schemas.microsoft.com/office/drawing/2014/main" id="{AF7B7699-D3D8-44AE-8A34-21193EB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需求范围与统一优先级</a:t>
            </a:r>
          </a:p>
        </p:txBody>
      </p:sp>
      <p:sp>
        <p:nvSpPr>
          <p:cNvPr id="2" name="优先顺序可以调整，课程必做范围不能被优先级删减">
            <a:extLst xmlns:a="http://schemas.openxmlformats.org/drawingml/2006/main">
              <a:ext uri="{FF2B5EF4-FFF2-40B4-BE49-F238E27FC236}">
                <a16:creationId xmlns:a16="http://schemas.microsoft.com/office/drawing/2014/main" id="{7D2BD770-F247-4D2D-878D-6D97EC8F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优先顺序可以调整，课程必做范围不能被优先级删减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3C826BC-E9DA-49A9-B502-8C855E7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8353425"/>
              </a:tblGrid>
              <a:tr h="8286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P0／M 基础必做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四类成果、采集清洗、检索门户、认领审核、维护纠错、基础统计、后台治理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至少一项创新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合作网络筛选与证据回溯＋最短共著路径（评审确认）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P1／S 增强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收藏、导出、专题库／笔记、引用与资源链接，按能力选取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P2／C 与后期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推荐、讨论、订阅、高级预测；交易、付费全文、支付后期考虑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852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系统总用例图：覆盖三角色与采集治理">
            <a:extLst xmlns:a="http://schemas.openxmlformats.org/drawingml/2006/main">
              <a:ext uri="{FF2B5EF4-FFF2-40B4-BE49-F238E27FC236}">
                <a16:creationId xmlns:a16="http://schemas.microsoft.com/office/drawing/2014/main" id="{773D29F0-01DC-48E4-A1D5-79490D00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系统总用例图：覆盖三角色与采集治理</a:t>
            </a:r>
          </a:p>
        </p:txBody>
      </p:sp>
      <p:sp>
        <p:nvSpPr>
          <p:cNvPr id="2" name="新增总览；原分角色用例图在附录21—22页">
            <a:extLst xmlns:a="http://schemas.openxmlformats.org/drawingml/2006/main">
              <a:ext uri="{FF2B5EF4-FFF2-40B4-BE49-F238E27FC236}">
                <a16:creationId xmlns:a16="http://schemas.microsoft.com/office/drawing/2014/main" id="{1877A995-7A52-4FD2-88B8-F0B68F05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新增总览；原分角色用例图在附录21—22页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49554F9C-00E6-42DB-A57D-54EF2459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ECD29-4311-42BF-8F98-1A2761DB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43075"/>
            <a:ext cx="7620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0CDC5"/>
            </a:solidFill>
          </a:ln>
        </p:spPr>
      </p:sp>
      <p:sp>
        <p:nvSpPr>
          <p:cNvPr id="5" name="学术成果分享平台">
            <a:extLst xmlns:a="http://schemas.openxmlformats.org/drawingml/2006/main">
              <a:ext uri="{FF2B5EF4-FFF2-40B4-BE49-F238E27FC236}">
                <a16:creationId xmlns:a16="http://schemas.microsoft.com/office/drawing/2014/main" id="{D338FA4C-359A-4AFC-9754-E807DBC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学术成果分享平台</a:t>
            </a:r>
          </a:p>
        </p:txBody>
      </p:sp>
      <p:sp>
        <p:nvSpPr>
          <p:cNvPr id="6" name="«actor»&#10;访客">
            <a:extLst xmlns:a="http://schemas.openxmlformats.org/drawingml/2006/main">
              <a:ext uri="{FF2B5EF4-FFF2-40B4-BE49-F238E27FC236}">
                <a16:creationId xmlns:a16="http://schemas.microsoft.com/office/drawing/2014/main" id="{382B1B18-DDD6-4A73-9145-25AB63C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访客</a:t>
            </a:r>
          </a:p>
        </p:txBody>
      </p:sp>
      <p:sp>
        <p:nvSpPr>
          <p:cNvPr id="7" name="«actor»&#10;注册科研人员">
            <a:extLst xmlns:a="http://schemas.openxmlformats.org/drawingml/2006/main">
              <a:ext uri="{FF2B5EF4-FFF2-40B4-BE49-F238E27FC236}">
                <a16:creationId xmlns:a16="http://schemas.microsoft.com/office/drawing/2014/main" id="{C8CA0714-670A-48F7-8B0E-E850223C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注册科研人员</a:t>
            </a:r>
          </a:p>
        </p:txBody>
      </p:sp>
      <p:sp>
        <p:nvSpPr>
          <p:cNvPr id="8" name="«actor»&#10;已认领学者">
            <a:extLst xmlns:a="http://schemas.openxmlformats.org/drawingml/2006/main">
              <a:ext uri="{FF2B5EF4-FFF2-40B4-BE49-F238E27FC236}">
                <a16:creationId xmlns:a16="http://schemas.microsoft.com/office/drawing/2014/main" id="{97597D10-0F8D-43D4-99CE-14721FDE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已认领学者</a:t>
            </a:r>
          </a:p>
        </p:txBody>
      </p:sp>
      <p:sp>
        <p:nvSpPr>
          <p:cNvPr id="9" name="«actor»&#10;管理员">
            <a:extLst xmlns:a="http://schemas.openxmlformats.org/drawingml/2006/main">
              <a:ext uri="{FF2B5EF4-FFF2-40B4-BE49-F238E27FC236}">
                <a16:creationId xmlns:a16="http://schemas.microsoft.com/office/drawing/2014/main" id="{D0127AA5-D707-479D-B81D-76E4A8F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905250"/>
            <a:ext cx="1571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0" name="«actor»&#10;外部数据源">
            <a:extLst xmlns:a="http://schemas.openxmlformats.org/drawingml/2006/main">
              <a:ext uri="{FF2B5EF4-FFF2-40B4-BE49-F238E27FC236}">
                <a16:creationId xmlns:a16="http://schemas.microsoft.com/office/drawing/2014/main" id="{2FD00EA2-EA6C-4167-8996-E69A2FC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190750"/>
            <a:ext cx="1571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检索／查看成果与学者">
            <a:extLst xmlns:a="http://schemas.openxmlformats.org/drawingml/2006/main">
              <a:ext uri="{FF2B5EF4-FFF2-40B4-BE49-F238E27FC236}">
                <a16:creationId xmlns:a16="http://schemas.microsoft.com/office/drawing/2014/main" id="{0889900D-0D14-4D45-88C2-96DEC974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190750"/>
            <a:ext cx="3143250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检索／查看成果与学者</a:t>
            </a:r>
          </a:p>
        </p:txBody>
      </p:sp>
      <p:sp>
        <p:nvSpPr>
          <p:cNvPr id="12" name="浏览学者门户">
            <a:extLst xmlns:a="http://schemas.openxmlformats.org/drawingml/2006/main">
              <a:ext uri="{FF2B5EF4-FFF2-40B4-BE49-F238E27FC236}">
                <a16:creationId xmlns:a16="http://schemas.microsoft.com/office/drawing/2014/main" id="{7BFD29B4-0FB2-4C2D-8769-2116E558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905125"/>
            <a:ext cx="3143250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浏览学者门户</a:t>
            </a:r>
          </a:p>
        </p:txBody>
      </p:sp>
      <p:sp>
        <p:nvSpPr>
          <p:cNvPr id="13" name="查看统计与合作网络">
            <a:extLst xmlns:a="http://schemas.openxmlformats.org/drawingml/2006/main">
              <a:ext uri="{FF2B5EF4-FFF2-40B4-BE49-F238E27FC236}">
                <a16:creationId xmlns:a16="http://schemas.microsoft.com/office/drawing/2014/main" id="{81080CFE-8B68-42E7-AD1E-5ABEE0CF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19500"/>
            <a:ext cx="3143250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查看统计与合作网络</a:t>
            </a:r>
          </a:p>
        </p:txBody>
      </p:sp>
      <p:sp>
        <p:nvSpPr>
          <p:cNvPr id="14" name="提交门户认领">
            <a:extLst xmlns:a="http://schemas.openxmlformats.org/drawingml/2006/main">
              <a:ext uri="{FF2B5EF4-FFF2-40B4-BE49-F238E27FC236}">
                <a16:creationId xmlns:a16="http://schemas.microsoft.com/office/drawing/2014/main" id="{26F44531-3558-4E0A-AB84-DC18F4DD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33875"/>
            <a:ext cx="3143250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提交门户认领</a:t>
            </a:r>
          </a:p>
        </p:txBody>
      </p:sp>
      <p:sp>
        <p:nvSpPr>
          <p:cNvPr id="15" name="维护本人门户与成果">
            <a:extLst xmlns:a="http://schemas.openxmlformats.org/drawingml/2006/main">
              <a:ext uri="{FF2B5EF4-FFF2-40B4-BE49-F238E27FC236}">
                <a16:creationId xmlns:a16="http://schemas.microsoft.com/office/drawing/2014/main" id="{4AE0B3A8-1022-4BAE-A39F-2C6C2C6B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048250"/>
            <a:ext cx="3143250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维护本人门户与成果</a:t>
            </a:r>
          </a:p>
        </p:txBody>
      </p:sp>
      <p:sp>
        <p:nvSpPr>
          <p:cNvPr id="16" name="配置来源／采集任务">
            <a:extLst xmlns:a="http://schemas.openxmlformats.org/drawingml/2006/main">
              <a:ext uri="{FF2B5EF4-FFF2-40B4-BE49-F238E27FC236}">
                <a16:creationId xmlns:a16="http://schemas.microsoft.com/office/drawing/2014/main" id="{6706C3EE-B498-4F2B-8096-33CB35F8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326707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配置来源／采集任务</a:t>
            </a:r>
          </a:p>
        </p:txBody>
      </p:sp>
      <p:sp>
        <p:nvSpPr>
          <p:cNvPr id="17" name="执行采集、清洗与入库">
            <a:extLst xmlns:a="http://schemas.openxmlformats.org/drawingml/2006/main">
              <a:ext uri="{FF2B5EF4-FFF2-40B4-BE49-F238E27FC236}">
                <a16:creationId xmlns:a16="http://schemas.microsoft.com/office/drawing/2014/main" id="{FE1F17B8-4A49-4F52-B59C-D62B0712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326707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执行采集、清洗与入库</a:t>
            </a:r>
          </a:p>
        </p:txBody>
      </p:sp>
      <p:sp>
        <p:nvSpPr>
          <p:cNvPr id="18" name="审核认领申请">
            <a:extLst xmlns:a="http://schemas.openxmlformats.org/drawingml/2006/main">
              <a:ext uri="{FF2B5EF4-FFF2-40B4-BE49-F238E27FC236}">
                <a16:creationId xmlns:a16="http://schemas.microsoft.com/office/drawing/2014/main" id="{E93935C5-2E28-4DEE-B18C-B2D1ECBF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326707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审核认领申请</a:t>
            </a:r>
          </a:p>
        </p:txBody>
      </p:sp>
      <p:sp>
        <p:nvSpPr>
          <p:cNvPr id="19" name="质量复核与纠错">
            <a:extLst xmlns:a="http://schemas.openxmlformats.org/drawingml/2006/main">
              <a:ext uri="{FF2B5EF4-FFF2-40B4-BE49-F238E27FC236}">
                <a16:creationId xmlns:a16="http://schemas.microsoft.com/office/drawing/2014/main" id="{626958A3-E12F-437B-A91B-AD32AE8B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33875"/>
            <a:ext cx="326707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质量复核与纠错</a:t>
            </a:r>
          </a:p>
        </p:txBody>
      </p:sp>
      <p:sp>
        <p:nvSpPr>
          <p:cNvPr id="20" name="维护领域分类">
            <a:extLst xmlns:a="http://schemas.openxmlformats.org/drawingml/2006/main">
              <a:ext uri="{FF2B5EF4-FFF2-40B4-BE49-F238E27FC236}">
                <a16:creationId xmlns:a16="http://schemas.microsoft.com/office/drawing/2014/main" id="{24FA5AB7-B04D-44D2-B199-D389FC8C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326707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维护领域分类</a:t>
            </a:r>
          </a:p>
        </p:txBody>
      </p: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1990725" y="2462213"/>
            <a:ext cx="400050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990725" y="2514600"/>
            <a:ext cx="400050" cy="661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60" name=""/>
          <p:cNvCxnSpPr>
            <a:stCxn xmlns:a="http://schemas.openxmlformats.org/drawingml/2006/main" id="6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1990725" y="2514600"/>
            <a:ext cx="400050" cy="1376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61" name=""/>
          <p:cNvCxnSpPr>
            <a:stCxn xmlns:a="http://schemas.openxmlformats.org/drawingml/2006/main" id="7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1990725" y="4267200"/>
            <a:ext cx="400050" cy="338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62" name=""/>
          <p:cNvCxnSpPr>
            <a:stCxn xmlns:a="http://schemas.openxmlformats.org/drawingml/2006/main" id="8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1990725" y="5319713"/>
            <a:ext cx="400050" cy="80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63" name=""/>
          <p:cNvCxnSpPr>
            <a:stCxn xmlns:a="http://schemas.openxmlformats.org/drawingml/2006/main" id="9" idx="1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9610725" y="2462213"/>
            <a:ext cx="400050" cy="1800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64" name=""/>
          <p:cNvCxnSpPr>
            <a:stCxn xmlns:a="http://schemas.openxmlformats.org/drawingml/2006/main" id="9" idx="1"/>
            <a:endCxn xmlns:a="http://schemas.openxmlformats.org/drawingml/2006/main" id="17" idx="6"/>
          </p:cNvCxnSpPr>
          <p:nvPr/>
        </p:nvCxnSpPr>
        <p:spPr>
          <a:xfrm xmlns:a="http://schemas.openxmlformats.org/drawingml/2006/main" flipH="1" flipV="1">
            <a:off x="9610725" y="3176588"/>
            <a:ext cx="400050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65" name=""/>
          <p:cNvCxnSpPr>
            <a:stCxn xmlns:a="http://schemas.openxmlformats.org/drawingml/2006/main" id="9" idx="1"/>
            <a:endCxn xmlns:a="http://schemas.openxmlformats.org/drawingml/2006/main" id="18" idx="6"/>
          </p:cNvCxnSpPr>
          <p:nvPr/>
        </p:nvCxnSpPr>
        <p:spPr>
          <a:xfrm xmlns:a="http://schemas.openxmlformats.org/drawingml/2006/main" flipH="1" flipV="1">
            <a:off x="9610725" y="3890963"/>
            <a:ext cx="40005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66" name=""/>
          <p:cNvCxnSpPr>
            <a:stCxn xmlns:a="http://schemas.openxmlformats.org/drawingml/2006/main" id="9" idx="1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9610725" y="4262438"/>
            <a:ext cx="4000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cxnSp>
        <p:nvCxnSpPr>
          <p:cNvPr id="67" name=""/>
          <p:cNvCxnSpPr>
            <a:stCxn xmlns:a="http://schemas.openxmlformats.org/drawingml/2006/main" id="9" idx="1"/>
            <a:endCxn xmlns:a="http://schemas.openxmlformats.org/drawingml/2006/main" id="20" idx="6"/>
          </p:cNvCxnSpPr>
          <p:nvPr/>
        </p:nvCxnSpPr>
        <p:spPr>
          <a:xfrm xmlns:a="http://schemas.openxmlformats.org/drawingml/2006/main" flipH="1">
            <a:off x="9610725" y="4262438"/>
            <a:ext cx="400050" cy="1057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26760"/>
            </a:solidFill>
          </a:ln>
        </p:spPr>
      </p:cxnSp>
      <p:sp>
        <p:nvSpPr>
          <p:cNvPr id="31" name="状态迁移">
            <a:extLst xmlns:a="http://schemas.openxmlformats.org/drawingml/2006/main">
              <a:ext uri="{FF2B5EF4-FFF2-40B4-BE49-F238E27FC236}">
                <a16:creationId xmlns:a16="http://schemas.microsoft.com/office/drawing/2014/main" id="{26332405-3C1F-48F6-9212-233CA485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43175"/>
            <a:ext cx="400050" cy="628650"/>
          </a:xfrm>
          <a:custGeom xmlns:a="http://schemas.openxmlformats.org/drawingml/2006/main">
            <a:pathLst>
              <a:path w="400050" h="628650">
                <a:moveTo>
                  <a:pt x="400050" y="0"/>
                </a:moveTo>
                <a:lnTo>
                  <a:pt x="314325" y="0"/>
                </a:lnTo>
                <a:lnTo>
                  <a:pt x="314325" y="628650"/>
                </a:ln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2" name="状态迁移">
            <a:extLst xmlns:a="http://schemas.openxmlformats.org/drawingml/2006/main">
              <a:ext uri="{FF2B5EF4-FFF2-40B4-BE49-F238E27FC236}">
                <a16:creationId xmlns:a16="http://schemas.microsoft.com/office/drawing/2014/main" id="{42697841-BCF8-408D-BE76-EF409CE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9525" cy="1047750"/>
          </a:xfrm>
          <a:custGeom xmlns:a="http://schemas.openxmlformats.org/drawingml/2006/main">
            <a:pathLst>
              <a:path w="9525" h="1047750">
                <a:moveTo>
                  <a:pt x="0" y="1047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5F803D-329F-43EA-9E17-4477651B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847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13335">
            <a:solidFill>
              <a:srgbClr val="526760"/>
            </a:solidFill>
          </a:ln>
        </p:spPr>
      </p:sp>
      <p:sp>
        <p:nvSpPr>
          <p:cNvPr id="34" name="状态迁移">
            <a:extLst xmlns:a="http://schemas.openxmlformats.org/drawingml/2006/main">
              <a:ext uri="{FF2B5EF4-FFF2-40B4-BE49-F238E27FC236}">
                <a16:creationId xmlns:a16="http://schemas.microsoft.com/office/drawing/2014/main" id="{B51E73C5-89B9-4DB1-BB77-2821224E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93F185-00C2-4558-BCC5-80E77BEC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46005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13335">
            <a:solidFill>
              <a:srgbClr val="526760"/>
            </a:solidFill>
          </a:ln>
        </p:spPr>
      </p:sp>
      <p:sp>
        <p:nvSpPr>
          <p:cNvPr id="36" name="权限泛化">
            <a:extLst xmlns:a="http://schemas.openxmlformats.org/drawingml/2006/main">
              <a:ext uri="{FF2B5EF4-FFF2-40B4-BE49-F238E27FC236}">
                <a16:creationId xmlns:a16="http://schemas.microsoft.com/office/drawing/2014/main" id="{BCC98A04-4A98-45F8-B292-344F0BA7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权限泛化</a:t>
            </a:r>
          </a:p>
        </p:txBody>
      </p:sp>
      <p:sp>
        <p:nvSpPr>
          <p:cNvPr id="37" name="关联线表示参与关系；维护前必须校验本人门户权限">
            <a:extLst xmlns:a="http://schemas.openxmlformats.org/drawingml/2006/main">
              <a:ext uri="{FF2B5EF4-FFF2-40B4-BE49-F238E27FC236}">
                <a16:creationId xmlns:a16="http://schemas.microsoft.com/office/drawing/2014/main" id="{BEDCF5A7-6641-4BF5-806A-E84674F1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rPr>
              <a:t>关联线表示参与关系；维护前必须校验本人门户权限</a:t>
            </a:r>
          </a:p>
        </p:txBody>
      </p:sp>
    </p:spTree>
    <p:extLst>
      <p:ext uri="{BB962C8B-B14F-4D97-AF65-F5344CB8AC3E}">
        <p14:creationId xmlns:p14="http://schemas.microsoft.com/office/powerpoint/2010/main" val="1272421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检索场景：找成果，也要核实学者身份">
            <a:extLst xmlns:a="http://schemas.openxmlformats.org/drawingml/2006/main">
              <a:ext uri="{FF2B5EF4-FFF2-40B4-BE49-F238E27FC236}">
                <a16:creationId xmlns:a16="http://schemas.microsoft.com/office/drawing/2014/main" id="{70BB3446-151B-401D-84F8-298963D6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检索场景：找成果，也要核实学者身份</a:t>
            </a:r>
          </a:p>
        </p:txBody>
      </p:sp>
      <p:sp>
        <p:nvSpPr>
          <p:cNvPr id="2" name="同名候选由用户核查；平台不把姓名相同当作同一人">
            <a:extLst xmlns:a="http://schemas.openxmlformats.org/drawingml/2006/main">
              <a:ext uri="{FF2B5EF4-FFF2-40B4-BE49-F238E27FC236}">
                <a16:creationId xmlns:a16="http://schemas.microsoft.com/office/drawing/2014/main" id="{5379673B-B6EC-4200-887A-79AE6485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同名候选由用户核查；平台不把姓名相同当作同一人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9DF38C9-418D-443E-AFBC-4061A1ED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输入姓名与机构">
            <a:extLst xmlns:a="http://schemas.openxmlformats.org/drawingml/2006/main">
              <a:ext uri="{FF2B5EF4-FFF2-40B4-BE49-F238E27FC236}">
                <a16:creationId xmlns:a16="http://schemas.microsoft.com/office/drawing/2014/main" id="{F040B6C7-7B6F-4B19-95DC-C4BB584E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输入姓名与机构</a:t>
            </a:r>
          </a:p>
        </p:txBody>
      </p:sp>
      <p:sp>
        <p:nvSpPr>
          <p:cNvPr id="5" name="核对人物候选">
            <a:extLst xmlns:a="http://schemas.openxmlformats.org/drawingml/2006/main">
              <a:ext uri="{FF2B5EF4-FFF2-40B4-BE49-F238E27FC236}">
                <a16:creationId xmlns:a16="http://schemas.microsoft.com/office/drawing/2014/main" id="{C98B7CE4-A339-4EEA-BE13-B1330DC4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核对人物候选</a:t>
            </a:r>
          </a:p>
        </p:txBody>
      </p:sp>
      <p:sp>
        <p:nvSpPr>
          <p:cNvPr id="6" name="组合筛选并查询">
            <a:extLst xmlns:a="http://schemas.openxmlformats.org/drawingml/2006/main">
              <a:ext uri="{FF2B5EF4-FFF2-40B4-BE49-F238E27FC236}">
                <a16:creationId xmlns:a16="http://schemas.microsoft.com/office/drawing/2014/main" id="{0927930A-8A31-4355-9E75-9BD52A82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组合筛选并查询</a:t>
            </a:r>
          </a:p>
        </p:txBody>
      </p:sp>
      <p:sp>
        <p:nvSpPr>
          <p:cNvPr id="7" name="详情与来源核查">
            <a:extLst xmlns:a="http://schemas.openxmlformats.org/drawingml/2006/main">
              <a:ext uri="{FF2B5EF4-FFF2-40B4-BE49-F238E27FC236}">
                <a16:creationId xmlns:a16="http://schemas.microsoft.com/office/drawing/2014/main" id="{7007CECB-3540-4AA0-B2A7-51B65A1F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38375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详情与来源核查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6100" y="26431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760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86450" y="26431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760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26431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760"/>
            </a:solidFill>
            <a:tailEnd type="triangle" w="sm" len="sm"/>
          </a:ln>
        </p:spPr>
      </p:cxnSp>
      <p:sp>
        <p:nvSpPr>
          <p:cNvPr id="11" name="筛选与排序">
            <a:extLst xmlns:a="http://schemas.openxmlformats.org/drawingml/2006/main">
              <a:ext uri="{FF2B5EF4-FFF2-40B4-BE49-F238E27FC236}">
                <a16:creationId xmlns:a16="http://schemas.microsoft.com/office/drawing/2014/main" id="{A5C6A59B-369D-4722-B25A-C246349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筛选与排序</a:t>
            </a:r>
          </a:p>
        </p:txBody>
      </p:sp>
      <p:sp>
        <p:nvSpPr>
          <p:cNvPr id="12" name="跨维度AND／同维度OR；领域含子领域，分页排序可复现">
            <a:extLst xmlns:a="http://schemas.openxmlformats.org/drawingml/2006/main">
              <a:ext uri="{FF2B5EF4-FFF2-40B4-BE49-F238E27FC236}">
                <a16:creationId xmlns:a16="http://schemas.microsoft.com/office/drawing/2014/main" id="{523BE9FB-1154-4BED-AE40-DCD5A1C1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跨维度AND／同维度OR；领域含子领域，分页排序可复现</a:t>
            </a:r>
          </a:p>
        </p:txBody>
      </p:sp>
      <p:sp>
        <p:nvSpPr>
          <p:cNvPr id="13" name="异常与上下文">
            <a:extLst xmlns:a="http://schemas.openxmlformats.org/drawingml/2006/main">
              <a:ext uri="{FF2B5EF4-FFF2-40B4-BE49-F238E27FC236}">
                <a16:creationId xmlns:a16="http://schemas.microsoft.com/office/drawing/2014/main" id="{2B8715AA-FBAD-4DA0-A29E-537FCD77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异常与上下文</a:t>
            </a:r>
          </a:p>
        </p:txBody>
      </p:sp>
      <p:sp>
        <p:nvSpPr>
          <p:cNvPr id="14" name="空结果可放宽条件；超时可重试；返回保留查询条件与页码">
            <a:extLst xmlns:a="http://schemas.openxmlformats.org/drawingml/2006/main">
              <a:ext uri="{FF2B5EF4-FFF2-40B4-BE49-F238E27FC236}">
                <a16:creationId xmlns:a16="http://schemas.microsoft.com/office/drawing/2014/main" id="{9ED510AE-7E39-41B5-9E28-912C71D3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空结果可放宽条件；超时可重试；返回保留查询条件与页码</a:t>
            </a:r>
          </a:p>
        </p:txBody>
      </p:sp>
    </p:spTree>
    <p:extLst>
      <p:ext uri="{BB962C8B-B14F-4D97-AF65-F5344CB8AC3E}">
        <p14:creationId xmlns:p14="http://schemas.microsoft.com/office/powerpoint/2010/main" val="498035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门户认领：提交、核验、审核与绑定">
            <a:extLst xmlns:a="http://schemas.openxmlformats.org/drawingml/2006/main">
              <a:ext uri="{FF2B5EF4-FFF2-40B4-BE49-F238E27FC236}">
                <a16:creationId xmlns:a16="http://schemas.microsoft.com/office/drawing/2014/main" id="{A164FA70-5616-46C6-BE38-5F58596E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门户认领：提交、核验、审核与绑定</a:t>
            </a:r>
          </a:p>
        </p:txBody>
      </p:sp>
      <p:sp>
        <p:nvSpPr>
          <p:cNvPr id="2" name="与原活动图一致；审核通过还必须保证唯一绑定成功">
            <a:extLst xmlns:a="http://schemas.openxmlformats.org/drawingml/2006/main">
              <a:ext uri="{FF2B5EF4-FFF2-40B4-BE49-F238E27FC236}">
                <a16:creationId xmlns:a16="http://schemas.microsoft.com/office/drawing/2014/main" id="{84F4E55F-2151-49C9-989E-556E4D10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与原活动图一致；审核通过还必须保证唯一绑定成功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4424278D-9258-4726-8708-FB848EB3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选择本人门户">
            <a:extLst xmlns:a="http://schemas.openxmlformats.org/drawingml/2006/main">
              <a:ext uri="{FF2B5EF4-FFF2-40B4-BE49-F238E27FC236}">
                <a16:creationId xmlns:a16="http://schemas.microsoft.com/office/drawing/2014/main" id="{788515FB-9E14-4075-8DCC-10A9EF0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038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选择本人门户</a:t>
            </a:r>
          </a:p>
        </p:txBody>
      </p:sp>
      <p:sp>
        <p:nvSpPr>
          <p:cNvPr id="5" name="提交证据">
            <a:extLst xmlns:a="http://schemas.openxmlformats.org/drawingml/2006/main">
              <a:ext uri="{FF2B5EF4-FFF2-40B4-BE49-F238E27FC236}">
                <a16:creationId xmlns:a16="http://schemas.microsoft.com/office/drawing/2014/main" id="{C34A48EC-A109-410A-BABA-BA76FEE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52650"/>
            <a:ext cx="2038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提交证据</a:t>
            </a:r>
          </a:p>
        </p:txBody>
      </p:sp>
      <p:sp>
        <p:nvSpPr>
          <p:cNvPr id="6" name="平台校验">
            <a:extLst xmlns:a="http://schemas.openxmlformats.org/drawingml/2006/main">
              <a:ext uri="{FF2B5EF4-FFF2-40B4-BE49-F238E27FC236}">
                <a16:creationId xmlns:a16="http://schemas.microsoft.com/office/drawing/2014/main" id="{B5597DDD-AAAB-4891-AE18-0DFE21B8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038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平台校验</a:t>
            </a:r>
          </a:p>
        </p:txBody>
      </p:sp>
      <p:sp>
        <p:nvSpPr>
          <p:cNvPr id="7" name="管理员核验">
            <a:extLst xmlns:a="http://schemas.openxmlformats.org/drawingml/2006/main">
              <a:ext uri="{FF2B5EF4-FFF2-40B4-BE49-F238E27FC236}">
                <a16:creationId xmlns:a16="http://schemas.microsoft.com/office/drawing/2014/main" id="{1A32CAAC-1F53-4918-A6A1-86652541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2038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管理员核验</a:t>
            </a:r>
          </a:p>
        </p:txBody>
      </p:sp>
      <p:sp>
        <p:nvSpPr>
          <p:cNvPr id="8" name="绑定、授权&#10;审计">
            <a:extLst xmlns:a="http://schemas.openxmlformats.org/drawingml/2006/main">
              <a:ext uri="{FF2B5EF4-FFF2-40B4-BE49-F238E27FC236}">
                <a16:creationId xmlns:a16="http://schemas.microsoft.com/office/drawing/2014/main" id="{5039ED73-4173-42F6-A31D-588EEBBA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52650"/>
            <a:ext cx="2038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绑定、授权</a:t>
            </a:r>
          </a:p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47950" y="2533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760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76800" y="2533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76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05650" y="2533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760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34500" y="2533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760"/>
            </a:solidFill>
            <a:tailEnd type="triangle" w="sm" len="sm"/>
          </a:ln>
        </p:spPr>
      </p:cxnSp>
      <p:graphicFrame>
        <p:nvGraphicFramePr>
          <p:cNvPr id="27" name=""/>
          <p:cNvGraphicFramePr/>
          <p:nvPr/>
        </p:nvGraphicFramePr>
        <p:xfrm>
          <a:off xmlns:a="http://schemas.openxmlformats.org/drawingml/2006/main" x="609600" y="3448050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5691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分支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处理结果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证据不足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退回待补充；提交后重新校验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身份不成立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驳回并说明理由；重新申请建新记录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绑定竞争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不授予权限；保留原权限并转待审核复核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一个账号最多一个本人门户；一个门户最多一个管理账号">
            <a:extLst xmlns:a="http://schemas.openxmlformats.org/drawingml/2006/main">
              <a:ext uri="{FF2B5EF4-FFF2-40B4-BE49-F238E27FC236}">
                <a16:creationId xmlns:a16="http://schemas.microsoft.com/office/drawing/2014/main" id="{0D1A2465-18FD-4E2A-87CC-EA9BB40D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rPr>
              <a:t>一个账号最多一个本人门户；一个门户最多一个管理账号</a:t>
            </a:r>
          </a:p>
        </p:txBody>
      </p:sp>
    </p:spTree>
    <p:extLst>
      <p:ext uri="{BB962C8B-B14F-4D97-AF65-F5344CB8AC3E}">
        <p14:creationId xmlns:p14="http://schemas.microsoft.com/office/powerpoint/2010/main" val="2227398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采集任务状态机">
            <a:extLst xmlns:a="http://schemas.openxmlformats.org/drawingml/2006/main">
              <a:ext uri="{FF2B5EF4-FFF2-40B4-BE49-F238E27FC236}">
                <a16:creationId xmlns:a16="http://schemas.microsoft.com/office/drawing/2014/main" id="{D418E143-25A7-490C-A200-B420FF6E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采集任务状态机</a:t>
            </a:r>
          </a:p>
        </p:txBody>
      </p:sp>
      <p:sp>
        <p:nvSpPr>
          <p:cNvPr id="2" name="新增六状态模型；停止后再执行创建新任务">
            <a:extLst xmlns:a="http://schemas.openxmlformats.org/drawingml/2006/main">
              <a:ext uri="{FF2B5EF4-FFF2-40B4-BE49-F238E27FC236}">
                <a16:creationId xmlns:a16="http://schemas.microsoft.com/office/drawing/2014/main" id="{8FE07EA2-0E40-451F-9BCA-2A0C6F8D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新增六状态模型；停止后再执行创建新任务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2B75DDF6-4B88-4AED-9D91-CE156359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待执行">
            <a:extLst xmlns:a="http://schemas.openxmlformats.org/drawingml/2006/main">
              <a:ext uri="{FF2B5EF4-FFF2-40B4-BE49-F238E27FC236}">
                <a16:creationId xmlns:a16="http://schemas.microsoft.com/office/drawing/2014/main" id="{ED750B5D-9E21-4997-BDFC-94168F95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待执行</a:t>
            </a:r>
          </a:p>
        </p:txBody>
      </p:sp>
      <p:sp>
        <p:nvSpPr>
          <p:cNvPr id="5" name="运行中">
            <a:extLst xmlns:a="http://schemas.openxmlformats.org/drawingml/2006/main">
              <a:ext uri="{FF2B5EF4-FFF2-40B4-BE49-F238E27FC236}">
                <a16:creationId xmlns:a16="http://schemas.microsoft.com/office/drawing/2014/main" id="{CB95BE64-4290-4052-99A0-B3AB96FB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8597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运行中</a:t>
            </a:r>
          </a:p>
        </p:txBody>
      </p:sp>
      <p:sp>
        <p:nvSpPr>
          <p:cNvPr id="6" name="成功">
            <a:extLst xmlns:a="http://schemas.openxmlformats.org/drawingml/2006/main">
              <a:ext uri="{FF2B5EF4-FFF2-40B4-BE49-F238E27FC236}">
                <a16:creationId xmlns:a16="http://schemas.microsoft.com/office/drawing/2014/main" id="{2D9D0E1A-8FF7-4302-944F-63700A7C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8597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7" name="重试">
            <a:extLst xmlns:a="http://schemas.openxmlformats.org/drawingml/2006/main">
              <a:ext uri="{FF2B5EF4-FFF2-40B4-BE49-F238E27FC236}">
                <a16:creationId xmlns:a16="http://schemas.microsoft.com/office/drawing/2014/main" id="{871E433B-8F88-4110-9043-A903F7D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sp>
        <p:nvSpPr>
          <p:cNvPr id="8" name="失败">
            <a:extLst xmlns:a="http://schemas.openxmlformats.org/drawingml/2006/main">
              <a:ext uri="{FF2B5EF4-FFF2-40B4-BE49-F238E27FC236}">
                <a16:creationId xmlns:a16="http://schemas.microsoft.com/office/drawing/2014/main" id="{08F77331-CFAC-4879-B1AE-FF60052E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00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9" name="已停止">
            <a:extLst xmlns:a="http://schemas.openxmlformats.org/drawingml/2006/main">
              <a:ext uri="{FF2B5EF4-FFF2-40B4-BE49-F238E27FC236}">
                <a16:creationId xmlns:a16="http://schemas.microsoft.com/office/drawing/2014/main" id="{700EBBB6-6DC7-4DC8-A8B8-97D14AD9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已停止</a:t>
            </a:r>
          </a:p>
        </p:txBody>
      </p:sp>
      <p:sp>
        <p:nvSpPr>
          <p:cNvPr id="10" name="启动／计划触发状态迁移">
            <a:extLst xmlns:a="http://schemas.openxmlformats.org/drawingml/2006/main">
              <a:ext uri="{FF2B5EF4-FFF2-40B4-BE49-F238E27FC236}">
                <a16:creationId xmlns:a16="http://schemas.microsoft.com/office/drawing/2014/main" id="{58E597E2-77B1-45AC-B434-B604D2F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19350"/>
            <a:ext cx="1647825" cy="9525"/>
          </a:xfrm>
          <a:custGeom xmlns:a="http://schemas.openxmlformats.org/drawingml/2006/main">
            <a:pathLst>
              <a:path w="1647825" h="9525">
                <a:moveTo>
                  <a:pt x="0" y="0"/>
                </a:moveTo>
                <a:lnTo>
                  <a:pt x="164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E6DD2-F749-4A7B-9F04-93A31960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10050" y="2371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12" name="启动／计划触发">
            <a:extLst xmlns:a="http://schemas.openxmlformats.org/drawingml/2006/main">
              <a:ext uri="{FF2B5EF4-FFF2-40B4-BE49-F238E27FC236}">
                <a16:creationId xmlns:a16="http://schemas.microsoft.com/office/drawing/2014/main" id="{94FDFC9B-EB53-408D-9D51-B3A6A9AF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383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启动／计划触发</a:t>
            </a:r>
          </a:p>
        </p:txBody>
      </p:sp>
      <p:sp>
        <p:nvSpPr>
          <p:cNvPr id="13" name="采集解析完成状态迁移">
            <a:extLst xmlns:a="http://schemas.openxmlformats.org/drawingml/2006/main">
              <a:ext uri="{FF2B5EF4-FFF2-40B4-BE49-F238E27FC236}">
                <a16:creationId xmlns:a16="http://schemas.microsoft.com/office/drawing/2014/main" id="{E90808E9-DCA1-458F-A689-B86188E9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19350"/>
            <a:ext cx="3324225" cy="9525"/>
          </a:xfrm>
          <a:custGeom xmlns:a="http://schemas.openxmlformats.org/drawingml/2006/main">
            <a:pathLst>
              <a:path w="3324225" h="9525">
                <a:moveTo>
                  <a:pt x="0" y="0"/>
                </a:moveTo>
                <a:lnTo>
                  <a:pt x="3324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78112-D8D6-47A1-A338-6119E827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34525" y="2371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15" name="采集解析完成">
            <a:extLst xmlns:a="http://schemas.openxmlformats.org/drawingml/2006/main">
              <a:ext uri="{FF2B5EF4-FFF2-40B4-BE49-F238E27FC236}">
                <a16:creationId xmlns:a16="http://schemas.microsoft.com/office/drawing/2014/main" id="{968E48C3-C62B-492E-A62A-AADF6B96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288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采集解析完成</a:t>
            </a:r>
          </a:p>
        </p:txBody>
      </p:sp>
      <p:sp>
        <p:nvSpPr>
          <p:cNvPr id="16" name="无法继续状态迁移">
            <a:extLst xmlns:a="http://schemas.openxmlformats.org/drawingml/2006/main">
              <a:ext uri="{FF2B5EF4-FFF2-40B4-BE49-F238E27FC236}">
                <a16:creationId xmlns:a16="http://schemas.microsoft.com/office/drawing/2014/main" id="{DA93F3AC-4752-4374-AE4C-F7D96C2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52725"/>
            <a:ext cx="9525" cy="1247775"/>
          </a:xfrm>
          <a:custGeom xmlns:a="http://schemas.openxmlformats.org/drawingml/2006/main">
            <a:pathLst>
              <a:path w="9525" h="1247775">
                <a:moveTo>
                  <a:pt x="0" y="0"/>
                </a:moveTo>
                <a:lnTo>
                  <a:pt x="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AE747-E478-40EC-B9E9-53C179A7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210175" y="3952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18" name="无法继续">
            <a:extLst xmlns:a="http://schemas.openxmlformats.org/drawingml/2006/main">
              <a:ext uri="{FF2B5EF4-FFF2-40B4-BE49-F238E27FC236}">
                <a16:creationId xmlns:a16="http://schemas.microsoft.com/office/drawing/2014/main" id="{79C948E7-4FCD-4A7F-B9A7-019C949C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无法继续</a:t>
            </a:r>
          </a:p>
        </p:txBody>
      </p:sp>
      <p:sp>
        <p:nvSpPr>
          <p:cNvPr id="19" name="重试获准状态迁移">
            <a:extLst xmlns:a="http://schemas.openxmlformats.org/drawingml/2006/main">
              <a:ext uri="{FF2B5EF4-FFF2-40B4-BE49-F238E27FC236}">
                <a16:creationId xmlns:a16="http://schemas.microsoft.com/office/drawing/2014/main" id="{C9548FCE-DC67-428C-954E-C5B52E01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33875"/>
            <a:ext cx="1647825" cy="9525"/>
          </a:xfrm>
          <a:custGeom xmlns:a="http://schemas.openxmlformats.org/drawingml/2006/main">
            <a:pathLst>
              <a:path w="1647825" h="9525">
                <a:moveTo>
                  <a:pt x="164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3033F-3A42-4CC8-BD07-4F814977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562225" y="4286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21" name="重试获准">
            <a:extLst xmlns:a="http://schemas.openxmlformats.org/drawingml/2006/main">
              <a:ext uri="{FF2B5EF4-FFF2-40B4-BE49-F238E27FC236}">
                <a16:creationId xmlns:a16="http://schemas.microsoft.com/office/drawing/2014/main" id="{AD1CF32B-89C6-48FF-83FF-A4C3F674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重试获准</a:t>
            </a:r>
          </a:p>
        </p:txBody>
      </p:sp>
      <p:sp>
        <p:nvSpPr>
          <p:cNvPr id="22" name="退避到期状态迁移">
            <a:extLst xmlns:a="http://schemas.openxmlformats.org/drawingml/2006/main">
              <a:ext uri="{FF2B5EF4-FFF2-40B4-BE49-F238E27FC236}">
                <a16:creationId xmlns:a16="http://schemas.microsoft.com/office/drawing/2014/main" id="{30CB963E-469A-463D-B89C-4FFAE493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3048000" cy="1247775"/>
          </a:xfrm>
          <a:custGeom xmlns:a="http://schemas.openxmlformats.org/drawingml/2006/main">
            <a:pathLst>
              <a:path w="3048000" h="1247775">
                <a:moveTo>
                  <a:pt x="0" y="1247775"/>
                </a:moveTo>
                <a:lnTo>
                  <a:pt x="0" y="457200"/>
                </a:lnTo>
                <a:lnTo>
                  <a:pt x="3048000" y="457200"/>
                </a:ln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4381E-B17E-497F-9235-926B32E4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705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24" name="退避到期">
            <a:extLst xmlns:a="http://schemas.openxmlformats.org/drawingml/2006/main">
              <a:ext uri="{FF2B5EF4-FFF2-40B4-BE49-F238E27FC236}">
                <a16:creationId xmlns:a16="http://schemas.microsoft.com/office/drawing/2014/main" id="{22AA0A2B-44CF-4905-8C69-A0CD54B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289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退避到期</a:t>
            </a:r>
          </a:p>
        </p:txBody>
      </p:sp>
      <p:sp>
        <p:nvSpPr>
          <p:cNvPr id="25" name="放弃任务状态迁移">
            <a:extLst xmlns:a="http://schemas.openxmlformats.org/drawingml/2006/main">
              <a:ext uri="{FF2B5EF4-FFF2-40B4-BE49-F238E27FC236}">
                <a16:creationId xmlns:a16="http://schemas.microsoft.com/office/drawing/2014/main" id="{6D62BE09-0381-4ECB-A9C7-AAA36CE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33875"/>
            <a:ext cx="3324225" cy="9525"/>
          </a:xfrm>
          <a:custGeom xmlns:a="http://schemas.openxmlformats.org/drawingml/2006/main">
            <a:pathLst>
              <a:path w="3324225" h="9525">
                <a:moveTo>
                  <a:pt x="0" y="0"/>
                </a:moveTo>
                <a:lnTo>
                  <a:pt x="3324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4A3A6-C9E8-4B8F-AC84-FAE36F4F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34525" y="4286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27" name="放弃任务">
            <a:extLst xmlns:a="http://schemas.openxmlformats.org/drawingml/2006/main">
              <a:ext uri="{FF2B5EF4-FFF2-40B4-BE49-F238E27FC236}">
                <a16:creationId xmlns:a16="http://schemas.microsoft.com/office/drawing/2014/main" id="{DAA14BB1-6BE3-48A3-816A-783CDAF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528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放弃任务</a:t>
            </a:r>
          </a:p>
        </p:txBody>
      </p:sp>
      <p:sp>
        <p:nvSpPr>
          <p:cNvPr id="28" name="停止状态迁移">
            <a:extLst xmlns:a="http://schemas.openxmlformats.org/drawingml/2006/main">
              <a:ext uri="{FF2B5EF4-FFF2-40B4-BE49-F238E27FC236}">
                <a16:creationId xmlns:a16="http://schemas.microsoft.com/office/drawing/2014/main" id="{0B2F0A77-C8B3-44D5-B981-C1EC126E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52725"/>
            <a:ext cx="4695825" cy="1247775"/>
          </a:xfrm>
          <a:custGeom xmlns:a="http://schemas.openxmlformats.org/drawingml/2006/main">
            <a:pathLst>
              <a:path w="4695825" h="1247775">
                <a:moveTo>
                  <a:pt x="0" y="0"/>
                </a:moveTo>
                <a:lnTo>
                  <a:pt x="0" y="838200"/>
                </a:lnTo>
                <a:lnTo>
                  <a:pt x="4695825" y="838200"/>
                </a:lnTo>
                <a:lnTo>
                  <a:pt x="4695825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95272-06E3-4007-B2B3-33FFF1A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534650" y="3952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30" name="停止">
            <a:extLst xmlns:a="http://schemas.openxmlformats.org/drawingml/2006/main">
              <a:ext uri="{FF2B5EF4-FFF2-40B4-BE49-F238E27FC236}">
                <a16:creationId xmlns:a16="http://schemas.microsoft.com/office/drawing/2014/main" id="{E37D4E00-FC44-4679-8737-4CC7760D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099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31" name="取消状态迁移">
            <a:extLst xmlns:a="http://schemas.openxmlformats.org/drawingml/2006/main">
              <a:ext uri="{FF2B5EF4-FFF2-40B4-BE49-F238E27FC236}">
                <a16:creationId xmlns:a16="http://schemas.microsoft.com/office/drawing/2014/main" id="{8B660B86-6C29-48A5-8EB2-5CA9F01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9715500" cy="2686050"/>
          </a:xfrm>
          <a:custGeom xmlns:a="http://schemas.openxmlformats.org/drawingml/2006/main">
            <a:pathLst>
              <a:path w="9715500" h="2686050">
                <a:moveTo>
                  <a:pt x="209550" y="0"/>
                </a:moveTo>
                <a:lnTo>
                  <a:pt x="0" y="0"/>
                </a:lnTo>
                <a:lnTo>
                  <a:pt x="0" y="2686050"/>
                </a:lnTo>
                <a:lnTo>
                  <a:pt x="9715500" y="2686050"/>
                </a:lnTo>
                <a:lnTo>
                  <a:pt x="9715500" y="22479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00D254-4066-4C52-8EA9-97F8394F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925" y="4619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33" name="取消">
            <a:extLst xmlns:a="http://schemas.openxmlformats.org/drawingml/2006/main">
              <a:ext uri="{FF2B5EF4-FFF2-40B4-BE49-F238E27FC236}">
                <a16:creationId xmlns:a16="http://schemas.microsoft.com/office/drawing/2014/main" id="{FE84D789-8F68-4590-840D-48172411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09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取消</a:t>
            </a:r>
          </a:p>
        </p:txBody>
      </p:sp>
      <p:sp>
        <p:nvSpPr>
          <p:cNvPr id="34" name="停止重试状态迁移">
            <a:extLst xmlns:a="http://schemas.openxmlformats.org/drawingml/2006/main">
              <a:ext uri="{FF2B5EF4-FFF2-40B4-BE49-F238E27FC236}">
                <a16:creationId xmlns:a16="http://schemas.microsoft.com/office/drawing/2014/main" id="{E2C84953-A216-4DEC-84E7-B921962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667250"/>
            <a:ext cx="9439275" cy="600075"/>
          </a:xfrm>
          <a:custGeom xmlns:a="http://schemas.openxmlformats.org/drawingml/2006/main">
            <a:pathLst>
              <a:path w="9439275" h="600075">
                <a:moveTo>
                  <a:pt x="0" y="0"/>
                </a:moveTo>
                <a:lnTo>
                  <a:pt x="0" y="600075"/>
                </a:lnTo>
                <a:lnTo>
                  <a:pt x="9439275" y="600075"/>
                </a:lnTo>
                <a:lnTo>
                  <a:pt x="943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FEA66B-6329-412D-A413-BF7C571B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1375" y="4619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36" name="停止重试">
            <a:extLst xmlns:a="http://schemas.openxmlformats.org/drawingml/2006/main">
              <a:ext uri="{FF2B5EF4-FFF2-40B4-BE49-F238E27FC236}">
                <a16:creationId xmlns:a16="http://schemas.microsoft.com/office/drawing/2014/main" id="{48270950-94D7-453B-AD2A-BAA98DF2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238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停止重试</a:t>
            </a:r>
          </a:p>
        </p:txBody>
      </p:sp>
      <p:sp>
        <p:nvSpPr>
          <p:cNvPr id="37" name="取消、停止与放弃均进入已停止；每次迁移保留日志、进度和原因">
            <a:extLst xmlns:a="http://schemas.openxmlformats.org/drawingml/2006/main">
              <a:ext uri="{FF2B5EF4-FFF2-40B4-BE49-F238E27FC236}">
                <a16:creationId xmlns:a16="http://schemas.microsoft.com/office/drawing/2014/main" id="{695B68C7-FB48-4285-8333-AA8037B3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rPr>
              <a:t>取消、停止与放弃均进入已停止；每次迁移保留日志、进度和原因</a:t>
            </a:r>
          </a:p>
        </p:txBody>
      </p:sp>
    </p:spTree>
    <p:extLst>
      <p:ext uri="{BB962C8B-B14F-4D97-AF65-F5344CB8AC3E}">
        <p14:creationId xmlns:p14="http://schemas.microsoft.com/office/powerpoint/2010/main" val="14140335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认领申请状态机">
            <a:extLst xmlns:a="http://schemas.openxmlformats.org/drawingml/2006/main">
              <a:ext uri="{FF2B5EF4-FFF2-40B4-BE49-F238E27FC236}">
                <a16:creationId xmlns:a16="http://schemas.microsoft.com/office/drawing/2014/main" id="{5E2F56EA-6785-4395-939C-E96CE103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认领申请状态机</a:t>
            </a:r>
          </a:p>
        </p:txBody>
      </p:sp>
      <p:sp>
        <p:nvSpPr>
          <p:cNvPr id="2" name="补入“待补充”，保留终态历史；驳回后重新申请建新记录">
            <a:extLst xmlns:a="http://schemas.openxmlformats.org/drawingml/2006/main">
              <a:ext uri="{FF2B5EF4-FFF2-40B4-BE49-F238E27FC236}">
                <a16:creationId xmlns:a16="http://schemas.microsoft.com/office/drawing/2014/main" id="{2DA89939-440E-4A42-884B-D0298DA6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补入“待补充”，保留终态历史；驳回后重新申请建新记录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6C0CB3CF-1A2E-43B2-9BD1-FAF53344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草稿">
            <a:extLst xmlns:a="http://schemas.openxmlformats.org/drawingml/2006/main">
              <a:ext uri="{FF2B5EF4-FFF2-40B4-BE49-F238E27FC236}">
                <a16:creationId xmlns:a16="http://schemas.microsoft.com/office/drawing/2014/main" id="{9BF20F88-736E-4197-A0CA-6D6D01F6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5" name="待审核">
            <a:extLst xmlns:a="http://schemas.openxmlformats.org/drawingml/2006/main">
              <a:ext uri="{FF2B5EF4-FFF2-40B4-BE49-F238E27FC236}">
                <a16:creationId xmlns:a16="http://schemas.microsoft.com/office/drawing/2014/main" id="{87FBC361-C4CA-4153-8A7A-5CC7698A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14550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待审核</a:t>
            </a:r>
          </a:p>
        </p:txBody>
      </p:sp>
      <p:sp>
        <p:nvSpPr>
          <p:cNvPr id="6" name="审核中">
            <a:extLst xmlns:a="http://schemas.openxmlformats.org/drawingml/2006/main">
              <a:ext uri="{FF2B5EF4-FFF2-40B4-BE49-F238E27FC236}">
                <a16:creationId xmlns:a16="http://schemas.microsoft.com/office/drawing/2014/main" id="{09CC279C-57FF-4888-8BAC-8F6AF40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14550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审核中</a:t>
            </a:r>
          </a:p>
        </p:txBody>
      </p:sp>
      <p:sp>
        <p:nvSpPr>
          <p:cNvPr id="7" name="已通过">
            <a:extLst xmlns:a="http://schemas.openxmlformats.org/drawingml/2006/main">
              <a:ext uri="{FF2B5EF4-FFF2-40B4-BE49-F238E27FC236}">
                <a16:creationId xmlns:a16="http://schemas.microsoft.com/office/drawing/2014/main" id="{85D6741C-3D07-4D2F-A1D0-94F0EF84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已通过</a:t>
            </a:r>
          </a:p>
        </p:txBody>
      </p:sp>
      <p:sp>
        <p:nvSpPr>
          <p:cNvPr id="8" name="已撤回">
            <a:extLst xmlns:a="http://schemas.openxmlformats.org/drawingml/2006/main">
              <a:ext uri="{FF2B5EF4-FFF2-40B4-BE49-F238E27FC236}">
                <a16:creationId xmlns:a16="http://schemas.microsoft.com/office/drawing/2014/main" id="{B8C5285D-FD5A-4071-B755-F09FBA16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已撤回</a:t>
            </a:r>
          </a:p>
        </p:txBody>
      </p:sp>
      <p:sp>
        <p:nvSpPr>
          <p:cNvPr id="9" name="待补充">
            <a:extLst xmlns:a="http://schemas.openxmlformats.org/drawingml/2006/main">
              <a:ext uri="{FF2B5EF4-FFF2-40B4-BE49-F238E27FC236}">
                <a16:creationId xmlns:a16="http://schemas.microsoft.com/office/drawing/2014/main" id="{1C87077A-0C36-43D4-8872-EF6FA8C3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57675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10" name="已驳回">
            <a:extLst xmlns:a="http://schemas.openxmlformats.org/drawingml/2006/main">
              <a:ext uri="{FF2B5EF4-FFF2-40B4-BE49-F238E27FC236}">
                <a16:creationId xmlns:a16="http://schemas.microsoft.com/office/drawing/2014/main" id="{A82F6BFB-BBB3-4BAD-BBB7-49565222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57675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E9"/>
          </a:solidFill>
          <a:ln xmlns:a="http://schemas.openxmlformats.org/drawingml/2006/main" w="12383">
            <a:solidFill>
              <a:srgbClr val="243E38"/>
            </a:solidFill>
          </a:ln>
        </p:spPr>
        <p:txBody>
          <a:bodyPr xmlns:a="http://schemas.openxmlformats.org/drawingml/2006/main" lIns="66675" tIns="28575" rIns="66675" bIns="28575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已驳回</a:t>
            </a:r>
          </a:p>
        </p:txBody>
      </p:sp>
      <p:sp>
        <p:nvSpPr>
          <p:cNvPr id="11" name="提交状态迁移">
            <a:extLst xmlns:a="http://schemas.openxmlformats.org/drawingml/2006/main">
              <a:ext uri="{FF2B5EF4-FFF2-40B4-BE49-F238E27FC236}">
                <a16:creationId xmlns:a16="http://schemas.microsoft.com/office/drawing/2014/main" id="{DF74B202-24BF-4C3E-9128-106A953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1152525" cy="9525"/>
          </a:xfrm>
          <a:custGeom xmlns:a="http://schemas.openxmlformats.org/drawingml/2006/main">
            <a:pathLst>
              <a:path w="1152525" h="9525">
                <a:moveTo>
                  <a:pt x="0" y="0"/>
                </a:moveTo>
                <a:lnTo>
                  <a:pt x="1152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A4FD9-8DE7-4756-BAE5-96BBB3E6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19500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13" name="提交">
            <a:extLst xmlns:a="http://schemas.openxmlformats.org/drawingml/2006/main">
              <a:ext uri="{FF2B5EF4-FFF2-40B4-BE49-F238E27FC236}">
                <a16:creationId xmlns:a16="http://schemas.microsoft.com/office/drawing/2014/main" id="{956923DC-39E1-4B4A-9CC0-E4468D7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24075"/>
            <a:ext cx="847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4" name="受理状态迁移">
            <a:extLst xmlns:a="http://schemas.openxmlformats.org/drawingml/2006/main">
              <a:ext uri="{FF2B5EF4-FFF2-40B4-BE49-F238E27FC236}">
                <a16:creationId xmlns:a16="http://schemas.microsoft.com/office/drawing/2014/main" id="{81B314D2-2A6D-476D-BF7E-FDC3FCA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47925"/>
            <a:ext cx="1162050" cy="9525"/>
          </a:xfrm>
          <a:custGeom xmlns:a="http://schemas.openxmlformats.org/drawingml/2006/main">
            <a:pathLst>
              <a:path w="1162050" h="952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DBB17-FD95-4D73-9D3F-37B4B7E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86550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16" name="受理">
            <a:extLst xmlns:a="http://schemas.openxmlformats.org/drawingml/2006/main">
              <a:ext uri="{FF2B5EF4-FFF2-40B4-BE49-F238E27FC236}">
                <a16:creationId xmlns:a16="http://schemas.microsoft.com/office/drawing/2014/main" id="{F1FFF3B9-F2F2-4023-A052-74190867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133600"/>
            <a:ext cx="828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受理</a:t>
            </a:r>
          </a:p>
        </p:txBody>
      </p:sp>
      <p:sp>
        <p:nvSpPr>
          <p:cNvPr id="17" name="绑定通过状态迁移">
            <a:extLst xmlns:a="http://schemas.openxmlformats.org/drawingml/2006/main">
              <a:ext uri="{FF2B5EF4-FFF2-40B4-BE49-F238E27FC236}">
                <a16:creationId xmlns:a16="http://schemas.microsoft.com/office/drawing/2014/main" id="{575EEA49-C9BA-4E40-B023-7E74AD6E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47925"/>
            <a:ext cx="1038225" cy="9525"/>
          </a:xfrm>
          <a:custGeom xmlns:a="http://schemas.openxmlformats.org/drawingml/2006/main">
            <a:pathLst>
              <a:path w="1038225" h="9525">
                <a:moveTo>
                  <a:pt x="0" y="0"/>
                </a:moveTo>
                <a:lnTo>
                  <a:pt x="1038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15751-302D-44FA-A7A7-31BE4822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29775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19" name="绑定通过">
            <a:extLst xmlns:a="http://schemas.openxmlformats.org/drawingml/2006/main">
              <a:ext uri="{FF2B5EF4-FFF2-40B4-BE49-F238E27FC236}">
                <a16:creationId xmlns:a16="http://schemas.microsoft.com/office/drawing/2014/main" id="{AF3CEF9F-04E1-460D-848B-7020BAB4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95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绑定通过</a:t>
            </a:r>
          </a:p>
        </p:txBody>
      </p:sp>
      <p:sp>
        <p:nvSpPr>
          <p:cNvPr id="20" name="证据不足状态迁移">
            <a:extLst xmlns:a="http://schemas.openxmlformats.org/drawingml/2006/main">
              <a:ext uri="{FF2B5EF4-FFF2-40B4-BE49-F238E27FC236}">
                <a16:creationId xmlns:a16="http://schemas.microsoft.com/office/drawing/2014/main" id="{CDA10AEB-77BF-467B-9915-A669CDE7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2447925" cy="1476375"/>
          </a:xfrm>
          <a:custGeom xmlns:a="http://schemas.openxmlformats.org/drawingml/2006/main">
            <a:pathLst>
              <a:path w="2447925" h="1476375">
                <a:moveTo>
                  <a:pt x="2447925" y="0"/>
                </a:moveTo>
                <a:lnTo>
                  <a:pt x="2447925" y="942975"/>
                </a:lnTo>
                <a:lnTo>
                  <a:pt x="0" y="942975"/>
                </a:lnTo>
                <a:lnTo>
                  <a:pt x="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CFBBF-A808-49D8-AAEF-459D02B8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05375" y="42100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22" name="证据不足">
            <a:extLst xmlns:a="http://schemas.openxmlformats.org/drawingml/2006/main">
              <a:ext uri="{FF2B5EF4-FFF2-40B4-BE49-F238E27FC236}">
                <a16:creationId xmlns:a16="http://schemas.microsoft.com/office/drawing/2014/main" id="{4E618CFA-35ED-4367-B1F8-10F68E72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29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证据不足</a:t>
            </a:r>
          </a:p>
        </p:txBody>
      </p:sp>
      <p:sp>
        <p:nvSpPr>
          <p:cNvPr id="23" name="补充提交状态迁移">
            <a:extLst xmlns:a="http://schemas.openxmlformats.org/drawingml/2006/main">
              <a:ext uri="{FF2B5EF4-FFF2-40B4-BE49-F238E27FC236}">
                <a16:creationId xmlns:a16="http://schemas.microsoft.com/office/drawing/2014/main" id="{19B4EBD5-603D-4249-9DA2-D24640B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9525" cy="1476375"/>
          </a:xfrm>
          <a:custGeom xmlns:a="http://schemas.openxmlformats.org/drawingml/2006/main">
            <a:pathLst>
              <a:path w="9525" h="1476375">
                <a:moveTo>
                  <a:pt x="0" y="1476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5CCF00-EB26-4D53-AB1D-25768B54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25" name="补充提交">
            <a:extLst xmlns:a="http://schemas.openxmlformats.org/drawingml/2006/main">
              <a:ext uri="{FF2B5EF4-FFF2-40B4-BE49-F238E27FC236}">
                <a16:creationId xmlns:a16="http://schemas.microsoft.com/office/drawing/2014/main" id="{6A69FF81-F684-4011-99C8-0270FA65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补充提交</a:t>
            </a:r>
          </a:p>
        </p:txBody>
      </p:sp>
      <p:sp>
        <p:nvSpPr>
          <p:cNvPr id="26" name="驳回状态迁移">
            <a:extLst xmlns:a="http://schemas.openxmlformats.org/drawingml/2006/main">
              <a:ext uri="{FF2B5EF4-FFF2-40B4-BE49-F238E27FC236}">
                <a16:creationId xmlns:a16="http://schemas.microsoft.com/office/drawing/2014/main" id="{C71623A2-7683-47FF-9CD0-1637E436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2571750" cy="1476375"/>
          </a:xfrm>
          <a:custGeom xmlns:a="http://schemas.openxmlformats.org/drawingml/2006/main">
            <a:pathLst>
              <a:path w="2571750" h="1476375">
                <a:moveTo>
                  <a:pt x="0" y="0"/>
                </a:moveTo>
                <a:lnTo>
                  <a:pt x="0" y="533400"/>
                </a:lnTo>
                <a:lnTo>
                  <a:pt x="2571750" y="533400"/>
                </a:lnTo>
                <a:lnTo>
                  <a:pt x="257175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7C021F-A4B9-45D1-AE0B-F3C0A14C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582275" y="42100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28" name="驳回">
            <a:extLst xmlns:a="http://schemas.openxmlformats.org/drawingml/2006/main">
              <a:ext uri="{FF2B5EF4-FFF2-40B4-BE49-F238E27FC236}">
                <a16:creationId xmlns:a16="http://schemas.microsoft.com/office/drawing/2014/main" id="{7686CCD4-D1F4-478E-BC93-BFCF6B6D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驳回</a:t>
            </a:r>
          </a:p>
        </p:txBody>
      </p:sp>
      <p:sp>
        <p:nvSpPr>
          <p:cNvPr id="29" name="绑定冲突／复核状态迁移">
            <a:extLst xmlns:a="http://schemas.openxmlformats.org/drawingml/2006/main">
              <a:ext uri="{FF2B5EF4-FFF2-40B4-BE49-F238E27FC236}">
                <a16:creationId xmlns:a16="http://schemas.microsoft.com/office/drawing/2014/main" id="{611ED605-B318-435D-9271-EE85CE20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14525"/>
            <a:ext cx="3057525" cy="200025"/>
          </a:xfrm>
          <a:custGeom xmlns:a="http://schemas.openxmlformats.org/drawingml/2006/main">
            <a:pathLst>
              <a:path w="3057525" h="200025">
                <a:moveTo>
                  <a:pt x="3057525" y="200025"/>
                </a:moveTo>
                <a:lnTo>
                  <a:pt x="3057525" y="0"/>
                </a:lnTo>
                <a:lnTo>
                  <a:pt x="0" y="0"/>
                </a:ln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D3E4F7-CBFB-4577-BF35-27E95D48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572000" y="2066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31" name="绑定冲突／复核">
            <a:extLst xmlns:a="http://schemas.openxmlformats.org/drawingml/2006/main">
              <a:ext uri="{FF2B5EF4-FFF2-40B4-BE49-F238E27FC236}">
                <a16:creationId xmlns:a16="http://schemas.microsoft.com/office/drawing/2014/main" id="{E437E377-AE95-4380-BB07-B8E35EC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383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绑定冲突／复核</a:t>
            </a:r>
          </a:p>
        </p:txBody>
      </p:sp>
      <p:sp>
        <p:nvSpPr>
          <p:cNvPr id="32" name="放弃状态迁移">
            <a:extLst xmlns:a="http://schemas.openxmlformats.org/drawingml/2006/main">
              <a:ext uri="{FF2B5EF4-FFF2-40B4-BE49-F238E27FC236}">
                <a16:creationId xmlns:a16="http://schemas.microsoft.com/office/drawing/2014/main" id="{A0360387-BAB2-458B-A258-0F335CCB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81300"/>
            <a:ext cx="9525" cy="1476375"/>
          </a:xfrm>
          <a:custGeom xmlns:a="http://schemas.openxmlformats.org/drawingml/2006/main">
            <a:pathLst>
              <a:path w="9525" h="1476375">
                <a:moveTo>
                  <a:pt x="0" y="0"/>
                </a:moveTo>
                <a:lnTo>
                  <a:pt x="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0CEF20-35DC-4AEA-8346-AC289BCB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514475" y="42100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34" name="放弃">
            <a:extLst xmlns:a="http://schemas.openxmlformats.org/drawingml/2006/main">
              <a:ext uri="{FF2B5EF4-FFF2-40B4-BE49-F238E27FC236}">
                <a16:creationId xmlns:a16="http://schemas.microsoft.com/office/drawing/2014/main" id="{0BA3C36D-E05C-4165-B67C-79A99CDA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3813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放弃</a:t>
            </a:r>
          </a:p>
        </p:txBody>
      </p:sp>
      <p:sp>
        <p:nvSpPr>
          <p:cNvPr id="35" name="撤回状态迁移">
            <a:extLst xmlns:a="http://schemas.openxmlformats.org/drawingml/2006/main">
              <a:ext uri="{FF2B5EF4-FFF2-40B4-BE49-F238E27FC236}">
                <a16:creationId xmlns:a16="http://schemas.microsoft.com/office/drawing/2014/main" id="{D4FD5C96-930C-44D2-9621-48FF73D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67000"/>
            <a:ext cx="1152525" cy="1924050"/>
          </a:xfrm>
          <a:custGeom xmlns:a="http://schemas.openxmlformats.org/drawingml/2006/main">
            <a:pathLst>
              <a:path w="1152525" h="1924050">
                <a:moveTo>
                  <a:pt x="1152525" y="0"/>
                </a:moveTo>
                <a:lnTo>
                  <a:pt x="361950" y="0"/>
                </a:lnTo>
                <a:lnTo>
                  <a:pt x="361950" y="1924050"/>
                </a:lnTo>
                <a:lnTo>
                  <a:pt x="0" y="19240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464C84-8322-4997-A7A9-7D1DEBF2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466975" y="4543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37" name="撤回">
            <a:extLst xmlns:a="http://schemas.openxmlformats.org/drawingml/2006/main">
              <a:ext uri="{FF2B5EF4-FFF2-40B4-BE49-F238E27FC236}">
                <a16:creationId xmlns:a16="http://schemas.microsoft.com/office/drawing/2014/main" id="{8201ADE0-0280-4576-BBE9-FAB77A70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828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撤回</a:t>
            </a:r>
          </a:p>
        </p:txBody>
      </p:sp>
      <p:sp>
        <p:nvSpPr>
          <p:cNvPr id="38" name="撤回状态迁移">
            <a:extLst xmlns:a="http://schemas.openxmlformats.org/drawingml/2006/main">
              <a:ext uri="{FF2B5EF4-FFF2-40B4-BE49-F238E27FC236}">
                <a16:creationId xmlns:a16="http://schemas.microsoft.com/office/drawing/2014/main" id="{5D804311-CE1F-487E-8338-F85D0C75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91050"/>
            <a:ext cx="1152525" cy="9525"/>
          </a:xfrm>
          <a:custGeom xmlns:a="http://schemas.openxmlformats.org/drawingml/2006/main">
            <a:pathLst>
              <a:path w="1152525" h="9525">
                <a:moveTo>
                  <a:pt x="1152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2676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AF090A-9A2B-4AED-B3D9-B9E61AA3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466975" y="4543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26760"/>
          </a:solidFill>
          <a:ln xmlns:a="http://schemas.openxmlformats.org/drawingml/2006/main" w="0">
            <a:solidFill>
              <a:srgbClr val="526760"/>
            </a:solidFill>
          </a:ln>
        </p:spPr>
      </p:sp>
      <p:sp>
        <p:nvSpPr>
          <p:cNvPr id="40" name="撤回">
            <a:extLst xmlns:a="http://schemas.openxmlformats.org/drawingml/2006/main">
              <a:ext uri="{FF2B5EF4-FFF2-40B4-BE49-F238E27FC236}">
                <a16:creationId xmlns:a16="http://schemas.microsoft.com/office/drawing/2014/main" id="{C898C540-DC7A-4AA1-8501-7A5812C7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1962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撤回</a:t>
            </a:r>
          </a:p>
        </p:txBody>
      </p:sp>
      <p:sp>
        <p:nvSpPr>
          <p:cNvPr id="41" name="未通过或发生冲突时不授予权限；申请状态变更必须记录操作者和理由">
            <a:extLst xmlns:a="http://schemas.openxmlformats.org/drawingml/2006/main">
              <a:ext uri="{FF2B5EF4-FFF2-40B4-BE49-F238E27FC236}">
                <a16:creationId xmlns:a16="http://schemas.microsoft.com/office/drawing/2014/main" id="{331678DE-ED07-4C20-B677-88FBB9E4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rPr>
              <a:t>未通过或发生冲突时不授予权限；申请状态变更必须记录操作者和理由</a:t>
            </a:r>
          </a:p>
        </p:txBody>
      </p:sp>
    </p:spTree>
    <p:extLst>
      <p:ext uri="{BB962C8B-B14F-4D97-AF65-F5344CB8AC3E}">
        <p14:creationId xmlns:p14="http://schemas.microsoft.com/office/powerpoint/2010/main" val="812280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RS与SPEC：把业务规则写成可实现约束">
            <a:extLst xmlns:a="http://schemas.openxmlformats.org/drawingml/2006/main">
              <a:ext uri="{FF2B5EF4-FFF2-40B4-BE49-F238E27FC236}">
                <a16:creationId xmlns:a16="http://schemas.microsoft.com/office/drawing/2014/main" id="{01414CC0-96FF-482A-B817-6FD13F43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SRS与SPEC：把业务规则写成可实现约束</a:t>
            </a:r>
          </a:p>
        </p:txBody>
      </p:sp>
      <p:sp>
        <p:nvSpPr>
          <p:cNvPr id="2" name="6项已有核心规范；项目、认领与统计仍需回写正式文件">
            <a:extLst xmlns:a="http://schemas.openxmlformats.org/drawingml/2006/main">
              <a:ext uri="{FF2B5EF4-FFF2-40B4-BE49-F238E27FC236}">
                <a16:creationId xmlns:a16="http://schemas.microsoft.com/office/drawing/2014/main" id="{D8F1722D-20A3-4BD5-8467-5F58FA96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6项已有核心规范；项目、认领与统计仍需回写正式文件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CC558D09-C362-469F-84FD-1A1286E3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810000"/>
                <a:gridCol w="3781425"/>
              </a:tblGrid>
              <a:tr h="8115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已有模块规范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规则重点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建议补齐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INGEST／DATA-01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采集、清洗与字段标准化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四类来源、项目字段、六状态与检查点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DATA-02／DATA-03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成果去重、作者机构消歧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项目键、强标识冲突、缺失证据与样本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SEARCH／QUALITY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排序、过滤、来源与复核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项目检索、评分归一化、指标分母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CLAIM／STAT（新增建议）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认领权限、统计与合作网络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原子绑定、终态历史、计数与证据明细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573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去重与消歧：标识优先，证据不足人工复核">
            <a:extLst xmlns:a="http://schemas.openxmlformats.org/drawingml/2006/main">
              <a:ext uri="{FF2B5EF4-FFF2-40B4-BE49-F238E27FC236}">
                <a16:creationId xmlns:a16="http://schemas.microsoft.com/office/drawing/2014/main" id="{10318024-CFB7-46A5-8E9E-D7A5C68E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去重与消歧：标识优先，证据不足人工复核</a:t>
            </a:r>
          </a:p>
        </p:txBody>
      </p:sp>
      <p:sp>
        <p:nvSpPr>
          <p:cNvPr id="2" name="阈值沿用现有SPEC；必须定义有效证据、缺失处理和版本">
            <a:extLst xmlns:a="http://schemas.openxmlformats.org/drawingml/2006/main">
              <a:ext uri="{FF2B5EF4-FFF2-40B4-BE49-F238E27FC236}">
                <a16:creationId xmlns:a16="http://schemas.microsoft.com/office/drawing/2014/main" id="{C380ACDC-6C35-4AEC-83DE-6092F7A4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阈值沿用现有SPEC；必须定义有效证据、缺失处理和版本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125D4931-B8BF-420B-B2D0-C24DEB0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33875"/>
                <a:gridCol w="4305300"/>
              </a:tblGrid>
              <a:tr h="711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优先依据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自动／人工复核区间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合法DOI；无DOI按题名等评分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≥0.92自动；[0.82,0.92)复核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专利公开文献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主管机构＋公开号＋文献种类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不同阶段／国家记录保留关联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科研项目（补）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资助机构＋项目编号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编号缺失仅召回候选、人工确认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获奖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授奖机构、年度、类别等级、项目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≥0.93自动；[0.84,0.93)复核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作者／机构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可靠ORCID关联／ROR、机构历史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作者≥0.95自动；[0.85,0.95)复核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不同强标识不能被高相似分数覆盖；缺失证据不默认满分">
            <a:extLst xmlns:a="http://schemas.openxmlformats.org/drawingml/2006/main">
              <a:ext uri="{FF2B5EF4-FFF2-40B4-BE49-F238E27FC236}">
                <a16:creationId xmlns:a16="http://schemas.microsoft.com/office/drawing/2014/main" id="{FB001440-C85B-41A8-909A-97CFFDC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20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C572D"/>
                </a:solidFill>
                <a:latin typeface="Microsoft YaHei"/>
                <a:ea typeface="Microsoft YaHei"/>
                <a:cs typeface="Microsoft YaHei"/>
              </a:rPr>
              <a:t>不同强标识不能被高相似分数覆盖；缺失证据不默认满分</a:t>
            </a:r>
          </a:p>
        </p:txBody>
      </p:sp>
    </p:spTree>
    <p:extLst>
      <p:ext uri="{BB962C8B-B14F-4D97-AF65-F5344CB8AC3E}">
        <p14:creationId xmlns:p14="http://schemas.microsoft.com/office/powerpoint/2010/main" val="11405982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检索、统计与创新的统一规则">
            <a:extLst xmlns:a="http://schemas.openxmlformats.org/drawingml/2006/main">
              <a:ext uri="{FF2B5EF4-FFF2-40B4-BE49-F238E27FC236}">
                <a16:creationId xmlns:a16="http://schemas.microsoft.com/office/drawing/2014/main" id="{FD022B63-C220-4134-9BC4-812B3CF4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检索、统计与创新的统一规则</a:t>
            </a:r>
          </a:p>
        </p:txBody>
      </p:sp>
      <p:sp>
        <p:nvSpPr>
          <p:cNvPr id="2" name="列表与统计使用同一范围与版本，结果可解释、可回溯">
            <a:extLst xmlns:a="http://schemas.openxmlformats.org/drawingml/2006/main">
              <a:ext uri="{FF2B5EF4-FFF2-40B4-BE49-F238E27FC236}">
                <a16:creationId xmlns:a16="http://schemas.microsoft.com/office/drawing/2014/main" id="{22BB9D3D-2438-4AD9-A8FC-0B2F45D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列表与统计使用同一范围与版本，结果可解释、可回溯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DF338829-E356-4F97-894B-9BC33F82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检索：精确命中与稳定顺序">
            <a:extLst xmlns:a="http://schemas.openxmlformats.org/drawingml/2006/main">
              <a:ext uri="{FF2B5EF4-FFF2-40B4-BE49-F238E27FC236}">
                <a16:creationId xmlns:a16="http://schemas.microsoft.com/office/drawing/2014/main" id="{BD31BD68-6909-4F42-A145-257C25CD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检索：精确命中与稳定顺序</a:t>
            </a:r>
          </a:p>
        </p:txBody>
      </p:sp>
      <p:sp>
        <p:nvSpPr>
          <p:cNvPr id="5" name="标题优先；并列按年份↓、成果ID↑；跨类型分值须校准">
            <a:extLst xmlns:a="http://schemas.openxmlformats.org/drawingml/2006/main">
              <a:ext uri="{FF2B5EF4-FFF2-40B4-BE49-F238E27FC236}">
                <a16:creationId xmlns:a16="http://schemas.microsoft.com/office/drawing/2014/main" id="{A24855AF-AE10-42B5-B0CC-53B38575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标题优先；并列按年份↓、成果ID↑；跨类型分值须校准</a:t>
            </a:r>
          </a:p>
        </p:txBody>
      </p:sp>
      <p:sp>
        <p:nvSpPr>
          <p:cNvPr id="6" name="统计：类型口径与明细一致">
            <a:extLst xmlns:a="http://schemas.openxmlformats.org/drawingml/2006/main">
              <a:ext uri="{FF2B5EF4-FFF2-40B4-BE49-F238E27FC236}">
                <a16:creationId xmlns:a16="http://schemas.microsoft.com/office/drawing/2014/main" id="{43A2E1CD-A2B4-40E9-9CD3-B781CEB2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统计：类型口径与明细一致</a:t>
            </a:r>
          </a:p>
        </p:txBody>
      </p:sp>
      <p:sp>
        <p:nvSpPr>
          <p:cNvPr id="7" name="机构全计数、多领域可重叠；未分类与缺失年份单列">
            <a:extLst xmlns:a="http://schemas.openxmlformats.org/drawingml/2006/main">
              <a:ext uri="{FF2B5EF4-FFF2-40B4-BE49-F238E27FC236}">
                <a16:creationId xmlns:a16="http://schemas.microsoft.com/office/drawing/2014/main" id="{F347DB02-21E1-46A6-9D5D-0F05638A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机构全计数、多领域可重叠；未分类与缺失年份单列</a:t>
            </a:r>
          </a:p>
        </p:txBody>
      </p:sp>
      <p:sp>
        <p:nvSpPr>
          <p:cNvPr id="8" name="创新：最短共著路径与证据">
            <a:extLst xmlns:a="http://schemas.openxmlformats.org/drawingml/2006/main">
              <a:ext uri="{FF2B5EF4-FFF2-40B4-BE49-F238E27FC236}">
                <a16:creationId xmlns:a16="http://schemas.microsoft.com/office/drawing/2014/main" id="{9D66EEA3-C48E-460F-88B6-100A035F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创新：最短共著路径与证据</a:t>
            </a:r>
          </a:p>
        </p:txBody>
      </p:sp>
      <p:sp>
        <p:nvSpPr>
          <p:cNvPr id="9" name="在基础网络上筛选、查共同论文；路径不代表合作意愿">
            <a:extLst xmlns:a="http://schemas.openxmlformats.org/drawingml/2006/main">
              <a:ext uri="{FF2B5EF4-FFF2-40B4-BE49-F238E27FC236}">
                <a16:creationId xmlns:a16="http://schemas.microsoft.com/office/drawing/2014/main" id="{3FF72A6D-6759-4955-A65F-99B5476F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在基础网络上筛选、查共同论文；路径不代表合作意愿</a:t>
            </a:r>
          </a:p>
        </p:txBody>
      </p:sp>
    </p:spTree>
    <p:extLst>
      <p:ext uri="{BB962C8B-B14F-4D97-AF65-F5344CB8AC3E}">
        <p14:creationId xmlns:p14="http://schemas.microsoft.com/office/powerpoint/2010/main" val="16582132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可验收的质量目标">
            <a:extLst xmlns:a="http://schemas.openxmlformats.org/drawingml/2006/main">
              <a:ext uri="{FF2B5EF4-FFF2-40B4-BE49-F238E27FC236}">
                <a16:creationId xmlns:a16="http://schemas.microsoft.com/office/drawing/2014/main" id="{CAE305A4-07C9-4DAD-AFC9-F42AF68E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可验收的质量目标</a:t>
            </a:r>
          </a:p>
        </p:txBody>
      </p:sp>
      <p:sp>
        <p:nvSpPr>
          <p:cNvPr id="2" name="以下是验收目标，当前资料未提供实测达标证据">
            <a:extLst xmlns:a="http://schemas.openxmlformats.org/drawingml/2006/main">
              <a:ext uri="{FF2B5EF4-FFF2-40B4-BE49-F238E27FC236}">
                <a16:creationId xmlns:a16="http://schemas.microsoft.com/office/drawing/2014/main" id="{03C36DD0-E3B2-4E65-B09E-1185293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以下是验收目标，当前资料未提供实测达标证据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916FFE61-0AC7-4030-BF22-05D89E0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191000"/>
                <a:gridCol w="4210050"/>
              </a:tblGrid>
              <a:tr h="7867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建议验收条件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验证方式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规模与性能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≥1万条；20并发；检索P95≤2秒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记录设备，预热后5分钟；冷启动单列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数据质量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完整率≥95%；来源追踪100%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按成果类型定义核心字段与分母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清洗／自动合并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清洗≥99%；去重≥98%；作者≥97%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分类型标注样本；清洗抽查500条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权限与恢复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唯一绑定、幂等采集、失败可恢复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双账号、并发、重复提交和失败场景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611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需求追踪：每项要求都有模型与验收">
            <a:extLst xmlns:a="http://schemas.openxmlformats.org/drawingml/2006/main">
              <a:ext uri="{FF2B5EF4-FFF2-40B4-BE49-F238E27FC236}">
                <a16:creationId xmlns:a16="http://schemas.microsoft.com/office/drawing/2014/main" id="{6E1D7AB9-B094-4FD7-96AA-9D62CC38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需求追踪：每项要求都有模型与验收</a:t>
            </a:r>
          </a:p>
        </p:txBody>
      </p:sp>
      <p:sp>
        <p:nvSpPr>
          <p:cNvPr id="2" name="完整追踪矩阵见配套方案；局部需求编号加角色前缀">
            <a:extLst xmlns:a="http://schemas.openxmlformats.org/drawingml/2006/main">
              <a:ext uri="{FF2B5EF4-FFF2-40B4-BE49-F238E27FC236}">
                <a16:creationId xmlns:a16="http://schemas.microsoft.com/office/drawing/2014/main" id="{30EBDA06-85EC-42DE-A812-143F2DE6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完整追踪矩阵见配套方案；局部需求编号加角色前缀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7D299010-004F-441E-A2C1-28D65034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2857500"/>
                <a:gridCol w="2095500"/>
                <a:gridCol w="2828925"/>
              </a:tblGrid>
              <a:tr h="7886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统一需求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模型／用例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规范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代表验收场景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FR-01—07 采集治理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UC-07/08/09＋采集状态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INGEST、DATA、QUALITY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失败重试、重复导入、强ID冲突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FR-08—10 检索门户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UC-01/02＋检索活动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SEARCH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同名候选、组合筛选、四类详情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FR-11—13 认领维护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UC-04/05/06＋活动／状态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CLAIM（补）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补充／驳回、唯一绑定、越权拒绝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FR-14/16 统计创新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UC-03＋合作网络路径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STAT（补）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计数明细一致、路径边对应论文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754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评审前的重点修订与验证">
            <a:extLst xmlns:a="http://schemas.openxmlformats.org/drawingml/2006/main">
              <a:ext uri="{FF2B5EF4-FFF2-40B4-BE49-F238E27FC236}">
                <a16:creationId xmlns:a16="http://schemas.microsoft.com/office/drawing/2014/main" id="{05976B10-91A9-488E-B6B3-A742CA4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评审前的重点修订与验证</a:t>
            </a:r>
          </a:p>
        </p:txBody>
      </p:sp>
      <p:sp>
        <p:nvSpPr>
          <p:cNvPr id="2" name="本次已提供补充模型与方案；正式SRS／SPEC修订及评审尚待完成">
            <a:extLst xmlns:a="http://schemas.openxmlformats.org/drawingml/2006/main">
              <a:ext uri="{FF2B5EF4-FFF2-40B4-BE49-F238E27FC236}">
                <a16:creationId xmlns:a16="http://schemas.microsoft.com/office/drawing/2014/main" id="{693FC4AB-DA46-4C00-A29C-0ECFF60F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本次已提供补充模型与方案；正式SRS／SPEC修订及评审尚待完成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312AA643-019E-45B5-A89F-3E79C3F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09925"/>
                <a:gridCol w="4533900"/>
                <a:gridCol w="322897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应形成的证据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建议责任方向</a:t>
                      </a:r>
                    </a:p>
                  </a:txBody>
                  <a:tcPr marL="142875" marR="142875" marT="123825" marB="95250">
                    <a:solidFill>
                      <a:srgbClr val="243E3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统一范围与编号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修订SRS、优先级、追踪矩阵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总体／普通用户负责人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认领与任务状态同步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活动／状态一致，操作与日志规约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科研人员＋管理员负责人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项目及数据规则验证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样例、字段映射、去重与查询集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数据源／数据治理负责人</a:t>
                      </a:r>
                    </a:p>
                  </a:txBody>
                  <a:tcPr marL="142875" marR="142875" marT="123825" marB="9525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验证与需求评审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访谈记录、样例实验、问题关闭单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整合负责人组织全组评审</a:t>
                      </a:r>
                    </a:p>
                  </a:txBody>
                  <a:tcPr marL="142875" marR="142875" marT="123825" marB="95250">
                    <a:solidFill>
                      <a:srgbClr val="E9EE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5067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43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总体方案与后续交付">
            <a:extLst xmlns:a="http://schemas.openxmlformats.org/drawingml/2006/main">
              <a:ext uri="{FF2B5EF4-FFF2-40B4-BE49-F238E27FC236}">
                <a16:creationId xmlns:a16="http://schemas.microsoft.com/office/drawing/2014/main" id="{E01684A9-1893-4609-9799-82FE4450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总体方案与后续交付</a:t>
            </a:r>
          </a:p>
        </p:txBody>
      </p:sp>
      <p:sp>
        <p:nvSpPr>
          <p:cNvPr id="2" name="四类成果共享闭环；三角色分工；统一规范与验收">
            <a:extLst xmlns:a="http://schemas.openxmlformats.org/drawingml/2006/main">
              <a:ext uri="{FF2B5EF4-FFF2-40B4-BE49-F238E27FC236}">
                <a16:creationId xmlns:a16="http://schemas.microsoft.com/office/drawing/2014/main" id="{47D8449C-BE63-4AD1-B931-8B9A161F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rPr>
              <a:t>四类成果共享闭环；三角色分工；统一规范与验收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DCE90CBF-FA4B-44D6-BDF0-0444D670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可追踪的数据&#10;可信的门户&#10;可解释的检索与统计">
            <a:extLst xmlns:a="http://schemas.openxmlformats.org/drawingml/2006/main">
              <a:ext uri="{FF2B5EF4-FFF2-40B4-BE49-F238E27FC236}">
                <a16:creationId xmlns:a16="http://schemas.microsoft.com/office/drawing/2014/main" id="{CAE8955F-BDD3-48CF-8F3C-20B74452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可追踪的数据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可信的门户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可解释的检索与统计</a:t>
            </a:r>
          </a:p>
        </p:txBody>
      </p:sp>
      <p:sp>
        <p:nvSpPr>
          <p:cNvPr id="5" name="调研报告 ＋ SRS／SPEC ＋ 业务模型 ＋ 汇报与验证证据">
            <a:extLst xmlns:a="http://schemas.openxmlformats.org/drawingml/2006/main">
              <a:ext uri="{FF2B5EF4-FFF2-40B4-BE49-F238E27FC236}">
                <a16:creationId xmlns:a16="http://schemas.microsoft.com/office/drawing/2014/main" id="{DD1484AB-771B-4195-ABF9-F502D2F8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5E3DA"/>
                </a:solidFill>
                <a:latin typeface="Microsoft YaHei"/>
                <a:ea typeface="Microsoft YaHei"/>
                <a:cs typeface="Microsoft YaHei"/>
              </a:rPr>
              <a:t>调研报告 ＋ SRS／SPEC ＋ 业务模型 ＋ 汇报与验证证据</a:t>
            </a:r>
          </a:p>
        </p:txBody>
      </p:sp>
    </p:spTree>
    <p:extLst>
      <p:ext uri="{BB962C8B-B14F-4D97-AF65-F5344CB8AC3E}">
        <p14:creationId xmlns:p14="http://schemas.microsoft.com/office/powerpoint/2010/main" val="13148408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· 普通用户用例图">
            <a:extLst xmlns:a="http://schemas.openxmlformats.org/drawingml/2006/main">
              <a:ext uri="{FF2B5EF4-FFF2-40B4-BE49-F238E27FC236}">
                <a16:creationId xmlns:a16="http://schemas.microsoft.com/office/drawing/2014/main" id="{74597546-C36F-4656-B1D7-F13C6C7E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附录 · 普通用户用例图</a:t>
            </a:r>
          </a:p>
        </p:txBody>
      </p:sp>
      <p:sp>
        <p:nvSpPr>
          <p:cNvPr id="2" name="原图保留，答疑时放大查看">
            <a:extLst xmlns:a="http://schemas.openxmlformats.org/drawingml/2006/main">
              <a:ext uri="{FF2B5EF4-FFF2-40B4-BE49-F238E27FC236}">
                <a16:creationId xmlns:a16="http://schemas.microsoft.com/office/drawing/2014/main" id="{7516F4EC-6728-469E-A609-721DA2AA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原图保留，答疑时放大查看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114A6A39-0601-40A2-811F-04910DFF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df6a8530b412b"/>
          <a:stretch xmlns:a="http://schemas.openxmlformats.org/drawingml/2006/main"/>
        </p:blipFill>
        <p:spPr>
          <a:xfrm xmlns:a="http://schemas.openxmlformats.org/drawingml/2006/main">
            <a:off x="4092847" y="1666875"/>
            <a:ext cx="3968205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公开检索与统计；注册账户扩展个人功能">
            <a:extLst xmlns:a="http://schemas.openxmlformats.org/drawingml/2006/main">
              <a:ext uri="{FF2B5EF4-FFF2-40B4-BE49-F238E27FC236}">
                <a16:creationId xmlns:a16="http://schemas.microsoft.com/office/drawing/2014/main" id="{F9BC48F1-4268-4877-B35C-230C9B6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公开检索与统计；注册账户扩展个人功能</a:t>
            </a:r>
          </a:p>
        </p:txBody>
      </p:sp>
    </p:spTree>
    <p:extLst>
      <p:ext uri="{BB962C8B-B14F-4D97-AF65-F5344CB8AC3E}">
        <p14:creationId xmlns:p14="http://schemas.microsoft.com/office/powerpoint/2010/main" val="18867706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· 科研人员用例图">
            <a:extLst xmlns:a="http://schemas.openxmlformats.org/drawingml/2006/main">
              <a:ext uri="{FF2B5EF4-FFF2-40B4-BE49-F238E27FC236}">
                <a16:creationId xmlns:a16="http://schemas.microsoft.com/office/drawing/2014/main" id="{0CAA41B3-0791-4AFC-81E9-9BB28781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附录 · 科研人员用例图</a:t>
            </a:r>
          </a:p>
        </p:txBody>
      </p:sp>
      <p:sp>
        <p:nvSpPr>
          <p:cNvPr id="2" name="原图保留，答疑时放大查看">
            <a:extLst xmlns:a="http://schemas.openxmlformats.org/drawingml/2006/main">
              <a:ext uri="{FF2B5EF4-FFF2-40B4-BE49-F238E27FC236}">
                <a16:creationId xmlns:a16="http://schemas.microsoft.com/office/drawing/2014/main" id="{FC2CEEE2-6D0C-454F-A6FF-D58FD81B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原图保留，答疑时放大查看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95326F79-9362-47A0-BCD4-7DC98CCA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abe789fe44499"/>
          <a:stretch xmlns:a="http://schemas.openxmlformats.org/drawingml/2006/main"/>
        </p:blipFill>
        <p:spPr>
          <a:xfrm xmlns:a="http://schemas.openxmlformats.org/drawingml/2006/main">
            <a:off x="4199631" y="1666875"/>
            <a:ext cx="3754639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认领前后权限分离；审核管理员参与">
            <a:extLst xmlns:a="http://schemas.openxmlformats.org/drawingml/2006/main">
              <a:ext uri="{FF2B5EF4-FFF2-40B4-BE49-F238E27FC236}">
                <a16:creationId xmlns:a16="http://schemas.microsoft.com/office/drawing/2014/main" id="{902A8908-4D39-440B-A9F7-C0495A7A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认领前后权限分离；审核管理员参与</a:t>
            </a:r>
          </a:p>
        </p:txBody>
      </p:sp>
    </p:spTree>
    <p:extLst>
      <p:ext uri="{BB962C8B-B14F-4D97-AF65-F5344CB8AC3E}">
        <p14:creationId xmlns:p14="http://schemas.microsoft.com/office/powerpoint/2010/main" val="10178032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· 普通用户活动图">
            <a:extLst xmlns:a="http://schemas.openxmlformats.org/drawingml/2006/main">
              <a:ext uri="{FF2B5EF4-FFF2-40B4-BE49-F238E27FC236}">
                <a16:creationId xmlns:a16="http://schemas.microsoft.com/office/drawing/2014/main" id="{4205277A-C429-439C-AC63-723C7839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附录 · 普通用户活动图</a:t>
            </a:r>
          </a:p>
        </p:txBody>
      </p:sp>
      <p:sp>
        <p:nvSpPr>
          <p:cNvPr id="2" name="原图保留，答疑时放大查看">
            <a:extLst xmlns:a="http://schemas.openxmlformats.org/drawingml/2006/main">
              <a:ext uri="{FF2B5EF4-FFF2-40B4-BE49-F238E27FC236}">
                <a16:creationId xmlns:a16="http://schemas.microsoft.com/office/drawing/2014/main" id="{C8475798-3A2C-491B-9115-382F055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原图保留，答疑时放大查看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3ED3E88A-84D5-4D2E-8339-BD420791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0b51883514efe"/>
          <a:stretch xmlns:a="http://schemas.openxmlformats.org/drawingml/2006/main"/>
        </p:blipFill>
        <p:spPr>
          <a:xfrm xmlns:a="http://schemas.openxmlformats.org/drawingml/2006/main">
            <a:off x="3687201" y="1666875"/>
            <a:ext cx="4779499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成果、学者和统计三条查询路径">
            <a:extLst xmlns:a="http://schemas.openxmlformats.org/drawingml/2006/main">
              <a:ext uri="{FF2B5EF4-FFF2-40B4-BE49-F238E27FC236}">
                <a16:creationId xmlns:a16="http://schemas.microsoft.com/office/drawing/2014/main" id="{7705B02A-7BFF-47EF-96AC-ED7CEFEF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成果、学者和统计三条查询路径</a:t>
            </a:r>
          </a:p>
        </p:txBody>
      </p:sp>
    </p:spTree>
    <p:extLst>
      <p:ext uri="{BB962C8B-B14F-4D97-AF65-F5344CB8AC3E}">
        <p14:creationId xmlns:p14="http://schemas.microsoft.com/office/powerpoint/2010/main" val="15676068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· 作者检索活动图">
            <a:extLst xmlns:a="http://schemas.openxmlformats.org/drawingml/2006/main">
              <a:ext uri="{FF2B5EF4-FFF2-40B4-BE49-F238E27FC236}">
                <a16:creationId xmlns:a16="http://schemas.microsoft.com/office/drawing/2014/main" id="{C8DE0972-E726-4C1B-B55A-3FE4653A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附录 · 作者检索活动图</a:t>
            </a:r>
          </a:p>
        </p:txBody>
      </p:sp>
      <p:sp>
        <p:nvSpPr>
          <p:cNvPr id="2" name="原图保留，答疑时放大查看">
            <a:extLst xmlns:a="http://schemas.openxmlformats.org/drawingml/2006/main">
              <a:ext uri="{FF2B5EF4-FFF2-40B4-BE49-F238E27FC236}">
                <a16:creationId xmlns:a16="http://schemas.microsoft.com/office/drawing/2014/main" id="{548DCF3E-14E8-4183-8EB0-F9887D12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原图保留，答疑时放大查看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7E82C6E6-814A-4DB5-8981-751C7639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ec82a5069490b"/>
          <a:stretch xmlns:a="http://schemas.openxmlformats.org/drawingml/2006/main"/>
        </p:blipFill>
        <p:spPr>
          <a:xfrm xmlns:a="http://schemas.openxmlformats.org/drawingml/2006/main">
            <a:off x="4506356" y="1666875"/>
            <a:ext cx="3141189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同名候选、条件校验、空结果与返回上下文">
            <a:extLst xmlns:a="http://schemas.openxmlformats.org/drawingml/2006/main">
              <a:ext uri="{FF2B5EF4-FFF2-40B4-BE49-F238E27FC236}">
                <a16:creationId xmlns:a16="http://schemas.microsoft.com/office/drawing/2014/main" id="{7D133920-CEED-41F8-BC09-A1FA9363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同名候选、条件校验、空结果与返回上下文</a:t>
            </a:r>
          </a:p>
        </p:txBody>
      </p:sp>
    </p:spTree>
    <p:extLst>
      <p:ext uri="{BB962C8B-B14F-4D97-AF65-F5344CB8AC3E}">
        <p14:creationId xmlns:p14="http://schemas.microsoft.com/office/powerpoint/2010/main" val="11240794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· 门户认领活动图">
            <a:extLst xmlns:a="http://schemas.openxmlformats.org/drawingml/2006/main">
              <a:ext uri="{FF2B5EF4-FFF2-40B4-BE49-F238E27FC236}">
                <a16:creationId xmlns:a16="http://schemas.microsoft.com/office/drawing/2014/main" id="{1E2A74CC-BAC3-4FEE-8911-74C180AB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附录 · 门户认领活动图</a:t>
            </a:r>
          </a:p>
        </p:txBody>
      </p:sp>
      <p:sp>
        <p:nvSpPr>
          <p:cNvPr id="2" name="原图保留，答疑时放大查看">
            <a:extLst xmlns:a="http://schemas.openxmlformats.org/drawingml/2006/main">
              <a:ext uri="{FF2B5EF4-FFF2-40B4-BE49-F238E27FC236}">
                <a16:creationId xmlns:a16="http://schemas.microsoft.com/office/drawing/2014/main" id="{3FADED25-FD92-4D15-AC53-02CC8F20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原图保留，答疑时放大查看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CAAABC06-642F-499F-B000-24973EEA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cfa4588374285"/>
          <a:stretch xmlns:a="http://schemas.openxmlformats.org/drawingml/2006/main"/>
        </p:blipFill>
        <p:spPr>
          <a:xfrm xmlns:a="http://schemas.openxmlformats.org/drawingml/2006/main">
            <a:off x="4304604" y="1666875"/>
            <a:ext cx="3544693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三泳道：核验、补充、绑定竞争与审计">
            <a:extLst xmlns:a="http://schemas.openxmlformats.org/drawingml/2006/main">
              <a:ext uri="{FF2B5EF4-FFF2-40B4-BE49-F238E27FC236}">
                <a16:creationId xmlns:a16="http://schemas.microsoft.com/office/drawing/2014/main" id="{726D2E1C-4169-46CE-977B-885E3123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三泳道：核验、补充、绑定竞争与审计</a:t>
            </a:r>
          </a:p>
        </p:txBody>
      </p:sp>
    </p:spTree>
    <p:extLst>
      <p:ext uri="{BB962C8B-B14F-4D97-AF65-F5344CB8AC3E}">
        <p14:creationId xmlns:p14="http://schemas.microsoft.com/office/powerpoint/2010/main" val="18641036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· 科研现状调研活动图">
            <a:extLst xmlns:a="http://schemas.openxmlformats.org/drawingml/2006/main">
              <a:ext uri="{FF2B5EF4-FFF2-40B4-BE49-F238E27FC236}">
                <a16:creationId xmlns:a16="http://schemas.microsoft.com/office/drawing/2014/main" id="{3131304A-A80B-41D1-814C-2083D543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附录 · 科研现状调研活动图</a:t>
            </a:r>
          </a:p>
        </p:txBody>
      </p:sp>
      <p:sp>
        <p:nvSpPr>
          <p:cNvPr id="2" name="原图保留，答疑时放大查看">
            <a:extLst xmlns:a="http://schemas.openxmlformats.org/drawingml/2006/main">
              <a:ext uri="{FF2B5EF4-FFF2-40B4-BE49-F238E27FC236}">
                <a16:creationId xmlns:a16="http://schemas.microsoft.com/office/drawing/2014/main" id="{422745AB-C97E-4D12-8771-EF5FE1E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原图保留，答疑时放大查看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AE2B4E34-17D0-4437-BCB5-BFF79BC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fb2c38c7c454b"/>
          <a:stretch xmlns:a="http://schemas.openxmlformats.org/drawingml/2006/main"/>
        </p:blipFill>
        <p:spPr>
          <a:xfrm xmlns:a="http://schemas.openxmlformats.org/drawingml/2006/main">
            <a:off x="4598498" y="1666875"/>
            <a:ext cx="2956904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资料核查、资源条件、笔记与统计辅助">
            <a:extLst xmlns:a="http://schemas.openxmlformats.org/drawingml/2006/main">
              <a:ext uri="{FF2B5EF4-FFF2-40B4-BE49-F238E27FC236}">
                <a16:creationId xmlns:a16="http://schemas.microsoft.com/office/drawing/2014/main" id="{62CB9CEE-668D-4CB2-B4EA-1853972C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资料核查、资源条件、笔记与统计辅助</a:t>
            </a:r>
          </a:p>
        </p:txBody>
      </p:sp>
    </p:spTree>
    <p:extLst>
      <p:ext uri="{BB962C8B-B14F-4D97-AF65-F5344CB8AC3E}">
        <p14:creationId xmlns:p14="http://schemas.microsoft.com/office/powerpoint/2010/main" val="7380741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· 核心业务类图（预研）">
            <a:extLst xmlns:a="http://schemas.openxmlformats.org/drawingml/2006/main">
              <a:ext uri="{FF2B5EF4-FFF2-40B4-BE49-F238E27FC236}">
                <a16:creationId xmlns:a16="http://schemas.microsoft.com/office/drawing/2014/main" id="{097009F9-C315-4D9F-8F39-9BF661DC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附录 · 核心业务类图（预研）</a:t>
            </a:r>
          </a:p>
        </p:txBody>
      </p:sp>
      <p:sp>
        <p:nvSpPr>
          <p:cNvPr id="2" name="原图保留，答疑时放大查看">
            <a:extLst xmlns:a="http://schemas.openxmlformats.org/drawingml/2006/main">
              <a:ext uri="{FF2B5EF4-FFF2-40B4-BE49-F238E27FC236}">
                <a16:creationId xmlns:a16="http://schemas.microsoft.com/office/drawing/2014/main" id="{BD286234-C611-4982-B9B3-3BF89C1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原图保留，答疑时放大查看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DE483CAB-DA13-41B3-AD81-AB2190DD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e3abdd0ca425b"/>
          <a:stretch xmlns:a="http://schemas.openxmlformats.org/drawingml/2006/main"/>
        </p:blipFill>
        <p:spPr>
          <a:xfrm xmlns:a="http://schemas.openxmlformats.org/drawingml/2006/main">
            <a:off x="3465795" y="1666875"/>
            <a:ext cx="5222309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四类成果与贡献关系；采集任务等对象需后续补齐">
            <a:extLst xmlns:a="http://schemas.openxmlformats.org/drawingml/2006/main">
              <a:ext uri="{FF2B5EF4-FFF2-40B4-BE49-F238E27FC236}">
                <a16:creationId xmlns:a16="http://schemas.microsoft.com/office/drawing/2014/main" id="{5E795018-9ED3-4D69-9F8F-6D53220D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四类成果与贡献关系；采集任务等对象需后续补齐</a:t>
            </a:r>
          </a:p>
        </p:txBody>
      </p:sp>
    </p:spTree>
    <p:extLst>
      <p:ext uri="{BB962C8B-B14F-4D97-AF65-F5344CB8AC3E}">
        <p14:creationId xmlns:p14="http://schemas.microsoft.com/office/powerpoint/2010/main" val="11985559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· 检索请求时序图（预研）">
            <a:extLst xmlns:a="http://schemas.openxmlformats.org/drawingml/2006/main">
              <a:ext uri="{FF2B5EF4-FFF2-40B4-BE49-F238E27FC236}">
                <a16:creationId xmlns:a16="http://schemas.microsoft.com/office/drawing/2014/main" id="{EB1E121E-13AA-44A4-87F9-B54B7252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附录 · 检索请求时序图（预研）</a:t>
            </a:r>
          </a:p>
        </p:txBody>
      </p:sp>
      <p:sp>
        <p:nvSpPr>
          <p:cNvPr id="2" name="原图保留，答疑时放大查看">
            <a:extLst xmlns:a="http://schemas.openxmlformats.org/drawingml/2006/main">
              <a:ext uri="{FF2B5EF4-FFF2-40B4-BE49-F238E27FC236}">
                <a16:creationId xmlns:a16="http://schemas.microsoft.com/office/drawing/2014/main" id="{D8212687-FD51-4D7B-9902-2BF2D42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原图保留，答疑时放大查看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C920B78E-2FBC-4E57-B9C3-BE6D8CDA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d959f044c4341"/>
          <a:stretch xmlns:a="http://schemas.openxmlformats.org/drawingml/2006/main"/>
        </p:blipFill>
        <p:spPr>
          <a:xfrm xmlns:a="http://schemas.openxmlformats.org/drawingml/2006/main">
            <a:off x="3849232" y="1666875"/>
            <a:ext cx="4455437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参数校验、索引查询、权限过滤与结果返回">
            <a:extLst xmlns:a="http://schemas.openxmlformats.org/drawingml/2006/main">
              <a:ext uri="{FF2B5EF4-FFF2-40B4-BE49-F238E27FC236}">
                <a16:creationId xmlns:a16="http://schemas.microsoft.com/office/drawing/2014/main" id="{09839577-5F93-4A64-B14F-15E1B703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60"/>
                </a:solidFill>
                <a:latin typeface="Microsoft YaHei"/>
                <a:ea typeface="Microsoft YaHei"/>
                <a:cs typeface="Microsoft YaHei"/>
              </a:rPr>
              <a:t>参数校验、索引查询、权限过滤与结果返回</a:t>
            </a:r>
          </a:p>
        </p:txBody>
      </p:sp>
    </p:spTree>
    <p:extLst>
      <p:ext uri="{BB962C8B-B14F-4D97-AF65-F5344CB8AC3E}">
        <p14:creationId xmlns:p14="http://schemas.microsoft.com/office/powerpoint/2010/main" val="680701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2026-10-07T06:37:41.2750000Z</dcterms:created>
  <dcterms:modified xsi:type="dcterms:W3CDTF">2026-10-07T06:37:41.2750000Z</dcterms:modified>
</coreProperties>
</file>