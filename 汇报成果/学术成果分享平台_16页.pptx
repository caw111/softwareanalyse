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28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>
        <p:scale>
          <a:sx n="75" d="100"/>
          <a:sy n="75" d="100"/>
        </p:scale>
        <p:origin x="1716" y="720"/>
      </p:cViewPr>
      <p:guideLst>
        <p:guide orient="horz" pos="2112"/>
        <p:guide pos="289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10"/>
    </mc:Choice>
    <mc:Fallback>
      <c:style val="10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952359415046"/>
          <c:y val="6.3817523056653502E-2"/>
          <c:w val="0.877317955676165"/>
          <c:h val="0.7601284584980240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人工智能 cs.AI</c:v>
                </c:pt>
              </c:strCache>
            </c:strRef>
          </c:tx>
          <c:spPr>
            <a:ln w="30480" cap="rnd" cmpd="sng" algn="ctr">
              <a:solidFill>
                <a:srgbClr val="3179CB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FFFFFF"/>
              </a:solidFill>
              <a:ln w="21590" cap="flat" cmpd="sng" algn="ctr">
                <a:solidFill>
                  <a:srgbClr val="3179CB"/>
                </a:solidFill>
                <a:prstDash val="solid"/>
                <a:round/>
              </a:ln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12523</c:v>
                </c:pt>
                <c:pt idx="1">
                  <c:v>14806</c:v>
                </c:pt>
                <c:pt idx="2">
                  <c:v>21856</c:v>
                </c:pt>
                <c:pt idx="3">
                  <c:v>33036</c:v>
                </c:pt>
                <c:pt idx="4">
                  <c:v>45133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3FF-4971-8D4F-2EE30F7866C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机器学习 cs.LG</c:v>
                </c:pt>
              </c:strCache>
            </c:strRef>
          </c:tx>
          <c:spPr>
            <a:ln w="30480" cap="rnd" cmpd="sng" algn="ctr">
              <a:solidFill>
                <a:srgbClr val="ED9047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FFFFFF"/>
              </a:solidFill>
              <a:ln w="21590" cap="flat" cmpd="sng" algn="ctr">
                <a:solidFill>
                  <a:srgbClr val="ED9047"/>
                </a:solidFill>
                <a:prstDash val="solid"/>
                <a:round/>
              </a:ln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26532</c:v>
                </c:pt>
                <c:pt idx="1">
                  <c:v>28721</c:v>
                </c:pt>
                <c:pt idx="2">
                  <c:v>33021</c:v>
                </c:pt>
                <c:pt idx="3">
                  <c:v>39786</c:v>
                </c:pt>
                <c:pt idx="4">
                  <c:v>46005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3FF-4971-8D4F-2EE30F7866C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自然语言 cs.CL</c:v>
                </c:pt>
              </c:strCache>
            </c:strRef>
          </c:tx>
          <c:spPr>
            <a:ln w="30480" cap="rnd" cmpd="sng" algn="ctr">
              <a:solidFill>
                <a:srgbClr val="139B9D"/>
              </a:solidFill>
              <a:prstDash val="solid"/>
              <a:round/>
            </a:ln>
          </c:spPr>
          <c:marker>
            <c:symbol val="circle"/>
            <c:size val="6"/>
            <c:spPr>
              <a:solidFill>
                <a:srgbClr val="FFFFFF"/>
              </a:solidFill>
              <a:ln w="21590" cap="flat" cmpd="sng" algn="ctr">
                <a:solidFill>
                  <a:srgbClr val="139B9D"/>
                </a:solidFill>
                <a:prstDash val="solid"/>
                <a:round/>
              </a:ln>
            </c:spPr>
          </c:marker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8083</c:v>
                </c:pt>
                <c:pt idx="1">
                  <c:v>8971</c:v>
                </c:pt>
                <c:pt idx="2">
                  <c:v>13601</c:v>
                </c:pt>
                <c:pt idx="3">
                  <c:v>20689</c:v>
                </c:pt>
                <c:pt idx="4">
                  <c:v>23753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3FF-4971-8D4F-2EE30F7866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5C7086"/>
                </a:solidFill>
                <a:latin typeface="Noto Sans CJK SC"/>
                <a:ea typeface="+mn-ea"/>
                <a:cs typeface="+mn-cs"/>
              </a:defRPr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50000"/>
          <c:min val="0"/>
        </c:scaling>
        <c:delete val="0"/>
        <c:axPos val="l"/>
        <c:majorGridlines>
          <c:spPr>
            <a:ln w="10160" cap="flat" cmpd="sng" algn="ctr">
              <a:solidFill>
                <a:srgbClr val="E1ECF6"/>
              </a:solidFill>
              <a:prstDash val="solid"/>
              <a:round/>
            </a:ln>
          </c:spPr>
        </c:majorGridlines>
        <c:numFmt formatCode="#,##0" sourceLinked="0"/>
        <c:majorTickMark val="none"/>
        <c:minorTickMark val="none"/>
        <c:tickLblPos val="nextTo"/>
        <c:spPr>
          <a:ln w="9525" cap="flat" cmpd="sng" algn="ctr">
            <a:noFill/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5C7086"/>
                </a:solidFill>
                <a:latin typeface="Noto Sans CJK SC"/>
                <a:ea typeface="+mn-ea"/>
                <a:cs typeface="+mn-cs"/>
              </a:defRPr>
            </a:pPr>
            <a:endParaRPr lang="zh-CN"/>
          </a:p>
        </c:txPr>
        <c:crossAx val="2118791784"/>
        <c:crosses val="autoZero"/>
        <c:crossBetween val="between"/>
        <c:majorUnit val="10000"/>
      </c:valAx>
    </c:plotArea>
    <c:plotVisOnly val="1"/>
    <c:dispBlanksAs val="gap"/>
    <c:showDLblsOverMax val="0"/>
    <c:extLst>
      <c:ext uri="{0b15fc19-7d7d-44ad-8c2d-2c3a37ce22c3}">
        <chartProps xmlns="https://web.wps.cn/et/2018/main" chartId="{e60e3f8f-dae4-4f57-a1c2-e53ae50b4724}"/>
      </c:ext>
    </c:extLst>
  </c:chart>
  <c:txPr>
    <a:bodyPr/>
    <a:lstStyle/>
    <a:p>
      <a:pPr>
        <a:defRPr lang="zh-CN" sz="1800"/>
      </a:pPr>
      <a:endParaRPr lang="zh-CN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image" Target="../media/image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image" Target="../media/image9.pn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image" Target="../media/image6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image" Target="../media/image8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slideLayout" Target="../slideLayouts/slideLayout7.xml"/><Relationship Id="rId30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9.png"/><Relationship Id="rId4" Type="http://schemas.openxmlformats.org/officeDocument/2006/relationships/image" Target="../media/image7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7.png"/><Relationship Id="rId5" Type="http://schemas.openxmlformats.org/officeDocument/2006/relationships/image" Target="../media/image14.png"/><Relationship Id="rId10" Type="http://schemas.openxmlformats.org/officeDocument/2006/relationships/image" Target="../media/image16.png"/><Relationship Id="rId4" Type="http://schemas.openxmlformats.org/officeDocument/2006/relationships/image" Target="../media/image21.pn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8.png"/><Relationship Id="rId7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1.xml"/><Relationship Id="rId5" Type="http://schemas.openxmlformats.org/officeDocument/2006/relationships/image" Target="../media/image34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9486899" y="-967739"/>
            <a:ext cx="3733799" cy="3733799"/>
          </a:xfrm>
          <a:prstGeom prst="ellipse">
            <a:avLst/>
          </a:prstGeom>
          <a:noFill/>
          <a:ln w="15239">
            <a:solidFill>
              <a:srgbClr val="B8D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9258299" y="-1158239"/>
            <a:ext cx="5562599" cy="5562599"/>
          </a:xfrm>
          <a:prstGeom prst="ellipse">
            <a:avLst/>
          </a:prstGeom>
          <a:noFill/>
          <a:ln w="13715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</a:p>
        </p:txBody>
      </p:sp>
      <p:sp>
        <p:nvSpPr>
          <p:cNvPr id="14" name="文字｜01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字｜学术成果分享平台"/>
          <p:cNvSpPr txBox="1"/>
          <p:nvPr/>
        </p:nvSpPr>
        <p:spPr>
          <a:xfrm>
            <a:off x="655319" y="1148791"/>
            <a:ext cx="6160007" cy="78760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5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学术成果分享平台</a:t>
            </a:r>
          </a:p>
        </p:txBody>
      </p:sp>
      <p:sp>
        <p:nvSpPr>
          <p:cNvPr id="17" name="文字｜平台方案设计与数据治理框架"/>
          <p:cNvSpPr txBox="1"/>
          <p:nvPr/>
        </p:nvSpPr>
        <p:spPr>
          <a:xfrm>
            <a:off x="685799" y="1961235"/>
            <a:ext cx="5030723" cy="3938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平台方案设计与数据治理框架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799" y="2491739"/>
            <a:ext cx="883919" cy="45719"/>
          </a:xfrm>
          <a:prstGeom prst="roundRect">
            <a:avLst>
              <a:gd name="adj" fmla="val 5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字｜以学术成果检索为入口，以学者门户和成果认领为核心，"/>
          <p:cNvSpPr txBox="1"/>
          <p:nvPr/>
        </p:nvSpPr>
        <p:spPr>
          <a:xfrm>
            <a:off x="685799" y="2821228"/>
            <a:ext cx="6080759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以学术成果检索为入口，以学者门户和成果认领为核心，</a:t>
            </a:r>
          </a:p>
        </p:txBody>
      </p:sp>
      <p:sp>
        <p:nvSpPr>
          <p:cNvPr id="20" name="文字｜以持续的数据治理保证准确性。"/>
          <p:cNvSpPr txBox="1"/>
          <p:nvPr/>
        </p:nvSpPr>
        <p:spPr>
          <a:xfrm>
            <a:off x="685799" y="3156508"/>
            <a:ext cx="3465575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以持续的数据治理保证准确性。</a:t>
            </a:r>
          </a:p>
        </p:txBody>
      </p:sp>
      <p:sp>
        <p:nvSpPr>
          <p:cNvPr id="21" name="文字｜通过统计与相关推荐支持研究资料发现。"/>
          <p:cNvSpPr txBox="1"/>
          <p:nvPr/>
        </p:nvSpPr>
        <p:spPr>
          <a:xfrm>
            <a:off x="685799" y="3491788"/>
            <a:ext cx="4416551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通过统计与相关推荐支持研究资料发现。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43699" y="1356359"/>
            <a:ext cx="4709159" cy="2689859"/>
          </a:xfrm>
          <a:prstGeom prst="roundRect">
            <a:avLst>
              <a:gd name="adj" fmla="val 538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941819" y="1562099"/>
            <a:ext cx="4312919" cy="289559"/>
          </a:xfrm>
          <a:prstGeom prst="roundRect">
            <a:avLst>
              <a:gd name="adj" fmla="val 31578"/>
            </a:avLst>
          </a:prstGeom>
          <a:solidFill>
            <a:srgbClr val="E7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025639" y="1653539"/>
            <a:ext cx="91439" cy="91439"/>
          </a:xfrm>
          <a:prstGeom prst="ellipse">
            <a:avLst/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178039" y="165353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7330439" y="1653539"/>
            <a:ext cx="91439" cy="9143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040879" y="2103119"/>
            <a:ext cx="4069079" cy="533399"/>
          </a:xfrm>
          <a:prstGeom prst="roundRect">
            <a:avLst>
              <a:gd name="adj" fmla="val 2714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835" y="2185415"/>
            <a:ext cx="384047" cy="384047"/>
          </a:xfrm>
          <a:prstGeom prst="rect">
            <a:avLst/>
          </a:prstGeom>
        </p:spPr>
      </p:pic>
      <p:sp>
        <p:nvSpPr>
          <p:cNvPr id="29" name="文字｜检索论文 / 专利 / 项目 / 奖项"/>
          <p:cNvSpPr txBox="1"/>
          <p:nvPr/>
        </p:nvSpPr>
        <p:spPr>
          <a:xfrm>
            <a:off x="7619999" y="2264968"/>
            <a:ext cx="3113603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检索论文 / 专利 / 项目 / 奖项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48499" y="2857499"/>
            <a:ext cx="3924299" cy="350519"/>
          </a:xfrm>
          <a:prstGeom prst="roundRect">
            <a:avLst>
              <a:gd name="adj" fmla="val 21739"/>
            </a:avLst>
          </a:prstGeom>
          <a:solidFill>
            <a:srgbClr val="F1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162799" y="2887979"/>
            <a:ext cx="289559" cy="2895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069" y="2835249"/>
            <a:ext cx="395020" cy="395020"/>
          </a:xfrm>
          <a:prstGeom prst="rect">
            <a:avLst/>
          </a:prstGeom>
        </p:spPr>
      </p:pic>
      <p:sp>
        <p:nvSpPr>
          <p:cNvPr id="33" name="文字｜论文元数据"/>
          <p:cNvSpPr txBox="1"/>
          <p:nvPr/>
        </p:nvSpPr>
        <p:spPr>
          <a:xfrm>
            <a:off x="7543799" y="2942843"/>
            <a:ext cx="112775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论文元数据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67799" y="2964179"/>
            <a:ext cx="1219199" cy="53339"/>
          </a:xfrm>
          <a:prstGeom prst="roundRect">
            <a:avLst>
              <a:gd name="adj" fmla="val 50000"/>
            </a:avLst>
          </a:prstGeom>
          <a:solidFill>
            <a:srgbClr val="C8D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067799" y="3070859"/>
            <a:ext cx="838199" cy="45719"/>
          </a:xfrm>
          <a:prstGeom prst="roundRect">
            <a:avLst>
              <a:gd name="adj" fmla="val 50000"/>
            </a:avLst>
          </a:prstGeom>
          <a:solidFill>
            <a:srgbClr val="D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048499" y="3284219"/>
            <a:ext cx="3924299" cy="350519"/>
          </a:xfrm>
          <a:prstGeom prst="roundRect">
            <a:avLst>
              <a:gd name="adj" fmla="val 21739"/>
            </a:avLst>
          </a:prstGeom>
          <a:solidFill>
            <a:srgbClr val="F1F7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7162799" y="3314699"/>
            <a:ext cx="289559" cy="2895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069" y="3261969"/>
            <a:ext cx="395020" cy="395020"/>
          </a:xfrm>
          <a:prstGeom prst="rect">
            <a:avLst/>
          </a:prstGeom>
        </p:spPr>
      </p:pic>
      <p:sp>
        <p:nvSpPr>
          <p:cNvPr id="39" name="文字｜学者与机构"/>
          <p:cNvSpPr txBox="1"/>
          <p:nvPr/>
        </p:nvSpPr>
        <p:spPr>
          <a:xfrm>
            <a:off x="7543799" y="3369563"/>
            <a:ext cx="112775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学者与机构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67799" y="3390899"/>
            <a:ext cx="1219199" cy="53339"/>
          </a:xfrm>
          <a:prstGeom prst="roundRect">
            <a:avLst>
              <a:gd name="adj" fmla="val 50000"/>
            </a:avLst>
          </a:prstGeom>
          <a:solidFill>
            <a:srgbClr val="C8D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9067799" y="3497579"/>
            <a:ext cx="838199" cy="45719"/>
          </a:xfrm>
          <a:prstGeom prst="roundRect">
            <a:avLst>
              <a:gd name="adj" fmla="val 50000"/>
            </a:avLst>
          </a:prstGeom>
          <a:solidFill>
            <a:srgbClr val="D8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0149839" y="3047999"/>
            <a:ext cx="1280159" cy="1280159"/>
          </a:xfrm>
          <a:prstGeom prst="ellipse">
            <a:avLst/>
          </a:prstGeom>
          <a:solidFill>
            <a:srgbClr val="DF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3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79" y="3139439"/>
            <a:ext cx="1097279" cy="1097279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624839" y="4671059"/>
            <a:ext cx="2773679" cy="1135379"/>
          </a:xfrm>
          <a:prstGeom prst="roundRect">
            <a:avLst>
              <a:gd name="adj" fmla="val 1275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800099" y="4876799"/>
            <a:ext cx="640079" cy="6400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6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29" y="4999329"/>
            <a:ext cx="395020" cy="395020"/>
          </a:xfrm>
          <a:prstGeom prst="rect">
            <a:avLst/>
          </a:prstGeom>
        </p:spPr>
      </p:pic>
      <p:sp>
        <p:nvSpPr>
          <p:cNvPr id="47" name="文字｜学术检索"/>
          <p:cNvSpPr txBox="1"/>
          <p:nvPr/>
        </p:nvSpPr>
        <p:spPr>
          <a:xfrm>
            <a:off x="1577339" y="495505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学术检索</a:t>
            </a:r>
          </a:p>
        </p:txBody>
      </p:sp>
      <p:sp>
        <p:nvSpPr>
          <p:cNvPr id="48" name="文字｜统一检索入口"/>
          <p:cNvSpPr txBox="1"/>
          <p:nvPr/>
        </p:nvSpPr>
        <p:spPr>
          <a:xfrm>
            <a:off x="1577339" y="531266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统一检索入口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43299" y="4671059"/>
            <a:ext cx="2773679" cy="1135379"/>
          </a:xfrm>
          <a:prstGeom prst="roundRect">
            <a:avLst>
              <a:gd name="adj" fmla="val 1275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3718559" y="4876799"/>
            <a:ext cx="640079" cy="64007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1" name="可移动独立图标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1089" y="4999329"/>
            <a:ext cx="395020" cy="395020"/>
          </a:xfrm>
          <a:prstGeom prst="rect">
            <a:avLst/>
          </a:prstGeom>
        </p:spPr>
      </p:pic>
      <p:sp>
        <p:nvSpPr>
          <p:cNvPr id="52" name="文字｜学者门户"/>
          <p:cNvSpPr txBox="1"/>
          <p:nvPr/>
        </p:nvSpPr>
        <p:spPr>
          <a:xfrm>
            <a:off x="4495799" y="495505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学者门户</a:t>
            </a:r>
          </a:p>
        </p:txBody>
      </p:sp>
      <p:sp>
        <p:nvSpPr>
          <p:cNvPr id="53" name="文字｜维护学术画像"/>
          <p:cNvSpPr txBox="1"/>
          <p:nvPr/>
        </p:nvSpPr>
        <p:spPr>
          <a:xfrm>
            <a:off x="4495799" y="531266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维护学术画像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61759" y="4671059"/>
            <a:ext cx="2773679" cy="1135379"/>
          </a:xfrm>
          <a:prstGeom prst="roundRect">
            <a:avLst>
              <a:gd name="adj" fmla="val 1275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6637019" y="4876799"/>
            <a:ext cx="640079" cy="64007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6" name="可移动独立图标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9549" y="4999329"/>
            <a:ext cx="395020" cy="395020"/>
          </a:xfrm>
          <a:prstGeom prst="rect">
            <a:avLst/>
          </a:prstGeom>
        </p:spPr>
      </p:pic>
      <p:sp>
        <p:nvSpPr>
          <p:cNvPr id="57" name="文字｜成果认领"/>
          <p:cNvSpPr txBox="1"/>
          <p:nvPr/>
        </p:nvSpPr>
        <p:spPr>
          <a:xfrm>
            <a:off x="7414259" y="495505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成果认领</a:t>
            </a:r>
          </a:p>
        </p:txBody>
      </p:sp>
      <p:sp>
        <p:nvSpPr>
          <p:cNvPr id="58" name="文字｜审核确认归属"/>
          <p:cNvSpPr txBox="1"/>
          <p:nvPr/>
        </p:nvSpPr>
        <p:spPr>
          <a:xfrm>
            <a:off x="7414259" y="531266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审核确认归属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380219" y="4671059"/>
            <a:ext cx="2773679" cy="1135379"/>
          </a:xfrm>
          <a:prstGeom prst="roundRect">
            <a:avLst>
              <a:gd name="adj" fmla="val 1275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9555479" y="4876799"/>
            <a:ext cx="640079" cy="6400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" name="可移动独立图标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8009" y="4999329"/>
            <a:ext cx="395020" cy="395020"/>
          </a:xfrm>
          <a:prstGeom prst="rect">
            <a:avLst/>
          </a:prstGeom>
        </p:spPr>
      </p:pic>
      <p:sp>
        <p:nvSpPr>
          <p:cNvPr id="62" name="文字｜数据治理"/>
          <p:cNvSpPr txBox="1"/>
          <p:nvPr/>
        </p:nvSpPr>
        <p:spPr>
          <a:xfrm>
            <a:off x="10332719" y="495505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数据治理</a:t>
            </a:r>
          </a:p>
        </p:txBody>
      </p:sp>
      <p:sp>
        <p:nvSpPr>
          <p:cNvPr id="63" name="文字｜保障数据质量"/>
          <p:cNvSpPr txBox="1"/>
          <p:nvPr/>
        </p:nvSpPr>
        <p:spPr>
          <a:xfrm>
            <a:off x="10332719" y="531266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保障数据质量</a:t>
            </a:r>
          </a:p>
        </p:txBody>
      </p:sp>
      <p:sp>
        <p:nvSpPr>
          <p:cNvPr id="64" name="文字｜覆盖论文、专利、科研项目、获奖信息   ·   面向普通用户、科研人员与平台"/>
          <p:cNvSpPr txBox="1"/>
          <p:nvPr/>
        </p:nvSpPr>
        <p:spPr>
          <a:xfrm>
            <a:off x="655319" y="5960440"/>
            <a:ext cx="7606283" cy="2176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覆盖论文、专利、科研项目、获奖信息   ·   面向普通用户、科研人员与平台管理员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9486899" y="-967739"/>
            <a:ext cx="3733799" cy="3733799"/>
          </a:xfrm>
          <a:prstGeom prst="ellipse">
            <a:avLst/>
          </a:prstGeom>
          <a:noFill/>
          <a:ln w="15239">
            <a:solidFill>
              <a:srgbClr val="B8D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9258299" y="-1158239"/>
            <a:ext cx="5562599" cy="5562599"/>
          </a:xfrm>
          <a:prstGeom prst="ellipse">
            <a:avLst/>
          </a:prstGeom>
          <a:noFill/>
          <a:ln w="13715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>
            <p:custDataLst>
              <p:tags r:id="rId1"/>
            </p:custDataLst>
          </p:nvPr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>
            <p:custDataLst>
              <p:tags r:id="rId2"/>
            </p:custDataLst>
          </p:nvPr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项目背景与核心问题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项目背景与核心问题</a:t>
            </a:r>
          </a:p>
        </p:txBody>
      </p:sp>
      <p:sp>
        <p:nvSpPr>
          <p:cNvPr id="13" name="文字｜建设可检索、可认领、可治理、可分析的学术成果平台"/>
          <p:cNvSpPr txBox="1"/>
          <p:nvPr/>
        </p:nvSpPr>
        <p:spPr>
          <a:xfrm>
            <a:off x="662939" y="1373504"/>
            <a:ext cx="6080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建设可检索、可认领、可治理、可分析的学术成果平台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02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02 / 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</a:p>
        </p:txBody>
      </p:sp>
      <p:sp>
        <p:nvSpPr>
          <p:cNvPr id="18" name="文字｜02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>
            <p:custDataLst>
              <p:tags r:id="rId3"/>
            </p:custDataLst>
          </p:nvPr>
        </p:nvSpPr>
        <p:spPr>
          <a:xfrm>
            <a:off x="624839" y="2118359"/>
            <a:ext cx="5333999" cy="1584959"/>
          </a:xfrm>
          <a:prstGeom prst="roundRect">
            <a:avLst>
              <a:gd name="adj" fmla="val 9134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>
            <p:custDataLst>
              <p:tags r:id="rId4"/>
            </p:custDataLst>
          </p:nvPr>
        </p:nvSpPr>
        <p:spPr>
          <a:xfrm>
            <a:off x="830579" y="2476499"/>
            <a:ext cx="792479" cy="7924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可移动独立图标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1029309" y="2675229"/>
            <a:ext cx="395020" cy="395020"/>
          </a:xfrm>
          <a:prstGeom prst="rect">
            <a:avLst/>
          </a:prstGeom>
        </p:spPr>
      </p:pic>
      <p:sp>
        <p:nvSpPr>
          <p:cNvPr id="23" name="文字｜数据来源分散"/>
          <p:cNvSpPr txBox="1"/>
          <p:nvPr>
            <p:custDataLst>
              <p:tags r:id="rId6"/>
            </p:custDataLst>
          </p:nvPr>
        </p:nvSpPr>
        <p:spPr>
          <a:xfrm>
            <a:off x="1844039" y="2427427"/>
            <a:ext cx="1828800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数据来源分散</a:t>
            </a:r>
          </a:p>
        </p:txBody>
      </p:sp>
      <p:sp>
        <p:nvSpPr>
          <p:cNvPr id="24" name="文字｜论文、专利、项目、获奖来源不同"/>
          <p:cNvSpPr txBox="1"/>
          <p:nvPr>
            <p:custDataLst>
              <p:tags r:id="rId7"/>
            </p:custDataLst>
          </p:nvPr>
        </p:nvSpPr>
        <p:spPr>
          <a:xfrm>
            <a:off x="1844039" y="2874416"/>
            <a:ext cx="26670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论文、专利、项目、获奖来源不同</a:t>
            </a:r>
          </a:p>
        </p:txBody>
      </p:sp>
      <p:sp>
        <p:nvSpPr>
          <p:cNvPr id="25" name="文字｜字段结构与时间口径不一致"/>
          <p:cNvSpPr txBox="1"/>
          <p:nvPr>
            <p:custDataLst>
              <p:tags r:id="rId8"/>
            </p:custDataLst>
          </p:nvPr>
        </p:nvSpPr>
        <p:spPr>
          <a:xfrm>
            <a:off x="1844039" y="3133496"/>
            <a:ext cx="21336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字段结构与时间口径不一致</a:t>
            </a:r>
          </a:p>
        </p:txBody>
      </p:sp>
      <p:sp>
        <p:nvSpPr>
          <p:cNvPr id="26" name="Rounded Rectangle 25"/>
          <p:cNvSpPr/>
          <p:nvPr>
            <p:custDataLst>
              <p:tags r:id="rId9"/>
            </p:custDataLst>
          </p:nvPr>
        </p:nvSpPr>
        <p:spPr>
          <a:xfrm>
            <a:off x="6294119" y="2118359"/>
            <a:ext cx="5333999" cy="1584959"/>
          </a:xfrm>
          <a:prstGeom prst="roundRect">
            <a:avLst>
              <a:gd name="adj" fmla="val 9134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Oval 26"/>
          <p:cNvSpPr/>
          <p:nvPr>
            <p:custDataLst>
              <p:tags r:id="rId10"/>
            </p:custDataLst>
          </p:nvPr>
        </p:nvSpPr>
        <p:spPr>
          <a:xfrm>
            <a:off x="6499859" y="2476499"/>
            <a:ext cx="792479" cy="79247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可移动独立图标" descr="image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6698589" y="2675229"/>
            <a:ext cx="395020" cy="395020"/>
          </a:xfrm>
          <a:prstGeom prst="rect">
            <a:avLst/>
          </a:prstGeom>
        </p:spPr>
      </p:pic>
      <p:sp>
        <p:nvSpPr>
          <p:cNvPr id="29" name="文字｜学者身份歧义"/>
          <p:cNvSpPr txBox="1"/>
          <p:nvPr>
            <p:custDataLst>
              <p:tags r:id="rId12"/>
            </p:custDataLst>
          </p:nvPr>
        </p:nvSpPr>
        <p:spPr>
          <a:xfrm>
            <a:off x="7513319" y="2427427"/>
            <a:ext cx="1828800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学者身份歧义</a:t>
            </a:r>
          </a:p>
        </p:txBody>
      </p:sp>
      <p:sp>
        <p:nvSpPr>
          <p:cNvPr id="30" name="文字｜同名人员、机构变更"/>
          <p:cNvSpPr txBox="1"/>
          <p:nvPr>
            <p:custDataLst>
              <p:tags r:id="rId13"/>
            </p:custDataLst>
          </p:nvPr>
        </p:nvSpPr>
        <p:spPr>
          <a:xfrm>
            <a:off x="7513319" y="287441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同名人员、机构变更</a:t>
            </a:r>
          </a:p>
        </p:txBody>
      </p:sp>
      <p:sp>
        <p:nvSpPr>
          <p:cNvPr id="31" name="文字｜自动关联错误造成成果归属不确定"/>
          <p:cNvSpPr txBox="1"/>
          <p:nvPr>
            <p:custDataLst>
              <p:tags r:id="rId14"/>
            </p:custDataLst>
          </p:nvPr>
        </p:nvSpPr>
        <p:spPr>
          <a:xfrm>
            <a:off x="7513319" y="3133496"/>
            <a:ext cx="3048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自动关联错误造成成果归属不确定</a:t>
            </a:r>
          </a:p>
        </p:txBody>
      </p:sp>
      <p:sp>
        <p:nvSpPr>
          <p:cNvPr id="32" name="Rounded Rectangle 31"/>
          <p:cNvSpPr/>
          <p:nvPr>
            <p:custDataLst>
              <p:tags r:id="rId15"/>
            </p:custDataLst>
          </p:nvPr>
        </p:nvSpPr>
        <p:spPr>
          <a:xfrm>
            <a:off x="624839" y="3878579"/>
            <a:ext cx="5333999" cy="1584959"/>
          </a:xfrm>
          <a:prstGeom prst="roundRect">
            <a:avLst>
              <a:gd name="adj" fmla="val 9134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32"/>
          <p:cNvSpPr/>
          <p:nvPr>
            <p:custDataLst>
              <p:tags r:id="rId16"/>
            </p:custDataLst>
          </p:nvPr>
        </p:nvSpPr>
        <p:spPr>
          <a:xfrm>
            <a:off x="830579" y="4236719"/>
            <a:ext cx="792479" cy="79247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" name="可移动独立图标" descr="image.png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1029309" y="4435449"/>
            <a:ext cx="395020" cy="395020"/>
          </a:xfrm>
          <a:prstGeom prst="rect">
            <a:avLst/>
          </a:prstGeom>
        </p:spPr>
      </p:pic>
      <p:sp>
        <p:nvSpPr>
          <p:cNvPr id="35" name="文字｜管理与分析约束"/>
          <p:cNvSpPr txBox="1"/>
          <p:nvPr>
            <p:custDataLst>
              <p:tags r:id="rId18"/>
            </p:custDataLst>
          </p:nvPr>
        </p:nvSpPr>
        <p:spPr>
          <a:xfrm>
            <a:off x="1844039" y="4130497"/>
            <a:ext cx="2133600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管理与分析约束</a:t>
            </a:r>
          </a:p>
        </p:txBody>
      </p:sp>
      <p:sp>
        <p:nvSpPr>
          <p:cNvPr id="36" name="文字｜个人成果需要认领、纠错"/>
          <p:cNvSpPr txBox="1"/>
          <p:nvPr>
            <p:custDataLst>
              <p:tags r:id="rId19"/>
            </p:custDataLst>
          </p:nvPr>
        </p:nvSpPr>
        <p:spPr>
          <a:xfrm>
            <a:off x="1844039" y="4634636"/>
            <a:ext cx="19558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个人成果需要认领、纠错</a:t>
            </a:r>
          </a:p>
        </p:txBody>
      </p:sp>
      <p:sp>
        <p:nvSpPr>
          <p:cNvPr id="37" name="文字｜统计需说明来源、范围与指标含义"/>
          <p:cNvSpPr txBox="1"/>
          <p:nvPr>
            <p:custDataLst>
              <p:tags r:id="rId20"/>
            </p:custDataLst>
          </p:nvPr>
        </p:nvSpPr>
        <p:spPr>
          <a:xfrm>
            <a:off x="1844039" y="4893716"/>
            <a:ext cx="26670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统计需说明来源、范围与指标含义</a:t>
            </a:r>
          </a:p>
        </p:txBody>
      </p:sp>
      <p:sp>
        <p:nvSpPr>
          <p:cNvPr id="38" name="Rounded Rectangle 37"/>
          <p:cNvSpPr/>
          <p:nvPr>
            <p:custDataLst>
              <p:tags r:id="rId21"/>
            </p:custDataLst>
          </p:nvPr>
        </p:nvSpPr>
        <p:spPr>
          <a:xfrm>
            <a:off x="6294119" y="3878579"/>
            <a:ext cx="5333999" cy="1584959"/>
          </a:xfrm>
          <a:prstGeom prst="roundRect">
            <a:avLst>
              <a:gd name="adj" fmla="val 9134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Oval 38"/>
          <p:cNvSpPr/>
          <p:nvPr>
            <p:custDataLst>
              <p:tags r:id="rId22"/>
            </p:custDataLst>
          </p:nvPr>
        </p:nvSpPr>
        <p:spPr>
          <a:xfrm>
            <a:off x="6499859" y="4236719"/>
            <a:ext cx="792479" cy="7924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0" name="可移动独立图标" descr="image.png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6698589" y="4435449"/>
            <a:ext cx="395020" cy="395020"/>
          </a:xfrm>
          <a:prstGeom prst="rect">
            <a:avLst/>
          </a:prstGeom>
        </p:spPr>
      </p:pic>
      <p:sp>
        <p:nvSpPr>
          <p:cNvPr id="41" name="文字｜重复与字段冲突"/>
          <p:cNvSpPr txBox="1"/>
          <p:nvPr>
            <p:custDataLst>
              <p:tags r:id="rId24"/>
            </p:custDataLst>
          </p:nvPr>
        </p:nvSpPr>
        <p:spPr>
          <a:xfrm>
            <a:off x="7513319" y="4130497"/>
            <a:ext cx="2133600" cy="3689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重复与字段冲突</a:t>
            </a:r>
          </a:p>
        </p:txBody>
      </p:sp>
      <p:sp>
        <p:nvSpPr>
          <p:cNvPr id="42" name="文字｜跨来源重复收录、字段不一致"/>
          <p:cNvSpPr txBox="1"/>
          <p:nvPr>
            <p:custDataLst>
              <p:tags r:id="rId25"/>
            </p:custDataLst>
          </p:nvPr>
        </p:nvSpPr>
        <p:spPr>
          <a:xfrm>
            <a:off x="7513319" y="4634636"/>
            <a:ext cx="23114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跨来源重复收录、字段不一致</a:t>
            </a:r>
          </a:p>
        </p:txBody>
      </p:sp>
      <p:sp>
        <p:nvSpPr>
          <p:cNvPr id="43" name="文字｜影响检索质量及统计可靠性"/>
          <p:cNvSpPr txBox="1"/>
          <p:nvPr>
            <p:custDataLst>
              <p:tags r:id="rId26"/>
            </p:custDataLst>
          </p:nvPr>
        </p:nvSpPr>
        <p:spPr>
          <a:xfrm>
            <a:off x="7513319" y="4893716"/>
            <a:ext cx="21336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影响检索质量及统计可靠性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4839" y="5760719"/>
            <a:ext cx="10934699" cy="518159"/>
          </a:xfrm>
          <a:prstGeom prst="roundRect">
            <a:avLst>
              <a:gd name="adj" fmla="val 25000"/>
            </a:avLst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761999" y="5829299"/>
            <a:ext cx="380999" cy="38099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6" name="可移动独立图标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54989" y="5822289"/>
            <a:ext cx="395020" cy="395020"/>
          </a:xfrm>
          <a:prstGeom prst="rect">
            <a:avLst/>
          </a:prstGeom>
        </p:spPr>
      </p:pic>
      <p:sp>
        <p:nvSpPr>
          <p:cNvPr id="47" name="文字｜核心目标"/>
          <p:cNvSpPr txBox="1"/>
          <p:nvPr/>
        </p:nvSpPr>
        <p:spPr>
          <a:xfrm>
            <a:off x="1257299" y="589978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核心目标</a:t>
            </a:r>
          </a:p>
        </p:txBody>
      </p:sp>
      <p:sp>
        <p:nvSpPr>
          <p:cNvPr id="48" name="文字｜连接检索、认领、数据治理与统计分析全业务链条。"/>
          <p:cNvSpPr txBox="1"/>
          <p:nvPr/>
        </p:nvSpPr>
        <p:spPr>
          <a:xfrm>
            <a:off x="2834639" y="5907252"/>
            <a:ext cx="5377433" cy="2383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连接检索、认领、数据治理与统计分析全业务链条。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9486899" y="-967739"/>
            <a:ext cx="3733799" cy="3733799"/>
          </a:xfrm>
          <a:prstGeom prst="ellipse">
            <a:avLst/>
          </a:prstGeom>
          <a:noFill/>
          <a:ln w="15239">
            <a:solidFill>
              <a:srgbClr val="B8D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9258299" y="-1158239"/>
            <a:ext cx="5562599" cy="5562599"/>
          </a:xfrm>
          <a:prstGeom prst="ellipse">
            <a:avLst/>
          </a:prstGeom>
          <a:noFill/>
          <a:ln w="13715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同类平台调研与启示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同类平台调研与启示</a:t>
            </a:r>
          </a:p>
        </p:txBody>
      </p:sp>
      <p:sp>
        <p:nvSpPr>
          <p:cNvPr id="13" name="文字｜典型平台的优势、局限与可借鉴设计"/>
          <p:cNvSpPr txBox="1"/>
          <p:nvPr/>
        </p:nvSpPr>
        <p:spPr>
          <a:xfrm>
            <a:off x="662939" y="1373504"/>
            <a:ext cx="40995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典型平台的优势、局限与可借鉴设计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03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03 / 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</a:p>
        </p:txBody>
      </p:sp>
      <p:sp>
        <p:nvSpPr>
          <p:cNvPr id="18" name="文字｜03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4839" y="2118359"/>
            <a:ext cx="3482339" cy="3474719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07719" y="2263139"/>
            <a:ext cx="579119" cy="57911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69" y="2355189"/>
            <a:ext cx="395020" cy="395020"/>
          </a:xfrm>
          <a:prstGeom prst="rect">
            <a:avLst/>
          </a:prstGeom>
        </p:spPr>
      </p:pic>
      <p:sp>
        <p:nvSpPr>
          <p:cNvPr id="23" name="文字｜OpenAlex"/>
          <p:cNvSpPr txBox="1"/>
          <p:nvPr/>
        </p:nvSpPr>
        <p:spPr>
          <a:xfrm>
            <a:off x="1493519" y="2364562"/>
            <a:ext cx="1507128" cy="3212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OpenAlex</a:t>
            </a:r>
          </a:p>
        </p:txBody>
      </p:sp>
      <p:sp>
        <p:nvSpPr>
          <p:cNvPr id="24" name="文字｜开放学术知识图谱"/>
          <p:cNvSpPr txBox="1"/>
          <p:nvPr/>
        </p:nvSpPr>
        <p:spPr>
          <a:xfrm>
            <a:off x="1539239" y="2796793"/>
            <a:ext cx="172211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开放学术知识图谱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8199" y="312419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｜优势"/>
          <p:cNvSpPr txBox="1"/>
          <p:nvPr/>
        </p:nvSpPr>
        <p:spPr>
          <a:xfrm>
            <a:off x="853439" y="324017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优势</a:t>
            </a:r>
          </a:p>
        </p:txBody>
      </p:sp>
      <p:sp>
        <p:nvSpPr>
          <p:cNvPr id="27" name="文字｜开放数据与 API"/>
          <p:cNvSpPr txBox="1"/>
          <p:nvPr/>
        </p:nvSpPr>
        <p:spPr>
          <a:xfrm>
            <a:off x="1539239" y="3247643"/>
            <a:ext cx="140335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开放数据与 API</a:t>
            </a:r>
          </a:p>
        </p:txBody>
      </p:sp>
      <p:sp>
        <p:nvSpPr>
          <p:cNvPr id="28" name="文字｜结构化学术元数据"/>
          <p:cNvSpPr txBox="1"/>
          <p:nvPr/>
        </p:nvSpPr>
        <p:spPr>
          <a:xfrm>
            <a:off x="1539239" y="3491483"/>
            <a:ext cx="16256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结构化学术元数据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38199" y="402335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｜局限"/>
          <p:cNvSpPr txBox="1"/>
          <p:nvPr/>
        </p:nvSpPr>
        <p:spPr>
          <a:xfrm>
            <a:off x="853439" y="413933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局限</a:t>
            </a:r>
          </a:p>
        </p:txBody>
      </p:sp>
      <p:sp>
        <p:nvSpPr>
          <p:cNvPr id="31" name="文字｜中文覆盖与本地化不足"/>
          <p:cNvSpPr txBox="1"/>
          <p:nvPr/>
        </p:nvSpPr>
        <p:spPr>
          <a:xfrm>
            <a:off x="1539239" y="4146803"/>
            <a:ext cx="2032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中文覆盖与本地化不足</a:t>
            </a:r>
          </a:p>
        </p:txBody>
      </p:sp>
      <p:sp>
        <p:nvSpPr>
          <p:cNvPr id="32" name="文字｜个人认领功能有限"/>
          <p:cNvSpPr txBox="1"/>
          <p:nvPr/>
        </p:nvSpPr>
        <p:spPr>
          <a:xfrm>
            <a:off x="1539239" y="4390643"/>
            <a:ext cx="16256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个人认领功能有限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38199" y="490727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｜借鉴"/>
          <p:cNvSpPr txBox="1"/>
          <p:nvPr/>
        </p:nvSpPr>
        <p:spPr>
          <a:xfrm>
            <a:off x="853439" y="503849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借鉴</a:t>
            </a:r>
          </a:p>
        </p:txBody>
      </p:sp>
      <p:sp>
        <p:nvSpPr>
          <p:cNvPr id="35" name="文字｜开放接口、标准化数据"/>
          <p:cNvSpPr txBox="1"/>
          <p:nvPr/>
        </p:nvSpPr>
        <p:spPr>
          <a:xfrm>
            <a:off x="1539239" y="5076291"/>
            <a:ext cx="2032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开放接口、标准化数据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1499" y="2118359"/>
            <a:ext cx="3482339" cy="3474719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4564379" y="2263139"/>
            <a:ext cx="579119" cy="57911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6429" y="2355189"/>
            <a:ext cx="395020" cy="395020"/>
          </a:xfrm>
          <a:prstGeom prst="rect">
            <a:avLst/>
          </a:prstGeom>
        </p:spPr>
      </p:pic>
      <p:sp>
        <p:nvSpPr>
          <p:cNvPr id="39" name="文字｜Google Scholar"/>
          <p:cNvSpPr txBox="1"/>
          <p:nvPr/>
        </p:nvSpPr>
        <p:spPr>
          <a:xfrm>
            <a:off x="5250179" y="2364562"/>
            <a:ext cx="2311217" cy="3212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Google Scholar</a:t>
            </a:r>
          </a:p>
        </p:txBody>
      </p:sp>
      <p:sp>
        <p:nvSpPr>
          <p:cNvPr id="40" name="文字｜学术检索与个人画像"/>
          <p:cNvSpPr txBox="1"/>
          <p:nvPr/>
        </p:nvSpPr>
        <p:spPr>
          <a:xfrm>
            <a:off x="5250179" y="2796793"/>
            <a:ext cx="19202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学术检索与个人画像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94859" y="312419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｜优势"/>
          <p:cNvSpPr txBox="1"/>
          <p:nvPr/>
        </p:nvSpPr>
        <p:spPr>
          <a:xfrm>
            <a:off x="4610099" y="324017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优势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字｜检索覆盖广"/>
          <p:cNvSpPr txBox="1"/>
          <p:nvPr/>
        </p:nvSpPr>
        <p:spPr>
          <a:xfrm>
            <a:off x="5295899" y="3247643"/>
            <a:ext cx="1016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检索覆盖广</a:t>
            </a:r>
          </a:p>
        </p:txBody>
      </p:sp>
      <p:sp>
        <p:nvSpPr>
          <p:cNvPr id="44" name="文字｜引用网络和学者画像成熟"/>
          <p:cNvSpPr txBox="1"/>
          <p:nvPr/>
        </p:nvSpPr>
        <p:spPr>
          <a:xfrm>
            <a:off x="5295899" y="3491483"/>
            <a:ext cx="22352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引用网络和学者画像成熟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94859" y="402335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｜局限"/>
          <p:cNvSpPr txBox="1"/>
          <p:nvPr/>
        </p:nvSpPr>
        <p:spPr>
          <a:xfrm>
            <a:off x="4610099" y="413933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局限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字｜数据透明度有限"/>
          <p:cNvSpPr txBox="1"/>
          <p:nvPr/>
        </p:nvSpPr>
        <p:spPr>
          <a:xfrm>
            <a:off x="5295899" y="4146803"/>
            <a:ext cx="14224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数据透明度有限</a:t>
            </a:r>
          </a:p>
        </p:txBody>
      </p:sp>
      <p:sp>
        <p:nvSpPr>
          <p:cNvPr id="48" name="文字｜公开纠错机制有限"/>
          <p:cNvSpPr txBox="1"/>
          <p:nvPr/>
        </p:nvSpPr>
        <p:spPr>
          <a:xfrm>
            <a:off x="5295899" y="4390643"/>
            <a:ext cx="16256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公开纠错机制有限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594859" y="490727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｜借鉴"/>
          <p:cNvSpPr txBox="1"/>
          <p:nvPr/>
        </p:nvSpPr>
        <p:spPr>
          <a:xfrm>
            <a:off x="4610099" y="503849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借鉴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字｜学者门户、引文发现"/>
          <p:cNvSpPr txBox="1"/>
          <p:nvPr/>
        </p:nvSpPr>
        <p:spPr>
          <a:xfrm>
            <a:off x="5295899" y="5076291"/>
            <a:ext cx="1651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14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学者门户、</a:t>
            </a: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引文</a:t>
            </a:r>
            <a:r>
              <a:rPr lang="zh-CN" sz="14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发现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38159" y="2118359"/>
            <a:ext cx="3482339" cy="3474719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8321039" y="2263139"/>
            <a:ext cx="579119" cy="57911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4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3089" y="2355189"/>
            <a:ext cx="395020" cy="395020"/>
          </a:xfrm>
          <a:prstGeom prst="rect">
            <a:avLst/>
          </a:prstGeom>
        </p:spPr>
      </p:pic>
      <p:sp>
        <p:nvSpPr>
          <p:cNvPr id="55" name="文字｜中国知网"/>
          <p:cNvSpPr txBox="1"/>
          <p:nvPr/>
        </p:nvSpPr>
        <p:spPr>
          <a:xfrm>
            <a:off x="9006839" y="2364562"/>
            <a:ext cx="1365503" cy="3212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中国知网</a:t>
            </a:r>
          </a:p>
        </p:txBody>
      </p:sp>
      <p:sp>
        <p:nvSpPr>
          <p:cNvPr id="56" name="文字｜中文学术资源平台"/>
          <p:cNvSpPr txBox="1"/>
          <p:nvPr/>
        </p:nvSpPr>
        <p:spPr>
          <a:xfrm>
            <a:off x="8939529" y="2805683"/>
            <a:ext cx="172211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中文学术资源平台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351519" y="312419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字｜优势"/>
          <p:cNvSpPr txBox="1"/>
          <p:nvPr/>
        </p:nvSpPr>
        <p:spPr>
          <a:xfrm>
            <a:off x="8366759" y="324017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优势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文字｜中文资源丰富"/>
          <p:cNvSpPr txBox="1"/>
          <p:nvPr/>
        </p:nvSpPr>
        <p:spPr>
          <a:xfrm>
            <a:off x="9052559" y="3247643"/>
            <a:ext cx="12192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中文资源丰富</a:t>
            </a:r>
          </a:p>
        </p:txBody>
      </p:sp>
      <p:sp>
        <p:nvSpPr>
          <p:cNvPr id="60" name="文字｜期刊资源和分类较细"/>
          <p:cNvSpPr txBox="1"/>
          <p:nvPr/>
        </p:nvSpPr>
        <p:spPr>
          <a:xfrm>
            <a:off x="9052559" y="3491483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期刊资源和分类较细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351519" y="402335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字｜局限"/>
          <p:cNvSpPr txBox="1"/>
          <p:nvPr/>
        </p:nvSpPr>
        <p:spPr>
          <a:xfrm>
            <a:off x="8366759" y="413933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局限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字｜开放访问有限"/>
          <p:cNvSpPr txBox="1"/>
          <p:nvPr/>
        </p:nvSpPr>
        <p:spPr>
          <a:xfrm>
            <a:off x="9052559" y="4146803"/>
            <a:ext cx="12192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开放访问有限</a:t>
            </a:r>
          </a:p>
        </p:txBody>
      </p:sp>
      <p:sp>
        <p:nvSpPr>
          <p:cNvPr id="64" name="文字｜跨源融合与认领约束"/>
          <p:cNvSpPr txBox="1"/>
          <p:nvPr/>
        </p:nvSpPr>
        <p:spPr>
          <a:xfrm>
            <a:off x="9052559" y="4390643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跨源融合与认领约束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8351519" y="4907279"/>
            <a:ext cx="30327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｜借鉴"/>
          <p:cNvSpPr txBox="1"/>
          <p:nvPr/>
        </p:nvSpPr>
        <p:spPr>
          <a:xfrm>
            <a:off x="8366759" y="5038496"/>
            <a:ext cx="508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借鉴</a:t>
            </a:r>
            <a:endParaRPr lang="zh-CN" sz="1320" b="1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字｜本土资源与学科分类"/>
          <p:cNvSpPr txBox="1"/>
          <p:nvPr/>
        </p:nvSpPr>
        <p:spPr>
          <a:xfrm>
            <a:off x="9052559" y="5076291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本土资源与学科分类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4839" y="5775959"/>
            <a:ext cx="10934699" cy="441959"/>
          </a:xfrm>
          <a:prstGeom prst="roundRect">
            <a:avLst>
              <a:gd name="adj" fmla="val 25862"/>
            </a:avLst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字｜调研结论"/>
          <p:cNvSpPr txBox="1"/>
          <p:nvPr/>
        </p:nvSpPr>
        <p:spPr>
          <a:xfrm>
            <a:off x="830579" y="5892088"/>
            <a:ext cx="1088135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调研结论</a:t>
            </a:r>
          </a:p>
        </p:txBody>
      </p:sp>
      <p:sp>
        <p:nvSpPr>
          <p:cNvPr id="70" name="文字｜检索要强     ·     数据治理要透明     ·     成果认领需"/>
          <p:cNvSpPr txBox="1"/>
          <p:nvPr/>
        </p:nvSpPr>
        <p:spPr>
          <a:xfrm>
            <a:off x="2567939" y="5907176"/>
            <a:ext cx="6587204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检索要强     ·     数据治理要透明     ·     成果认领需形成完整审核闭环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9486899" y="-967739"/>
            <a:ext cx="3733799" cy="3733799"/>
          </a:xfrm>
          <a:prstGeom prst="ellipse">
            <a:avLst/>
          </a:prstGeom>
          <a:noFill/>
          <a:ln w="15239">
            <a:solidFill>
              <a:srgbClr val="B8D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9258299" y="-1158239"/>
            <a:ext cx="5562599" cy="5562599"/>
          </a:xfrm>
          <a:prstGeom prst="ellipse">
            <a:avLst/>
          </a:prstGeom>
          <a:noFill/>
          <a:ln w="13715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学术成果数据来源调研"/>
          <p:cNvSpPr txBox="1"/>
          <p:nvPr/>
        </p:nvSpPr>
        <p:spPr>
          <a:xfrm>
            <a:off x="640079" y="765886"/>
            <a:ext cx="5189219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学术成果数据来源调研</a:t>
            </a:r>
          </a:p>
        </p:txBody>
      </p:sp>
      <p:sp>
        <p:nvSpPr>
          <p:cNvPr id="13" name="文字｜多源公开数据：明确范围、字段、可用方式与合规边界"/>
          <p:cNvSpPr txBox="1"/>
          <p:nvPr/>
        </p:nvSpPr>
        <p:spPr>
          <a:xfrm>
            <a:off x="662939" y="1373504"/>
            <a:ext cx="6080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多源公开数据：明确范围、字段、可用方式与合规边界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06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06 / 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</a:p>
        </p:txBody>
      </p:sp>
      <p:sp>
        <p:nvSpPr>
          <p:cNvPr id="18" name="文字｜06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4839" y="2194559"/>
            <a:ext cx="2697479" cy="3208019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84859" y="2369819"/>
            <a:ext cx="670559" cy="6705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29" y="2507589"/>
            <a:ext cx="395020" cy="395020"/>
          </a:xfrm>
          <a:prstGeom prst="rect">
            <a:avLst/>
          </a:prstGeom>
        </p:spPr>
      </p:pic>
      <p:sp>
        <p:nvSpPr>
          <p:cNvPr id="23" name="文字｜论文"/>
          <p:cNvSpPr txBox="1"/>
          <p:nvPr/>
        </p:nvSpPr>
        <p:spPr>
          <a:xfrm>
            <a:off x="1539239" y="2539745"/>
            <a:ext cx="731519" cy="3108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论文</a:t>
            </a:r>
          </a:p>
        </p:txBody>
      </p:sp>
      <p:sp>
        <p:nvSpPr>
          <p:cNvPr id="24" name="文字｜来源渠道"/>
          <p:cNvSpPr txBox="1"/>
          <p:nvPr/>
        </p:nvSpPr>
        <p:spPr>
          <a:xfrm>
            <a:off x="830579" y="3133343"/>
            <a:ext cx="9296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来源渠道</a:t>
            </a:r>
          </a:p>
        </p:txBody>
      </p:sp>
      <p:sp>
        <p:nvSpPr>
          <p:cNvPr id="25" name="文字｜Crossref / OpenAlex / DBLP"/>
          <p:cNvSpPr txBox="1"/>
          <p:nvPr/>
        </p:nvSpPr>
        <p:spPr>
          <a:xfrm>
            <a:off x="830579" y="3445687"/>
            <a:ext cx="24855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Crossref / OpenAlex / DBLP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30579" y="37871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｜主要字段"/>
          <p:cNvSpPr txBox="1"/>
          <p:nvPr/>
        </p:nvSpPr>
        <p:spPr>
          <a:xfrm>
            <a:off x="830579" y="3933443"/>
            <a:ext cx="9296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主要字段</a:t>
            </a:r>
          </a:p>
        </p:txBody>
      </p:sp>
      <p:sp>
        <p:nvSpPr>
          <p:cNvPr id="28" name="文字｜DOI、标题、作者、期刊、"/>
          <p:cNvSpPr txBox="1"/>
          <p:nvPr/>
        </p:nvSpPr>
        <p:spPr>
          <a:xfrm>
            <a:off x="830579" y="4207763"/>
            <a:ext cx="2459807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DOI、标题、作者、期刊、</a:t>
            </a:r>
          </a:p>
        </p:txBody>
      </p:sp>
      <p:sp>
        <p:nvSpPr>
          <p:cNvPr id="29" name="文字｜发表时间"/>
          <p:cNvSpPr txBox="1"/>
          <p:nvPr/>
        </p:nvSpPr>
        <p:spPr>
          <a:xfrm>
            <a:off x="830579" y="4443983"/>
            <a:ext cx="9296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发表时间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0579" y="48920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｜优先采用开放 API 或授权数据"/>
          <p:cNvSpPr txBox="1"/>
          <p:nvPr/>
        </p:nvSpPr>
        <p:spPr>
          <a:xfrm>
            <a:off x="830579" y="5015331"/>
            <a:ext cx="2012315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优先采用开放 API 或授权数据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39" y="2194559"/>
            <a:ext cx="2697479" cy="3208019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3680459" y="2369819"/>
            <a:ext cx="670559" cy="67055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229" y="2507589"/>
            <a:ext cx="395020" cy="395020"/>
          </a:xfrm>
          <a:prstGeom prst="rect">
            <a:avLst/>
          </a:prstGeom>
        </p:spPr>
      </p:pic>
      <p:sp>
        <p:nvSpPr>
          <p:cNvPr id="35" name="文字｜专利"/>
          <p:cNvSpPr txBox="1"/>
          <p:nvPr/>
        </p:nvSpPr>
        <p:spPr>
          <a:xfrm>
            <a:off x="4434839" y="2539745"/>
            <a:ext cx="731519" cy="3108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专利</a:t>
            </a:r>
          </a:p>
        </p:txBody>
      </p:sp>
      <p:sp>
        <p:nvSpPr>
          <p:cNvPr id="36" name="文字｜来源渠道"/>
          <p:cNvSpPr txBox="1"/>
          <p:nvPr/>
        </p:nvSpPr>
        <p:spPr>
          <a:xfrm>
            <a:off x="3726179" y="3133343"/>
            <a:ext cx="9296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来源渠道</a:t>
            </a:r>
          </a:p>
        </p:txBody>
      </p:sp>
      <p:sp>
        <p:nvSpPr>
          <p:cNvPr id="37" name="文字｜国家或地区专利公开信息"/>
          <p:cNvSpPr txBox="1"/>
          <p:nvPr/>
        </p:nvSpPr>
        <p:spPr>
          <a:xfrm>
            <a:off x="3726179" y="3445687"/>
            <a:ext cx="2207513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国家或地区专利公开信息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726179" y="37871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字｜主要字段"/>
          <p:cNvSpPr txBox="1"/>
          <p:nvPr/>
        </p:nvSpPr>
        <p:spPr>
          <a:xfrm>
            <a:off x="3726179" y="3933443"/>
            <a:ext cx="9296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主要字段</a:t>
            </a:r>
          </a:p>
        </p:txBody>
      </p:sp>
      <p:sp>
        <p:nvSpPr>
          <p:cNvPr id="40" name="文字｜申请号、公开号、名称、"/>
          <p:cNvSpPr txBox="1"/>
          <p:nvPr/>
        </p:nvSpPr>
        <p:spPr>
          <a:xfrm>
            <a:off x="3726179" y="4207763"/>
            <a:ext cx="23164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申请号、公开号、名称、</a:t>
            </a:r>
          </a:p>
        </p:txBody>
      </p:sp>
      <p:sp>
        <p:nvSpPr>
          <p:cNvPr id="41" name="文字｜发明人"/>
          <p:cNvSpPr txBox="1"/>
          <p:nvPr/>
        </p:nvSpPr>
        <p:spPr>
          <a:xfrm>
            <a:off x="3726179" y="4443983"/>
            <a:ext cx="73151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发明人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726179" y="48920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｜区分申请、公开与授权编号"/>
          <p:cNvSpPr txBox="1"/>
          <p:nvPr/>
        </p:nvSpPr>
        <p:spPr>
          <a:xfrm>
            <a:off x="3726179" y="5015331"/>
            <a:ext cx="1828800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区分申请、公开与授权编号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16039" y="2194559"/>
            <a:ext cx="2697479" cy="3208019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576059" y="2369819"/>
            <a:ext cx="670559" cy="67055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6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829" y="2507589"/>
            <a:ext cx="395020" cy="395020"/>
          </a:xfrm>
          <a:prstGeom prst="rect">
            <a:avLst/>
          </a:prstGeom>
        </p:spPr>
      </p:pic>
      <p:sp>
        <p:nvSpPr>
          <p:cNvPr id="47" name="文字｜科研项目"/>
          <p:cNvSpPr txBox="1"/>
          <p:nvPr/>
        </p:nvSpPr>
        <p:spPr>
          <a:xfrm>
            <a:off x="7330439" y="2539745"/>
            <a:ext cx="1325879" cy="3108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科研项目</a:t>
            </a:r>
          </a:p>
        </p:txBody>
      </p:sp>
      <p:sp>
        <p:nvSpPr>
          <p:cNvPr id="48" name="文字｜来源渠道"/>
          <p:cNvSpPr txBox="1"/>
          <p:nvPr/>
        </p:nvSpPr>
        <p:spPr>
          <a:xfrm>
            <a:off x="6621779" y="3133343"/>
            <a:ext cx="9296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来源渠道</a:t>
            </a:r>
          </a:p>
        </p:txBody>
      </p:sp>
      <p:sp>
        <p:nvSpPr>
          <p:cNvPr id="49" name="文字｜科研资助机构官方公开清单"/>
          <p:cNvSpPr txBox="1"/>
          <p:nvPr/>
        </p:nvSpPr>
        <p:spPr>
          <a:xfrm>
            <a:off x="6621779" y="3445687"/>
            <a:ext cx="2395727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科研资助机构官方公开清单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621779" y="37871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｜主要字段"/>
          <p:cNvSpPr txBox="1"/>
          <p:nvPr/>
        </p:nvSpPr>
        <p:spPr>
          <a:xfrm>
            <a:off x="6621779" y="3933443"/>
            <a:ext cx="9296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主要字段</a:t>
            </a:r>
          </a:p>
        </p:txBody>
      </p:sp>
      <p:sp>
        <p:nvSpPr>
          <p:cNvPr id="52" name="文字｜批准号、项目名称、"/>
          <p:cNvSpPr txBox="1"/>
          <p:nvPr/>
        </p:nvSpPr>
        <p:spPr>
          <a:xfrm>
            <a:off x="6621779" y="4207763"/>
            <a:ext cx="19202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批准号、项目名称、</a:t>
            </a:r>
          </a:p>
        </p:txBody>
      </p:sp>
      <p:sp>
        <p:nvSpPr>
          <p:cNvPr id="53" name="文字｜负责人、年度"/>
          <p:cNvSpPr txBox="1"/>
          <p:nvPr/>
        </p:nvSpPr>
        <p:spPr>
          <a:xfrm>
            <a:off x="6621779" y="444398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负责人、年度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621779" y="48920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｜一期可先覆盖国家级项目"/>
          <p:cNvSpPr txBox="1"/>
          <p:nvPr/>
        </p:nvSpPr>
        <p:spPr>
          <a:xfrm>
            <a:off x="6621779" y="5015331"/>
            <a:ext cx="1676400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一期可先覆盖国家级项目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11639" y="2194559"/>
            <a:ext cx="2697479" cy="3208019"/>
          </a:xfrm>
          <a:prstGeom prst="roundRect">
            <a:avLst>
              <a:gd name="adj" fmla="val 536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9471659" y="2369819"/>
            <a:ext cx="670559" cy="6705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8" name="可移动独立图标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9429" y="2507589"/>
            <a:ext cx="395020" cy="395020"/>
          </a:xfrm>
          <a:prstGeom prst="rect">
            <a:avLst/>
          </a:prstGeom>
        </p:spPr>
      </p:pic>
      <p:sp>
        <p:nvSpPr>
          <p:cNvPr id="59" name="文字｜获奖信息"/>
          <p:cNvSpPr txBox="1"/>
          <p:nvPr/>
        </p:nvSpPr>
        <p:spPr>
          <a:xfrm>
            <a:off x="10226039" y="2539745"/>
            <a:ext cx="1325879" cy="3108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获奖信息</a:t>
            </a:r>
          </a:p>
        </p:txBody>
      </p:sp>
      <p:sp>
        <p:nvSpPr>
          <p:cNvPr id="60" name="文字｜来源渠道"/>
          <p:cNvSpPr txBox="1"/>
          <p:nvPr/>
        </p:nvSpPr>
        <p:spPr>
          <a:xfrm>
            <a:off x="9517379" y="3133343"/>
            <a:ext cx="9296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来源渠道</a:t>
            </a:r>
          </a:p>
        </p:txBody>
      </p:sp>
      <p:sp>
        <p:nvSpPr>
          <p:cNvPr id="61" name="文字｜学会、政府部门公开公告"/>
          <p:cNvSpPr txBox="1"/>
          <p:nvPr/>
        </p:nvSpPr>
        <p:spPr>
          <a:xfrm>
            <a:off x="9517379" y="3445687"/>
            <a:ext cx="2207513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学会、政府部门公开公告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517379" y="37871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｜主要字段"/>
          <p:cNvSpPr txBox="1"/>
          <p:nvPr/>
        </p:nvSpPr>
        <p:spPr>
          <a:xfrm>
            <a:off x="9517379" y="3933443"/>
            <a:ext cx="9296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主要字段</a:t>
            </a:r>
          </a:p>
        </p:txBody>
      </p:sp>
      <p:sp>
        <p:nvSpPr>
          <p:cNvPr id="64" name="文字｜奖项、年度、获奖项目"/>
          <p:cNvSpPr txBox="1"/>
          <p:nvPr/>
        </p:nvSpPr>
        <p:spPr>
          <a:xfrm>
            <a:off x="9517379" y="4207763"/>
            <a:ext cx="211835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奖项、年度、获奖项目</a:t>
            </a:r>
          </a:p>
        </p:txBody>
      </p:sp>
      <p:sp>
        <p:nvSpPr>
          <p:cNvPr id="65" name="文字｜及获奖人员"/>
          <p:cNvSpPr txBox="1"/>
          <p:nvPr/>
        </p:nvSpPr>
        <p:spPr>
          <a:xfrm>
            <a:off x="9517379" y="4443983"/>
            <a:ext cx="112775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及获奖人员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9517379" y="4892039"/>
            <a:ext cx="22783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｜以可核验的官方公示为准"/>
          <p:cNvSpPr txBox="1"/>
          <p:nvPr/>
        </p:nvSpPr>
        <p:spPr>
          <a:xfrm>
            <a:off x="9517379" y="5015331"/>
            <a:ext cx="1676400" cy="184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以可核验的官方公示为准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4839" y="5684519"/>
            <a:ext cx="10934699" cy="533399"/>
          </a:xfrm>
          <a:prstGeom prst="roundRect">
            <a:avLst>
              <a:gd name="adj" fmla="val 21428"/>
            </a:avLst>
          </a:prstGeom>
          <a:solidFill>
            <a:srgbClr val="EA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9" name="可移动独立图标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995" y="5759195"/>
            <a:ext cx="384047" cy="384047"/>
          </a:xfrm>
          <a:prstGeom prst="rect">
            <a:avLst/>
          </a:prstGeom>
        </p:spPr>
      </p:pic>
      <p:sp>
        <p:nvSpPr>
          <p:cNvPr id="70" name="文字｜采集边界：仅采用公开且允许使用的数据；遵守版权、访问限制与数据合规要求。"/>
          <p:cNvSpPr txBox="1"/>
          <p:nvPr/>
        </p:nvSpPr>
        <p:spPr>
          <a:xfrm>
            <a:off x="1219199" y="5838672"/>
            <a:ext cx="8339327" cy="2383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采集边界：仅采用公开且允许使用的数据；遵守版权、访问限制与数据合规要求。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9486899" y="-967739"/>
            <a:ext cx="3733799" cy="3733799"/>
          </a:xfrm>
          <a:prstGeom prst="ellipse">
            <a:avLst/>
          </a:prstGeom>
          <a:noFill/>
          <a:ln w="15239">
            <a:solidFill>
              <a:srgbClr val="B8D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9258299" y="-1158239"/>
            <a:ext cx="5562599" cy="5562599"/>
          </a:xfrm>
          <a:prstGeom prst="ellipse">
            <a:avLst/>
          </a:prstGeom>
          <a:noFill/>
          <a:ln w="13715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总体架构与改进设计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总体架构与改进设计</a:t>
            </a:r>
          </a:p>
        </p:txBody>
      </p:sp>
      <p:sp>
        <p:nvSpPr>
          <p:cNvPr id="13" name="文字｜展现层 → 业务服务层 → 数据存储层，采集管道与检索统计解耦"/>
          <p:cNvSpPr txBox="1"/>
          <p:nvPr/>
        </p:nvSpPr>
        <p:spPr>
          <a:xfrm>
            <a:off x="662939" y="1373504"/>
            <a:ext cx="7045356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展现层 → 业务服务层 → 数据存储层，采集管道与检索统计解耦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04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04 / 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</a:p>
        </p:txBody>
      </p:sp>
      <p:sp>
        <p:nvSpPr>
          <p:cNvPr id="18" name="文字｜04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字｜展现层"/>
          <p:cNvSpPr txBox="1"/>
          <p:nvPr/>
        </p:nvSpPr>
        <p:spPr>
          <a:xfrm>
            <a:off x="685799" y="2229967"/>
            <a:ext cx="762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展现层</a:t>
            </a:r>
          </a:p>
        </p:txBody>
      </p:sp>
      <p:sp>
        <p:nvSpPr>
          <p:cNvPr id="21" name="文字｜业务层"/>
          <p:cNvSpPr txBox="1"/>
          <p:nvPr/>
        </p:nvSpPr>
        <p:spPr>
          <a:xfrm>
            <a:off x="685799" y="3246602"/>
            <a:ext cx="762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业务层</a:t>
            </a:r>
          </a:p>
        </p:txBody>
      </p:sp>
      <p:sp>
        <p:nvSpPr>
          <p:cNvPr id="22" name="文字｜存储层"/>
          <p:cNvSpPr txBox="1"/>
          <p:nvPr/>
        </p:nvSpPr>
        <p:spPr>
          <a:xfrm>
            <a:off x="685799" y="4358487"/>
            <a:ext cx="762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存储层</a:t>
            </a:r>
          </a:p>
        </p:txBody>
      </p:sp>
      <p:sp>
        <p:nvSpPr>
          <p:cNvPr id="23" name="文字｜采集层"/>
          <p:cNvSpPr txBox="1"/>
          <p:nvPr/>
        </p:nvSpPr>
        <p:spPr>
          <a:xfrm>
            <a:off x="685799" y="5484977"/>
            <a:ext cx="762000" cy="307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sz="2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采集层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81199" y="2049779"/>
            <a:ext cx="259079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2141219" y="2156459"/>
            <a:ext cx="472439" cy="47243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6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929" y="2195169"/>
            <a:ext cx="395020" cy="395020"/>
          </a:xfrm>
          <a:prstGeom prst="rect">
            <a:avLst/>
          </a:prstGeom>
        </p:spPr>
      </p:pic>
      <p:sp>
        <p:nvSpPr>
          <p:cNvPr id="27" name="文字｜公开前端"/>
          <p:cNvSpPr txBox="1"/>
          <p:nvPr/>
        </p:nvSpPr>
        <p:spPr>
          <a:xfrm>
            <a:off x="2727959" y="225757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公开前端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199" y="2049779"/>
            <a:ext cx="259079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189219" y="2156459"/>
            <a:ext cx="472439" cy="47243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929" y="2195169"/>
            <a:ext cx="395020" cy="395020"/>
          </a:xfrm>
          <a:prstGeom prst="rect">
            <a:avLst/>
          </a:prstGeom>
        </p:spPr>
      </p:pic>
      <p:sp>
        <p:nvSpPr>
          <p:cNvPr id="31" name="文字｜学者门户"/>
          <p:cNvSpPr txBox="1"/>
          <p:nvPr/>
        </p:nvSpPr>
        <p:spPr>
          <a:xfrm>
            <a:off x="5775959" y="225757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学者门户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77199" y="2049779"/>
            <a:ext cx="259079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8237219" y="2156459"/>
            <a:ext cx="472439" cy="47243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929" y="2195169"/>
            <a:ext cx="395020" cy="395020"/>
          </a:xfrm>
          <a:prstGeom prst="rect">
            <a:avLst/>
          </a:prstGeom>
        </p:spPr>
      </p:pic>
      <p:sp>
        <p:nvSpPr>
          <p:cNvPr id="35" name="文字｜管理后台"/>
          <p:cNvSpPr txBox="1"/>
          <p:nvPr/>
        </p:nvSpPr>
        <p:spPr>
          <a:xfrm>
            <a:off x="8823959" y="225757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管理后台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95999" y="2804159"/>
            <a:ext cx="0" cy="243840"/>
          </a:xfrm>
          <a:prstGeom prst="line">
            <a:avLst/>
          </a:prstGeom>
          <a:ln w="21335">
            <a:solidFill>
              <a:srgbClr val="7BB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6057900" y="29718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0"/>
                </a:moveTo>
                <a:lnTo>
                  <a:pt x="5" y="10"/>
                </a:lnTo>
                <a:lnTo>
                  <a:pt x="10" y="0"/>
                </a:lnTo>
              </a:path>
            </a:pathLst>
          </a:custGeom>
          <a:noFill/>
          <a:ln w="21335">
            <a:solidFill>
              <a:srgbClr val="7BB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981199" y="3063239"/>
            <a:ext cx="2125979" cy="769619"/>
          </a:xfrm>
          <a:prstGeom prst="roundRect">
            <a:avLst>
              <a:gd name="adj" fmla="val 1881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2103119" y="3215639"/>
            <a:ext cx="457199" cy="45719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0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209" y="3246729"/>
            <a:ext cx="395020" cy="395020"/>
          </a:xfrm>
          <a:prstGeom prst="rect">
            <a:avLst/>
          </a:prstGeom>
        </p:spPr>
      </p:pic>
      <p:sp>
        <p:nvSpPr>
          <p:cNvPr id="41" name="文字｜检索服务"/>
          <p:cNvSpPr txBox="1"/>
          <p:nvPr/>
        </p:nvSpPr>
        <p:spPr>
          <a:xfrm>
            <a:off x="2659379" y="332422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检索服务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90059" y="3063239"/>
            <a:ext cx="2125979" cy="769619"/>
          </a:xfrm>
          <a:prstGeom prst="roundRect">
            <a:avLst>
              <a:gd name="adj" fmla="val 1881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4411979" y="3215639"/>
            <a:ext cx="457199" cy="45719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4" name="可移动独立图标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069" y="3246729"/>
            <a:ext cx="395020" cy="395020"/>
          </a:xfrm>
          <a:prstGeom prst="rect">
            <a:avLst/>
          </a:prstGeom>
        </p:spPr>
      </p:pic>
      <p:sp>
        <p:nvSpPr>
          <p:cNvPr id="45" name="文字｜成果服务"/>
          <p:cNvSpPr txBox="1"/>
          <p:nvPr/>
        </p:nvSpPr>
        <p:spPr>
          <a:xfrm>
            <a:off x="4968239" y="332422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成果服务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98919" y="3063239"/>
            <a:ext cx="2125979" cy="769619"/>
          </a:xfrm>
          <a:prstGeom prst="roundRect">
            <a:avLst>
              <a:gd name="adj" fmla="val 1881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6720839" y="3215639"/>
            <a:ext cx="457199" cy="45719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8" name="可移动独立图标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1929" y="3246729"/>
            <a:ext cx="395020" cy="395020"/>
          </a:xfrm>
          <a:prstGeom prst="rect">
            <a:avLst/>
          </a:prstGeom>
        </p:spPr>
      </p:pic>
      <p:sp>
        <p:nvSpPr>
          <p:cNvPr id="49" name="文字｜认领服务"/>
          <p:cNvSpPr txBox="1"/>
          <p:nvPr/>
        </p:nvSpPr>
        <p:spPr>
          <a:xfrm>
            <a:off x="7277099" y="332422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认领服务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07779" y="3063239"/>
            <a:ext cx="2125979" cy="769619"/>
          </a:xfrm>
          <a:prstGeom prst="roundRect">
            <a:avLst>
              <a:gd name="adj" fmla="val 1881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9029699" y="3215639"/>
            <a:ext cx="457199" cy="45719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2" name="可移动独立图标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0789" y="3246729"/>
            <a:ext cx="395020" cy="395020"/>
          </a:xfrm>
          <a:prstGeom prst="rect">
            <a:avLst/>
          </a:prstGeom>
        </p:spPr>
      </p:pic>
      <p:sp>
        <p:nvSpPr>
          <p:cNvPr id="53" name="文字｜统计服务"/>
          <p:cNvSpPr txBox="1"/>
          <p:nvPr/>
        </p:nvSpPr>
        <p:spPr>
          <a:xfrm>
            <a:off x="9585959" y="332422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统计服务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080759" y="3848099"/>
            <a:ext cx="0" cy="274320"/>
          </a:xfrm>
          <a:prstGeom prst="line">
            <a:avLst/>
          </a:prstGeom>
          <a:ln w="21335">
            <a:solidFill>
              <a:srgbClr val="7BB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6042660" y="40462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0"/>
                </a:moveTo>
                <a:lnTo>
                  <a:pt x="5" y="10"/>
                </a:lnTo>
                <a:lnTo>
                  <a:pt x="10" y="0"/>
                </a:lnTo>
              </a:path>
            </a:pathLst>
          </a:custGeom>
          <a:noFill/>
          <a:ln w="21335">
            <a:solidFill>
              <a:srgbClr val="7BB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1996439" y="4122419"/>
            <a:ext cx="5623559" cy="822959"/>
          </a:xfrm>
          <a:prstGeom prst="roundRect">
            <a:avLst>
              <a:gd name="adj" fmla="val 17592"/>
            </a:avLst>
          </a:prstGeom>
          <a:solidFill>
            <a:srgbClr val="EBF5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2209799" y="4259579"/>
            <a:ext cx="548639" cy="54863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8" name="可移动独立图标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609" y="4336389"/>
            <a:ext cx="395020" cy="395020"/>
          </a:xfrm>
          <a:prstGeom prst="rect">
            <a:avLst/>
          </a:prstGeom>
        </p:spPr>
      </p:pic>
      <p:sp>
        <p:nvSpPr>
          <p:cNvPr id="59" name="文字｜主业务数据库"/>
          <p:cNvSpPr txBox="1"/>
          <p:nvPr/>
        </p:nvSpPr>
        <p:spPr>
          <a:xfrm>
            <a:off x="2941319" y="4254093"/>
            <a:ext cx="1801367" cy="2901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主业务数据库</a:t>
            </a:r>
          </a:p>
        </p:txBody>
      </p:sp>
      <p:sp>
        <p:nvSpPr>
          <p:cNvPr id="60" name="文字｜统一成果、人员、机构、来源、认领与审计数据"/>
          <p:cNvSpPr txBox="1"/>
          <p:nvPr/>
        </p:nvSpPr>
        <p:spPr>
          <a:xfrm>
            <a:off x="2933699" y="4581143"/>
            <a:ext cx="42976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统一成果、人员、机构、来源、认领与审计数据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848599" y="4137659"/>
            <a:ext cx="3291839" cy="365759"/>
          </a:xfrm>
          <a:prstGeom prst="roundRect">
            <a:avLst>
              <a:gd name="adj" fmla="val 39583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2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7342" y="4194962"/>
            <a:ext cx="235915" cy="235915"/>
          </a:xfrm>
          <a:prstGeom prst="rect">
            <a:avLst/>
          </a:prstGeom>
        </p:spPr>
      </p:pic>
      <p:sp>
        <p:nvSpPr>
          <p:cNvPr id="63" name="文字｜搜索索引同步"/>
          <p:cNvSpPr txBox="1"/>
          <p:nvPr/>
        </p:nvSpPr>
        <p:spPr>
          <a:xfrm>
            <a:off x="8389619" y="4207916"/>
            <a:ext cx="1444751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搜索索引同步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7635239" y="4320539"/>
            <a:ext cx="160020" cy="0"/>
          </a:xfrm>
          <a:prstGeom prst="line">
            <a:avLst/>
          </a:prstGeom>
          <a:ln w="15239">
            <a:solidFill>
              <a:srgbClr val="327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Freeform 64"/>
          <p:cNvSpPr/>
          <p:nvPr/>
        </p:nvSpPr>
        <p:spPr>
          <a:xfrm>
            <a:off x="7719060" y="428244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15239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7848599" y="4564379"/>
            <a:ext cx="3291839" cy="365759"/>
          </a:xfrm>
          <a:prstGeom prst="roundRect">
            <a:avLst>
              <a:gd name="adj" fmla="val 39583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7" name="可移动独立图标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7342" y="4621682"/>
            <a:ext cx="235915" cy="235915"/>
          </a:xfrm>
          <a:prstGeom prst="rect">
            <a:avLst/>
          </a:prstGeom>
        </p:spPr>
      </p:pic>
      <p:sp>
        <p:nvSpPr>
          <p:cNvPr id="68" name="文字｜统计快照生成"/>
          <p:cNvSpPr txBox="1"/>
          <p:nvPr/>
        </p:nvSpPr>
        <p:spPr>
          <a:xfrm>
            <a:off x="8389619" y="4634636"/>
            <a:ext cx="1444751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统计快照生成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635239" y="4747259"/>
            <a:ext cx="160020" cy="0"/>
          </a:xfrm>
          <a:prstGeom prst="line">
            <a:avLst/>
          </a:prstGeom>
          <a:ln w="15239">
            <a:solidFill>
              <a:srgbClr val="327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Freeform 69"/>
          <p:cNvSpPr/>
          <p:nvPr/>
        </p:nvSpPr>
        <p:spPr>
          <a:xfrm>
            <a:off x="7719060" y="470916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15239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1" name="Connector 70"/>
          <p:cNvCxnSpPr/>
          <p:nvPr/>
        </p:nvCxnSpPr>
        <p:spPr>
          <a:xfrm flipV="1">
            <a:off x="4770119" y="4960619"/>
            <a:ext cx="0" cy="342900"/>
          </a:xfrm>
          <a:prstGeom prst="line">
            <a:avLst/>
          </a:prstGeom>
          <a:ln w="21335">
            <a:solidFill>
              <a:srgbClr val="159D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Freeform 71"/>
          <p:cNvSpPr/>
          <p:nvPr/>
        </p:nvSpPr>
        <p:spPr>
          <a:xfrm>
            <a:off x="4732020" y="49606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10" y="10"/>
                </a:moveTo>
                <a:lnTo>
                  <a:pt x="5" y="0"/>
                </a:lnTo>
                <a:lnTo>
                  <a:pt x="0" y="10"/>
                </a:lnTo>
              </a:path>
            </a:pathLst>
          </a:custGeom>
          <a:noFill/>
          <a:ln w="21335">
            <a:solidFill>
              <a:srgbClr val="159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1965959" y="5273039"/>
            <a:ext cx="9121139" cy="792479"/>
          </a:xfrm>
          <a:prstGeom prst="roundRect">
            <a:avLst>
              <a:gd name="adj" fmla="val 18269"/>
            </a:avLst>
          </a:prstGeom>
          <a:solidFill>
            <a:srgbClr val="F5FBFE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2247899" y="5440679"/>
            <a:ext cx="441959" cy="4419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5" name="可移动独立图标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1369" y="5464149"/>
            <a:ext cx="395020" cy="395020"/>
          </a:xfrm>
          <a:prstGeom prst="rect">
            <a:avLst/>
          </a:prstGeom>
        </p:spPr>
      </p:pic>
      <p:sp>
        <p:nvSpPr>
          <p:cNvPr id="76" name="文字｜外部公开数据"/>
          <p:cNvSpPr txBox="1"/>
          <p:nvPr/>
        </p:nvSpPr>
        <p:spPr>
          <a:xfrm>
            <a:off x="2804159" y="5564276"/>
            <a:ext cx="1444751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外部公开数据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4389119" y="5669279"/>
            <a:ext cx="495300" cy="0"/>
          </a:xfrm>
          <a:prstGeom prst="line">
            <a:avLst/>
          </a:prstGeom>
          <a:ln w="21335">
            <a:solidFill>
              <a:srgbClr val="79B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Freeform 77"/>
          <p:cNvSpPr/>
          <p:nvPr/>
        </p:nvSpPr>
        <p:spPr>
          <a:xfrm>
            <a:off x="4808220" y="563118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1335">
            <a:solidFill>
              <a:srgbClr val="79B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5158739" y="5440679"/>
            <a:ext cx="441959" cy="44195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0" name="可移动独立图标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2209" y="5464149"/>
            <a:ext cx="395020" cy="395020"/>
          </a:xfrm>
          <a:prstGeom prst="rect">
            <a:avLst/>
          </a:prstGeom>
        </p:spPr>
      </p:pic>
      <p:sp>
        <p:nvSpPr>
          <p:cNvPr id="81" name="文字｜采集 Worker"/>
          <p:cNvSpPr txBox="1"/>
          <p:nvPr/>
        </p:nvSpPr>
        <p:spPr>
          <a:xfrm>
            <a:off x="5714999" y="5564276"/>
            <a:ext cx="1350799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 Worker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7299959" y="5669279"/>
            <a:ext cx="495300" cy="0"/>
          </a:xfrm>
          <a:prstGeom prst="line">
            <a:avLst/>
          </a:prstGeom>
          <a:ln w="21335">
            <a:solidFill>
              <a:srgbClr val="79B6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reeform 82"/>
          <p:cNvSpPr/>
          <p:nvPr/>
        </p:nvSpPr>
        <p:spPr>
          <a:xfrm>
            <a:off x="7719060" y="563118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1335">
            <a:solidFill>
              <a:srgbClr val="79B6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Oval 83"/>
          <p:cNvSpPr/>
          <p:nvPr/>
        </p:nvSpPr>
        <p:spPr>
          <a:xfrm>
            <a:off x="8069579" y="5440679"/>
            <a:ext cx="441959" cy="44195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5" name="可移动独立图标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3049" y="5464149"/>
            <a:ext cx="395020" cy="395020"/>
          </a:xfrm>
          <a:prstGeom prst="rect">
            <a:avLst/>
          </a:prstGeom>
        </p:spPr>
      </p:pic>
      <p:sp>
        <p:nvSpPr>
          <p:cNvPr id="86" name="文字｜清洗 / 去重 / 消歧"/>
          <p:cNvSpPr txBox="1"/>
          <p:nvPr/>
        </p:nvSpPr>
        <p:spPr>
          <a:xfrm>
            <a:off x="8625839" y="5564276"/>
            <a:ext cx="1810654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 / 去重 / 消歧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9486899" y="-967739"/>
            <a:ext cx="3733799" cy="3733799"/>
          </a:xfrm>
          <a:prstGeom prst="ellipse">
            <a:avLst/>
          </a:prstGeom>
          <a:noFill/>
          <a:ln w="15239">
            <a:solidFill>
              <a:srgbClr val="B8D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9258299" y="-1158239"/>
            <a:ext cx="5562599" cy="5562599"/>
          </a:xfrm>
          <a:prstGeom prst="ellipse">
            <a:avLst/>
          </a:prstGeom>
          <a:noFill/>
          <a:ln w="13715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需求分析与功能边界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需求分析与功能边界</a:t>
            </a:r>
          </a:p>
        </p:txBody>
      </p:sp>
      <p:sp>
        <p:nvSpPr>
          <p:cNvPr id="13" name="文字｜按照访问权限与业务职责划分三类用户"/>
          <p:cNvSpPr txBox="1"/>
          <p:nvPr/>
        </p:nvSpPr>
        <p:spPr>
          <a:xfrm>
            <a:off x="662939" y="1373504"/>
            <a:ext cx="434720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按照访问权限与业务职责划分三类用户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05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05 / 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</a:p>
        </p:txBody>
      </p:sp>
      <p:sp>
        <p:nvSpPr>
          <p:cNvPr id="18" name="文字｜05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4839" y="2156459"/>
            <a:ext cx="3482339" cy="3398519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92479" y="2331719"/>
            <a:ext cx="670559" cy="6705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249" y="2469489"/>
            <a:ext cx="395020" cy="395020"/>
          </a:xfrm>
          <a:prstGeom prst="rect">
            <a:avLst/>
          </a:prstGeom>
        </p:spPr>
      </p:pic>
      <p:sp>
        <p:nvSpPr>
          <p:cNvPr id="23" name="文字｜访客 / 普通用户"/>
          <p:cNvSpPr txBox="1"/>
          <p:nvPr/>
        </p:nvSpPr>
        <p:spPr>
          <a:xfrm>
            <a:off x="1569719" y="2516809"/>
            <a:ext cx="2102262" cy="3005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访客 / 普通用户</a:t>
            </a:r>
          </a:p>
        </p:txBody>
      </p:sp>
      <p:sp>
        <p:nvSpPr>
          <p:cNvPr id="24" name="Oval 23"/>
          <p:cNvSpPr/>
          <p:nvPr/>
        </p:nvSpPr>
        <p:spPr>
          <a:xfrm>
            <a:off x="922019" y="3215639"/>
            <a:ext cx="91439" cy="9143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字｜成果与学者检索"/>
          <p:cNvSpPr txBox="1"/>
          <p:nvPr/>
        </p:nvSpPr>
        <p:spPr>
          <a:xfrm>
            <a:off x="1158239" y="3156356"/>
            <a:ext cx="14224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成果与学者检索</a:t>
            </a:r>
          </a:p>
        </p:txBody>
      </p:sp>
      <p:sp>
        <p:nvSpPr>
          <p:cNvPr id="26" name="Oval 25"/>
          <p:cNvSpPr/>
          <p:nvPr/>
        </p:nvSpPr>
        <p:spPr>
          <a:xfrm>
            <a:off x="922019" y="3649979"/>
            <a:ext cx="91439" cy="9143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字｜成果详情与来源外链"/>
          <p:cNvSpPr txBox="1"/>
          <p:nvPr/>
        </p:nvSpPr>
        <p:spPr>
          <a:xfrm>
            <a:off x="1158239" y="359069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成果详情与来源外链</a:t>
            </a:r>
          </a:p>
        </p:txBody>
      </p:sp>
      <p:sp>
        <p:nvSpPr>
          <p:cNvPr id="28" name="Oval 27"/>
          <p:cNvSpPr/>
          <p:nvPr/>
        </p:nvSpPr>
        <p:spPr>
          <a:xfrm>
            <a:off x="922019" y="4084319"/>
            <a:ext cx="91439" cy="9143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字｜公开统计与相关推荐"/>
          <p:cNvSpPr txBox="1"/>
          <p:nvPr/>
        </p:nvSpPr>
        <p:spPr>
          <a:xfrm>
            <a:off x="1158239" y="402503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公开统计与相关推荐</a:t>
            </a:r>
          </a:p>
        </p:txBody>
      </p:sp>
      <p:sp>
        <p:nvSpPr>
          <p:cNvPr id="30" name="Oval 29"/>
          <p:cNvSpPr/>
          <p:nvPr/>
        </p:nvSpPr>
        <p:spPr>
          <a:xfrm>
            <a:off x="922019" y="4518659"/>
            <a:ext cx="91439" cy="9143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字｜申请机构注册 / 科研人员身份"/>
          <p:cNvSpPr txBox="1"/>
          <p:nvPr/>
        </p:nvSpPr>
        <p:spPr>
          <a:xfrm>
            <a:off x="1158239" y="4459376"/>
            <a:ext cx="2646045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申请机构注册 / 科研人员身份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1499" y="2156459"/>
            <a:ext cx="3482339" cy="3398519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549139" y="2331719"/>
            <a:ext cx="670559" cy="67055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909" y="2469489"/>
            <a:ext cx="395020" cy="395020"/>
          </a:xfrm>
          <a:prstGeom prst="rect">
            <a:avLst/>
          </a:prstGeom>
        </p:spPr>
      </p:pic>
      <p:sp>
        <p:nvSpPr>
          <p:cNvPr id="35" name="文字｜科研人员"/>
          <p:cNvSpPr txBox="1"/>
          <p:nvPr/>
        </p:nvSpPr>
        <p:spPr>
          <a:xfrm>
            <a:off x="5326379" y="2516809"/>
            <a:ext cx="1286255" cy="3005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科研人员</a:t>
            </a:r>
          </a:p>
        </p:txBody>
      </p:sp>
      <p:sp>
        <p:nvSpPr>
          <p:cNvPr id="36" name="Oval 35"/>
          <p:cNvSpPr/>
          <p:nvPr/>
        </p:nvSpPr>
        <p:spPr>
          <a:xfrm>
            <a:off x="4678679" y="321563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字｜申请学者门户管理权"/>
          <p:cNvSpPr txBox="1"/>
          <p:nvPr/>
        </p:nvSpPr>
        <p:spPr>
          <a:xfrm>
            <a:off x="4914899" y="315635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申请学者门户管理权</a:t>
            </a:r>
          </a:p>
        </p:txBody>
      </p:sp>
      <p:sp>
        <p:nvSpPr>
          <p:cNvPr id="38" name="Oval 37"/>
          <p:cNvSpPr/>
          <p:nvPr/>
        </p:nvSpPr>
        <p:spPr>
          <a:xfrm>
            <a:off x="4678679" y="364997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字｜逐项申请成果认领"/>
          <p:cNvSpPr txBox="1"/>
          <p:nvPr/>
        </p:nvSpPr>
        <p:spPr>
          <a:xfrm>
            <a:off x="4914899" y="3590696"/>
            <a:ext cx="16256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逐项申请成果认领</a:t>
            </a:r>
          </a:p>
        </p:txBody>
      </p:sp>
      <p:sp>
        <p:nvSpPr>
          <p:cNvPr id="40" name="Oval 39"/>
          <p:cNvSpPr/>
          <p:nvPr/>
        </p:nvSpPr>
        <p:spPr>
          <a:xfrm>
            <a:off x="4678679" y="408431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字｜提交补录 / 纠错"/>
          <p:cNvSpPr txBox="1"/>
          <p:nvPr/>
        </p:nvSpPr>
        <p:spPr>
          <a:xfrm>
            <a:off x="4914899" y="4025036"/>
            <a:ext cx="1426845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提交补录 / 纠错</a:t>
            </a:r>
          </a:p>
        </p:txBody>
      </p:sp>
      <p:sp>
        <p:nvSpPr>
          <p:cNvPr id="42" name="Oval 41"/>
          <p:cNvSpPr/>
          <p:nvPr/>
        </p:nvSpPr>
        <p:spPr>
          <a:xfrm>
            <a:off x="4678679" y="451865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字｜维护个人标签与说明"/>
          <p:cNvSpPr txBox="1"/>
          <p:nvPr/>
        </p:nvSpPr>
        <p:spPr>
          <a:xfrm>
            <a:off x="4914899" y="445937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维护个人标签与说明</a:t>
            </a:r>
          </a:p>
        </p:txBody>
      </p:sp>
      <p:sp>
        <p:nvSpPr>
          <p:cNvPr id="44" name="Oval 43"/>
          <p:cNvSpPr/>
          <p:nvPr/>
        </p:nvSpPr>
        <p:spPr>
          <a:xfrm>
            <a:off x="4678679" y="4952999"/>
            <a:ext cx="91439" cy="9143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字｜查看申请与审核状态"/>
          <p:cNvSpPr txBox="1"/>
          <p:nvPr/>
        </p:nvSpPr>
        <p:spPr>
          <a:xfrm>
            <a:off x="4914899" y="489371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查看申请与审核状态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38159" y="2156459"/>
            <a:ext cx="3482339" cy="3398519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8305799" y="2331719"/>
            <a:ext cx="670559" cy="67055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8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3569" y="2469489"/>
            <a:ext cx="395020" cy="395020"/>
          </a:xfrm>
          <a:prstGeom prst="rect">
            <a:avLst/>
          </a:prstGeom>
        </p:spPr>
      </p:pic>
      <p:sp>
        <p:nvSpPr>
          <p:cNvPr id="49" name="文字｜平台管理员"/>
          <p:cNvSpPr txBox="1"/>
          <p:nvPr/>
        </p:nvSpPr>
        <p:spPr>
          <a:xfrm>
            <a:off x="9083039" y="2516809"/>
            <a:ext cx="1573529" cy="3005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平台管理员</a:t>
            </a:r>
          </a:p>
        </p:txBody>
      </p:sp>
      <p:sp>
        <p:nvSpPr>
          <p:cNvPr id="50" name="Oval 49"/>
          <p:cNvSpPr/>
          <p:nvPr/>
        </p:nvSpPr>
        <p:spPr>
          <a:xfrm>
            <a:off x="8435339" y="3215639"/>
            <a:ext cx="91439" cy="91439"/>
          </a:xfrm>
          <a:prstGeom prst="ellipse">
            <a:avLst/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字｜审核机构与人员身份"/>
          <p:cNvSpPr txBox="1"/>
          <p:nvPr/>
        </p:nvSpPr>
        <p:spPr>
          <a:xfrm>
            <a:off x="8671559" y="315635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审核机构与人员身份</a:t>
            </a:r>
          </a:p>
        </p:txBody>
      </p:sp>
      <p:sp>
        <p:nvSpPr>
          <p:cNvPr id="52" name="Oval 51"/>
          <p:cNvSpPr/>
          <p:nvPr/>
        </p:nvSpPr>
        <p:spPr>
          <a:xfrm>
            <a:off x="8435339" y="3649979"/>
            <a:ext cx="91439" cy="91439"/>
          </a:xfrm>
          <a:prstGeom prst="ellipse">
            <a:avLst/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字｜审核门户与成果认领"/>
          <p:cNvSpPr txBox="1"/>
          <p:nvPr/>
        </p:nvSpPr>
        <p:spPr>
          <a:xfrm>
            <a:off x="8671559" y="359069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审核门户与成果认领</a:t>
            </a:r>
          </a:p>
        </p:txBody>
      </p:sp>
      <p:sp>
        <p:nvSpPr>
          <p:cNvPr id="54" name="Oval 53"/>
          <p:cNvSpPr/>
          <p:nvPr/>
        </p:nvSpPr>
        <p:spPr>
          <a:xfrm>
            <a:off x="8435339" y="4084319"/>
            <a:ext cx="91439" cy="91439"/>
          </a:xfrm>
          <a:prstGeom prst="ellipse">
            <a:avLst/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字｜管理采集与数据治理"/>
          <p:cNvSpPr txBox="1"/>
          <p:nvPr/>
        </p:nvSpPr>
        <p:spPr>
          <a:xfrm>
            <a:off x="8671559" y="4025036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管理采集与数据治理</a:t>
            </a:r>
          </a:p>
        </p:txBody>
      </p:sp>
      <p:sp>
        <p:nvSpPr>
          <p:cNvPr id="56" name="Oval 55"/>
          <p:cNvSpPr/>
          <p:nvPr/>
        </p:nvSpPr>
        <p:spPr>
          <a:xfrm>
            <a:off x="8435339" y="4518659"/>
            <a:ext cx="91439" cy="91439"/>
          </a:xfrm>
          <a:prstGeom prst="ellipse">
            <a:avLst/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字｜维护检索索引及质量审计"/>
          <p:cNvSpPr txBox="1"/>
          <p:nvPr/>
        </p:nvSpPr>
        <p:spPr>
          <a:xfrm>
            <a:off x="8671559" y="4459376"/>
            <a:ext cx="22352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维护检索索引及质量审计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4839" y="5783579"/>
            <a:ext cx="10934699" cy="510539"/>
          </a:xfrm>
          <a:prstGeom prst="roundRect">
            <a:avLst>
              <a:gd name="adj" fmla="val 25373"/>
            </a:avLst>
          </a:prstGeom>
          <a:solidFill>
            <a:srgbClr val="EC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761999" y="5848349"/>
            <a:ext cx="380999" cy="38099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0" name="可移动独立图标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989" y="5841339"/>
            <a:ext cx="395020" cy="395020"/>
          </a:xfrm>
          <a:prstGeom prst="rect">
            <a:avLst/>
          </a:prstGeom>
        </p:spPr>
      </p:pic>
      <p:sp>
        <p:nvSpPr>
          <p:cNvPr id="61" name="文字｜权限原则"/>
          <p:cNvSpPr txBox="1"/>
          <p:nvPr/>
        </p:nvSpPr>
        <p:spPr>
          <a:xfrm>
            <a:off x="1257299" y="591883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权限原则</a:t>
            </a:r>
          </a:p>
        </p:txBody>
      </p:sp>
      <p:sp>
        <p:nvSpPr>
          <p:cNvPr id="62" name="文字｜公开信息开放展示；认领受审核控制；治理操作全程留痕。"/>
          <p:cNvSpPr txBox="1"/>
          <p:nvPr/>
        </p:nvSpPr>
        <p:spPr>
          <a:xfrm>
            <a:off x="2834639" y="5926302"/>
            <a:ext cx="6060947" cy="2383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公开信息开放展示；认领受审核控制；治理操作全程留痕。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9486899" y="-967739"/>
            <a:ext cx="3733799" cy="3733799"/>
          </a:xfrm>
          <a:prstGeom prst="ellipse">
            <a:avLst/>
          </a:prstGeom>
          <a:noFill/>
          <a:ln w="15239">
            <a:solidFill>
              <a:srgbClr val="B8D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9258299" y="-1158239"/>
            <a:ext cx="5562599" cy="5562599"/>
          </a:xfrm>
          <a:prstGeom prst="ellipse">
            <a:avLst/>
          </a:prstGeom>
          <a:noFill/>
          <a:ln w="13715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核心数据模型设计"/>
          <p:cNvSpPr txBox="1"/>
          <p:nvPr/>
        </p:nvSpPr>
        <p:spPr>
          <a:xfrm>
            <a:off x="640079" y="765886"/>
            <a:ext cx="4178807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核心数据模型设计</a:t>
            </a:r>
          </a:p>
        </p:txBody>
      </p:sp>
      <p:sp>
        <p:nvSpPr>
          <p:cNvPr id="13" name="文字｜统一成果实体 Work，关联人员、机构、来源、认领与治理"/>
          <p:cNvSpPr txBox="1"/>
          <p:nvPr/>
        </p:nvSpPr>
        <p:spPr>
          <a:xfrm>
            <a:off x="662939" y="1373504"/>
            <a:ext cx="6488918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统一成果实体 Work，关联人员、机构、来源、认领与治理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07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07 / 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</a:p>
        </p:txBody>
      </p:sp>
      <p:sp>
        <p:nvSpPr>
          <p:cNvPr id="18" name="文字｜07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2674620" y="2560320"/>
            <a:ext cx="2400300" cy="1440180"/>
          </a:xfrm>
          <a:custGeom>
            <a:avLst/>
            <a:gdLst/>
            <a:ahLst/>
            <a:cxnLst/>
            <a:rect l="l" t="t" r="r" b="b"/>
            <a:pathLst>
              <a:path w="315" h="189">
                <a:moveTo>
                  <a:pt x="0" y="0"/>
                </a:moveTo>
                <a:lnTo>
                  <a:pt x="204" y="0"/>
                </a:lnTo>
                <a:lnTo>
                  <a:pt x="209" y="1"/>
                </a:lnTo>
                <a:lnTo>
                  <a:pt x="213" y="5"/>
                </a:lnTo>
                <a:lnTo>
                  <a:pt x="217" y="12"/>
                </a:lnTo>
                <a:lnTo>
                  <a:pt x="221" y="21"/>
                </a:lnTo>
                <a:lnTo>
                  <a:pt x="224" y="33"/>
                </a:lnTo>
                <a:lnTo>
                  <a:pt x="227" y="47"/>
                </a:lnTo>
                <a:lnTo>
                  <a:pt x="229" y="64"/>
                </a:lnTo>
                <a:lnTo>
                  <a:pt x="231" y="84"/>
                </a:lnTo>
                <a:lnTo>
                  <a:pt x="232" y="106"/>
                </a:lnTo>
                <a:lnTo>
                  <a:pt x="233" y="131"/>
                </a:lnTo>
                <a:lnTo>
                  <a:pt x="234" y="159"/>
                </a:lnTo>
                <a:lnTo>
                  <a:pt x="234" y="189"/>
                </a:lnTo>
                <a:lnTo>
                  <a:pt x="315" y="189"/>
                </a:lnTo>
              </a:path>
            </a:pathLst>
          </a:custGeom>
          <a:noFill/>
          <a:ln w="17525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2674620" y="3337560"/>
            <a:ext cx="2400300" cy="662940"/>
          </a:xfrm>
          <a:custGeom>
            <a:avLst/>
            <a:gdLst/>
            <a:ahLst/>
            <a:cxnLst/>
            <a:rect l="l" t="t" r="r" b="b"/>
            <a:pathLst>
              <a:path w="315" h="87">
                <a:moveTo>
                  <a:pt x="0" y="0"/>
                </a:moveTo>
                <a:lnTo>
                  <a:pt x="204" y="0"/>
                </a:lnTo>
                <a:lnTo>
                  <a:pt x="209" y="1"/>
                </a:lnTo>
                <a:lnTo>
                  <a:pt x="213" y="2"/>
                </a:lnTo>
                <a:lnTo>
                  <a:pt x="217" y="5"/>
                </a:lnTo>
                <a:lnTo>
                  <a:pt x="221" y="10"/>
                </a:lnTo>
                <a:lnTo>
                  <a:pt x="224" y="15"/>
                </a:lnTo>
                <a:lnTo>
                  <a:pt x="227" y="22"/>
                </a:lnTo>
                <a:lnTo>
                  <a:pt x="229" y="30"/>
                </a:lnTo>
                <a:lnTo>
                  <a:pt x="231" y="39"/>
                </a:lnTo>
                <a:lnTo>
                  <a:pt x="232" y="49"/>
                </a:lnTo>
                <a:lnTo>
                  <a:pt x="233" y="60"/>
                </a:lnTo>
                <a:lnTo>
                  <a:pt x="234" y="73"/>
                </a:lnTo>
                <a:lnTo>
                  <a:pt x="234" y="87"/>
                </a:lnTo>
                <a:lnTo>
                  <a:pt x="315" y="87"/>
                </a:lnTo>
              </a:path>
            </a:pathLst>
          </a:custGeom>
          <a:noFill/>
          <a:ln w="17525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2674620" y="4000500"/>
            <a:ext cx="2400300" cy="114300"/>
          </a:xfrm>
          <a:custGeom>
            <a:avLst/>
            <a:gdLst/>
            <a:ahLst/>
            <a:cxnLst/>
            <a:rect l="l" t="t" r="r" b="b"/>
            <a:pathLst>
              <a:path w="315" h="15">
                <a:moveTo>
                  <a:pt x="0" y="15"/>
                </a:moveTo>
                <a:lnTo>
                  <a:pt x="204" y="15"/>
                </a:lnTo>
                <a:lnTo>
                  <a:pt x="209" y="15"/>
                </a:lnTo>
                <a:lnTo>
                  <a:pt x="213" y="15"/>
                </a:lnTo>
                <a:lnTo>
                  <a:pt x="217" y="14"/>
                </a:lnTo>
                <a:lnTo>
                  <a:pt x="221" y="13"/>
                </a:lnTo>
                <a:lnTo>
                  <a:pt x="224" y="12"/>
                </a:lnTo>
                <a:lnTo>
                  <a:pt x="227" y="11"/>
                </a:lnTo>
                <a:lnTo>
                  <a:pt x="229" y="10"/>
                </a:lnTo>
                <a:lnTo>
                  <a:pt x="231" y="8"/>
                </a:lnTo>
                <a:lnTo>
                  <a:pt x="232" y="7"/>
                </a:lnTo>
                <a:lnTo>
                  <a:pt x="233" y="5"/>
                </a:lnTo>
                <a:lnTo>
                  <a:pt x="234" y="2"/>
                </a:lnTo>
                <a:lnTo>
                  <a:pt x="234" y="0"/>
                </a:lnTo>
                <a:lnTo>
                  <a:pt x="315" y="0"/>
                </a:lnTo>
              </a:path>
            </a:pathLst>
          </a:custGeom>
          <a:noFill/>
          <a:ln w="17525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Freeform 22"/>
          <p:cNvSpPr/>
          <p:nvPr/>
        </p:nvSpPr>
        <p:spPr>
          <a:xfrm>
            <a:off x="2674620" y="4000500"/>
            <a:ext cx="2400300" cy="891540"/>
          </a:xfrm>
          <a:custGeom>
            <a:avLst/>
            <a:gdLst/>
            <a:ahLst/>
            <a:cxnLst/>
            <a:rect l="l" t="t" r="r" b="b"/>
            <a:pathLst>
              <a:path w="315" h="117">
                <a:moveTo>
                  <a:pt x="0" y="117"/>
                </a:moveTo>
                <a:lnTo>
                  <a:pt x="204" y="117"/>
                </a:lnTo>
                <a:lnTo>
                  <a:pt x="209" y="116"/>
                </a:lnTo>
                <a:lnTo>
                  <a:pt x="213" y="114"/>
                </a:lnTo>
                <a:lnTo>
                  <a:pt x="217" y="110"/>
                </a:lnTo>
                <a:lnTo>
                  <a:pt x="221" y="104"/>
                </a:lnTo>
                <a:lnTo>
                  <a:pt x="224" y="97"/>
                </a:lnTo>
                <a:lnTo>
                  <a:pt x="227" y="88"/>
                </a:lnTo>
                <a:lnTo>
                  <a:pt x="229" y="77"/>
                </a:lnTo>
                <a:lnTo>
                  <a:pt x="231" y="65"/>
                </a:lnTo>
                <a:lnTo>
                  <a:pt x="232" y="51"/>
                </a:lnTo>
                <a:lnTo>
                  <a:pt x="233" y="36"/>
                </a:lnTo>
                <a:lnTo>
                  <a:pt x="234" y="19"/>
                </a:lnTo>
                <a:lnTo>
                  <a:pt x="234" y="0"/>
                </a:lnTo>
                <a:lnTo>
                  <a:pt x="315" y="0"/>
                </a:lnTo>
              </a:path>
            </a:pathLst>
          </a:custGeom>
          <a:noFill/>
          <a:ln w="17525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7505700" y="2392680"/>
            <a:ext cx="784860" cy="1600200"/>
          </a:xfrm>
          <a:custGeom>
            <a:avLst/>
            <a:gdLst/>
            <a:ahLst/>
            <a:cxnLst/>
            <a:rect l="l" t="t" r="r" b="b"/>
            <a:pathLst>
              <a:path w="103" h="210">
                <a:moveTo>
                  <a:pt x="0" y="210"/>
                </a:moveTo>
                <a:lnTo>
                  <a:pt x="33" y="210"/>
                </a:lnTo>
                <a:lnTo>
                  <a:pt x="36" y="209"/>
                </a:lnTo>
                <a:lnTo>
                  <a:pt x="39" y="204"/>
                </a:lnTo>
                <a:lnTo>
                  <a:pt x="41" y="197"/>
                </a:lnTo>
                <a:lnTo>
                  <a:pt x="43" y="187"/>
                </a:lnTo>
                <a:lnTo>
                  <a:pt x="45" y="174"/>
                </a:lnTo>
                <a:lnTo>
                  <a:pt x="47" y="158"/>
                </a:lnTo>
                <a:lnTo>
                  <a:pt x="48" y="139"/>
                </a:lnTo>
                <a:lnTo>
                  <a:pt x="49" y="117"/>
                </a:lnTo>
                <a:lnTo>
                  <a:pt x="50" y="92"/>
                </a:lnTo>
                <a:lnTo>
                  <a:pt x="51" y="64"/>
                </a:lnTo>
                <a:lnTo>
                  <a:pt x="51" y="34"/>
                </a:lnTo>
                <a:lnTo>
                  <a:pt x="51" y="0"/>
                </a:lnTo>
                <a:lnTo>
                  <a:pt x="103" y="0"/>
                </a:lnTo>
              </a:path>
            </a:pathLst>
          </a:custGeom>
          <a:noFill/>
          <a:ln w="15239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7505700" y="3154680"/>
            <a:ext cx="784860" cy="838200"/>
          </a:xfrm>
          <a:custGeom>
            <a:avLst/>
            <a:gdLst/>
            <a:ahLst/>
            <a:cxnLst/>
            <a:rect l="l" t="t" r="r" b="b"/>
            <a:pathLst>
              <a:path w="103" h="110">
                <a:moveTo>
                  <a:pt x="0" y="110"/>
                </a:moveTo>
                <a:lnTo>
                  <a:pt x="33" y="110"/>
                </a:lnTo>
                <a:lnTo>
                  <a:pt x="36" y="109"/>
                </a:lnTo>
                <a:lnTo>
                  <a:pt x="39" y="107"/>
                </a:lnTo>
                <a:lnTo>
                  <a:pt x="41" y="103"/>
                </a:lnTo>
                <a:lnTo>
                  <a:pt x="43" y="98"/>
                </a:lnTo>
                <a:lnTo>
                  <a:pt x="45" y="91"/>
                </a:lnTo>
                <a:lnTo>
                  <a:pt x="47" y="82"/>
                </a:lnTo>
                <a:lnTo>
                  <a:pt x="48" y="73"/>
                </a:lnTo>
                <a:lnTo>
                  <a:pt x="49" y="61"/>
                </a:lnTo>
                <a:lnTo>
                  <a:pt x="50" y="48"/>
                </a:lnTo>
                <a:lnTo>
                  <a:pt x="51" y="34"/>
                </a:lnTo>
                <a:lnTo>
                  <a:pt x="51" y="18"/>
                </a:lnTo>
                <a:lnTo>
                  <a:pt x="51" y="0"/>
                </a:lnTo>
                <a:lnTo>
                  <a:pt x="103" y="0"/>
                </a:lnTo>
              </a:path>
            </a:pathLst>
          </a:custGeom>
          <a:noFill/>
          <a:ln w="15239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7505700" y="3916680"/>
            <a:ext cx="784860" cy="76200"/>
          </a:xfrm>
          <a:custGeom>
            <a:avLst/>
            <a:gdLst/>
            <a:ahLst/>
            <a:cxnLst/>
            <a:rect l="l" t="t" r="r" b="b"/>
            <a:pathLst>
              <a:path w="103" h="10">
                <a:moveTo>
                  <a:pt x="0" y="10"/>
                </a:moveTo>
                <a:lnTo>
                  <a:pt x="33" y="10"/>
                </a:lnTo>
                <a:lnTo>
                  <a:pt x="36" y="10"/>
                </a:lnTo>
                <a:lnTo>
                  <a:pt x="39" y="10"/>
                </a:lnTo>
                <a:lnTo>
                  <a:pt x="41" y="9"/>
                </a:lnTo>
                <a:lnTo>
                  <a:pt x="43" y="9"/>
                </a:lnTo>
                <a:lnTo>
                  <a:pt x="45" y="8"/>
                </a:lnTo>
                <a:lnTo>
                  <a:pt x="47" y="8"/>
                </a:lnTo>
                <a:lnTo>
                  <a:pt x="48" y="7"/>
                </a:lnTo>
                <a:lnTo>
                  <a:pt x="49" y="6"/>
                </a:lnTo>
                <a:lnTo>
                  <a:pt x="50" y="4"/>
                </a:lnTo>
                <a:lnTo>
                  <a:pt x="51" y="3"/>
                </a:lnTo>
                <a:lnTo>
                  <a:pt x="51" y="2"/>
                </a:lnTo>
                <a:lnTo>
                  <a:pt x="51" y="0"/>
                </a:lnTo>
                <a:lnTo>
                  <a:pt x="103" y="0"/>
                </a:lnTo>
              </a:path>
            </a:pathLst>
          </a:custGeom>
          <a:noFill/>
          <a:ln w="15239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7505700" y="3992880"/>
            <a:ext cx="784860" cy="685800"/>
          </a:xfrm>
          <a:custGeom>
            <a:avLst/>
            <a:gdLst/>
            <a:ahLst/>
            <a:cxnLst/>
            <a:rect l="l" t="t" r="r" b="b"/>
            <a:pathLst>
              <a:path w="103" h="90">
                <a:moveTo>
                  <a:pt x="0" y="0"/>
                </a:moveTo>
                <a:lnTo>
                  <a:pt x="33" y="0"/>
                </a:lnTo>
                <a:lnTo>
                  <a:pt x="36" y="1"/>
                </a:lnTo>
                <a:lnTo>
                  <a:pt x="39" y="2"/>
                </a:lnTo>
                <a:lnTo>
                  <a:pt x="41" y="6"/>
                </a:lnTo>
                <a:lnTo>
                  <a:pt x="43" y="10"/>
                </a:lnTo>
                <a:lnTo>
                  <a:pt x="45" y="16"/>
                </a:lnTo>
                <a:lnTo>
                  <a:pt x="47" y="22"/>
                </a:lnTo>
                <a:lnTo>
                  <a:pt x="48" y="31"/>
                </a:lnTo>
                <a:lnTo>
                  <a:pt x="49" y="40"/>
                </a:lnTo>
                <a:lnTo>
                  <a:pt x="50" y="51"/>
                </a:lnTo>
                <a:lnTo>
                  <a:pt x="51" y="62"/>
                </a:lnTo>
                <a:lnTo>
                  <a:pt x="51" y="76"/>
                </a:lnTo>
                <a:lnTo>
                  <a:pt x="51" y="90"/>
                </a:lnTo>
                <a:lnTo>
                  <a:pt x="103" y="90"/>
                </a:lnTo>
              </a:path>
            </a:pathLst>
          </a:custGeom>
          <a:noFill/>
          <a:ln w="15239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7505700" y="3992880"/>
            <a:ext cx="784860" cy="1447800"/>
          </a:xfrm>
          <a:custGeom>
            <a:avLst/>
            <a:gdLst/>
            <a:ahLst/>
            <a:cxnLst/>
            <a:rect l="l" t="t" r="r" b="b"/>
            <a:pathLst>
              <a:path w="103" h="190">
                <a:moveTo>
                  <a:pt x="0" y="0"/>
                </a:moveTo>
                <a:lnTo>
                  <a:pt x="33" y="0"/>
                </a:lnTo>
                <a:lnTo>
                  <a:pt x="36" y="1"/>
                </a:lnTo>
                <a:lnTo>
                  <a:pt x="39" y="5"/>
                </a:lnTo>
                <a:lnTo>
                  <a:pt x="41" y="12"/>
                </a:lnTo>
                <a:lnTo>
                  <a:pt x="43" y="21"/>
                </a:lnTo>
                <a:lnTo>
                  <a:pt x="45" y="33"/>
                </a:lnTo>
                <a:lnTo>
                  <a:pt x="47" y="48"/>
                </a:lnTo>
                <a:lnTo>
                  <a:pt x="48" y="65"/>
                </a:lnTo>
                <a:lnTo>
                  <a:pt x="49" y="84"/>
                </a:lnTo>
                <a:lnTo>
                  <a:pt x="50" y="107"/>
                </a:lnTo>
                <a:lnTo>
                  <a:pt x="51" y="132"/>
                </a:lnTo>
                <a:lnTo>
                  <a:pt x="51" y="160"/>
                </a:lnTo>
                <a:lnTo>
                  <a:pt x="51" y="190"/>
                </a:lnTo>
                <a:lnTo>
                  <a:pt x="103" y="190"/>
                </a:lnTo>
              </a:path>
            </a:pathLst>
          </a:custGeom>
          <a:noFill/>
          <a:ln w="15239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40079" y="2240279"/>
            <a:ext cx="2026919" cy="624839"/>
          </a:xfrm>
          <a:prstGeom prst="roundRect">
            <a:avLst>
              <a:gd name="adj" fmla="val 2317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23899" y="2339339"/>
            <a:ext cx="426719" cy="42671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1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49" y="2355189"/>
            <a:ext cx="395020" cy="395020"/>
          </a:xfrm>
          <a:prstGeom prst="rect">
            <a:avLst/>
          </a:prstGeom>
        </p:spPr>
      </p:pic>
      <p:sp>
        <p:nvSpPr>
          <p:cNvPr id="32" name="文字｜论文"/>
          <p:cNvSpPr txBox="1"/>
          <p:nvPr/>
        </p:nvSpPr>
        <p:spPr>
          <a:xfrm>
            <a:off x="1219199" y="2348788"/>
            <a:ext cx="612647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论文</a:t>
            </a:r>
          </a:p>
        </p:txBody>
      </p:sp>
      <p:sp>
        <p:nvSpPr>
          <p:cNvPr id="33" name="文字｜Paper"/>
          <p:cNvSpPr txBox="1"/>
          <p:nvPr/>
        </p:nvSpPr>
        <p:spPr>
          <a:xfrm>
            <a:off x="1219199" y="2614955"/>
            <a:ext cx="593764" cy="1761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Paper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79" y="3017519"/>
            <a:ext cx="2026919" cy="624839"/>
          </a:xfrm>
          <a:prstGeom prst="roundRect">
            <a:avLst>
              <a:gd name="adj" fmla="val 2317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723899" y="3116579"/>
            <a:ext cx="426719" cy="42671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6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749" y="3132429"/>
            <a:ext cx="395020" cy="395020"/>
          </a:xfrm>
          <a:prstGeom prst="rect">
            <a:avLst/>
          </a:prstGeom>
        </p:spPr>
      </p:pic>
      <p:sp>
        <p:nvSpPr>
          <p:cNvPr id="37" name="文字｜专利"/>
          <p:cNvSpPr txBox="1"/>
          <p:nvPr/>
        </p:nvSpPr>
        <p:spPr>
          <a:xfrm>
            <a:off x="1219199" y="3126028"/>
            <a:ext cx="612647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专利</a:t>
            </a:r>
          </a:p>
        </p:txBody>
      </p:sp>
      <p:sp>
        <p:nvSpPr>
          <p:cNvPr id="38" name="文字｜Patent"/>
          <p:cNvSpPr txBox="1"/>
          <p:nvPr/>
        </p:nvSpPr>
        <p:spPr>
          <a:xfrm>
            <a:off x="1219199" y="3392195"/>
            <a:ext cx="648712" cy="1761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Patent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79" y="3794759"/>
            <a:ext cx="2026919" cy="624839"/>
          </a:xfrm>
          <a:prstGeom prst="roundRect">
            <a:avLst>
              <a:gd name="adj" fmla="val 2317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723899" y="3893819"/>
            <a:ext cx="426719" cy="42671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749" y="3909669"/>
            <a:ext cx="395020" cy="395020"/>
          </a:xfrm>
          <a:prstGeom prst="rect">
            <a:avLst/>
          </a:prstGeom>
        </p:spPr>
      </p:pic>
      <p:sp>
        <p:nvSpPr>
          <p:cNvPr id="42" name="文字｜科研项目"/>
          <p:cNvSpPr txBox="1"/>
          <p:nvPr/>
        </p:nvSpPr>
        <p:spPr>
          <a:xfrm>
            <a:off x="1219199" y="3903268"/>
            <a:ext cx="1088135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科研项目</a:t>
            </a:r>
          </a:p>
        </p:txBody>
      </p:sp>
      <p:sp>
        <p:nvSpPr>
          <p:cNvPr id="43" name="文字｜Project"/>
          <p:cNvSpPr txBox="1"/>
          <p:nvPr/>
        </p:nvSpPr>
        <p:spPr>
          <a:xfrm>
            <a:off x="1219199" y="4169435"/>
            <a:ext cx="696384" cy="1761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Project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79" y="4571999"/>
            <a:ext cx="2026919" cy="624839"/>
          </a:xfrm>
          <a:prstGeom prst="roundRect">
            <a:avLst>
              <a:gd name="adj" fmla="val 2317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723899" y="4671059"/>
            <a:ext cx="426719" cy="42671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6" name="可移动独立图标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49" y="4686909"/>
            <a:ext cx="395020" cy="395020"/>
          </a:xfrm>
          <a:prstGeom prst="rect">
            <a:avLst/>
          </a:prstGeom>
        </p:spPr>
      </p:pic>
      <p:sp>
        <p:nvSpPr>
          <p:cNvPr id="47" name="文字｜获奖"/>
          <p:cNvSpPr txBox="1"/>
          <p:nvPr/>
        </p:nvSpPr>
        <p:spPr>
          <a:xfrm>
            <a:off x="1219199" y="4680508"/>
            <a:ext cx="612647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获奖</a:t>
            </a:r>
          </a:p>
        </p:txBody>
      </p:sp>
      <p:sp>
        <p:nvSpPr>
          <p:cNvPr id="48" name="文字｜Award"/>
          <p:cNvSpPr txBox="1"/>
          <p:nvPr/>
        </p:nvSpPr>
        <p:spPr>
          <a:xfrm>
            <a:off x="1219199" y="4946675"/>
            <a:ext cx="635091" cy="1761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Award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74919" y="3421379"/>
            <a:ext cx="2438399" cy="1196339"/>
          </a:xfrm>
          <a:prstGeom prst="roundRect">
            <a:avLst>
              <a:gd name="adj" fmla="val 12101"/>
            </a:avLst>
          </a:prstGeom>
          <a:solidFill>
            <a:srgbClr val="E7F3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5212079" y="3665219"/>
            <a:ext cx="685799" cy="68579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1" name="可移动独立图标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7469" y="3810609"/>
            <a:ext cx="395020" cy="395020"/>
          </a:xfrm>
          <a:prstGeom prst="rect">
            <a:avLst/>
          </a:prstGeom>
        </p:spPr>
      </p:pic>
      <p:sp>
        <p:nvSpPr>
          <p:cNvPr id="52" name="文字｜Work"/>
          <p:cNvSpPr txBox="1"/>
          <p:nvPr/>
        </p:nvSpPr>
        <p:spPr>
          <a:xfrm>
            <a:off x="6057899" y="3607079"/>
            <a:ext cx="1025604" cy="3834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Work</a:t>
            </a:r>
          </a:p>
        </p:txBody>
      </p:sp>
      <p:sp>
        <p:nvSpPr>
          <p:cNvPr id="53" name="文字｜统一成果主实体"/>
          <p:cNvSpPr txBox="1"/>
          <p:nvPr/>
        </p:nvSpPr>
        <p:spPr>
          <a:xfrm>
            <a:off x="5897880" y="4049395"/>
            <a:ext cx="1468755" cy="1873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统一成果主实体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90559" y="2080259"/>
            <a:ext cx="3101339" cy="632459"/>
          </a:xfrm>
          <a:prstGeom prst="roundRect">
            <a:avLst>
              <a:gd name="adj" fmla="val 2289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8427719" y="2186939"/>
            <a:ext cx="411479" cy="41147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6" name="可移动独立图标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5949" y="2195169"/>
            <a:ext cx="395020" cy="395020"/>
          </a:xfrm>
          <a:prstGeom prst="rect">
            <a:avLst/>
          </a:prstGeom>
        </p:spPr>
      </p:pic>
      <p:sp>
        <p:nvSpPr>
          <p:cNvPr id="57" name="文字｜人员"/>
          <p:cNvSpPr txBox="1"/>
          <p:nvPr/>
        </p:nvSpPr>
        <p:spPr>
          <a:xfrm>
            <a:off x="8976359" y="2181148"/>
            <a:ext cx="612647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人员</a:t>
            </a:r>
          </a:p>
        </p:txBody>
      </p:sp>
      <p:sp>
        <p:nvSpPr>
          <p:cNvPr id="58" name="文字｜Person"/>
          <p:cNvSpPr txBox="1"/>
          <p:nvPr/>
        </p:nvSpPr>
        <p:spPr>
          <a:xfrm>
            <a:off x="8976359" y="2439695"/>
            <a:ext cx="680906" cy="1761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Person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290559" y="2842259"/>
            <a:ext cx="3101339" cy="632459"/>
          </a:xfrm>
          <a:prstGeom prst="roundRect">
            <a:avLst>
              <a:gd name="adj" fmla="val 2289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8427719" y="2948939"/>
            <a:ext cx="411479" cy="41147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1" name="可移动独立图标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5949" y="2957169"/>
            <a:ext cx="395020" cy="395020"/>
          </a:xfrm>
          <a:prstGeom prst="rect">
            <a:avLst/>
          </a:prstGeom>
        </p:spPr>
      </p:pic>
      <p:sp>
        <p:nvSpPr>
          <p:cNvPr id="62" name="文字｜机构"/>
          <p:cNvSpPr txBox="1"/>
          <p:nvPr/>
        </p:nvSpPr>
        <p:spPr>
          <a:xfrm>
            <a:off x="8976359" y="2943148"/>
            <a:ext cx="612647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机构</a:t>
            </a:r>
          </a:p>
        </p:txBody>
      </p:sp>
      <p:sp>
        <p:nvSpPr>
          <p:cNvPr id="63" name="文字｜Organization"/>
          <p:cNvSpPr txBox="1"/>
          <p:nvPr/>
        </p:nvSpPr>
        <p:spPr>
          <a:xfrm>
            <a:off x="8976359" y="3201695"/>
            <a:ext cx="1144012" cy="1761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Organization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290559" y="3604259"/>
            <a:ext cx="3101339" cy="632459"/>
          </a:xfrm>
          <a:prstGeom prst="roundRect">
            <a:avLst>
              <a:gd name="adj" fmla="val 2289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8427719" y="3710939"/>
            <a:ext cx="411479" cy="4114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6" name="可移动独立图标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5949" y="3719169"/>
            <a:ext cx="395020" cy="395020"/>
          </a:xfrm>
          <a:prstGeom prst="rect">
            <a:avLst/>
          </a:prstGeom>
        </p:spPr>
      </p:pic>
      <p:sp>
        <p:nvSpPr>
          <p:cNvPr id="67" name="文字｜来源记录"/>
          <p:cNvSpPr txBox="1"/>
          <p:nvPr/>
        </p:nvSpPr>
        <p:spPr>
          <a:xfrm>
            <a:off x="8976359" y="3705148"/>
            <a:ext cx="1088135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来源记录</a:t>
            </a:r>
          </a:p>
        </p:txBody>
      </p:sp>
      <p:sp>
        <p:nvSpPr>
          <p:cNvPr id="68" name="文字｜SourceRecord"/>
          <p:cNvSpPr txBox="1"/>
          <p:nvPr/>
        </p:nvSpPr>
        <p:spPr>
          <a:xfrm>
            <a:off x="8976359" y="3963695"/>
            <a:ext cx="1230534" cy="1761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SourceRecord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90559" y="4366259"/>
            <a:ext cx="3101339" cy="632459"/>
          </a:xfrm>
          <a:prstGeom prst="roundRect">
            <a:avLst>
              <a:gd name="adj" fmla="val 2289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Oval 69"/>
          <p:cNvSpPr/>
          <p:nvPr/>
        </p:nvSpPr>
        <p:spPr>
          <a:xfrm>
            <a:off x="8427719" y="4472939"/>
            <a:ext cx="411479" cy="41147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1" name="可移动独立图标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5949" y="4481169"/>
            <a:ext cx="395020" cy="395020"/>
          </a:xfrm>
          <a:prstGeom prst="rect">
            <a:avLst/>
          </a:prstGeom>
        </p:spPr>
      </p:pic>
      <p:sp>
        <p:nvSpPr>
          <p:cNvPr id="72" name="文字｜认领申请"/>
          <p:cNvSpPr txBox="1"/>
          <p:nvPr/>
        </p:nvSpPr>
        <p:spPr>
          <a:xfrm>
            <a:off x="8976359" y="4467148"/>
            <a:ext cx="1088135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认领申请</a:t>
            </a:r>
          </a:p>
        </p:txBody>
      </p:sp>
      <p:sp>
        <p:nvSpPr>
          <p:cNvPr id="73" name="文字｜Claim"/>
          <p:cNvSpPr txBox="1"/>
          <p:nvPr/>
        </p:nvSpPr>
        <p:spPr>
          <a:xfrm>
            <a:off x="8976359" y="4725695"/>
            <a:ext cx="589430" cy="1761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Claim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8290559" y="5128259"/>
            <a:ext cx="3101339" cy="632459"/>
          </a:xfrm>
          <a:prstGeom prst="roundRect">
            <a:avLst>
              <a:gd name="adj" fmla="val 22891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8427719" y="5234939"/>
            <a:ext cx="411479" cy="41147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6" name="可移动独立图标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35949" y="5243169"/>
            <a:ext cx="395020" cy="395020"/>
          </a:xfrm>
          <a:prstGeom prst="rect">
            <a:avLst/>
          </a:prstGeom>
        </p:spPr>
      </p:pic>
      <p:sp>
        <p:nvSpPr>
          <p:cNvPr id="77" name="文字｜治理任务"/>
          <p:cNvSpPr txBox="1"/>
          <p:nvPr/>
        </p:nvSpPr>
        <p:spPr>
          <a:xfrm>
            <a:off x="8976359" y="5229148"/>
            <a:ext cx="1088135" cy="248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治理任务</a:t>
            </a:r>
          </a:p>
        </p:txBody>
      </p:sp>
      <p:sp>
        <p:nvSpPr>
          <p:cNvPr id="78" name="文字｜GovernanceTask"/>
          <p:cNvSpPr txBox="1"/>
          <p:nvPr/>
        </p:nvSpPr>
        <p:spPr>
          <a:xfrm>
            <a:off x="8976359" y="5487695"/>
            <a:ext cx="1425559" cy="17617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GovernanceTask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17219" y="6050279"/>
            <a:ext cx="10934699" cy="236219"/>
          </a:xfrm>
          <a:prstGeom prst="roundRect">
            <a:avLst>
              <a:gd name="adj" fmla="val 35483"/>
            </a:avLst>
          </a:prstGeom>
          <a:solidFill>
            <a:srgbClr val="EA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字｜设计原则：统一成果标识，保留原始来源，多对多关系用关联表表达，变更记录可审计"/>
          <p:cNvSpPr txBox="1"/>
          <p:nvPr/>
        </p:nvSpPr>
        <p:spPr>
          <a:xfrm>
            <a:off x="800099" y="6074587"/>
            <a:ext cx="7477505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设计原则：统一成果标识，保留原始来源，多对多关系用关联表表达，变更记录可审计。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9486899" y="-967739"/>
            <a:ext cx="3733799" cy="3733799"/>
          </a:xfrm>
          <a:prstGeom prst="ellipse">
            <a:avLst/>
          </a:prstGeom>
          <a:noFill/>
          <a:ln w="15239">
            <a:solidFill>
              <a:srgbClr val="B8D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9258299" y="-1158239"/>
            <a:ext cx="5562599" cy="5562599"/>
          </a:xfrm>
          <a:prstGeom prst="ellipse">
            <a:avLst/>
          </a:prstGeom>
          <a:noFill/>
          <a:ln w="13715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多源数据采集与更新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多源数据采集与更新</a:t>
            </a:r>
          </a:p>
        </p:txBody>
      </p:sp>
      <p:sp>
        <p:nvSpPr>
          <p:cNvPr id="13" name="文字｜从数据获取到可检索成果的完整 ETL 与同步流程"/>
          <p:cNvSpPr txBox="1"/>
          <p:nvPr/>
        </p:nvSpPr>
        <p:spPr>
          <a:xfrm>
            <a:off x="662939" y="1373504"/>
            <a:ext cx="5381922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从数据获取到可检索成果的完整 ETL 与同步流程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08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08 / 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</a:p>
        </p:txBody>
      </p:sp>
      <p:sp>
        <p:nvSpPr>
          <p:cNvPr id="18" name="文字｜08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39" y="2316479"/>
            <a:ext cx="2133599" cy="2461259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字｜01"/>
          <p:cNvSpPr txBox="1"/>
          <p:nvPr/>
        </p:nvSpPr>
        <p:spPr>
          <a:xfrm>
            <a:off x="754379" y="2577236"/>
            <a:ext cx="378928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</a:p>
        </p:txBody>
      </p:sp>
      <p:sp>
        <p:nvSpPr>
          <p:cNvPr id="22" name="Oval 21"/>
          <p:cNvSpPr/>
          <p:nvPr/>
        </p:nvSpPr>
        <p:spPr>
          <a:xfrm>
            <a:off x="1173479" y="2766059"/>
            <a:ext cx="883919" cy="88391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929" y="3010509"/>
            <a:ext cx="395020" cy="395020"/>
          </a:xfrm>
          <a:prstGeom prst="rect">
            <a:avLst/>
          </a:prstGeom>
        </p:spPr>
      </p:pic>
      <p:sp>
        <p:nvSpPr>
          <p:cNvPr id="24" name="文字｜数据采集"/>
          <p:cNvSpPr txBox="1"/>
          <p:nvPr/>
        </p:nvSpPr>
        <p:spPr>
          <a:xfrm>
            <a:off x="1011935" y="37663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数据采集</a:t>
            </a:r>
          </a:p>
        </p:txBody>
      </p:sp>
      <p:sp>
        <p:nvSpPr>
          <p:cNvPr id="25" name="文字｜按来源接口或公开清单"/>
          <p:cNvSpPr txBox="1"/>
          <p:nvPr/>
        </p:nvSpPr>
        <p:spPr>
          <a:xfrm>
            <a:off x="556259" y="4169663"/>
            <a:ext cx="211835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按来源接口或公开清单</a:t>
            </a:r>
          </a:p>
        </p:txBody>
      </p:sp>
      <p:sp>
        <p:nvSpPr>
          <p:cNvPr id="26" name="文字｜获取结构化信息"/>
          <p:cNvSpPr txBox="1"/>
          <p:nvPr/>
        </p:nvSpPr>
        <p:spPr>
          <a:xfrm>
            <a:off x="853439" y="4390643"/>
            <a:ext cx="152399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获取结构化信息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97479" y="3550919"/>
            <a:ext cx="182880" cy="0"/>
          </a:xfrm>
          <a:prstGeom prst="line">
            <a:avLst/>
          </a:prstGeom>
          <a:ln w="22859">
            <a:solidFill>
              <a:srgbClr val="62A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reeform 27"/>
          <p:cNvSpPr/>
          <p:nvPr/>
        </p:nvSpPr>
        <p:spPr>
          <a:xfrm>
            <a:off x="2804160" y="35128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2859">
            <a:solidFill>
              <a:srgbClr val="62A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895599" y="2316479"/>
            <a:ext cx="2133599" cy="2461259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字｜02"/>
          <p:cNvSpPr txBox="1"/>
          <p:nvPr/>
        </p:nvSpPr>
        <p:spPr>
          <a:xfrm>
            <a:off x="3101339" y="2577236"/>
            <a:ext cx="378928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</a:p>
        </p:txBody>
      </p:sp>
      <p:sp>
        <p:nvSpPr>
          <p:cNvPr id="31" name="Oval 30"/>
          <p:cNvSpPr/>
          <p:nvPr/>
        </p:nvSpPr>
        <p:spPr>
          <a:xfrm>
            <a:off x="3520439" y="2766059"/>
            <a:ext cx="883919" cy="88391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4889" y="3010509"/>
            <a:ext cx="395020" cy="395020"/>
          </a:xfrm>
          <a:prstGeom prst="rect">
            <a:avLst/>
          </a:prstGeom>
        </p:spPr>
      </p:pic>
      <p:sp>
        <p:nvSpPr>
          <p:cNvPr id="33" name="文字｜数据清洗"/>
          <p:cNvSpPr txBox="1"/>
          <p:nvPr/>
        </p:nvSpPr>
        <p:spPr>
          <a:xfrm>
            <a:off x="3358895" y="37663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数据清洗</a:t>
            </a:r>
          </a:p>
        </p:txBody>
      </p:sp>
      <p:sp>
        <p:nvSpPr>
          <p:cNvPr id="34" name="文字｜统一格式、检查错误"/>
          <p:cNvSpPr txBox="1"/>
          <p:nvPr/>
        </p:nvSpPr>
        <p:spPr>
          <a:xfrm>
            <a:off x="3002279" y="4169663"/>
            <a:ext cx="19202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统一格式、检查错误</a:t>
            </a:r>
          </a:p>
        </p:txBody>
      </p:sp>
      <p:sp>
        <p:nvSpPr>
          <p:cNvPr id="35" name="文字｜标记缺失与重复"/>
          <p:cNvSpPr txBox="1"/>
          <p:nvPr/>
        </p:nvSpPr>
        <p:spPr>
          <a:xfrm>
            <a:off x="3200399" y="4390643"/>
            <a:ext cx="152399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标记缺失与重复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44439" y="3550919"/>
            <a:ext cx="182880" cy="0"/>
          </a:xfrm>
          <a:prstGeom prst="line">
            <a:avLst/>
          </a:prstGeom>
          <a:ln w="22859">
            <a:solidFill>
              <a:srgbClr val="62A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 36"/>
          <p:cNvSpPr/>
          <p:nvPr/>
        </p:nvSpPr>
        <p:spPr>
          <a:xfrm>
            <a:off x="5151120" y="35128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2859">
            <a:solidFill>
              <a:srgbClr val="62A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5242559" y="2316479"/>
            <a:ext cx="2133599" cy="2461259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字｜03"/>
          <p:cNvSpPr txBox="1"/>
          <p:nvPr/>
        </p:nvSpPr>
        <p:spPr>
          <a:xfrm>
            <a:off x="5448299" y="2577236"/>
            <a:ext cx="378928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</a:p>
        </p:txBody>
      </p:sp>
      <p:sp>
        <p:nvSpPr>
          <p:cNvPr id="40" name="Oval 39"/>
          <p:cNvSpPr/>
          <p:nvPr/>
        </p:nvSpPr>
        <p:spPr>
          <a:xfrm>
            <a:off x="5867399" y="2766059"/>
            <a:ext cx="883919" cy="88391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849" y="3010509"/>
            <a:ext cx="395020" cy="395020"/>
          </a:xfrm>
          <a:prstGeom prst="rect">
            <a:avLst/>
          </a:prstGeom>
        </p:spPr>
      </p:pic>
      <p:sp>
        <p:nvSpPr>
          <p:cNvPr id="42" name="文字｜数据存储"/>
          <p:cNvSpPr txBox="1"/>
          <p:nvPr/>
        </p:nvSpPr>
        <p:spPr>
          <a:xfrm>
            <a:off x="5705855" y="37663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数据存储</a:t>
            </a:r>
          </a:p>
        </p:txBody>
      </p:sp>
      <p:sp>
        <p:nvSpPr>
          <p:cNvPr id="43" name="文字｜保存规范成果与"/>
          <p:cNvSpPr txBox="1"/>
          <p:nvPr/>
        </p:nvSpPr>
        <p:spPr>
          <a:xfrm>
            <a:off x="5547359" y="4169663"/>
            <a:ext cx="152399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保存规范成果与</a:t>
            </a:r>
          </a:p>
        </p:txBody>
      </p:sp>
      <p:sp>
        <p:nvSpPr>
          <p:cNvPr id="44" name="文字｜原始来源记录"/>
          <p:cNvSpPr txBox="1"/>
          <p:nvPr/>
        </p:nvSpPr>
        <p:spPr>
          <a:xfrm>
            <a:off x="5646419" y="439064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原始来源记录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391399" y="3550919"/>
            <a:ext cx="182880" cy="0"/>
          </a:xfrm>
          <a:prstGeom prst="line">
            <a:avLst/>
          </a:prstGeom>
          <a:ln w="22859">
            <a:solidFill>
              <a:srgbClr val="62A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reeform 45"/>
          <p:cNvSpPr/>
          <p:nvPr/>
        </p:nvSpPr>
        <p:spPr>
          <a:xfrm>
            <a:off x="7498080" y="35128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2859">
            <a:solidFill>
              <a:srgbClr val="62A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7589519" y="2316479"/>
            <a:ext cx="2133599" cy="2461259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字｜04"/>
          <p:cNvSpPr txBox="1"/>
          <p:nvPr/>
        </p:nvSpPr>
        <p:spPr>
          <a:xfrm>
            <a:off x="7795259" y="2577236"/>
            <a:ext cx="378928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</a:p>
        </p:txBody>
      </p:sp>
      <p:sp>
        <p:nvSpPr>
          <p:cNvPr id="49" name="Oval 48"/>
          <p:cNvSpPr/>
          <p:nvPr/>
        </p:nvSpPr>
        <p:spPr>
          <a:xfrm>
            <a:off x="8214359" y="2766059"/>
            <a:ext cx="883919" cy="88391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0" name="可移动独立图标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809" y="3010509"/>
            <a:ext cx="395020" cy="395020"/>
          </a:xfrm>
          <a:prstGeom prst="rect">
            <a:avLst/>
          </a:prstGeom>
        </p:spPr>
      </p:pic>
      <p:sp>
        <p:nvSpPr>
          <p:cNvPr id="51" name="文字｜数据同步"/>
          <p:cNvSpPr txBox="1"/>
          <p:nvPr/>
        </p:nvSpPr>
        <p:spPr>
          <a:xfrm>
            <a:off x="8052815" y="37663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数据同步</a:t>
            </a:r>
          </a:p>
        </p:txBody>
      </p:sp>
      <p:sp>
        <p:nvSpPr>
          <p:cNvPr id="52" name="文字｜更新检索索引"/>
          <p:cNvSpPr txBox="1"/>
          <p:nvPr/>
        </p:nvSpPr>
        <p:spPr>
          <a:xfrm>
            <a:off x="7993379" y="416966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更新检索索引</a:t>
            </a:r>
          </a:p>
        </p:txBody>
      </p:sp>
      <p:sp>
        <p:nvSpPr>
          <p:cNvPr id="53" name="文字｜与统计快照"/>
          <p:cNvSpPr txBox="1"/>
          <p:nvPr/>
        </p:nvSpPr>
        <p:spPr>
          <a:xfrm>
            <a:off x="8092439" y="4390643"/>
            <a:ext cx="112775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与统计快照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738359" y="3550919"/>
            <a:ext cx="182880" cy="0"/>
          </a:xfrm>
          <a:prstGeom prst="line">
            <a:avLst/>
          </a:prstGeom>
          <a:ln w="22859">
            <a:solidFill>
              <a:srgbClr val="62AA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9845040" y="351282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2859">
            <a:solidFill>
              <a:srgbClr val="62AA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936479" y="2316479"/>
            <a:ext cx="2133599" cy="2461259"/>
          </a:xfrm>
          <a:prstGeom prst="roundRect">
            <a:avLst>
              <a:gd name="adj" fmla="val 6785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字｜05"/>
          <p:cNvSpPr txBox="1"/>
          <p:nvPr/>
        </p:nvSpPr>
        <p:spPr>
          <a:xfrm>
            <a:off x="10142219" y="2577236"/>
            <a:ext cx="378928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</a:p>
        </p:txBody>
      </p:sp>
      <p:sp>
        <p:nvSpPr>
          <p:cNvPr id="58" name="Oval 57"/>
          <p:cNvSpPr/>
          <p:nvPr/>
        </p:nvSpPr>
        <p:spPr>
          <a:xfrm>
            <a:off x="10561319" y="2766059"/>
            <a:ext cx="883919" cy="88391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9" name="可移动独立图标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5769" y="3010509"/>
            <a:ext cx="395020" cy="395020"/>
          </a:xfrm>
          <a:prstGeom prst="rect">
            <a:avLst/>
          </a:prstGeom>
        </p:spPr>
      </p:pic>
      <p:sp>
        <p:nvSpPr>
          <p:cNvPr id="60" name="文字｜定期更新"/>
          <p:cNvSpPr txBox="1"/>
          <p:nvPr/>
        </p:nvSpPr>
        <p:spPr>
          <a:xfrm>
            <a:off x="10399775" y="37663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定期更新</a:t>
            </a:r>
          </a:p>
        </p:txBody>
      </p:sp>
      <p:sp>
        <p:nvSpPr>
          <p:cNvPr id="61" name="文字｜进度记录、失败重试"/>
          <p:cNvSpPr txBox="1"/>
          <p:nvPr/>
        </p:nvSpPr>
        <p:spPr>
          <a:xfrm>
            <a:off x="10043159" y="4169663"/>
            <a:ext cx="19202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进度记录、失败重试</a:t>
            </a:r>
          </a:p>
        </p:txBody>
      </p:sp>
      <p:sp>
        <p:nvSpPr>
          <p:cNvPr id="62" name="文字｜支持任务停止"/>
          <p:cNvSpPr txBox="1"/>
          <p:nvPr/>
        </p:nvSpPr>
        <p:spPr>
          <a:xfrm>
            <a:off x="10340339" y="4390643"/>
            <a:ext cx="132587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支持任务停止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17219" y="5120639"/>
            <a:ext cx="10934699" cy="1051559"/>
          </a:xfrm>
          <a:prstGeom prst="roundRect">
            <a:avLst>
              <a:gd name="adj" fmla="val 13768"/>
            </a:avLst>
          </a:prstGeom>
          <a:solidFill>
            <a:srgbClr val="F5FA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739139" y="5326379"/>
            <a:ext cx="579119" cy="57911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5" name="可移动独立图标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189" y="5418429"/>
            <a:ext cx="395020" cy="395020"/>
          </a:xfrm>
          <a:prstGeom prst="rect">
            <a:avLst/>
          </a:prstGeom>
        </p:spPr>
      </p:pic>
      <p:sp>
        <p:nvSpPr>
          <p:cNvPr id="66" name="文字｜异常处理与可恢复性"/>
          <p:cNvSpPr txBox="1"/>
          <p:nvPr/>
        </p:nvSpPr>
        <p:spPr>
          <a:xfrm>
            <a:off x="1508759" y="5252161"/>
            <a:ext cx="2455163" cy="269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异常处理与可恢复性</a:t>
            </a:r>
          </a:p>
        </p:txBody>
      </p:sp>
      <p:sp>
        <p:nvSpPr>
          <p:cNvPr id="67" name="文字｜采集失败自动重试并记录错误日志  ·  支持任务暂停 / 停止  ·  持续"/>
          <p:cNvSpPr txBox="1"/>
          <p:nvPr/>
        </p:nvSpPr>
        <p:spPr>
          <a:xfrm>
            <a:off x="1508759" y="5556656"/>
            <a:ext cx="8800266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采集失败自动重试并记录错误日志  ·  支持任务暂停 / 停止  ·  持续失败的记录进入人工复核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9486899" y="-967739"/>
            <a:ext cx="3733799" cy="3733799"/>
          </a:xfrm>
          <a:prstGeom prst="ellipse">
            <a:avLst/>
          </a:prstGeom>
          <a:noFill/>
          <a:ln w="15239">
            <a:solidFill>
              <a:srgbClr val="B8D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9258299" y="-1158239"/>
            <a:ext cx="5562599" cy="5562599"/>
          </a:xfrm>
          <a:prstGeom prst="ellipse">
            <a:avLst/>
          </a:prstGeom>
          <a:noFill/>
          <a:ln w="13715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数据清洗规则"/>
          <p:cNvSpPr txBox="1"/>
          <p:nvPr/>
        </p:nvSpPr>
        <p:spPr>
          <a:xfrm>
            <a:off x="640079" y="765886"/>
            <a:ext cx="3168395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数据清洗规则</a:t>
            </a:r>
          </a:p>
        </p:txBody>
      </p:sp>
      <p:sp>
        <p:nvSpPr>
          <p:cNvPr id="13" name="文字｜把来源记录转为可比较、可展示、可追溯的数据"/>
          <p:cNvSpPr txBox="1"/>
          <p:nvPr/>
        </p:nvSpPr>
        <p:spPr>
          <a:xfrm>
            <a:off x="662939" y="1373504"/>
            <a:ext cx="533780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把来源记录转为可比较、可展示、可追溯的数据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09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09 / 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</a:p>
        </p:txBody>
      </p:sp>
      <p:sp>
        <p:nvSpPr>
          <p:cNvPr id="18" name="文字｜09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字｜原始情况"/>
          <p:cNvSpPr txBox="1"/>
          <p:nvPr/>
        </p:nvSpPr>
        <p:spPr>
          <a:xfrm>
            <a:off x="784859" y="208978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原始情况</a:t>
            </a:r>
          </a:p>
        </p:txBody>
      </p:sp>
      <p:sp>
        <p:nvSpPr>
          <p:cNvPr id="21" name="文字｜清洗动作"/>
          <p:cNvSpPr txBox="1"/>
          <p:nvPr/>
        </p:nvSpPr>
        <p:spPr>
          <a:xfrm>
            <a:off x="4320539" y="208978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清洗动作</a:t>
            </a:r>
          </a:p>
        </p:txBody>
      </p:sp>
      <p:sp>
        <p:nvSpPr>
          <p:cNvPr id="22" name="文字｜规范结果与保留信息"/>
          <p:cNvSpPr txBox="1"/>
          <p:nvPr/>
        </p:nvSpPr>
        <p:spPr>
          <a:xfrm>
            <a:off x="7719059" y="2089784"/>
            <a:ext cx="236600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规范结果与保留信息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7219" y="2423159"/>
            <a:ext cx="10927080" cy="0"/>
          </a:xfrm>
          <a:prstGeom prst="line">
            <a:avLst/>
          </a:prstGeom>
          <a:ln w="16763">
            <a:solidFill>
              <a:srgbClr val="B7D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09599" y="2537459"/>
            <a:ext cx="10934699" cy="617219"/>
          </a:xfrm>
          <a:prstGeom prst="roundRect">
            <a:avLst>
              <a:gd name="adj" fmla="val 17283"/>
            </a:avLst>
          </a:prstGeom>
          <a:solidFill>
            <a:srgbClr val="FFFFFF"/>
          </a:solidFill>
          <a:ln w="7619">
            <a:solidFill>
              <a:srgbClr val="E2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字｜DOI 含 URL 前缀"/>
          <p:cNvSpPr txBox="1"/>
          <p:nvPr/>
        </p:nvSpPr>
        <p:spPr>
          <a:xfrm>
            <a:off x="792479" y="2615336"/>
            <a:ext cx="1726763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DOI 含 URL 前缀</a:t>
            </a:r>
          </a:p>
        </p:txBody>
      </p:sp>
      <p:sp>
        <p:nvSpPr>
          <p:cNvPr id="26" name="文字｜https://doi.org/10.1234/ABC"/>
          <p:cNvSpPr txBox="1"/>
          <p:nvPr/>
        </p:nvSpPr>
        <p:spPr>
          <a:xfrm>
            <a:off x="792479" y="2874111"/>
            <a:ext cx="2467236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https://doi.org/10.1234/ABC</a:t>
            </a:r>
          </a:p>
        </p:txBody>
      </p:sp>
      <p:pic>
        <p:nvPicPr>
          <p:cNvPr id="27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404" y="2743504"/>
            <a:ext cx="197510" cy="197510"/>
          </a:xfrm>
          <a:prstGeom prst="rect">
            <a:avLst/>
          </a:prstGeom>
        </p:spPr>
      </p:pic>
      <p:sp>
        <p:nvSpPr>
          <p:cNvPr id="28" name="文字｜移除前缀"/>
          <p:cNvSpPr txBox="1"/>
          <p:nvPr/>
        </p:nvSpPr>
        <p:spPr>
          <a:xfrm>
            <a:off x="4320539" y="2615336"/>
            <a:ext cx="1008887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移除前缀</a:t>
            </a:r>
          </a:p>
        </p:txBody>
      </p:sp>
      <p:sp>
        <p:nvSpPr>
          <p:cNvPr id="29" name="文字｜小写、trim"/>
          <p:cNvSpPr txBox="1"/>
          <p:nvPr/>
        </p:nvSpPr>
        <p:spPr>
          <a:xfrm>
            <a:off x="4320539" y="2874111"/>
            <a:ext cx="1022663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小写、trim</a:t>
            </a:r>
          </a:p>
        </p:txBody>
      </p:sp>
      <p:pic>
        <p:nvPicPr>
          <p:cNvPr id="30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527" y="2746247"/>
            <a:ext cx="192023" cy="192023"/>
          </a:xfrm>
          <a:prstGeom prst="rect">
            <a:avLst/>
          </a:prstGeom>
        </p:spPr>
      </p:pic>
      <p:sp>
        <p:nvSpPr>
          <p:cNvPr id="31" name="文字｜10.1234/abc"/>
          <p:cNvSpPr txBox="1"/>
          <p:nvPr/>
        </p:nvSpPr>
        <p:spPr>
          <a:xfrm>
            <a:off x="7719059" y="2615336"/>
            <a:ext cx="1371076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10.1234/abc</a:t>
            </a:r>
          </a:p>
        </p:txBody>
      </p:sp>
      <p:sp>
        <p:nvSpPr>
          <p:cNvPr id="32" name="文字｜原字符串一并保留"/>
          <p:cNvSpPr txBox="1"/>
          <p:nvPr/>
        </p:nvSpPr>
        <p:spPr>
          <a:xfrm>
            <a:off x="7719059" y="2874111"/>
            <a:ext cx="1563623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原字符串一并保留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599" y="3215639"/>
            <a:ext cx="10934699" cy="617219"/>
          </a:xfrm>
          <a:prstGeom prst="roundRect">
            <a:avLst>
              <a:gd name="adj" fmla="val 17283"/>
            </a:avLst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字｜HTML 标签摘要"/>
          <p:cNvSpPr txBox="1"/>
          <p:nvPr/>
        </p:nvSpPr>
        <p:spPr>
          <a:xfrm>
            <a:off x="792479" y="3293516"/>
            <a:ext cx="1642098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HTML 标签摘要</a:t>
            </a:r>
          </a:p>
        </p:txBody>
      </p:sp>
      <p:sp>
        <p:nvSpPr>
          <p:cNvPr id="35" name="文字｜源记录含标记语言"/>
          <p:cNvSpPr txBox="1"/>
          <p:nvPr/>
        </p:nvSpPr>
        <p:spPr>
          <a:xfrm>
            <a:off x="792479" y="3552291"/>
            <a:ext cx="1563623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源记录含标记语言</a:t>
            </a:r>
          </a:p>
        </p:txBody>
      </p:sp>
      <p:pic>
        <p:nvPicPr>
          <p:cNvPr id="36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404" y="3421684"/>
            <a:ext cx="197510" cy="197510"/>
          </a:xfrm>
          <a:prstGeom prst="rect">
            <a:avLst/>
          </a:prstGeom>
        </p:spPr>
      </p:pic>
      <p:sp>
        <p:nvSpPr>
          <p:cNvPr id="37" name="文字｜结构解析"/>
          <p:cNvSpPr txBox="1"/>
          <p:nvPr/>
        </p:nvSpPr>
        <p:spPr>
          <a:xfrm>
            <a:off x="4320539" y="3293516"/>
            <a:ext cx="1008887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结构解析</a:t>
            </a:r>
          </a:p>
        </p:txBody>
      </p:sp>
      <p:sp>
        <p:nvSpPr>
          <p:cNvPr id="38" name="文字｜安全文本清洗"/>
          <p:cNvSpPr txBox="1"/>
          <p:nvPr/>
        </p:nvSpPr>
        <p:spPr>
          <a:xfrm>
            <a:off x="4320539" y="3552291"/>
            <a:ext cx="1207007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安全文本清洗</a:t>
            </a:r>
          </a:p>
        </p:txBody>
      </p:sp>
      <p:pic>
        <p:nvPicPr>
          <p:cNvPr id="39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527" y="3424427"/>
            <a:ext cx="192023" cy="192023"/>
          </a:xfrm>
          <a:prstGeom prst="rect">
            <a:avLst/>
          </a:prstGeom>
        </p:spPr>
      </p:pic>
      <p:sp>
        <p:nvSpPr>
          <p:cNvPr id="40" name="文字｜生成可展示摘要"/>
          <p:cNvSpPr txBox="1"/>
          <p:nvPr/>
        </p:nvSpPr>
        <p:spPr>
          <a:xfrm>
            <a:off x="7719059" y="3293516"/>
            <a:ext cx="1662683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生成可展示摘要</a:t>
            </a:r>
          </a:p>
        </p:txBody>
      </p:sp>
      <p:sp>
        <p:nvSpPr>
          <p:cNvPr id="41" name="文字｜与原始快照分离"/>
          <p:cNvSpPr txBox="1"/>
          <p:nvPr/>
        </p:nvSpPr>
        <p:spPr>
          <a:xfrm>
            <a:off x="7719059" y="3552291"/>
            <a:ext cx="1385315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与原始快照分离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9599" y="3893819"/>
            <a:ext cx="10934699" cy="617219"/>
          </a:xfrm>
          <a:prstGeom prst="roundRect">
            <a:avLst>
              <a:gd name="adj" fmla="val 17283"/>
            </a:avLst>
          </a:prstGeom>
          <a:solidFill>
            <a:srgbClr val="FFFFFF"/>
          </a:solidFill>
          <a:ln w="7619">
            <a:solidFill>
              <a:srgbClr val="E2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字｜专利仅有授权年份"/>
          <p:cNvSpPr txBox="1"/>
          <p:nvPr/>
        </p:nvSpPr>
        <p:spPr>
          <a:xfrm>
            <a:off x="792479" y="3971696"/>
            <a:ext cx="1880615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专利仅有授权年份</a:t>
            </a:r>
          </a:p>
        </p:txBody>
      </p:sp>
      <p:sp>
        <p:nvSpPr>
          <p:cNvPr id="44" name="文字｜日期精度为 year"/>
          <p:cNvSpPr txBox="1"/>
          <p:nvPr/>
        </p:nvSpPr>
        <p:spPr>
          <a:xfrm>
            <a:off x="792479" y="4230471"/>
            <a:ext cx="1426333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日期精度为 year</a:t>
            </a:r>
          </a:p>
        </p:txBody>
      </p:sp>
      <p:pic>
        <p:nvPicPr>
          <p:cNvPr id="45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404" y="4099864"/>
            <a:ext cx="197510" cy="197510"/>
          </a:xfrm>
          <a:prstGeom prst="rect">
            <a:avLst/>
          </a:prstGeom>
        </p:spPr>
      </p:pic>
      <p:sp>
        <p:nvSpPr>
          <p:cNvPr id="46" name="文字｜保留日期精度"/>
          <p:cNvSpPr txBox="1"/>
          <p:nvPr/>
        </p:nvSpPr>
        <p:spPr>
          <a:xfrm>
            <a:off x="4320539" y="3971696"/>
            <a:ext cx="1444751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保留日期精度</a:t>
            </a:r>
          </a:p>
        </p:txBody>
      </p:sp>
      <p:sp>
        <p:nvSpPr>
          <p:cNvPr id="47" name="文字｜不推断月和日"/>
          <p:cNvSpPr txBox="1"/>
          <p:nvPr/>
        </p:nvSpPr>
        <p:spPr>
          <a:xfrm>
            <a:off x="4320539" y="4230471"/>
            <a:ext cx="1207007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不推断月和日</a:t>
            </a:r>
          </a:p>
        </p:txBody>
      </p:sp>
      <p:pic>
        <p:nvPicPr>
          <p:cNvPr id="48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527" y="4102607"/>
            <a:ext cx="192023" cy="192023"/>
          </a:xfrm>
          <a:prstGeom prst="rect">
            <a:avLst/>
          </a:prstGeom>
        </p:spPr>
      </p:pic>
      <p:sp>
        <p:nvSpPr>
          <p:cNvPr id="49" name="文字｜date_precision=year"/>
          <p:cNvSpPr txBox="1"/>
          <p:nvPr/>
        </p:nvSpPr>
        <p:spPr>
          <a:xfrm>
            <a:off x="7719059" y="3971696"/>
            <a:ext cx="2207204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date_precision=year</a:t>
            </a:r>
          </a:p>
        </p:txBody>
      </p:sp>
      <p:sp>
        <p:nvSpPr>
          <p:cNvPr id="50" name="文字｜禁止补成 1 月 1 日"/>
          <p:cNvSpPr txBox="1"/>
          <p:nvPr/>
        </p:nvSpPr>
        <p:spPr>
          <a:xfrm>
            <a:off x="7719059" y="4230471"/>
            <a:ext cx="156455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禁止补成 1 月 1 日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9599" y="4571999"/>
            <a:ext cx="10934699" cy="617219"/>
          </a:xfrm>
          <a:prstGeom prst="roundRect">
            <a:avLst>
              <a:gd name="adj" fmla="val 17283"/>
            </a:avLst>
          </a:prstGeom>
          <a:solidFill>
            <a:srgbClr val="F1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字｜Crossref 缺少 subject"/>
          <p:cNvSpPr txBox="1"/>
          <p:nvPr/>
        </p:nvSpPr>
        <p:spPr>
          <a:xfrm>
            <a:off x="792479" y="4649876"/>
            <a:ext cx="2242184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Crossref 缺少 subject</a:t>
            </a:r>
          </a:p>
        </p:txBody>
      </p:sp>
      <p:sp>
        <p:nvSpPr>
          <p:cNvPr id="53" name="文字｜学科分类缺失"/>
          <p:cNvSpPr txBox="1"/>
          <p:nvPr/>
        </p:nvSpPr>
        <p:spPr>
          <a:xfrm>
            <a:off x="792479" y="4908651"/>
            <a:ext cx="1207007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学科分类缺失</a:t>
            </a:r>
          </a:p>
        </p:txBody>
      </p:sp>
      <p:pic>
        <p:nvPicPr>
          <p:cNvPr id="54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404" y="4778044"/>
            <a:ext cx="197510" cy="197510"/>
          </a:xfrm>
          <a:prstGeom prst="rect">
            <a:avLst/>
          </a:prstGeom>
        </p:spPr>
      </p:pic>
      <p:sp>
        <p:nvSpPr>
          <p:cNvPr id="55" name="文字｜记录缺失状态"/>
          <p:cNvSpPr txBox="1"/>
          <p:nvPr/>
        </p:nvSpPr>
        <p:spPr>
          <a:xfrm>
            <a:off x="4320539" y="4649876"/>
            <a:ext cx="1444751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记录缺失状态</a:t>
            </a:r>
          </a:p>
        </p:txBody>
      </p:sp>
      <p:sp>
        <p:nvSpPr>
          <p:cNvPr id="56" name="文字｜待后续可信来源补充"/>
          <p:cNvSpPr txBox="1"/>
          <p:nvPr/>
        </p:nvSpPr>
        <p:spPr>
          <a:xfrm>
            <a:off x="4320539" y="4908651"/>
            <a:ext cx="1741931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待后续可信来源补充</a:t>
            </a:r>
          </a:p>
        </p:txBody>
      </p:sp>
      <p:pic>
        <p:nvPicPr>
          <p:cNvPr id="57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527" y="4780787"/>
            <a:ext cx="192023" cy="192023"/>
          </a:xfrm>
          <a:prstGeom prst="rect">
            <a:avLst/>
          </a:prstGeom>
        </p:spPr>
      </p:pic>
      <p:sp>
        <p:nvSpPr>
          <p:cNvPr id="58" name="文字｜保持未分类"/>
          <p:cNvSpPr txBox="1"/>
          <p:nvPr/>
        </p:nvSpPr>
        <p:spPr>
          <a:xfrm>
            <a:off x="7719059" y="4649876"/>
            <a:ext cx="1226819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保持未分类</a:t>
            </a:r>
          </a:p>
        </p:txBody>
      </p:sp>
      <p:sp>
        <p:nvSpPr>
          <p:cNvPr id="59" name="文字｜不自动伪造已确认学科"/>
          <p:cNvSpPr txBox="1"/>
          <p:nvPr/>
        </p:nvSpPr>
        <p:spPr>
          <a:xfrm>
            <a:off x="7719059" y="4908651"/>
            <a:ext cx="1920239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不自动伪造已确认学科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9599" y="5250179"/>
            <a:ext cx="10934699" cy="617219"/>
          </a:xfrm>
          <a:prstGeom prst="roundRect">
            <a:avLst>
              <a:gd name="adj" fmla="val 17283"/>
            </a:avLst>
          </a:prstGeom>
          <a:solidFill>
            <a:srgbClr val="FFFFFF"/>
          </a:solidFill>
          <a:ln w="7619">
            <a:solidFill>
              <a:srgbClr val="E2E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字｜引用次数字段缺失"/>
          <p:cNvSpPr txBox="1"/>
          <p:nvPr/>
        </p:nvSpPr>
        <p:spPr>
          <a:xfrm>
            <a:off x="792479" y="5328056"/>
            <a:ext cx="1880615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引用次数字段缺失</a:t>
            </a:r>
          </a:p>
        </p:txBody>
      </p:sp>
      <p:sp>
        <p:nvSpPr>
          <p:cNvPr id="62" name="文字｜无有效引用数据"/>
          <p:cNvSpPr txBox="1"/>
          <p:nvPr/>
        </p:nvSpPr>
        <p:spPr>
          <a:xfrm>
            <a:off x="792479" y="5586831"/>
            <a:ext cx="1385315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无有效引用数据</a:t>
            </a:r>
          </a:p>
        </p:txBody>
      </p:sp>
      <p:pic>
        <p:nvPicPr>
          <p:cNvPr id="63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404" y="5456224"/>
            <a:ext cx="197510" cy="197510"/>
          </a:xfrm>
          <a:prstGeom prst="rect">
            <a:avLst/>
          </a:prstGeom>
        </p:spPr>
      </p:pic>
      <p:sp>
        <p:nvSpPr>
          <p:cNvPr id="64" name="文字｜保留未知状态"/>
          <p:cNvSpPr txBox="1"/>
          <p:nvPr/>
        </p:nvSpPr>
        <p:spPr>
          <a:xfrm>
            <a:off x="4320539" y="5328056"/>
            <a:ext cx="1444751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保留未知状态</a:t>
            </a:r>
          </a:p>
        </p:txBody>
      </p:sp>
      <p:sp>
        <p:nvSpPr>
          <p:cNvPr id="65" name="文字｜区分缺失与零"/>
          <p:cNvSpPr txBox="1"/>
          <p:nvPr/>
        </p:nvSpPr>
        <p:spPr>
          <a:xfrm>
            <a:off x="4320539" y="5586831"/>
            <a:ext cx="1207007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区分缺失与零</a:t>
            </a:r>
          </a:p>
        </p:txBody>
      </p:sp>
      <p:pic>
        <p:nvPicPr>
          <p:cNvPr id="66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527" y="5458967"/>
            <a:ext cx="192023" cy="192023"/>
          </a:xfrm>
          <a:prstGeom prst="rect">
            <a:avLst/>
          </a:prstGeom>
        </p:spPr>
      </p:pic>
      <p:sp>
        <p:nvSpPr>
          <p:cNvPr id="67" name="文字｜NULL / unknown"/>
          <p:cNvSpPr txBox="1"/>
          <p:nvPr/>
        </p:nvSpPr>
        <p:spPr>
          <a:xfrm>
            <a:off x="7719059" y="5328056"/>
            <a:ext cx="1828919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NULL / unknown</a:t>
            </a:r>
          </a:p>
        </p:txBody>
      </p:sp>
      <p:sp>
        <p:nvSpPr>
          <p:cNvPr id="68" name="文字｜不得直接记作 0"/>
          <p:cNvSpPr txBox="1"/>
          <p:nvPr/>
        </p:nvSpPr>
        <p:spPr>
          <a:xfrm>
            <a:off x="7719059" y="5586831"/>
            <a:ext cx="1345846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不得直接记作 0</a:t>
            </a:r>
          </a:p>
        </p:txBody>
      </p:sp>
      <p:sp>
        <p:nvSpPr>
          <p:cNvPr id="69" name="文字｜统一规则：字段规范化必须保留原值、来源标识、采集时间与规则版本。"/>
          <p:cNvSpPr txBox="1"/>
          <p:nvPr/>
        </p:nvSpPr>
        <p:spPr>
          <a:xfrm>
            <a:off x="662939" y="5983300"/>
            <a:ext cx="6793991" cy="2176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统一规则：字段规范化必须保留原值、来源标识、采集时间与规则版本。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9486899" y="-967739"/>
            <a:ext cx="3733799" cy="3733799"/>
          </a:xfrm>
          <a:prstGeom prst="ellipse">
            <a:avLst/>
          </a:prstGeom>
          <a:noFill/>
          <a:ln w="15239">
            <a:solidFill>
              <a:srgbClr val="B8D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9258299" y="-1158239"/>
            <a:ext cx="5562599" cy="5562599"/>
          </a:xfrm>
          <a:prstGeom prst="ellipse">
            <a:avLst/>
          </a:prstGeom>
          <a:noFill/>
          <a:ln w="13715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成果去重与实体合并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成果去重与实体合并</a:t>
            </a:r>
          </a:p>
        </p:txBody>
      </p:sp>
      <p:sp>
        <p:nvSpPr>
          <p:cNvPr id="13" name="文字｜强标识优先、模糊规则后置，疑似重复进入人工确认"/>
          <p:cNvSpPr txBox="1"/>
          <p:nvPr/>
        </p:nvSpPr>
        <p:spPr>
          <a:xfrm>
            <a:off x="662939" y="1373504"/>
            <a:ext cx="583310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强标识优先、模糊规则后置，疑似重复进入人工确认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10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10 / 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</a:p>
        </p:txBody>
      </p:sp>
      <p:sp>
        <p:nvSpPr>
          <p:cNvPr id="18" name="文字｜10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09599" y="2141219"/>
            <a:ext cx="10949939" cy="891539"/>
          </a:xfrm>
          <a:prstGeom prst="roundRect">
            <a:avLst>
              <a:gd name="adj" fmla="val 16239"/>
            </a:avLst>
          </a:prstGeom>
          <a:solidFill>
            <a:srgbClr val="E9F5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120139" y="2324099"/>
            <a:ext cx="533399" cy="53339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329" y="2393289"/>
            <a:ext cx="395020" cy="395020"/>
          </a:xfrm>
          <a:prstGeom prst="rect">
            <a:avLst/>
          </a:prstGeom>
        </p:spPr>
      </p:pic>
      <p:sp>
        <p:nvSpPr>
          <p:cNvPr id="23" name="文字｜统一来源记录"/>
          <p:cNvSpPr txBox="1"/>
          <p:nvPr/>
        </p:nvSpPr>
        <p:spPr>
          <a:xfrm>
            <a:off x="1836419" y="2478481"/>
            <a:ext cx="1682495" cy="269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统一来源记录</a:t>
            </a:r>
          </a:p>
        </p:txBody>
      </p:sp>
      <p:sp>
        <p:nvSpPr>
          <p:cNvPr id="24" name="Oval 23"/>
          <p:cNvSpPr/>
          <p:nvPr/>
        </p:nvSpPr>
        <p:spPr>
          <a:xfrm>
            <a:off x="4625339" y="2324099"/>
            <a:ext cx="533399" cy="53339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5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529" y="2393289"/>
            <a:ext cx="395020" cy="395020"/>
          </a:xfrm>
          <a:prstGeom prst="rect">
            <a:avLst/>
          </a:prstGeom>
        </p:spPr>
      </p:pic>
      <p:sp>
        <p:nvSpPr>
          <p:cNvPr id="26" name="文字｜强标识匹配"/>
          <p:cNvSpPr txBox="1"/>
          <p:nvPr/>
        </p:nvSpPr>
        <p:spPr>
          <a:xfrm>
            <a:off x="5341619" y="2478481"/>
            <a:ext cx="1424939" cy="269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强标识匹配</a:t>
            </a:r>
          </a:p>
        </p:txBody>
      </p:sp>
      <p:sp>
        <p:nvSpPr>
          <p:cNvPr id="27" name="Oval 26"/>
          <p:cNvSpPr/>
          <p:nvPr/>
        </p:nvSpPr>
        <p:spPr>
          <a:xfrm>
            <a:off x="8420099" y="2324099"/>
            <a:ext cx="533399" cy="53339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9289" y="2393289"/>
            <a:ext cx="395020" cy="395020"/>
          </a:xfrm>
          <a:prstGeom prst="rect">
            <a:avLst/>
          </a:prstGeom>
        </p:spPr>
      </p:pic>
      <p:sp>
        <p:nvSpPr>
          <p:cNvPr id="29" name="文字｜合并映射 / 人工复核"/>
          <p:cNvSpPr txBox="1"/>
          <p:nvPr/>
        </p:nvSpPr>
        <p:spPr>
          <a:xfrm>
            <a:off x="9136379" y="2478481"/>
            <a:ext cx="2413992" cy="269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合并映射 / 人工复核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825239" y="2590799"/>
            <a:ext cx="426720" cy="0"/>
          </a:xfrm>
          <a:prstGeom prst="line">
            <a:avLst/>
          </a:prstGeom>
          <a:ln w="21335">
            <a:solidFill>
              <a:srgbClr val="327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 30"/>
          <p:cNvSpPr/>
          <p:nvPr/>
        </p:nvSpPr>
        <p:spPr>
          <a:xfrm>
            <a:off x="4175760" y="2552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1335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7338059" y="2590799"/>
            <a:ext cx="487680" cy="0"/>
          </a:xfrm>
          <a:prstGeom prst="line">
            <a:avLst/>
          </a:prstGeom>
          <a:ln w="21335">
            <a:solidFill>
              <a:srgbClr val="327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7749540" y="25527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1335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09599" y="3192779"/>
            <a:ext cx="5295899" cy="1104899"/>
          </a:xfrm>
          <a:prstGeom prst="roundRect">
            <a:avLst>
              <a:gd name="adj" fmla="val 13103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800099" y="3436619"/>
            <a:ext cx="563879" cy="5638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6" name="可移动独立图标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29" y="3521049"/>
            <a:ext cx="395020" cy="395020"/>
          </a:xfrm>
          <a:prstGeom prst="rect">
            <a:avLst/>
          </a:prstGeom>
        </p:spPr>
      </p:pic>
      <p:sp>
        <p:nvSpPr>
          <p:cNvPr id="37" name="文字｜论文"/>
          <p:cNvSpPr txBox="1"/>
          <p:nvPr/>
        </p:nvSpPr>
        <p:spPr>
          <a:xfrm>
            <a:off x="1531619" y="3339693"/>
            <a:ext cx="691895" cy="2901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论文</a:t>
            </a:r>
          </a:p>
        </p:txBody>
      </p:sp>
      <p:sp>
        <p:nvSpPr>
          <p:cNvPr id="38" name="文字｜有 DOI：规范化后精确匹配"/>
          <p:cNvSpPr txBox="1"/>
          <p:nvPr/>
        </p:nvSpPr>
        <p:spPr>
          <a:xfrm>
            <a:off x="1531619" y="3636263"/>
            <a:ext cx="250422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 DOI：规范化后精确匹配</a:t>
            </a:r>
          </a:p>
        </p:txBody>
      </p:sp>
      <p:sp>
        <p:nvSpPr>
          <p:cNvPr id="39" name="文字｜无 DOI：标题 + 作者 + 年份 + 期刊"/>
          <p:cNvSpPr txBox="1"/>
          <p:nvPr/>
        </p:nvSpPr>
        <p:spPr>
          <a:xfrm>
            <a:off x="1531619" y="3872331"/>
            <a:ext cx="2803886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 DOI：标题 + 作者 + 年份 + 期刊</a:t>
            </a:r>
          </a:p>
        </p:txBody>
      </p:sp>
      <p:sp>
        <p:nvSpPr>
          <p:cNvPr id="40" name="文字｜生成候选并交人工确认"/>
          <p:cNvSpPr txBox="1"/>
          <p:nvPr/>
        </p:nvSpPr>
        <p:spPr>
          <a:xfrm>
            <a:off x="1531619" y="4070451"/>
            <a:ext cx="1920239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生成候选并交人工确认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33159" y="3192779"/>
            <a:ext cx="5295899" cy="1104899"/>
          </a:xfrm>
          <a:prstGeom prst="roundRect">
            <a:avLst>
              <a:gd name="adj" fmla="val 13103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6423659" y="3436619"/>
            <a:ext cx="563879" cy="56387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3" name="可移动独立图标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8089" y="3521049"/>
            <a:ext cx="395020" cy="395020"/>
          </a:xfrm>
          <a:prstGeom prst="rect">
            <a:avLst/>
          </a:prstGeom>
        </p:spPr>
      </p:pic>
      <p:sp>
        <p:nvSpPr>
          <p:cNvPr id="44" name="文字｜专利"/>
          <p:cNvSpPr txBox="1"/>
          <p:nvPr/>
        </p:nvSpPr>
        <p:spPr>
          <a:xfrm>
            <a:off x="7155179" y="3339693"/>
            <a:ext cx="691895" cy="2901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专利</a:t>
            </a:r>
          </a:p>
        </p:txBody>
      </p:sp>
      <p:sp>
        <p:nvSpPr>
          <p:cNvPr id="45" name="文字｜国家 / 地区 + 申请号"/>
          <p:cNvSpPr txBox="1"/>
          <p:nvPr/>
        </p:nvSpPr>
        <p:spPr>
          <a:xfrm>
            <a:off x="7155179" y="3636263"/>
            <a:ext cx="1889283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国家 / 地区 + 申请号</a:t>
            </a:r>
          </a:p>
        </p:txBody>
      </p:sp>
      <p:sp>
        <p:nvSpPr>
          <p:cNvPr id="46" name="文字｜分清申请号、公开号、授权公告号"/>
          <p:cNvSpPr txBox="1"/>
          <p:nvPr/>
        </p:nvSpPr>
        <p:spPr>
          <a:xfrm>
            <a:off x="7155179" y="3872331"/>
            <a:ext cx="2811779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分清申请号、公开号、授权公告号</a:t>
            </a:r>
          </a:p>
        </p:txBody>
      </p:sp>
      <p:sp>
        <p:nvSpPr>
          <p:cNvPr id="47" name="文字｜避免不同专利标识混用"/>
          <p:cNvSpPr txBox="1"/>
          <p:nvPr/>
        </p:nvSpPr>
        <p:spPr>
          <a:xfrm>
            <a:off x="7155179" y="4070451"/>
            <a:ext cx="1920239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避免不同专利标识混用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09599" y="4472939"/>
            <a:ext cx="5295899" cy="1104899"/>
          </a:xfrm>
          <a:prstGeom prst="roundRect">
            <a:avLst>
              <a:gd name="adj" fmla="val 13103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800099" y="4716779"/>
            <a:ext cx="563879" cy="56387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0" name="可移动独立图标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529" y="4801209"/>
            <a:ext cx="395020" cy="395020"/>
          </a:xfrm>
          <a:prstGeom prst="rect">
            <a:avLst/>
          </a:prstGeom>
        </p:spPr>
      </p:pic>
      <p:sp>
        <p:nvSpPr>
          <p:cNvPr id="51" name="文字｜科研项目"/>
          <p:cNvSpPr txBox="1"/>
          <p:nvPr/>
        </p:nvSpPr>
        <p:spPr>
          <a:xfrm>
            <a:off x="1531619" y="4619853"/>
            <a:ext cx="1246631" cy="2901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科研项目</a:t>
            </a:r>
          </a:p>
        </p:txBody>
      </p:sp>
      <p:sp>
        <p:nvSpPr>
          <p:cNvPr id="52" name="文字｜资助机构 + 批准号"/>
          <p:cNvSpPr txBox="1"/>
          <p:nvPr/>
        </p:nvSpPr>
        <p:spPr>
          <a:xfrm>
            <a:off x="1531619" y="4916423"/>
            <a:ext cx="17227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资助机构 + 批准号</a:t>
            </a:r>
          </a:p>
        </p:txBody>
      </p:sp>
      <p:sp>
        <p:nvSpPr>
          <p:cNvPr id="53" name="文字｜区分不同资助类别和编号体系"/>
          <p:cNvSpPr txBox="1"/>
          <p:nvPr/>
        </p:nvSpPr>
        <p:spPr>
          <a:xfrm>
            <a:off x="1531619" y="5152491"/>
            <a:ext cx="2455163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区分不同资助类别和编号体系</a:t>
            </a:r>
          </a:p>
        </p:txBody>
      </p:sp>
      <p:sp>
        <p:nvSpPr>
          <p:cNvPr id="54" name="文字｜信息不足时人工复核"/>
          <p:cNvSpPr txBox="1"/>
          <p:nvPr/>
        </p:nvSpPr>
        <p:spPr>
          <a:xfrm>
            <a:off x="1531619" y="5350611"/>
            <a:ext cx="1741931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信息不足时人工复核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33159" y="4472939"/>
            <a:ext cx="5295899" cy="1104899"/>
          </a:xfrm>
          <a:prstGeom prst="roundRect">
            <a:avLst>
              <a:gd name="adj" fmla="val 13103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Oval 55"/>
          <p:cNvSpPr/>
          <p:nvPr/>
        </p:nvSpPr>
        <p:spPr>
          <a:xfrm>
            <a:off x="6423659" y="4716779"/>
            <a:ext cx="563879" cy="5638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7" name="可移动独立图标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8089" y="4801209"/>
            <a:ext cx="395020" cy="395020"/>
          </a:xfrm>
          <a:prstGeom prst="rect">
            <a:avLst/>
          </a:prstGeom>
        </p:spPr>
      </p:pic>
      <p:sp>
        <p:nvSpPr>
          <p:cNvPr id="58" name="文字｜获奖"/>
          <p:cNvSpPr txBox="1"/>
          <p:nvPr/>
        </p:nvSpPr>
        <p:spPr>
          <a:xfrm>
            <a:off x="7155179" y="4619853"/>
            <a:ext cx="691895" cy="2901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获奖</a:t>
            </a:r>
          </a:p>
        </p:txBody>
      </p:sp>
      <p:sp>
        <p:nvSpPr>
          <p:cNvPr id="59" name="文字｜奖项名称 + 年度 + 项目编号"/>
          <p:cNvSpPr txBox="1"/>
          <p:nvPr/>
        </p:nvSpPr>
        <p:spPr>
          <a:xfrm>
            <a:off x="7155179" y="4916423"/>
            <a:ext cx="2515838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奖项名称 + 年度 + 项目编号</a:t>
            </a:r>
          </a:p>
        </p:txBody>
      </p:sp>
      <p:sp>
        <p:nvSpPr>
          <p:cNvPr id="60" name="文字｜按公开名单核验申报项目"/>
          <p:cNvSpPr txBox="1"/>
          <p:nvPr/>
        </p:nvSpPr>
        <p:spPr>
          <a:xfrm>
            <a:off x="7155179" y="5152491"/>
            <a:ext cx="2098547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按公开名单核验申报项目</a:t>
            </a:r>
          </a:p>
        </p:txBody>
      </p:sp>
      <p:sp>
        <p:nvSpPr>
          <p:cNvPr id="61" name="文字｜信息不足时人工复核"/>
          <p:cNvSpPr txBox="1"/>
          <p:nvPr/>
        </p:nvSpPr>
        <p:spPr>
          <a:xfrm>
            <a:off x="7155179" y="5350611"/>
            <a:ext cx="1741931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信息不足时人工复核</a:t>
            </a:r>
          </a:p>
        </p:txBody>
      </p:sp>
      <p:sp>
        <p:nvSpPr>
          <p:cNvPr id="62" name="文字｜合并约束：同一成果只建立一个 Work；保留全部来源 SourceRecor"/>
          <p:cNvSpPr txBox="1"/>
          <p:nvPr/>
        </p:nvSpPr>
        <p:spPr>
          <a:xfrm>
            <a:off x="693419" y="5968060"/>
            <a:ext cx="8164115" cy="2176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合并约束：同一成果只建立一个 Work；保留全部来源 SourceRecord 和匹配审核记录。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9486899" y="-967739"/>
            <a:ext cx="3733799" cy="3733799"/>
          </a:xfrm>
          <a:prstGeom prst="ellipse">
            <a:avLst/>
          </a:prstGeom>
          <a:noFill/>
          <a:ln w="15239">
            <a:solidFill>
              <a:srgbClr val="B8D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9258299" y="-1158239"/>
            <a:ext cx="5562599" cy="5562599"/>
          </a:xfrm>
          <a:prstGeom prst="ellipse">
            <a:avLst/>
          </a:prstGeom>
          <a:noFill/>
          <a:ln w="13715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作者与机构身份消歧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作者与机构身份消歧</a:t>
            </a:r>
          </a:p>
        </p:txBody>
      </p:sp>
      <p:sp>
        <p:nvSpPr>
          <p:cNvPr id="13" name="文字｜统一身份标识、上下文辅助判断，保留历史任职和署名信息"/>
          <p:cNvSpPr txBox="1"/>
          <p:nvPr/>
        </p:nvSpPr>
        <p:spPr>
          <a:xfrm>
            <a:off x="662939" y="1373504"/>
            <a:ext cx="65760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统一身份标识、上下文辅助判断，保留历史任职和署名信息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11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11 / 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</a:p>
        </p:txBody>
      </p:sp>
      <p:sp>
        <p:nvSpPr>
          <p:cNvPr id="18" name="文字｜11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4839" y="2118359"/>
            <a:ext cx="5288279" cy="2567939"/>
          </a:xfrm>
          <a:prstGeom prst="roundRect">
            <a:avLst>
              <a:gd name="adj" fmla="val 563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38199" y="2293619"/>
            <a:ext cx="746759" cy="7467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069" y="2469489"/>
            <a:ext cx="395020" cy="395020"/>
          </a:xfrm>
          <a:prstGeom prst="rect">
            <a:avLst/>
          </a:prstGeom>
        </p:spPr>
      </p:pic>
      <p:sp>
        <p:nvSpPr>
          <p:cNvPr id="23" name="文字｜学者身份"/>
          <p:cNvSpPr txBox="1"/>
          <p:nvPr/>
        </p:nvSpPr>
        <p:spPr>
          <a:xfrm>
            <a:off x="1729739" y="2486405"/>
            <a:ext cx="1325879" cy="3108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学者身份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3919" y="3108959"/>
            <a:ext cx="2057399" cy="281939"/>
          </a:xfrm>
          <a:prstGeom prst="roundRect">
            <a:avLst>
              <a:gd name="adj" fmla="val 48648"/>
            </a:avLst>
          </a:prstGeom>
          <a:solidFill>
            <a:srgbClr val="EE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字｜可信 ORCID 优先"/>
          <p:cNvSpPr txBox="1"/>
          <p:nvPr/>
        </p:nvSpPr>
        <p:spPr>
          <a:xfrm>
            <a:off x="1143577" y="3163747"/>
            <a:ext cx="1538085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 ORCID 优先</a:t>
            </a:r>
          </a:p>
        </p:txBody>
      </p:sp>
      <p:sp>
        <p:nvSpPr>
          <p:cNvPr id="26" name="Oval 25"/>
          <p:cNvSpPr/>
          <p:nvPr/>
        </p:nvSpPr>
        <p:spPr>
          <a:xfrm>
            <a:off x="998219" y="3718559"/>
            <a:ext cx="76199" cy="7619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字｜核实 ORCID 与本人身份关联"/>
          <p:cNvSpPr txBox="1"/>
          <p:nvPr/>
        </p:nvSpPr>
        <p:spPr>
          <a:xfrm>
            <a:off x="1203959" y="3659200"/>
            <a:ext cx="2595245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核实 ORCID 与本人身份关联</a:t>
            </a:r>
          </a:p>
        </p:txBody>
      </p:sp>
      <p:sp>
        <p:nvSpPr>
          <p:cNvPr id="28" name="Oval 27"/>
          <p:cNvSpPr/>
          <p:nvPr/>
        </p:nvSpPr>
        <p:spPr>
          <a:xfrm>
            <a:off x="998219" y="4046219"/>
            <a:ext cx="76199" cy="7619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字｜使用姓名、机构、共同作者与研究方向"/>
          <p:cNvSpPr txBox="1"/>
          <p:nvPr/>
        </p:nvSpPr>
        <p:spPr>
          <a:xfrm>
            <a:off x="1203959" y="3986860"/>
            <a:ext cx="34544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使用姓名、机构、共同作者与研究方向</a:t>
            </a:r>
          </a:p>
        </p:txBody>
      </p:sp>
      <p:sp>
        <p:nvSpPr>
          <p:cNvPr id="30" name="Oval 29"/>
          <p:cNvSpPr/>
          <p:nvPr/>
        </p:nvSpPr>
        <p:spPr>
          <a:xfrm>
            <a:off x="998219" y="4373879"/>
            <a:ext cx="76199" cy="76199"/>
          </a:xfrm>
          <a:prstGeom prst="ellipse">
            <a:avLst/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字｜疑似同名进入人工复核"/>
          <p:cNvSpPr txBox="1"/>
          <p:nvPr/>
        </p:nvSpPr>
        <p:spPr>
          <a:xfrm>
            <a:off x="1203959" y="4314520"/>
            <a:ext cx="2032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疑似同名进入人工复核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8399" y="2118359"/>
            <a:ext cx="5288279" cy="2567939"/>
          </a:xfrm>
          <a:prstGeom prst="roundRect">
            <a:avLst>
              <a:gd name="adj" fmla="val 563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6461759" y="2293619"/>
            <a:ext cx="746759" cy="74675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4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7629" y="2469489"/>
            <a:ext cx="395020" cy="395020"/>
          </a:xfrm>
          <a:prstGeom prst="rect">
            <a:avLst/>
          </a:prstGeom>
        </p:spPr>
      </p:pic>
      <p:sp>
        <p:nvSpPr>
          <p:cNvPr id="35" name="文字｜机构身份"/>
          <p:cNvSpPr txBox="1"/>
          <p:nvPr/>
        </p:nvSpPr>
        <p:spPr>
          <a:xfrm>
            <a:off x="7353299" y="2486405"/>
            <a:ext cx="1325879" cy="3108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机构身份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07479" y="3108959"/>
            <a:ext cx="2057399" cy="281939"/>
          </a:xfrm>
          <a:prstGeom prst="roundRect">
            <a:avLst>
              <a:gd name="adj" fmla="val 48648"/>
            </a:avLst>
          </a:prstGeom>
          <a:solidFill>
            <a:srgbClr val="EE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字｜可信 ROR 优先"/>
          <p:cNvSpPr txBox="1"/>
          <p:nvPr/>
        </p:nvSpPr>
        <p:spPr>
          <a:xfrm>
            <a:off x="6859774" y="3163747"/>
            <a:ext cx="135281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 ROR 优先</a:t>
            </a:r>
          </a:p>
        </p:txBody>
      </p:sp>
      <p:sp>
        <p:nvSpPr>
          <p:cNvPr id="38" name="Oval 37"/>
          <p:cNvSpPr/>
          <p:nvPr/>
        </p:nvSpPr>
        <p:spPr>
          <a:xfrm>
            <a:off x="6621779" y="3718559"/>
            <a:ext cx="76199" cy="7619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字｜综合机构名称和官方网站"/>
          <p:cNvSpPr txBox="1"/>
          <p:nvPr/>
        </p:nvSpPr>
        <p:spPr>
          <a:xfrm>
            <a:off x="6827519" y="3659200"/>
            <a:ext cx="22352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综合机构名称和官方网站</a:t>
            </a:r>
          </a:p>
        </p:txBody>
      </p:sp>
      <p:sp>
        <p:nvSpPr>
          <p:cNvPr id="40" name="Oval 39"/>
          <p:cNvSpPr/>
          <p:nvPr/>
        </p:nvSpPr>
        <p:spPr>
          <a:xfrm>
            <a:off x="6621779" y="4046219"/>
            <a:ext cx="76199" cy="7619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字｜处理别名、机构变更与合并"/>
          <p:cNvSpPr txBox="1"/>
          <p:nvPr/>
        </p:nvSpPr>
        <p:spPr>
          <a:xfrm>
            <a:off x="6827519" y="3986860"/>
            <a:ext cx="24384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处理别名、机构变更与合并</a:t>
            </a:r>
          </a:p>
        </p:txBody>
      </p:sp>
      <p:sp>
        <p:nvSpPr>
          <p:cNvPr id="42" name="Oval 41"/>
          <p:cNvSpPr/>
          <p:nvPr/>
        </p:nvSpPr>
        <p:spPr>
          <a:xfrm>
            <a:off x="6621779" y="4373879"/>
            <a:ext cx="76199" cy="76199"/>
          </a:xfrm>
          <a:prstGeom prst="ellipse">
            <a:avLst/>
          </a:prstGeom>
          <a:solidFill>
            <a:srgbClr val="159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字｜保留曾用名与机构来源"/>
          <p:cNvSpPr txBox="1"/>
          <p:nvPr/>
        </p:nvSpPr>
        <p:spPr>
          <a:xfrm>
            <a:off x="6827519" y="4314520"/>
            <a:ext cx="2032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保留曾用名与机构来源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4839" y="4899659"/>
            <a:ext cx="10934699" cy="1249679"/>
          </a:xfrm>
          <a:prstGeom prst="roundRect">
            <a:avLst>
              <a:gd name="adj" fmla="val 11585"/>
            </a:avLst>
          </a:prstGeom>
          <a:solidFill>
            <a:srgbClr val="F4FA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845819" y="5227319"/>
            <a:ext cx="624839" cy="62483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6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729" y="5342229"/>
            <a:ext cx="395020" cy="395020"/>
          </a:xfrm>
          <a:prstGeom prst="rect">
            <a:avLst/>
          </a:prstGeom>
        </p:spPr>
      </p:pic>
      <p:sp>
        <p:nvSpPr>
          <p:cNvPr id="47" name="文字｜历史关系与信息保护"/>
          <p:cNvSpPr txBox="1"/>
          <p:nvPr/>
        </p:nvSpPr>
        <p:spPr>
          <a:xfrm>
            <a:off x="1684019" y="5145481"/>
            <a:ext cx="2455163" cy="269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历史关系与信息保护</a:t>
            </a:r>
          </a:p>
        </p:txBody>
      </p:sp>
      <p:sp>
        <p:nvSpPr>
          <p:cNvPr id="48" name="文字｜当前所属机构与成果发表时机构分别存储；作者与成果关系保留署名顺序和来源依据。"/>
          <p:cNvSpPr txBox="1"/>
          <p:nvPr/>
        </p:nvSpPr>
        <p:spPr>
          <a:xfrm>
            <a:off x="1684019" y="5503316"/>
            <a:ext cx="8418575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当前所属机构与成果发表时机构分别存储；作者与成果关系保留署名顺序和来源依据。</a:t>
            </a:r>
          </a:p>
        </p:txBody>
      </p:sp>
      <p:sp>
        <p:nvSpPr>
          <p:cNvPr id="49" name="文字｜判断结果缺少可靠证据时，记录候选关系并提交人工复核。"/>
          <p:cNvSpPr txBox="1"/>
          <p:nvPr/>
        </p:nvSpPr>
        <p:spPr>
          <a:xfrm>
            <a:off x="1684019" y="5762320"/>
            <a:ext cx="5545835" cy="2176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判断结果缺少可靠证据时，记录候选关系并提交人工复核。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9486899" y="-967739"/>
            <a:ext cx="3733799" cy="3733799"/>
          </a:xfrm>
          <a:prstGeom prst="ellipse">
            <a:avLst/>
          </a:prstGeom>
          <a:noFill/>
          <a:ln w="15239">
            <a:solidFill>
              <a:srgbClr val="B8D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9258299" y="-1158239"/>
            <a:ext cx="5562599" cy="5562599"/>
          </a:xfrm>
          <a:prstGeom prst="ellipse">
            <a:avLst/>
          </a:prstGeom>
          <a:noFill/>
          <a:ln w="13715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多来源字段冲突处理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6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多来源字段冲突处理</a:t>
            </a:r>
          </a:p>
        </p:txBody>
      </p:sp>
      <p:sp>
        <p:nvSpPr>
          <p:cNvPr id="13" name="文字｜保留候选字段值与来源证据，按审核规则确定公共展示值"/>
          <p:cNvSpPr txBox="1"/>
          <p:nvPr/>
        </p:nvSpPr>
        <p:spPr>
          <a:xfrm>
            <a:off x="662939" y="1373504"/>
            <a:ext cx="632840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保留候选字段值与来源证据，按审核规则确定公共展示值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12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12 / 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</a:p>
        </p:txBody>
      </p:sp>
      <p:sp>
        <p:nvSpPr>
          <p:cNvPr id="18" name="文字｜12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7219" y="2179319"/>
            <a:ext cx="4922519" cy="1455419"/>
          </a:xfrm>
          <a:prstGeom prst="roundRect">
            <a:avLst>
              <a:gd name="adj" fmla="val 994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91539" y="2339339"/>
            <a:ext cx="518159" cy="51815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09" y="2400909"/>
            <a:ext cx="395020" cy="395020"/>
          </a:xfrm>
          <a:prstGeom prst="rect">
            <a:avLst/>
          </a:prstGeom>
        </p:spPr>
      </p:pic>
      <p:sp>
        <p:nvSpPr>
          <p:cNvPr id="23" name="文字｜来源 A · Crossref"/>
          <p:cNvSpPr txBox="1"/>
          <p:nvPr/>
        </p:nvSpPr>
        <p:spPr>
          <a:xfrm>
            <a:off x="1562099" y="2478557"/>
            <a:ext cx="2184142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 A · Crossref</a:t>
            </a:r>
          </a:p>
        </p:txBody>
      </p:sp>
      <p:sp>
        <p:nvSpPr>
          <p:cNvPr id="24" name="文字｜论文标题：版本 A"/>
          <p:cNvSpPr txBox="1"/>
          <p:nvPr/>
        </p:nvSpPr>
        <p:spPr>
          <a:xfrm>
            <a:off x="914399" y="2942996"/>
            <a:ext cx="1843932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论文标题：版本 A</a:t>
            </a:r>
          </a:p>
        </p:txBody>
      </p:sp>
      <p:sp>
        <p:nvSpPr>
          <p:cNvPr id="25" name="文字｜日期字段：2025"/>
          <p:cNvSpPr txBox="1"/>
          <p:nvPr/>
        </p:nvSpPr>
        <p:spPr>
          <a:xfrm>
            <a:off x="914399" y="3240176"/>
            <a:ext cx="1710356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日期字段：2025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14159" y="2179319"/>
            <a:ext cx="4922519" cy="1455419"/>
          </a:xfrm>
          <a:prstGeom prst="roundRect">
            <a:avLst>
              <a:gd name="adj" fmla="val 994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6888479" y="2339339"/>
            <a:ext cx="518159" cy="51815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049" y="2400909"/>
            <a:ext cx="395020" cy="395020"/>
          </a:xfrm>
          <a:prstGeom prst="rect">
            <a:avLst/>
          </a:prstGeom>
        </p:spPr>
      </p:pic>
      <p:sp>
        <p:nvSpPr>
          <p:cNvPr id="29" name="文字｜来源 B · 补充来源"/>
          <p:cNvSpPr txBox="1"/>
          <p:nvPr/>
        </p:nvSpPr>
        <p:spPr>
          <a:xfrm>
            <a:off x="7559039" y="2478557"/>
            <a:ext cx="2247292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 B · 补充来源</a:t>
            </a:r>
          </a:p>
        </p:txBody>
      </p:sp>
      <p:sp>
        <p:nvSpPr>
          <p:cNvPr id="30" name="文字｜论文标题：版本 B"/>
          <p:cNvSpPr txBox="1"/>
          <p:nvPr/>
        </p:nvSpPr>
        <p:spPr>
          <a:xfrm>
            <a:off x="6911339" y="2942996"/>
            <a:ext cx="1854612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论文标题：版本 B</a:t>
            </a:r>
          </a:p>
        </p:txBody>
      </p:sp>
      <p:sp>
        <p:nvSpPr>
          <p:cNvPr id="31" name="文字｜日期字段：2026"/>
          <p:cNvSpPr txBox="1"/>
          <p:nvPr/>
        </p:nvSpPr>
        <p:spPr>
          <a:xfrm>
            <a:off x="6911339" y="3240176"/>
            <a:ext cx="1710356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日期字段：2026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38499" y="3718559"/>
            <a:ext cx="1920240" cy="495300"/>
          </a:xfrm>
          <a:prstGeom prst="line">
            <a:avLst/>
          </a:prstGeom>
          <a:ln w="21335">
            <a:solidFill>
              <a:srgbClr val="327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5074920" y="4152900"/>
            <a:ext cx="83820" cy="83820"/>
          </a:xfrm>
          <a:custGeom>
            <a:avLst/>
            <a:gdLst/>
            <a:ahLst/>
            <a:cxnLst/>
            <a:rect l="l" t="t" r="r" b="b"/>
            <a:pathLst>
              <a:path w="11" h="11">
                <a:moveTo>
                  <a:pt x="0" y="11"/>
                </a:moveTo>
                <a:lnTo>
                  <a:pt x="11" y="8"/>
                </a:lnTo>
                <a:lnTo>
                  <a:pt x="3" y="0"/>
                </a:lnTo>
              </a:path>
            </a:pathLst>
          </a:custGeom>
          <a:noFill/>
          <a:ln w="21335">
            <a:solidFill>
              <a:srgbClr val="3279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 flipH="1">
            <a:off x="7025639" y="3718559"/>
            <a:ext cx="2042160" cy="495300"/>
          </a:xfrm>
          <a:prstGeom prst="line">
            <a:avLst/>
          </a:prstGeom>
          <a:ln w="21335">
            <a:solidFill>
              <a:srgbClr val="159D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 34"/>
          <p:cNvSpPr/>
          <p:nvPr/>
        </p:nvSpPr>
        <p:spPr>
          <a:xfrm>
            <a:off x="7025640" y="4160520"/>
            <a:ext cx="83820" cy="76200"/>
          </a:xfrm>
          <a:custGeom>
            <a:avLst/>
            <a:gdLst/>
            <a:ahLst/>
            <a:cxnLst/>
            <a:rect l="l" t="t" r="r" b="b"/>
            <a:pathLst>
              <a:path w="11" h="10">
                <a:moveTo>
                  <a:pt x="8" y="0"/>
                </a:moveTo>
                <a:lnTo>
                  <a:pt x="0" y="7"/>
                </a:lnTo>
                <a:lnTo>
                  <a:pt x="11" y="10"/>
                </a:lnTo>
              </a:path>
            </a:pathLst>
          </a:custGeom>
          <a:noFill/>
          <a:ln w="21335">
            <a:solidFill>
              <a:srgbClr val="159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732019" y="4008119"/>
            <a:ext cx="2865119" cy="845819"/>
          </a:xfrm>
          <a:prstGeom prst="roundRect">
            <a:avLst>
              <a:gd name="adj" fmla="val 17117"/>
            </a:avLst>
          </a:prstGeom>
          <a:solidFill>
            <a:srgbClr val="EAF4FE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4869179" y="4168139"/>
            <a:ext cx="533399" cy="53339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369" y="4237329"/>
            <a:ext cx="395020" cy="395020"/>
          </a:xfrm>
          <a:prstGeom prst="rect">
            <a:avLst/>
          </a:prstGeom>
        </p:spPr>
      </p:pic>
      <p:sp>
        <p:nvSpPr>
          <p:cNvPr id="39" name="文字｜同一 Work"/>
          <p:cNvSpPr txBox="1"/>
          <p:nvPr/>
        </p:nvSpPr>
        <p:spPr>
          <a:xfrm>
            <a:off x="5524499" y="4162729"/>
            <a:ext cx="1472612" cy="3005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4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 Work</a:t>
            </a:r>
          </a:p>
        </p:txBody>
      </p:sp>
      <p:sp>
        <p:nvSpPr>
          <p:cNvPr id="40" name="文字｜关联多个 SourceRecord"/>
          <p:cNvSpPr txBox="1"/>
          <p:nvPr/>
        </p:nvSpPr>
        <p:spPr>
          <a:xfrm>
            <a:off x="5524499" y="4497171"/>
            <a:ext cx="2047934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关联多个 SourceRecord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59" y="5031104"/>
            <a:ext cx="10934699" cy="1104899"/>
          </a:xfrm>
          <a:prstGeom prst="roundRect">
            <a:avLst>
              <a:gd name="adj" fmla="val 13103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951864" y="5380989"/>
            <a:ext cx="472439" cy="47243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3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829" y="5386044"/>
            <a:ext cx="395020" cy="395020"/>
          </a:xfrm>
          <a:prstGeom prst="rect">
            <a:avLst/>
          </a:prstGeom>
        </p:spPr>
      </p:pic>
      <p:sp>
        <p:nvSpPr>
          <p:cNvPr id="44" name="文字｜01  字段级保存"/>
          <p:cNvSpPr txBox="1"/>
          <p:nvPr/>
        </p:nvSpPr>
        <p:spPr>
          <a:xfrm>
            <a:off x="1562099" y="5288051"/>
            <a:ext cx="138684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字段级保存</a:t>
            </a:r>
          </a:p>
        </p:txBody>
      </p:sp>
      <p:sp>
        <p:nvSpPr>
          <p:cNvPr id="45" name="文字｜原值 / 规范值 / 修订值"/>
          <p:cNvSpPr txBox="1"/>
          <p:nvPr/>
        </p:nvSpPr>
        <p:spPr>
          <a:xfrm>
            <a:off x="1562099" y="5638266"/>
            <a:ext cx="178562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原值 / 规范值 / 修订值</a:t>
            </a:r>
          </a:p>
        </p:txBody>
      </p:sp>
      <p:sp>
        <p:nvSpPr>
          <p:cNvPr id="46" name="Oval 45"/>
          <p:cNvSpPr/>
          <p:nvPr/>
        </p:nvSpPr>
        <p:spPr>
          <a:xfrm>
            <a:off x="4518024" y="5380989"/>
            <a:ext cx="472439" cy="47243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7" name="可移动独立图标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5469" y="5386044"/>
            <a:ext cx="395020" cy="395020"/>
          </a:xfrm>
          <a:prstGeom prst="rect">
            <a:avLst/>
          </a:prstGeom>
        </p:spPr>
      </p:pic>
      <p:sp>
        <p:nvSpPr>
          <p:cNvPr id="48" name="文字｜02  冲突判定"/>
          <p:cNvSpPr txBox="1"/>
          <p:nvPr/>
        </p:nvSpPr>
        <p:spPr>
          <a:xfrm>
            <a:off x="5158739" y="5288051"/>
            <a:ext cx="118364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冲突判定</a:t>
            </a:r>
          </a:p>
        </p:txBody>
      </p:sp>
      <p:sp>
        <p:nvSpPr>
          <p:cNvPr id="49" name="文字｜来源 / 采集时间 / 规则版本"/>
          <p:cNvSpPr txBox="1"/>
          <p:nvPr/>
        </p:nvSpPr>
        <p:spPr>
          <a:xfrm>
            <a:off x="5158739" y="5638266"/>
            <a:ext cx="214122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 / 采集时间 / 规则版本</a:t>
            </a:r>
          </a:p>
        </p:txBody>
      </p:sp>
      <p:sp>
        <p:nvSpPr>
          <p:cNvPr id="50" name="Oval 49"/>
          <p:cNvSpPr/>
          <p:nvPr/>
        </p:nvSpPr>
        <p:spPr>
          <a:xfrm>
            <a:off x="8084184" y="5308599"/>
            <a:ext cx="472439" cy="47243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1" name="可移动独立图标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1629" y="5386044"/>
            <a:ext cx="395020" cy="395020"/>
          </a:xfrm>
          <a:prstGeom prst="rect">
            <a:avLst/>
          </a:prstGeom>
        </p:spPr>
      </p:pic>
      <p:sp>
        <p:nvSpPr>
          <p:cNvPr id="52" name="文字｜03  人工审核"/>
          <p:cNvSpPr txBox="1"/>
          <p:nvPr/>
        </p:nvSpPr>
        <p:spPr>
          <a:xfrm>
            <a:off x="8724899" y="5288051"/>
            <a:ext cx="118364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人工审核</a:t>
            </a:r>
          </a:p>
        </p:txBody>
      </p:sp>
      <p:sp>
        <p:nvSpPr>
          <p:cNvPr id="53" name="文字｜审核依据 / 操作者 / 审计记录"/>
          <p:cNvSpPr txBox="1"/>
          <p:nvPr/>
        </p:nvSpPr>
        <p:spPr>
          <a:xfrm>
            <a:off x="8724899" y="5638266"/>
            <a:ext cx="231902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审核依据 / 操作者 / 审计记录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sz="2400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9486899" y="-967739"/>
            <a:ext cx="3733799" cy="3733799"/>
          </a:xfrm>
          <a:prstGeom prst="ellipse">
            <a:avLst/>
          </a:prstGeom>
          <a:noFill/>
          <a:ln w="15239">
            <a:solidFill>
              <a:srgbClr val="B8D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9258299" y="-1158239"/>
            <a:ext cx="5562599" cy="5562599"/>
          </a:xfrm>
          <a:prstGeom prst="ellipse">
            <a:avLst/>
          </a:prstGeom>
          <a:noFill/>
          <a:ln w="13715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成果检索与相关推荐"/>
          <p:cNvSpPr txBox="1"/>
          <p:nvPr/>
        </p:nvSpPr>
        <p:spPr>
          <a:xfrm>
            <a:off x="640079" y="765886"/>
            <a:ext cx="4684013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成果检索与相关推荐</a:t>
            </a:r>
          </a:p>
        </p:txBody>
      </p:sp>
      <p:sp>
        <p:nvSpPr>
          <p:cNvPr id="13" name="文字｜支持多条件查询、过滤排序与可解释的相关推荐"/>
          <p:cNvSpPr txBox="1"/>
          <p:nvPr/>
        </p:nvSpPr>
        <p:spPr>
          <a:xfrm>
            <a:off x="662939" y="1373504"/>
            <a:ext cx="533780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支持多条件查询、过滤排序与可解释的相关推荐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13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13 / 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</a:p>
        </p:txBody>
      </p:sp>
      <p:sp>
        <p:nvSpPr>
          <p:cNvPr id="18" name="文字｜13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7219" y="2118359"/>
            <a:ext cx="7353299" cy="3482339"/>
          </a:xfrm>
          <a:prstGeom prst="roundRect">
            <a:avLst>
              <a:gd name="adj" fmla="val 415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字｜多字段检索"/>
          <p:cNvSpPr txBox="1"/>
          <p:nvPr/>
        </p:nvSpPr>
        <p:spPr>
          <a:xfrm>
            <a:off x="899159" y="2272741"/>
            <a:ext cx="1424939" cy="269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多字段检索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3919" y="2666999"/>
            <a:ext cx="6705599" cy="533399"/>
          </a:xfrm>
          <a:prstGeom prst="roundRect">
            <a:avLst>
              <a:gd name="adj" fmla="val 20000"/>
            </a:avLst>
          </a:prstGeom>
          <a:solidFill>
            <a:srgbClr val="F1F7FC"/>
          </a:solidFill>
          <a:ln w="7619">
            <a:solidFill>
              <a:srgbClr val="BED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3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031" y="2763011"/>
            <a:ext cx="356615" cy="356615"/>
          </a:xfrm>
          <a:prstGeom prst="rect">
            <a:avLst/>
          </a:prstGeom>
        </p:spPr>
      </p:pic>
      <p:sp>
        <p:nvSpPr>
          <p:cNvPr id="24" name="文字｜标题 / DOI / 作者 / 关键词 / 研究领域"/>
          <p:cNvSpPr txBox="1"/>
          <p:nvPr/>
        </p:nvSpPr>
        <p:spPr>
          <a:xfrm>
            <a:off x="1554479" y="2844012"/>
            <a:ext cx="3801760" cy="2383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标题 / DOI / 作者 / 关键词 / 研究领域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399" y="3398519"/>
            <a:ext cx="990599" cy="281939"/>
          </a:xfrm>
          <a:prstGeom prst="roundRect">
            <a:avLst>
              <a:gd name="adj" fmla="val 48648"/>
            </a:avLst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字｜年份"/>
          <p:cNvSpPr txBox="1"/>
          <p:nvPr/>
        </p:nvSpPr>
        <p:spPr>
          <a:xfrm>
            <a:off x="1152905" y="3453307"/>
            <a:ext cx="513587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年份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57399" y="3398519"/>
            <a:ext cx="1219199" cy="281939"/>
          </a:xfrm>
          <a:prstGeom prst="roundRect">
            <a:avLst>
              <a:gd name="adj" fmla="val 48648"/>
            </a:avLst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字｜成果类型"/>
          <p:cNvSpPr txBox="1"/>
          <p:nvPr/>
        </p:nvSpPr>
        <p:spPr>
          <a:xfrm>
            <a:off x="2221991" y="3453307"/>
            <a:ext cx="890015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成果类型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36619" y="3398519"/>
            <a:ext cx="982979" cy="281939"/>
          </a:xfrm>
          <a:prstGeom prst="roundRect">
            <a:avLst>
              <a:gd name="adj" fmla="val 48648"/>
            </a:avLst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字｜学科"/>
          <p:cNvSpPr txBox="1"/>
          <p:nvPr/>
        </p:nvSpPr>
        <p:spPr>
          <a:xfrm>
            <a:off x="3671315" y="3453307"/>
            <a:ext cx="513587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87239" y="3398519"/>
            <a:ext cx="1104899" cy="281939"/>
          </a:xfrm>
          <a:prstGeom prst="roundRect">
            <a:avLst>
              <a:gd name="adj" fmla="val 48648"/>
            </a:avLst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字｜期刊"/>
          <p:cNvSpPr txBox="1"/>
          <p:nvPr/>
        </p:nvSpPr>
        <p:spPr>
          <a:xfrm>
            <a:off x="4882895" y="3453307"/>
            <a:ext cx="513587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期刊</a:t>
            </a:r>
          </a:p>
        </p:txBody>
      </p:sp>
      <p:sp>
        <p:nvSpPr>
          <p:cNvPr id="33" name="文字｜排序选项"/>
          <p:cNvSpPr txBox="1"/>
          <p:nvPr/>
        </p:nvSpPr>
        <p:spPr>
          <a:xfrm>
            <a:off x="899159" y="3948836"/>
            <a:ext cx="1008887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排序选项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229100"/>
            <a:ext cx="1308100" cy="342900"/>
          </a:xfrm>
          <a:prstGeom prst="roundRect">
            <a:avLst>
              <a:gd name="adj" fmla="val 48648"/>
            </a:avLst>
          </a:prstGeom>
          <a:solidFill>
            <a:srgbClr val="E7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字｜BM25 相关度"/>
          <p:cNvSpPr txBox="1"/>
          <p:nvPr/>
        </p:nvSpPr>
        <p:spPr>
          <a:xfrm>
            <a:off x="1017905" y="4295876"/>
            <a:ext cx="110998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BM25 相关度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25673" y="4229099"/>
            <a:ext cx="1219199" cy="327735"/>
          </a:xfrm>
          <a:prstGeom prst="roundRect">
            <a:avLst>
              <a:gd name="adj" fmla="val 48648"/>
            </a:avLst>
          </a:prstGeom>
          <a:solidFill>
            <a:srgbClr val="E7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字｜发表时间"/>
          <p:cNvSpPr txBox="1"/>
          <p:nvPr/>
        </p:nvSpPr>
        <p:spPr>
          <a:xfrm>
            <a:off x="2938100" y="4291431"/>
            <a:ext cx="71814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latin typeface="微软雅黑" panose="020B0503020204020204" charset="-122"/>
                <a:ea typeface="微软雅黑" panose="020B0503020204020204" charset="-122"/>
              </a:rPr>
              <a:t>发表时间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6909" y="4229099"/>
            <a:ext cx="1219199" cy="342901"/>
          </a:xfrm>
          <a:prstGeom prst="roundRect">
            <a:avLst>
              <a:gd name="adj" fmla="val 48648"/>
            </a:avLst>
          </a:prstGeom>
          <a:solidFill>
            <a:srgbClr val="E7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字｜引用次数"/>
          <p:cNvSpPr txBox="1"/>
          <p:nvPr/>
        </p:nvSpPr>
        <p:spPr>
          <a:xfrm>
            <a:off x="4706956" y="4291431"/>
            <a:ext cx="71814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1" noProof="0" dirty="0">
                <a:latin typeface="微软雅黑" panose="020B0503020204020204" charset="-122"/>
                <a:ea typeface="微软雅黑" panose="020B0503020204020204" charset="-122"/>
              </a:rPr>
              <a:t>引用次数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4399" y="4678679"/>
            <a:ext cx="665226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字｜推荐依据"/>
          <p:cNvSpPr txBox="1"/>
          <p:nvPr/>
        </p:nvSpPr>
        <p:spPr>
          <a:xfrm>
            <a:off x="914399" y="4817592"/>
            <a:ext cx="1048511" cy="2383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推荐依据</a:t>
            </a:r>
          </a:p>
        </p:txBody>
      </p:sp>
      <p:sp>
        <p:nvSpPr>
          <p:cNvPr id="42" name="文字｜题名相似   ·   同一期刊   ·   同一研究主题"/>
          <p:cNvSpPr txBox="1"/>
          <p:nvPr/>
        </p:nvSpPr>
        <p:spPr>
          <a:xfrm>
            <a:off x="2019299" y="4832680"/>
            <a:ext cx="370293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题名相似   ·   同一期刊   ·   同一研究主题</a:t>
            </a:r>
          </a:p>
        </p:txBody>
      </p:sp>
      <p:sp>
        <p:nvSpPr>
          <p:cNvPr id="43" name="文字｜推荐结果展示相应原因，便于用户判断相关性。"/>
          <p:cNvSpPr txBox="1"/>
          <p:nvPr/>
        </p:nvSpPr>
        <p:spPr>
          <a:xfrm>
            <a:off x="914399" y="5152643"/>
            <a:ext cx="42672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推荐结果展示相应原因，便于用户判断相关性。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91499" y="2118359"/>
            <a:ext cx="3383279" cy="3482339"/>
          </a:xfrm>
          <a:prstGeom prst="roundRect">
            <a:avLst>
              <a:gd name="adj" fmla="val 4279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8366759" y="2369819"/>
            <a:ext cx="640079" cy="64007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6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289" y="2492349"/>
            <a:ext cx="395020" cy="395020"/>
          </a:xfrm>
          <a:prstGeom prst="rect">
            <a:avLst/>
          </a:prstGeom>
        </p:spPr>
      </p:pic>
      <p:sp>
        <p:nvSpPr>
          <p:cNvPr id="47" name="文字｜检索排序"/>
          <p:cNvSpPr txBox="1"/>
          <p:nvPr/>
        </p:nvSpPr>
        <p:spPr>
          <a:xfrm>
            <a:off x="9136379" y="2547213"/>
            <a:ext cx="859210" cy="2585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检索排序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404859" y="3078479"/>
            <a:ext cx="2926080" cy="0"/>
          </a:xfrm>
          <a:prstGeom prst="line">
            <a:avLst/>
          </a:prstGeom>
          <a:ln w="15239">
            <a:solidFill>
              <a:srgbClr val="D8E7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字｜BM25"/>
          <p:cNvSpPr txBox="1"/>
          <p:nvPr/>
        </p:nvSpPr>
        <p:spPr>
          <a:xfrm>
            <a:off x="8412479" y="3217697"/>
            <a:ext cx="826865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BM25</a:t>
            </a:r>
          </a:p>
        </p:txBody>
      </p:sp>
      <p:sp>
        <p:nvSpPr>
          <p:cNvPr id="50" name="文字｜关键词匹配计算相关度"/>
          <p:cNvSpPr txBox="1"/>
          <p:nvPr/>
        </p:nvSpPr>
        <p:spPr>
          <a:xfrm>
            <a:off x="8412479" y="3583000"/>
            <a:ext cx="2032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关键词匹配计算相关度</a:t>
            </a:r>
          </a:p>
        </p:txBody>
      </p:sp>
      <p:sp>
        <p:nvSpPr>
          <p:cNvPr id="51" name="文字｜结合业务过滤与分页"/>
          <p:cNvSpPr txBox="1"/>
          <p:nvPr/>
        </p:nvSpPr>
        <p:spPr>
          <a:xfrm>
            <a:off x="8412479" y="3880180"/>
            <a:ext cx="1828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结合业务过滤与分页</a:t>
            </a:r>
          </a:p>
        </p:txBody>
      </p:sp>
      <p:sp>
        <p:nvSpPr>
          <p:cNvPr id="52" name="文字｜可切换时间或引用排序"/>
          <p:cNvSpPr txBox="1"/>
          <p:nvPr/>
        </p:nvSpPr>
        <p:spPr>
          <a:xfrm>
            <a:off x="8412479" y="4177360"/>
            <a:ext cx="20320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可切换时间或引用排序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366759" y="4776945"/>
            <a:ext cx="3085465" cy="640080"/>
          </a:xfrm>
          <a:prstGeom prst="roundRect">
            <a:avLst>
              <a:gd name="adj" fmla="val 22727"/>
            </a:avLst>
          </a:prstGeom>
          <a:solidFill>
            <a:srgbClr val="FFF2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字｜分类约束"/>
          <p:cNvSpPr txBox="1"/>
          <p:nvPr/>
        </p:nvSpPr>
        <p:spPr>
          <a:xfrm>
            <a:off x="8488678" y="4854668"/>
            <a:ext cx="812800" cy="24574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分类约束</a:t>
            </a:r>
          </a:p>
        </p:txBody>
      </p:sp>
      <p:sp>
        <p:nvSpPr>
          <p:cNvPr id="55" name="文字｜学科字段须有可靠来源依据"/>
          <p:cNvSpPr txBox="1"/>
          <p:nvPr/>
        </p:nvSpPr>
        <p:spPr>
          <a:xfrm>
            <a:off x="8488678" y="5144635"/>
            <a:ext cx="2133600" cy="2152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学科字段须有可靠来源依据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7219" y="5829299"/>
            <a:ext cx="10957559" cy="342899"/>
          </a:xfrm>
          <a:prstGeom prst="roundRect">
            <a:avLst>
              <a:gd name="adj" fmla="val 24444"/>
            </a:avLst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字｜检索实现：多条件查询 → 类型 / 年份 / 领域过滤 → BM25 排序 "/>
          <p:cNvSpPr txBox="1"/>
          <p:nvPr/>
        </p:nvSpPr>
        <p:spPr>
          <a:xfrm>
            <a:off x="777239" y="5899403"/>
            <a:ext cx="597599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检索实现：多条件查询 → 类型 / 年份 / 领域过滤 → BM25 排序 → 结果详情与相关推荐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9486899" y="-967739"/>
            <a:ext cx="3733799" cy="3733799"/>
          </a:xfrm>
          <a:prstGeom prst="ellipse">
            <a:avLst/>
          </a:prstGeom>
          <a:noFill/>
          <a:ln w="15239">
            <a:solidFill>
              <a:srgbClr val="B8D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9258299" y="-1158239"/>
            <a:ext cx="5562599" cy="5562599"/>
          </a:xfrm>
          <a:prstGeom prst="ellipse">
            <a:avLst/>
          </a:prstGeom>
          <a:noFill/>
          <a:ln w="13715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科研人员门户认领流程"/>
          <p:cNvSpPr txBox="1"/>
          <p:nvPr/>
        </p:nvSpPr>
        <p:spPr>
          <a:xfrm>
            <a:off x="640079" y="765886"/>
            <a:ext cx="3927357" cy="4708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60" b="1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科研人员门户认领流程</a:t>
            </a:r>
          </a:p>
        </p:txBody>
      </p:sp>
      <p:sp>
        <p:nvSpPr>
          <p:cNvPr id="13" name="文字｜身份、门户管理权与成果认领分层审核，保障成果归属可靠"/>
          <p:cNvSpPr txBox="1"/>
          <p:nvPr/>
        </p:nvSpPr>
        <p:spPr>
          <a:xfrm>
            <a:off x="662939" y="1373504"/>
            <a:ext cx="65760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身份、门户管理权与成果认领分层审核，保障成果归属可靠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14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14 / 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</a:p>
        </p:txBody>
      </p:sp>
      <p:sp>
        <p:nvSpPr>
          <p:cNvPr id="18" name="文字｜14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4839" y="2148839"/>
            <a:ext cx="10934699" cy="1036319"/>
          </a:xfrm>
          <a:prstGeom prst="roundRect">
            <a:avLst>
              <a:gd name="adj" fmla="val 1397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69619" y="2316479"/>
            <a:ext cx="640079" cy="6400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2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49" y="2439009"/>
            <a:ext cx="395020" cy="395020"/>
          </a:xfrm>
          <a:prstGeom prst="rect">
            <a:avLst/>
          </a:prstGeom>
        </p:spPr>
      </p:pic>
      <p:sp>
        <p:nvSpPr>
          <p:cNvPr id="23" name="文字｜第一层｜账号与科研人员身份"/>
          <p:cNvSpPr txBox="1"/>
          <p:nvPr/>
        </p:nvSpPr>
        <p:spPr>
          <a:xfrm>
            <a:off x="1562099" y="2272893"/>
            <a:ext cx="3742943" cy="2901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第一层｜账号与科研人员身份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76399" y="2636519"/>
            <a:ext cx="2750819" cy="365759"/>
          </a:xfrm>
          <a:prstGeom prst="roundRect">
            <a:avLst>
              <a:gd name="adj" fmla="val 22916"/>
            </a:avLst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字｜注册登录"/>
          <p:cNvSpPr txBox="1"/>
          <p:nvPr/>
        </p:nvSpPr>
        <p:spPr>
          <a:xfrm>
            <a:off x="2583179" y="2729483"/>
            <a:ext cx="9296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注册登录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488179" y="2819399"/>
            <a:ext cx="281940" cy="0"/>
          </a:xfrm>
          <a:prstGeom prst="line">
            <a:avLst/>
          </a:prstGeom>
          <a:ln w="21335">
            <a:solidFill>
              <a:srgbClr val="7EB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4693920" y="2781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1335">
            <a:solidFill>
              <a:srgbClr val="7EB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823459" y="2636519"/>
            <a:ext cx="2750819" cy="365759"/>
          </a:xfrm>
          <a:prstGeom prst="roundRect">
            <a:avLst>
              <a:gd name="adj" fmla="val 22916"/>
            </a:avLst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字｜机构 / 人员身份申请"/>
          <p:cNvSpPr txBox="1"/>
          <p:nvPr/>
        </p:nvSpPr>
        <p:spPr>
          <a:xfrm>
            <a:off x="5250727" y="2729483"/>
            <a:ext cx="1888664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机构 / 人员身份申请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35239" y="2819399"/>
            <a:ext cx="281940" cy="0"/>
          </a:xfrm>
          <a:prstGeom prst="line">
            <a:avLst/>
          </a:prstGeom>
          <a:ln w="21335">
            <a:solidFill>
              <a:srgbClr val="7EB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 30"/>
          <p:cNvSpPr/>
          <p:nvPr/>
        </p:nvSpPr>
        <p:spPr>
          <a:xfrm>
            <a:off x="7840980" y="27813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1335">
            <a:solidFill>
              <a:srgbClr val="7EB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7970519" y="2636519"/>
            <a:ext cx="2750819" cy="365759"/>
          </a:xfrm>
          <a:prstGeom prst="roundRect">
            <a:avLst>
              <a:gd name="adj" fmla="val 22916"/>
            </a:avLst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字｜管理员审核"/>
          <p:cNvSpPr txBox="1"/>
          <p:nvPr/>
        </p:nvSpPr>
        <p:spPr>
          <a:xfrm>
            <a:off x="8778239" y="2729483"/>
            <a:ext cx="112775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管理员审核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4839" y="3360419"/>
            <a:ext cx="10934699" cy="1036319"/>
          </a:xfrm>
          <a:prstGeom prst="roundRect">
            <a:avLst>
              <a:gd name="adj" fmla="val 1397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769619" y="3528059"/>
            <a:ext cx="640079" cy="64007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6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49" y="3650589"/>
            <a:ext cx="395020" cy="395020"/>
          </a:xfrm>
          <a:prstGeom prst="rect">
            <a:avLst/>
          </a:prstGeom>
        </p:spPr>
      </p:pic>
      <p:sp>
        <p:nvSpPr>
          <p:cNvPr id="37" name="文字｜第二层｜学者门户管理权"/>
          <p:cNvSpPr txBox="1"/>
          <p:nvPr/>
        </p:nvSpPr>
        <p:spPr>
          <a:xfrm>
            <a:off x="1562099" y="3484473"/>
            <a:ext cx="3188207" cy="2901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第二层｜学者门户管理权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676399" y="3848099"/>
            <a:ext cx="2750819" cy="365759"/>
          </a:xfrm>
          <a:prstGeom prst="roundRect">
            <a:avLst>
              <a:gd name="adj" fmla="val 22916"/>
            </a:avLst>
          </a:prstGeom>
          <a:solidFill>
            <a:srgbClr val="EF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字｜查找候选 Scholar 门户"/>
          <p:cNvSpPr txBox="1"/>
          <p:nvPr/>
        </p:nvSpPr>
        <p:spPr>
          <a:xfrm>
            <a:off x="1988433" y="3941063"/>
            <a:ext cx="2119133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查找候选 Scholar 门户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488179" y="4030979"/>
            <a:ext cx="281940" cy="0"/>
          </a:xfrm>
          <a:prstGeom prst="line">
            <a:avLst/>
          </a:prstGeom>
          <a:ln w="21335">
            <a:solidFill>
              <a:srgbClr val="7EB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Freeform 40"/>
          <p:cNvSpPr/>
          <p:nvPr/>
        </p:nvSpPr>
        <p:spPr>
          <a:xfrm>
            <a:off x="4693920" y="399288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1335">
            <a:solidFill>
              <a:srgbClr val="7EB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4823459" y="3848099"/>
            <a:ext cx="2750819" cy="365759"/>
          </a:xfrm>
          <a:prstGeom prst="roundRect">
            <a:avLst>
              <a:gd name="adj" fmla="val 22916"/>
            </a:avLst>
          </a:prstGeom>
          <a:solidFill>
            <a:srgbClr val="EF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字｜上传证明"/>
          <p:cNvSpPr txBox="1"/>
          <p:nvPr/>
        </p:nvSpPr>
        <p:spPr>
          <a:xfrm>
            <a:off x="5730239" y="3941063"/>
            <a:ext cx="92963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上传证明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635239" y="4030979"/>
            <a:ext cx="281940" cy="0"/>
          </a:xfrm>
          <a:prstGeom prst="line">
            <a:avLst/>
          </a:prstGeom>
          <a:ln w="21335">
            <a:solidFill>
              <a:srgbClr val="7EB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Freeform 44"/>
          <p:cNvSpPr/>
          <p:nvPr/>
        </p:nvSpPr>
        <p:spPr>
          <a:xfrm>
            <a:off x="7840980" y="399288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1335">
            <a:solidFill>
              <a:srgbClr val="7EB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970519" y="3848099"/>
            <a:ext cx="2750819" cy="365759"/>
          </a:xfrm>
          <a:prstGeom prst="roundRect">
            <a:avLst>
              <a:gd name="adj" fmla="val 22916"/>
            </a:avLst>
          </a:prstGeom>
          <a:solidFill>
            <a:srgbClr val="EF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字｜系统验证 + 人工审核"/>
          <p:cNvSpPr txBox="1"/>
          <p:nvPr/>
        </p:nvSpPr>
        <p:spPr>
          <a:xfrm>
            <a:off x="8381690" y="3941063"/>
            <a:ext cx="192085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系统验证 + 人工审核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4839" y="4571999"/>
            <a:ext cx="10934699" cy="1036319"/>
          </a:xfrm>
          <a:prstGeom prst="roundRect">
            <a:avLst>
              <a:gd name="adj" fmla="val 1397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769619" y="4739639"/>
            <a:ext cx="640079" cy="64007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0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149" y="4862169"/>
            <a:ext cx="395020" cy="395020"/>
          </a:xfrm>
          <a:prstGeom prst="rect">
            <a:avLst/>
          </a:prstGeom>
        </p:spPr>
      </p:pic>
      <p:sp>
        <p:nvSpPr>
          <p:cNvPr id="51" name="文字｜第三层｜逐项成果认领"/>
          <p:cNvSpPr txBox="1"/>
          <p:nvPr/>
        </p:nvSpPr>
        <p:spPr>
          <a:xfrm>
            <a:off x="1562099" y="4696053"/>
            <a:ext cx="2910839" cy="29016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80" b="1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第三层｜逐项成果认领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676399" y="5059679"/>
            <a:ext cx="2750819" cy="365759"/>
          </a:xfrm>
          <a:prstGeom prst="roundRect">
            <a:avLst>
              <a:gd name="adj" fmla="val 22916"/>
            </a:avLst>
          </a:prstGeom>
          <a:solidFill>
            <a:srgbClr val="FF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字｜申请论文 / 专利 / 项目 / 获奖"/>
          <p:cNvSpPr txBox="1"/>
          <p:nvPr/>
        </p:nvSpPr>
        <p:spPr>
          <a:xfrm>
            <a:off x="1739003" y="5152643"/>
            <a:ext cx="2617993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申请论文 / 专利 / 项目 / 获奖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488179" y="5242559"/>
            <a:ext cx="281940" cy="0"/>
          </a:xfrm>
          <a:prstGeom prst="line">
            <a:avLst/>
          </a:prstGeom>
          <a:ln w="21335">
            <a:solidFill>
              <a:srgbClr val="7EB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 54"/>
          <p:cNvSpPr/>
          <p:nvPr/>
        </p:nvSpPr>
        <p:spPr>
          <a:xfrm>
            <a:off x="4693920" y="520446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1335">
            <a:solidFill>
              <a:srgbClr val="7EB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823459" y="5059679"/>
            <a:ext cx="2750819" cy="365759"/>
          </a:xfrm>
          <a:prstGeom prst="roundRect">
            <a:avLst>
              <a:gd name="adj" fmla="val 22916"/>
            </a:avLst>
          </a:prstGeom>
          <a:solidFill>
            <a:srgbClr val="FF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字｜管理员审核"/>
          <p:cNvSpPr txBox="1"/>
          <p:nvPr/>
        </p:nvSpPr>
        <p:spPr>
          <a:xfrm>
            <a:off x="5631179" y="5152643"/>
            <a:ext cx="112775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管理员审核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635239" y="5242559"/>
            <a:ext cx="281940" cy="0"/>
          </a:xfrm>
          <a:prstGeom prst="line">
            <a:avLst/>
          </a:prstGeom>
          <a:ln w="21335">
            <a:solidFill>
              <a:srgbClr val="7EB8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Freeform 58"/>
          <p:cNvSpPr/>
          <p:nvPr/>
        </p:nvSpPr>
        <p:spPr>
          <a:xfrm>
            <a:off x="7840980" y="5204460"/>
            <a:ext cx="76200" cy="76200"/>
          </a:xfrm>
          <a:custGeom>
            <a:avLst/>
            <a:gdLst/>
            <a:ahLst/>
            <a:cxnLst/>
            <a:rect l="l" t="t" r="r" b="b"/>
            <a:pathLst>
              <a:path w="10" h="10">
                <a:moveTo>
                  <a:pt x="0" y="10"/>
                </a:moveTo>
                <a:lnTo>
                  <a:pt x="10" y="5"/>
                </a:lnTo>
                <a:lnTo>
                  <a:pt x="0" y="0"/>
                </a:lnTo>
              </a:path>
            </a:pathLst>
          </a:custGeom>
          <a:noFill/>
          <a:ln w="21335">
            <a:solidFill>
              <a:srgbClr val="7EB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7970519" y="5059679"/>
            <a:ext cx="2750819" cy="365759"/>
          </a:xfrm>
          <a:prstGeom prst="roundRect">
            <a:avLst>
              <a:gd name="adj" fmla="val 22916"/>
            </a:avLst>
          </a:prstGeom>
          <a:solidFill>
            <a:srgbClr val="FFF6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字｜进入本人确认集合"/>
          <p:cNvSpPr txBox="1"/>
          <p:nvPr/>
        </p:nvSpPr>
        <p:spPr>
          <a:xfrm>
            <a:off x="8481059" y="5152643"/>
            <a:ext cx="172211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进入本人确认集合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17219" y="5859779"/>
            <a:ext cx="10949939" cy="426719"/>
          </a:xfrm>
          <a:prstGeom prst="roundRect">
            <a:avLst>
              <a:gd name="adj" fmla="val 33928"/>
            </a:avLst>
          </a:prstGeom>
          <a:solidFill>
            <a:srgbClr val="EEF6FE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字｜异常与保护：待补充 / 审核中 / 可撤回 / 驳回重申 / 竞争认领；共同"/>
          <p:cNvSpPr txBox="1"/>
          <p:nvPr/>
        </p:nvSpPr>
        <p:spPr>
          <a:xfrm>
            <a:off x="792479" y="5998387"/>
            <a:ext cx="827149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00" b="0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异常与保护：待补充 / 审核中 / 可撤回 / 驳回重申 / 竞争认领；共同论文可分别认领，审核材料不公开。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9486899" y="-967739"/>
            <a:ext cx="3733799" cy="3733799"/>
          </a:xfrm>
          <a:prstGeom prst="ellipse">
            <a:avLst/>
          </a:prstGeom>
          <a:noFill/>
          <a:ln w="15239">
            <a:solidFill>
              <a:srgbClr val="B8D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9258299" y="-1158239"/>
            <a:ext cx="5562599" cy="5562599"/>
          </a:xfrm>
          <a:prstGeom prst="ellipse">
            <a:avLst/>
          </a:prstGeom>
          <a:noFill/>
          <a:ln w="13715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字｜科研主题趋势统计分析"/>
          <p:cNvSpPr txBox="1"/>
          <p:nvPr/>
        </p:nvSpPr>
        <p:spPr>
          <a:xfrm>
            <a:off x="640079" y="765886"/>
            <a:ext cx="5189219" cy="5285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0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科研主题趋势统计分析</a:t>
            </a:r>
          </a:p>
        </p:txBody>
      </p:sp>
      <p:sp>
        <p:nvSpPr>
          <p:cNvPr id="13" name="文字｜按去重成果数比较近年主题变化，解释覆盖率与收录范围"/>
          <p:cNvSpPr txBox="1"/>
          <p:nvPr/>
        </p:nvSpPr>
        <p:spPr>
          <a:xfrm>
            <a:off x="662939" y="1373504"/>
            <a:ext cx="632840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按去重成果数比较近年主题变化，解释覆盖率与收录范围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699" y="1722119"/>
            <a:ext cx="708659" cy="38099"/>
          </a:xfrm>
          <a:prstGeom prst="roundRect">
            <a:avLst>
              <a:gd name="adj" fmla="val 40000"/>
            </a:avLst>
          </a:prstGeom>
          <a:solidFill>
            <a:srgbClr val="ADD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字｜15 / 16"/>
          <p:cNvSpPr txBox="1"/>
          <p:nvPr/>
        </p:nvSpPr>
        <p:spPr>
          <a:xfrm>
            <a:off x="10815958" y="550087"/>
            <a:ext cx="713101" cy="196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15 / 16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</a:p>
        </p:txBody>
      </p:sp>
      <p:sp>
        <p:nvSpPr>
          <p:cNvPr id="18" name="文字｜15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8252459" y="2133599"/>
            <a:ext cx="3314699" cy="3383279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字｜统计口径"/>
          <p:cNvSpPr txBox="1"/>
          <p:nvPr/>
        </p:nvSpPr>
        <p:spPr>
          <a:xfrm>
            <a:off x="8534399" y="2280437"/>
            <a:ext cx="1207007" cy="2798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统计口径</a:t>
            </a:r>
          </a:p>
        </p:txBody>
      </p:sp>
      <p:sp>
        <p:nvSpPr>
          <p:cNvPr id="65" name="Oval 64"/>
          <p:cNvSpPr/>
          <p:nvPr/>
        </p:nvSpPr>
        <p:spPr>
          <a:xfrm>
            <a:off x="8488679" y="2674619"/>
            <a:ext cx="350519" cy="35051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6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429" y="2652369"/>
            <a:ext cx="395020" cy="395020"/>
          </a:xfrm>
          <a:prstGeom prst="rect">
            <a:avLst/>
          </a:prstGeom>
        </p:spPr>
      </p:pic>
      <p:sp>
        <p:nvSpPr>
          <p:cNvPr id="67" name="文字｜主题趋势"/>
          <p:cNvSpPr txBox="1"/>
          <p:nvPr/>
        </p:nvSpPr>
        <p:spPr>
          <a:xfrm>
            <a:off x="8938259" y="2668676"/>
            <a:ext cx="1008887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主题趋势</a:t>
            </a:r>
          </a:p>
        </p:txBody>
      </p:sp>
      <p:sp>
        <p:nvSpPr>
          <p:cNvPr id="68" name="文字｜年度去重成果数"/>
          <p:cNvSpPr txBox="1"/>
          <p:nvPr/>
        </p:nvSpPr>
        <p:spPr>
          <a:xfrm>
            <a:off x="8938259" y="2912211"/>
            <a:ext cx="1385315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年度去重成果数</a:t>
            </a:r>
          </a:p>
        </p:txBody>
      </p:sp>
      <p:sp>
        <p:nvSpPr>
          <p:cNvPr id="69" name="Oval 68"/>
          <p:cNvSpPr/>
          <p:nvPr/>
        </p:nvSpPr>
        <p:spPr>
          <a:xfrm>
            <a:off x="8488679" y="3307079"/>
            <a:ext cx="350519" cy="35051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0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429" y="3284829"/>
            <a:ext cx="395020" cy="395020"/>
          </a:xfrm>
          <a:prstGeom prst="rect">
            <a:avLst/>
          </a:prstGeom>
        </p:spPr>
      </p:pic>
      <p:sp>
        <p:nvSpPr>
          <p:cNvPr id="71" name="文字｜主题占比"/>
          <p:cNvSpPr txBox="1"/>
          <p:nvPr/>
        </p:nvSpPr>
        <p:spPr>
          <a:xfrm>
            <a:off x="8938259" y="3301136"/>
            <a:ext cx="1008887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主题占比</a:t>
            </a:r>
          </a:p>
        </p:txBody>
      </p:sp>
      <p:sp>
        <p:nvSpPr>
          <p:cNvPr id="72" name="文字｜主题成果数 / 有效成果数"/>
          <p:cNvSpPr txBox="1"/>
          <p:nvPr/>
        </p:nvSpPr>
        <p:spPr>
          <a:xfrm>
            <a:off x="8938259" y="3544671"/>
            <a:ext cx="2070068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主题成果数 / 有效成果数</a:t>
            </a:r>
          </a:p>
        </p:txBody>
      </p:sp>
      <p:sp>
        <p:nvSpPr>
          <p:cNvPr id="73" name="Oval 72"/>
          <p:cNvSpPr/>
          <p:nvPr/>
        </p:nvSpPr>
        <p:spPr>
          <a:xfrm>
            <a:off x="8488679" y="3939539"/>
            <a:ext cx="350519" cy="35051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4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6429" y="3917289"/>
            <a:ext cx="395020" cy="395020"/>
          </a:xfrm>
          <a:prstGeom prst="rect">
            <a:avLst/>
          </a:prstGeom>
        </p:spPr>
      </p:pic>
      <p:sp>
        <p:nvSpPr>
          <p:cNvPr id="75" name="文字｜覆盖率说明"/>
          <p:cNvSpPr txBox="1"/>
          <p:nvPr/>
        </p:nvSpPr>
        <p:spPr>
          <a:xfrm>
            <a:off x="8938259" y="3933596"/>
            <a:ext cx="1226819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覆盖率说明</a:t>
            </a:r>
          </a:p>
        </p:txBody>
      </p:sp>
      <p:sp>
        <p:nvSpPr>
          <p:cNvPr id="76" name="文字｜展示分母及文本覆盖率"/>
          <p:cNvSpPr txBox="1"/>
          <p:nvPr/>
        </p:nvSpPr>
        <p:spPr>
          <a:xfrm>
            <a:off x="8938259" y="4177131"/>
            <a:ext cx="1920239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展示分母及文本覆盖率</a:t>
            </a:r>
          </a:p>
        </p:txBody>
      </p:sp>
      <p:sp>
        <p:nvSpPr>
          <p:cNvPr id="77" name="Oval 76"/>
          <p:cNvSpPr/>
          <p:nvPr/>
        </p:nvSpPr>
        <p:spPr>
          <a:xfrm>
            <a:off x="8488679" y="4571999"/>
            <a:ext cx="350519" cy="35051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8" name="可移动独立图标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429" y="4549749"/>
            <a:ext cx="395020" cy="395020"/>
          </a:xfrm>
          <a:prstGeom prst="rect">
            <a:avLst/>
          </a:prstGeom>
        </p:spPr>
      </p:pic>
      <p:sp>
        <p:nvSpPr>
          <p:cNvPr id="79" name="文字｜结果解释"/>
          <p:cNvSpPr txBox="1"/>
          <p:nvPr/>
        </p:nvSpPr>
        <p:spPr>
          <a:xfrm>
            <a:off x="8938259" y="4566056"/>
            <a:ext cx="1008887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结果解释</a:t>
            </a:r>
          </a:p>
        </p:txBody>
      </p:sp>
      <p:sp>
        <p:nvSpPr>
          <p:cNvPr id="80" name="文字｜区分成果增长与收录增长"/>
          <p:cNvSpPr txBox="1"/>
          <p:nvPr/>
        </p:nvSpPr>
        <p:spPr>
          <a:xfrm>
            <a:off x="8938259" y="4809591"/>
            <a:ext cx="2098547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区分成果增长与收录增长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7219" y="5722619"/>
            <a:ext cx="10949939" cy="495299"/>
          </a:xfrm>
          <a:prstGeom prst="roundRect">
            <a:avLst>
              <a:gd name="adj" fmla="val 23076"/>
            </a:avLst>
          </a:prstGeom>
          <a:solidFill>
            <a:srgbClr val="EAF5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字｜统计原则"/>
          <p:cNvSpPr txBox="1"/>
          <p:nvPr/>
        </p:nvSpPr>
        <p:spPr>
          <a:xfrm>
            <a:off x="855977" y="5848958"/>
            <a:ext cx="92333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统计原则</a:t>
            </a:r>
          </a:p>
        </p:txBody>
      </p:sp>
      <p:sp>
        <p:nvSpPr>
          <p:cNvPr id="83" name="文字｜同一篇成果命中同一主题只计一次；统计区间与语料范围必须明确。"/>
          <p:cNvSpPr txBox="1"/>
          <p:nvPr/>
        </p:nvSpPr>
        <p:spPr>
          <a:xfrm>
            <a:off x="2200750" y="5865562"/>
            <a:ext cx="61555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00" b="0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同一篇成果命中同一主题只计一次；统计区间与语料范围必须明确。</a:t>
            </a:r>
          </a:p>
        </p:txBody>
      </p:sp>
      <p:sp>
        <p:nvSpPr>
          <p:cNvPr id="85" name="Rounded Rectangle 19"/>
          <p:cNvSpPr/>
          <p:nvPr/>
        </p:nvSpPr>
        <p:spPr>
          <a:xfrm>
            <a:off x="617219" y="2065019"/>
            <a:ext cx="7452359" cy="3398519"/>
          </a:xfrm>
          <a:prstGeom prst="roundRect">
            <a:avLst>
              <a:gd name="adj" fmla="val 4260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文字｜不同研究主题的成果数量趋势"/>
          <p:cNvSpPr txBox="1"/>
          <p:nvPr/>
        </p:nvSpPr>
        <p:spPr>
          <a:xfrm>
            <a:off x="922019" y="2219401"/>
            <a:ext cx="4663440" cy="269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1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arXiv 相关领域年度投稿量（篇）</a:t>
            </a:r>
          </a:p>
        </p:txBody>
      </p:sp>
      <p:graphicFrame>
        <p:nvGraphicFramePr>
          <p:cNvPr id="89" name="可编辑折线图｜arXiv真实年度投稿量（2021—2025）"/>
          <p:cNvGraphicFramePr>
            <a:graphicFrameLocks noGrp="1"/>
          </p:cNvGraphicFramePr>
          <p:nvPr/>
        </p:nvGraphicFramePr>
        <p:xfrm>
          <a:off x="987552" y="2874264"/>
          <a:ext cx="6739128" cy="2313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0" name="Oval 85"/>
          <p:cNvSpPr/>
          <p:nvPr/>
        </p:nvSpPr>
        <p:spPr>
          <a:xfrm>
            <a:off x="1161288" y="2663952"/>
            <a:ext cx="100584" cy="100584"/>
          </a:xfrm>
          <a:prstGeom prst="ellipse">
            <a:avLst/>
          </a:prstGeom>
          <a:solidFill>
            <a:srgbClr val="3179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TextBox 86"/>
          <p:cNvSpPr txBox="1"/>
          <p:nvPr/>
        </p:nvSpPr>
        <p:spPr>
          <a:xfrm>
            <a:off x="1316736" y="2604516"/>
            <a:ext cx="187451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0">
                <a:solidFill>
                  <a:srgbClr val="5C7086"/>
                </a:solidFill>
                <a:latin typeface="Noto Sans CJK SC"/>
              </a:defRPr>
            </a:pPr>
            <a:r>
              <a:rPr lang="zh-CN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人工智能 cs.AI</a:t>
            </a:r>
          </a:p>
        </p:txBody>
      </p:sp>
      <p:sp>
        <p:nvSpPr>
          <p:cNvPr id="92" name="Oval 87"/>
          <p:cNvSpPr/>
          <p:nvPr/>
        </p:nvSpPr>
        <p:spPr>
          <a:xfrm>
            <a:off x="3264408" y="2663952"/>
            <a:ext cx="100584" cy="100584"/>
          </a:xfrm>
          <a:prstGeom prst="ellipse">
            <a:avLst/>
          </a:prstGeom>
          <a:solidFill>
            <a:srgbClr val="ED9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TextBox 88"/>
          <p:cNvSpPr txBox="1"/>
          <p:nvPr/>
        </p:nvSpPr>
        <p:spPr>
          <a:xfrm>
            <a:off x="3419856" y="2604516"/>
            <a:ext cx="187451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0">
                <a:solidFill>
                  <a:srgbClr val="5C7086"/>
                </a:solidFill>
                <a:latin typeface="Noto Sans CJK SC"/>
              </a:defRPr>
            </a:pPr>
            <a:r>
              <a:rPr lang="zh-CN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机器学习 cs.LG</a:t>
            </a:r>
          </a:p>
        </p:txBody>
      </p:sp>
      <p:sp>
        <p:nvSpPr>
          <p:cNvPr id="94" name="Oval 89"/>
          <p:cNvSpPr/>
          <p:nvPr/>
        </p:nvSpPr>
        <p:spPr>
          <a:xfrm>
            <a:off x="5367528" y="2663952"/>
            <a:ext cx="100584" cy="100584"/>
          </a:xfrm>
          <a:prstGeom prst="ellipse">
            <a:avLst/>
          </a:prstGeom>
          <a:solidFill>
            <a:srgbClr val="139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noProof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TextBox 90"/>
          <p:cNvSpPr txBox="1"/>
          <p:nvPr/>
        </p:nvSpPr>
        <p:spPr>
          <a:xfrm>
            <a:off x="5522976" y="2604516"/>
            <a:ext cx="1874519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10">
                <a:solidFill>
                  <a:srgbClr val="5C7086"/>
                </a:solidFill>
                <a:latin typeface="Noto Sans CJK SC"/>
              </a:defRPr>
            </a:pPr>
            <a:r>
              <a:rPr lang="zh-CN" noProof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 cs.CL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6857999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80000">
                <a:srgbClr val="F7FAFE"/>
              </a:gs>
              <a:gs pos="100000">
                <a:srgbClr val="ECF5FE"/>
              </a:gs>
            </a:gsLst>
            <a:lin ang="315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8549640" y="0"/>
            <a:ext cx="3642360" cy="4000500"/>
          </a:xfrm>
          <a:custGeom>
            <a:avLst/>
            <a:gdLst/>
            <a:ahLst/>
            <a:cxnLst/>
            <a:rect l="l" t="t" r="r" b="b"/>
            <a:pathLst>
              <a:path w="478" h="525">
                <a:moveTo>
                  <a:pt x="478" y="0"/>
                </a:moveTo>
                <a:lnTo>
                  <a:pt x="58" y="0"/>
                </a:lnTo>
                <a:lnTo>
                  <a:pt x="41" y="24"/>
                </a:lnTo>
                <a:lnTo>
                  <a:pt x="27" y="49"/>
                </a:lnTo>
                <a:lnTo>
                  <a:pt x="16" y="73"/>
                </a:lnTo>
                <a:lnTo>
                  <a:pt x="8" y="97"/>
                </a:lnTo>
                <a:lnTo>
                  <a:pt x="3" y="121"/>
                </a:lnTo>
                <a:lnTo>
                  <a:pt x="0" y="144"/>
                </a:lnTo>
                <a:lnTo>
                  <a:pt x="0" y="167"/>
                </a:lnTo>
                <a:lnTo>
                  <a:pt x="3" y="190"/>
                </a:lnTo>
                <a:lnTo>
                  <a:pt x="8" y="212"/>
                </a:lnTo>
                <a:lnTo>
                  <a:pt x="15" y="234"/>
                </a:lnTo>
                <a:lnTo>
                  <a:pt x="24" y="255"/>
                </a:lnTo>
                <a:lnTo>
                  <a:pt x="36" y="276"/>
                </a:lnTo>
                <a:lnTo>
                  <a:pt x="49" y="295"/>
                </a:lnTo>
                <a:lnTo>
                  <a:pt x="63" y="314"/>
                </a:lnTo>
                <a:lnTo>
                  <a:pt x="80" y="333"/>
                </a:lnTo>
                <a:lnTo>
                  <a:pt x="98" y="350"/>
                </a:lnTo>
                <a:lnTo>
                  <a:pt x="128" y="371"/>
                </a:lnTo>
                <a:lnTo>
                  <a:pt x="157" y="388"/>
                </a:lnTo>
                <a:lnTo>
                  <a:pt x="185" y="402"/>
                </a:lnTo>
                <a:lnTo>
                  <a:pt x="212" y="413"/>
                </a:lnTo>
                <a:lnTo>
                  <a:pt x="239" y="422"/>
                </a:lnTo>
                <a:lnTo>
                  <a:pt x="265" y="429"/>
                </a:lnTo>
                <a:lnTo>
                  <a:pt x="290" y="434"/>
                </a:lnTo>
                <a:lnTo>
                  <a:pt x="314" y="439"/>
                </a:lnTo>
                <a:lnTo>
                  <a:pt x="338" y="444"/>
                </a:lnTo>
                <a:lnTo>
                  <a:pt x="360" y="450"/>
                </a:lnTo>
                <a:lnTo>
                  <a:pt x="382" y="456"/>
                </a:lnTo>
                <a:lnTo>
                  <a:pt x="403" y="465"/>
                </a:lnTo>
                <a:lnTo>
                  <a:pt x="423" y="475"/>
                </a:lnTo>
                <a:lnTo>
                  <a:pt x="442" y="488"/>
                </a:lnTo>
                <a:lnTo>
                  <a:pt x="461" y="505"/>
                </a:lnTo>
                <a:lnTo>
                  <a:pt x="478" y="525"/>
                </a:lnTo>
                <a:lnTo>
                  <a:pt x="478" y="0"/>
                </a:lnTo>
                <a:close/>
              </a:path>
            </a:pathLst>
          </a:custGeom>
          <a:solidFill>
            <a:srgbClr val="EAF5FE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Oval 3"/>
          <p:cNvSpPr/>
          <p:nvPr/>
        </p:nvSpPr>
        <p:spPr>
          <a:xfrm>
            <a:off x="9486899" y="-967739"/>
            <a:ext cx="3733799" cy="3733799"/>
          </a:xfrm>
          <a:prstGeom prst="ellipse">
            <a:avLst/>
          </a:prstGeom>
          <a:noFill/>
          <a:ln w="15239">
            <a:solidFill>
              <a:srgbClr val="B8DF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Oval 4"/>
          <p:cNvSpPr/>
          <p:nvPr/>
        </p:nvSpPr>
        <p:spPr>
          <a:xfrm>
            <a:off x="9258299" y="-1158239"/>
            <a:ext cx="5562599" cy="5562599"/>
          </a:xfrm>
          <a:prstGeom prst="ellipse">
            <a:avLst/>
          </a:prstGeom>
          <a:noFill/>
          <a:ln w="13715">
            <a:solidFill>
              <a:srgbClr val="C8E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020299" y="365759"/>
            <a:ext cx="121919" cy="12191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52859" y="2689859"/>
            <a:ext cx="106679" cy="10667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12085319" y="868679"/>
            <a:ext cx="91439" cy="9143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0553699" y="2065019"/>
            <a:ext cx="76199" cy="76199"/>
          </a:xfrm>
          <a:prstGeom prst="ellipse">
            <a:avLst/>
          </a:prstGeom>
          <a:solidFill>
            <a:srgbClr val="48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4839" y="441959"/>
            <a:ext cx="411479" cy="53339"/>
          </a:xfrm>
          <a:prstGeom prst="roundRect">
            <a:avLst>
              <a:gd name="adj" fmla="val 50000"/>
            </a:avLst>
          </a:prstGeom>
          <a:solidFill>
            <a:srgbClr val="0E3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66799" y="441959"/>
            <a:ext cx="380999" cy="53339"/>
          </a:xfrm>
          <a:prstGeom prst="roundRect">
            <a:avLst>
              <a:gd name="adj" fmla="val 50000"/>
            </a:avLst>
          </a:prstGeom>
          <a:solidFill>
            <a:srgbClr val="E69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7219" y="6370319"/>
            <a:ext cx="10949940" cy="0"/>
          </a:xfrm>
          <a:prstGeom prst="line">
            <a:avLst/>
          </a:prstGeom>
          <a:ln w="11429">
            <a:solidFill>
              <a:srgbClr val="D2E2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字｜学术成果分享平台   /   系统分析与设计"/>
          <p:cNvSpPr txBox="1"/>
          <p:nvPr/>
        </p:nvSpPr>
        <p:spPr>
          <a:xfrm>
            <a:off x="640079" y="6463131"/>
            <a:ext cx="3121342" cy="1865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  /   系统分析与设计</a:t>
            </a:r>
          </a:p>
        </p:txBody>
      </p:sp>
      <p:sp>
        <p:nvSpPr>
          <p:cNvPr id="14" name="文字｜16"/>
          <p:cNvSpPr txBox="1"/>
          <p:nvPr/>
        </p:nvSpPr>
        <p:spPr>
          <a:xfrm>
            <a:off x="11225450" y="6448043"/>
            <a:ext cx="356949" cy="20726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315699" y="6675119"/>
            <a:ext cx="274319" cy="30479"/>
          </a:xfrm>
          <a:prstGeom prst="roundRect">
            <a:avLst>
              <a:gd name="adj" fmla="val 50000"/>
            </a:avLst>
          </a:prstGeom>
          <a:solidFill>
            <a:srgbClr val="3279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876799" y="1295399"/>
            <a:ext cx="2545079" cy="2545079"/>
          </a:xfrm>
          <a:prstGeom prst="ellipse">
            <a:avLst/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5219699" y="1638299"/>
            <a:ext cx="1859279" cy="1859279"/>
          </a:xfrm>
          <a:prstGeom prst="ellipse">
            <a:avLst/>
          </a:prstGeom>
          <a:solidFill>
            <a:srgbClr val="D9E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可移动独立图标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947" y="1717547"/>
            <a:ext cx="1700783" cy="1700783"/>
          </a:xfrm>
          <a:prstGeom prst="rect">
            <a:avLst/>
          </a:prstGeom>
        </p:spPr>
      </p:pic>
      <p:sp>
        <p:nvSpPr>
          <p:cNvPr id="19" name="文字｜感谢聆听"/>
          <p:cNvSpPr txBox="1"/>
          <p:nvPr/>
        </p:nvSpPr>
        <p:spPr>
          <a:xfrm>
            <a:off x="4442459" y="3686555"/>
            <a:ext cx="3307079" cy="829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感谢聆听</a:t>
            </a:r>
          </a:p>
        </p:txBody>
      </p:sp>
      <p:sp>
        <p:nvSpPr>
          <p:cNvPr id="20" name="文字｜学术成果分享平台 · 项目方案汇报"/>
          <p:cNvSpPr txBox="1"/>
          <p:nvPr/>
        </p:nvSpPr>
        <p:spPr>
          <a:xfrm>
            <a:off x="3797254" y="4528565"/>
            <a:ext cx="4597491" cy="31089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学术成果分享平台 · 项目方案汇报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68239" y="4914899"/>
            <a:ext cx="2255519" cy="38099"/>
          </a:xfrm>
          <a:prstGeom prst="roundRect">
            <a:avLst>
              <a:gd name="adj" fmla="val 50000"/>
            </a:avLst>
          </a:prstGeom>
          <a:solidFill>
            <a:srgbClr val="9FC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2705099" y="5295899"/>
            <a:ext cx="207263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2941319" y="5440679"/>
            <a:ext cx="411479" cy="411479"/>
          </a:xfrm>
          <a:prstGeom prst="ellipse">
            <a:avLst/>
          </a:prstGeom>
          <a:solidFill>
            <a:srgbClr val="E5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" name="可移动独立图标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9549" y="5448909"/>
            <a:ext cx="395020" cy="395020"/>
          </a:xfrm>
          <a:prstGeom prst="rect">
            <a:avLst/>
          </a:prstGeom>
        </p:spPr>
      </p:pic>
      <p:sp>
        <p:nvSpPr>
          <p:cNvPr id="25" name="文字｜统一检索"/>
          <p:cNvSpPr txBox="1"/>
          <p:nvPr/>
        </p:nvSpPr>
        <p:spPr>
          <a:xfrm>
            <a:off x="3482339" y="551116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统一检索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7299" y="5295899"/>
            <a:ext cx="207263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5303519" y="5440679"/>
            <a:ext cx="411479" cy="411479"/>
          </a:xfrm>
          <a:prstGeom prst="ellipse">
            <a:avLst/>
          </a:prstGeom>
          <a:solidFill>
            <a:srgbClr val="E5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" name="可移动独立图标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749" y="5448909"/>
            <a:ext cx="395020" cy="395020"/>
          </a:xfrm>
          <a:prstGeom prst="rect">
            <a:avLst/>
          </a:prstGeom>
        </p:spPr>
      </p:pic>
      <p:sp>
        <p:nvSpPr>
          <p:cNvPr id="29" name="文字｜可信认领"/>
          <p:cNvSpPr txBox="1"/>
          <p:nvPr/>
        </p:nvSpPr>
        <p:spPr>
          <a:xfrm>
            <a:off x="5844539" y="551116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可信认领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29499" y="5295899"/>
            <a:ext cx="2072639" cy="701039"/>
          </a:xfrm>
          <a:prstGeom prst="roundRect">
            <a:avLst>
              <a:gd name="adj" fmla="val 20652"/>
            </a:avLst>
          </a:prstGeom>
          <a:solidFill>
            <a:srgbClr val="FFFFFF"/>
          </a:solidFill>
          <a:ln w="7619">
            <a:solidFill>
              <a:srgbClr val="D8E7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665719" y="5440679"/>
            <a:ext cx="411479" cy="411479"/>
          </a:xfrm>
          <a:prstGeom prst="ellipse">
            <a:avLst/>
          </a:prstGeom>
          <a:solidFill>
            <a:srgbClr val="FF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" name="可移动独立图标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949" y="5448909"/>
            <a:ext cx="395020" cy="395020"/>
          </a:xfrm>
          <a:prstGeom prst="rect">
            <a:avLst/>
          </a:prstGeom>
        </p:spPr>
      </p:pic>
      <p:sp>
        <p:nvSpPr>
          <p:cNvPr id="33" name="文字｜持续治理"/>
          <p:cNvSpPr txBox="1"/>
          <p:nvPr/>
        </p:nvSpPr>
        <p:spPr>
          <a:xfrm>
            <a:off x="8206739" y="5511164"/>
            <a:ext cx="1127759" cy="2590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持续治理</a:t>
            </a:r>
          </a:p>
        </p:txBody>
      </p:sp>
      <p:sp>
        <p:nvSpPr>
          <p:cNvPr id="34" name="文字｜让学术成果更易发现、准确归属、有效分析"/>
          <p:cNvSpPr txBox="1"/>
          <p:nvPr/>
        </p:nvSpPr>
        <p:spPr>
          <a:xfrm>
            <a:off x="3957065" y="6074816"/>
            <a:ext cx="4277867" cy="2279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让学术成果更易发现、准确归属、有效分析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7.59992125984246,&quot;left&quot;:49.19992125984252,&quot;top&quot;:162.59992125984252,&quot;width&quot;:866.399921259842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2064</Words>
  <Application>Microsoft Office PowerPoint</Application>
  <PresentationFormat>宽屏</PresentationFormat>
  <Paragraphs>381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0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学术成果分享平台｜高自由度可编辑16页PPT</dc:title>
  <dc:subject>由SVG拆解的原生文字、形状、连线、独立图标</dc:subject>
  <dc:creator>OpenAI</dc:creator>
  <dc:description>generated using python-pptx</dc:description>
  <cp:lastModifiedBy>昂旺 昌</cp:lastModifiedBy>
  <cp:revision>45</cp:revision>
  <dcterms:created xsi:type="dcterms:W3CDTF">2013-01-27T09:14:00Z</dcterms:created>
  <dcterms:modified xsi:type="dcterms:W3CDTF">2026-10-10T10:02:47Z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6946183A54274C90873BB9F7CAD959FC_12</vt:lpwstr>
  </property>
  <property fmtid="{D5CDD505-2E9C-101B-9397-08002B2CF9AE}" pid="3" name="KSOProductBuildVer">
    <vt:lpwstr>2052-12.1.0.28505</vt:lpwstr>
  </property>
</Properties>
</file>