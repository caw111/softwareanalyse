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们汇报的项目是学术成果分享平台。本次汇报介绍系统整体设计方案，重点包括多源数据治理、统一成果建模、检索排序、门户认领及统计分析。本次内容为设计方案，不代表实际系统已经完成编码与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调研发现平台建设首先要解决数据治理问题。不同来源会收录同一成果，并产生字段差异。同名学者也可能被错误合并，学者当前机构和历史论文署名机构并不一致。因此设计围绕数据获取、重复识别、身份确认、管理授权以及正确统计五项需求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服务普通用户、科研人员和管理员三类角色。普通用户可以检索成果，科研人员完成认领后可以维护个人门户，管理员负责采集与审核。四类成果共用公共属性，但分别具有不同的业务标识和关系，因此采用统一成果模型加类型扩展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竞品选择上，我们重点研究两个差异明显的平台。OpenAlex代表开放学术数据平台，优势是数据开放、结构化接口丰富，便于快速形成基础成果库；但自动消歧仍需要核查，也没有完整的门户管理审核闭环。知网学者则在中文学术成果、学者实名认领及成果归属校准上具有优势；其局限在于主要围绕论文和相对封闭的数据生态。两者表明本平台需要同时考虑数据开放性和身份可信性。上述判断来自本组需求调研报告的相关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采用按职责划分的逻辑服务，由一个HTTP服务和独立Worker完成初期部署。采集与ETL耗时较长，所以异步运行并记录任务状态。PostgreSQL保存主数据，Elasticsearch负责公开搜索。数据库修改后从固定快照构建新检索版本，验证通过再发布，避免请求内直接双写造成不一致。技术选型仍属于课程实现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统一Work保存成果公共字段，论文、专利、项目和奖励各用一个扩展表。WorkPerson保存学者对成果的贡献关系、角色及顺序。必须分开保存人物当前任职与具体成果署名机构，防止历史归属错误。Person表示科研人员实体，Account负责认证，PortalBinding代表当前有效管理授权。来源记录和原始版本与规范成果分离，以便多个来源指向同一Wor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四类来源分别建立适配器，输出统一来源结构。每条原始记录保存来源key、内容校验值和规则版本。处理时必须先持久化一页数据，再提交下一页检查点，崩溃重复获取时依赖hash和唯一约束保障幂等。采集任务有六种状态；采集成功不等同于ETL已结束或已发布。专利、项目、获奖接入仍需验证许可与实际可获取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清洗不仅是删空格，而是固定的规范化流程。DOI需要去前缀和小写，项目编号必须保留前导零，年份不伪造月日。引用次数为0与未知必须区分，分别使用known 0与missing NULL。缺少题名或无法识别成果类型的记录隔离，缺摘要或DOI可以保留合法基础记录。原始值、展示值和比较键独立保存。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先按规范DOI查找强标识，其他情况通过题名等召回候选并计算五维加权分数。若题名0.98，作者年份和出版物均完全一致、页码缺失，得到0.939，在充分证据和无硬冲突情况下可自动合并。只有相同题名时为0.55，不能自动合并。两个合法但不同的DOI会阻断自动模糊合并。专利用公开文献键，项目使用资助机构加编号，获奖使用完整复合键。阈值尚未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位陈宁虽然姓名相同，但机构、共同作者和研究主题不同，示例评分0.365，应保留不同Person。ORCID校验分格式有效、可信来源明确关联和申请人认证控制三层，只有格式正确无法证明账号本人身份。机构变动保存历史记录，旧论文按照发表署名关系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篇论文在不同平台可能存在不同题名、作者顺序与引用次数。去重后仍需要逐字段选择主值，而不是用某个平台整条覆盖。人工确认并锁定的值优先；出版字段按来源优先级处理；引用次数按来源保存。关键字段冲突创建复核任务，保留候选来源、规则版本、人员结论和审计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询支持关键词、人员、机构、类型及年份过滤。跨维度AND，同维度多选OR。某论文包含A01且另一位作者属于I01，不意味着A01本人署名I01，所以贡献关系用nested查询。论文采用文本80%、引用10%、时效5%、完整度5%评分，BM25原始分必须归一化。查询固定release版本，详情和统计继续使用同一版本。R01和R04来自模拟测试样例，并非系统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注册后不能直接管理Person。提交证明材料后，申请进入待审核、审核中、待补充或通过驳回等状态。审核通过必须在一个事务中锁定申请、账号和学者，检查当前绑定，写入PortalBinding、申请通过状态和审计。账号端和人物端各设有效绑定唯一索引，保证两个账号同时认领时最多一条成功。简介可本人维护，公共DOI等进入纠错审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统计都基于固定release下去重的work_id集合。机构统计采用全计数，R06同时署名I01和I03，所以独立论文8篇而机构合计9次，必须显示口径。创新功能采用共著网络：节点Person，边权为独立共同论文数。A01和A03有三篇共同论文，A03到A04经A01的最短路径为两跳。BFS基于完整筛选图执行，点击边可以看对应论文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明确预期的小样例验证业务语义，再使用万条规范成果测试规模及性能。原测试数据15条来源，R04B归并后14项，基础范围排除申请公开PT02后13项。清洗99%、去重98%、作者合并97%来自SPEC目标，需要人工标注集验证，还要报告漏合并。测试还覆盖Worker崩溃、并发认领、发布失败和查询异常。目前不宣称这些测试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方案建立统一成果数据模型，明确采集更新、规范化清洗、去重消歧、检索排序以及门户认领和统计创新的具体规则。下一步首先评审并更新SRS和SPEC，随后开发数据采集到检索的完整链路，集成门户统计，再形成可复现的质量、性能和故障测试证据。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68680" y="104241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81B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SOFTWARE SYSTEM ANALYSIS &amp; DESIGN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1938528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868680" y="2889504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D7E4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详细设计与实现方案汇报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96112" y="3813048"/>
            <a:ext cx="7242048" cy="0"/>
          </a:xfrm>
          <a:prstGeom prst="line">
            <a:avLst/>
          </a:prstGeom>
          <a:noFill/>
          <a:ln w="25400">
            <a:solidFill>
              <a:srgbClr val="607898"/>
            </a:solidFill>
            <a:prstDash val="solid"/>
            <a:headEnd type="none"/>
          </a:ln>
        </p:spPr>
      </p:sp>
      <p:sp>
        <p:nvSpPr>
          <p:cNvPr id="7" name="Text 5"/>
          <p:cNvSpPr/>
          <p:nvPr/>
        </p:nvSpPr>
        <p:spPr>
          <a:xfrm>
            <a:off x="914400" y="409651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7E4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多源数据治理   ·   统一成果建模   ·   智能检索   ·   学者门户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6B9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《软件系统分析与设计》课程实践（一）  |  2026年10月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项目背景：学术成果数据存在四类核心问题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257800" cy="1691640"/>
          </a:xfrm>
          <a:prstGeom prst="roundRect">
            <a:avLst>
              <a:gd name="adj" fmla="val 702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8366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267712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数据来源分散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2688336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论文、专利、科研项目与获奖数据分布在不同平台。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700784"/>
            <a:ext cx="5257800" cy="1691640"/>
          </a:xfrm>
          <a:prstGeom prst="roundRect">
            <a:avLst>
              <a:gd name="adj" fmla="val 702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8366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267712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重复与字段冲突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688336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同一成果存在多个来源；题名、作者与时间等字段可能不一致。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5257800" cy="1691640"/>
          </a:xfrm>
          <a:prstGeom prst="roundRect">
            <a:avLst>
              <a:gd name="adj" fmla="val 702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40480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4224528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学者身份歧义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464515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同名作者、跨机构任职与历史署名产生归属风险。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6208" y="3657600"/>
            <a:ext cx="5257800" cy="1691640"/>
          </a:xfrm>
          <a:prstGeom prst="roundRect">
            <a:avLst>
              <a:gd name="adj" fmla="val 702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224528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管理与分析约束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4645152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门户认领需要审核；统计结果需要有可解释的口径。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870448"/>
            <a:ext cx="10835640" cy="402336"/>
          </a:xfrm>
          <a:prstGeom prst="roundRect">
            <a:avLst>
              <a:gd name="adj" fmla="val 2954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916168"/>
            <a:ext cx="10469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设计目标：建立可追踪、可治理、可检索的统一学术成果数据体系。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需求分析：三类用户与四类成果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3465576" cy="2304288"/>
          </a:xfrm>
          <a:prstGeom prst="roundRect">
            <a:avLst>
              <a:gd name="adj" fmla="val 515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20240"/>
            <a:ext cx="30815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普通用户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404872"/>
            <a:ext cx="3054096" cy="1527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成果检索与详情查看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学者门户浏览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统计分析与合作网络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1709928"/>
            <a:ext cx="3465576" cy="2304288"/>
          </a:xfrm>
          <a:prstGeom prst="roundRect">
            <a:avLst>
              <a:gd name="adj" fmla="val 515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20240"/>
            <a:ext cx="30815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科研人员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404872"/>
            <a:ext cx="3054096" cy="1527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门户认领与进度查询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维护个人简介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申请成果归属纠错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37576" y="1709928"/>
            <a:ext cx="3465576" cy="2304288"/>
          </a:xfrm>
          <a:prstGeom prst="roundRect">
            <a:avLst>
              <a:gd name="adj" fmla="val 515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920240"/>
            <a:ext cx="30815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平台管理员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47888" y="2404872"/>
            <a:ext cx="3054096" cy="1527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采集任务管理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认领与数据审核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分类维护与质量治理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" y="4379976"/>
            <a:ext cx="91440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统一管理四类科研成果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5800" y="4956048"/>
            <a:ext cx="2587752" cy="685800"/>
          </a:xfrm>
          <a:prstGeom prst="roundRect">
            <a:avLst>
              <a:gd name="adj" fmla="val 1733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74336"/>
            <a:ext cx="2441448" cy="6492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学术论文 / Paper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47288" y="4956048"/>
            <a:ext cx="2587752" cy="685800"/>
          </a:xfrm>
          <a:prstGeom prst="roundRect">
            <a:avLst>
              <a:gd name="adj" fmla="val 1733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4974336"/>
            <a:ext cx="2441448" cy="6492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授权专利 / Patent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08776" y="4956048"/>
            <a:ext cx="2587752" cy="685800"/>
          </a:xfrm>
          <a:prstGeom prst="roundRect">
            <a:avLst>
              <a:gd name="adj" fmla="val 1733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4974336"/>
            <a:ext cx="2441448" cy="6492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科研项目 / Project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70264" y="4956048"/>
            <a:ext cx="2587752" cy="685800"/>
          </a:xfrm>
          <a:prstGeom prst="roundRect">
            <a:avLst>
              <a:gd name="adj" fmla="val 1733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3416" y="4974336"/>
            <a:ext cx="2441448" cy="6492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科研获奖 / Award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65176"/>
            <a:ext cx="10058400" cy="2468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563EB"/>
                </a:solidFill>
                <a:latin typeface="微软雅黑" panose="020B0503020204020204" pitchFamily="34" charset="-122"/>
              </a:defRPr>
            </a:pPr>
            <a:r>
              <a:t>COMPETITOR ANALYSIS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64240" cy="6583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典型竞品分析：OpenAlex 与知网学者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99032"/>
            <a:ext cx="1101852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28816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75569"/>
                </a:solidFill>
                <a:latin typeface="微软雅黑" panose="020B0503020204020204" pitchFamily="34" charset="-122"/>
              </a:defRPr>
            </a:pPr>
            <a:r>
              <a:t>学术成果分享平台  ·  详细设计方案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972800" cy="34747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475569"/>
                </a:solidFill>
                <a:latin typeface="微软雅黑" panose="020B0503020204020204" pitchFamily="34" charset="-122"/>
              </a:defRPr>
            </a:pPr>
            <a:r>
              <a:t>选型依据：分别代表“开放数据聚合”和“科研人员成果认领”两条成熟路线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084831"/>
            <a:ext cx="5486400" cy="31821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5138928" cy="33832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563EB"/>
                </a:solidFill>
                <a:latin typeface="微软雅黑" panose="020B0503020204020204" pitchFamily="34" charset="-122"/>
              </a:defRPr>
            </a:pPr>
            <a:r>
              <a:t>OpenAlex｜开放学术目录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724911"/>
            <a:ext cx="5074920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优势：开放元数据、API与批量数据支持多源汇聚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438144"/>
            <a:ext cx="5074920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优势：学者、机构和主题关联丰富，便于自动分类与消歧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4151376"/>
            <a:ext cx="5074920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局限：自动消歧仍可能误归属，需要外部核查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4864608"/>
            <a:ext cx="5074920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局限：缺少完整的门户认领审核与主动学术社交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84831"/>
            <a:ext cx="5340096" cy="318211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258568"/>
            <a:ext cx="4992624" cy="33832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D9488"/>
                </a:solidFill>
                <a:latin typeface="微软雅黑" panose="020B0503020204020204" pitchFamily="34" charset="-122"/>
              </a:defRPr>
            </a:pPr>
            <a:r>
              <a:t>知网学者｜成果认领与归属校准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724911"/>
            <a:ext cx="4928616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优势：中文论文资源与国内科研场景适配性强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438144"/>
            <a:ext cx="4928616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优势：实名认证、成果认领、智能推荐及人工校准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151376"/>
            <a:ext cx="4928616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局限：成果重点仍为论文，跨类型与外文整合较弱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864608"/>
            <a:ext cx="4928616" cy="58521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  <a:latin typeface="微软雅黑" panose="020B0503020204020204" pitchFamily="34" charset="-122"/>
              </a:defRPr>
            </a:pPr>
            <a:r>
              <a:t>• 局限：数据相对封闭，机构数据库存在授权限制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04688"/>
            <a:ext cx="10899648" cy="557784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605272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563EB"/>
                </a:solidFill>
                <a:latin typeface="微软雅黑" panose="020B0503020204020204" pitchFamily="34" charset="-122"/>
              </a:defRPr>
            </a:pPr>
            <a:r>
              <a:t>结论：开放覆盖提高起始数据规模，人工核验与归属校准提高学者档案可信度。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6510528"/>
            <a:ext cx="1033271" cy="25603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475569"/>
                </a:solidFill>
                <a:latin typeface="微软雅黑" panose="020B0503020204020204" pitchFamily="34" charset="-122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总体架构：分层服务与异步数据处理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09344"/>
            <a:ext cx="9692640" cy="502920"/>
          </a:xfrm>
          <a:prstGeom prst="roundRect">
            <a:avLst>
              <a:gd name="adj" fmla="val 2363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7592" y="1627632"/>
            <a:ext cx="9546336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展现层：检索 / 门户 / 统计 / 后台管理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0" cy="33832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34440" y="2532888"/>
            <a:ext cx="9692640" cy="530352"/>
          </a:xfrm>
          <a:prstGeom prst="roundRect">
            <a:avLst>
              <a:gd name="adj" fmla="val 224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551176"/>
            <a:ext cx="954633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业务服务：认证 / 检索 / 门户认领 / 统计 / 管理后台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3090672"/>
            <a:ext cx="0" cy="29260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34440" y="3419856"/>
            <a:ext cx="4617720" cy="612648"/>
          </a:xfrm>
          <a:prstGeom prst="roundRect">
            <a:avLst>
              <a:gd name="adj" fmla="val 1940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438144"/>
            <a:ext cx="44714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PostgreSQL：规范化主数据与任务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5352" y="3419856"/>
            <a:ext cx="4681728" cy="612648"/>
          </a:xfrm>
          <a:prstGeom prst="roundRect">
            <a:avLst>
              <a:gd name="adj" fmla="val 1940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3438144"/>
            <a:ext cx="4535424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Elasticsearch：公开只读检索索引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0760" y="4105656"/>
            <a:ext cx="0" cy="29260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34440" y="4443984"/>
            <a:ext cx="9692640" cy="557784"/>
          </a:xfrm>
          <a:prstGeom prst="roundRect">
            <a:avLst>
              <a:gd name="adj" fmla="val 21311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4462272"/>
            <a:ext cx="9546336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 Worker：采集 / 清洗 / 去重消歧 / 版本发布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5038344"/>
            <a:ext cx="0" cy="283464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234440" y="5358384"/>
            <a:ext cx="9692640" cy="530352"/>
          </a:xfrm>
          <a:prstGeom prst="roundRect">
            <a:avLst>
              <a:gd name="adj" fmla="val 2241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5376672"/>
            <a:ext cx="954633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外部来源：OpenAlex / DBLP / Crossref / 官方公告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数据模型：统一成果主表与关联实体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63240" y="1627632"/>
            <a:ext cx="6126480" cy="640080"/>
          </a:xfrm>
          <a:prstGeom prst="roundRect">
            <a:avLst>
              <a:gd name="adj" fmla="val 18571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1645920"/>
            <a:ext cx="5980176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Work：ID / 标题 / 类型 / 业务年度 / 来源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0" cy="30175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</a:ln>
        </p:spPr>
      </p:sp>
      <p:sp>
        <p:nvSpPr>
          <p:cNvPr id="11" name="Shape 9"/>
          <p:cNvSpPr/>
          <p:nvPr/>
        </p:nvSpPr>
        <p:spPr>
          <a:xfrm>
            <a:off x="1965960" y="2593975"/>
            <a:ext cx="8410575" cy="635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</a:ln>
        </p:spPr>
      </p:sp>
      <p:sp>
        <p:nvSpPr>
          <p:cNvPr id="12" name="Shape 10"/>
          <p:cNvSpPr/>
          <p:nvPr/>
        </p:nvSpPr>
        <p:spPr>
          <a:xfrm>
            <a:off x="1965960" y="2587752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</a:ln>
        </p:spPr>
      </p:sp>
      <p:sp>
        <p:nvSpPr>
          <p:cNvPr id="13" name="Shape 11"/>
          <p:cNvSpPr/>
          <p:nvPr/>
        </p:nvSpPr>
        <p:spPr>
          <a:xfrm>
            <a:off x="685800" y="2825496"/>
            <a:ext cx="2606040" cy="621792"/>
          </a:xfrm>
          <a:prstGeom prst="roundRect">
            <a:avLst>
              <a:gd name="adj" fmla="val 19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843784"/>
            <a:ext cx="245973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Paper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64024" y="2587752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</a:ln>
        </p:spPr>
      </p:sp>
      <p:sp>
        <p:nvSpPr>
          <p:cNvPr id="16" name="Shape 14"/>
          <p:cNvSpPr/>
          <p:nvPr/>
        </p:nvSpPr>
        <p:spPr>
          <a:xfrm>
            <a:off x="3483864" y="2825496"/>
            <a:ext cx="2606040" cy="621792"/>
          </a:xfrm>
          <a:prstGeom prst="roundRect">
            <a:avLst>
              <a:gd name="adj" fmla="val 19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7016" y="2843784"/>
            <a:ext cx="245973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PatentPublication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62088" y="2587752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</a:ln>
        </p:spPr>
      </p:sp>
      <p:sp>
        <p:nvSpPr>
          <p:cNvPr id="19" name="Shape 17"/>
          <p:cNvSpPr/>
          <p:nvPr/>
        </p:nvSpPr>
        <p:spPr>
          <a:xfrm>
            <a:off x="6281928" y="2825496"/>
            <a:ext cx="2606040" cy="621792"/>
          </a:xfrm>
          <a:prstGeom prst="roundRect">
            <a:avLst>
              <a:gd name="adj" fmla="val 19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843784"/>
            <a:ext cx="245973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60152" y="2587752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>
            <a:off x="9079992" y="2825496"/>
            <a:ext cx="2606040" cy="621792"/>
          </a:xfrm>
          <a:prstGeom prst="roundRect">
            <a:avLst>
              <a:gd name="adj" fmla="val 1911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2843784"/>
            <a:ext cx="245973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Award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" y="3785616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关系模型核心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13232" y="4343400"/>
            <a:ext cx="1920240" cy="640080"/>
          </a:xfrm>
          <a:prstGeom prst="roundRect">
            <a:avLst>
              <a:gd name="adj" fmla="val 18571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361688"/>
            <a:ext cx="1773936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Person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54680" y="4306824"/>
            <a:ext cx="2432304" cy="731520"/>
          </a:xfrm>
          <a:prstGeom prst="roundRect">
            <a:avLst>
              <a:gd name="adj" fmla="val 162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4325112"/>
            <a:ext cx="228600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WorkPerson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 / 顺序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08192" y="4343400"/>
            <a:ext cx="1883664" cy="640080"/>
          </a:xfrm>
          <a:prstGeom prst="roundRect">
            <a:avLst>
              <a:gd name="adj" fmla="val 18571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4361688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51760" y="4663440"/>
            <a:ext cx="47548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77840" y="4663440"/>
            <a:ext cx="50292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330184" y="4297680"/>
            <a:ext cx="1325880" cy="640080"/>
          </a:xfrm>
          <a:prstGeom prst="roundRect">
            <a:avLst>
              <a:gd name="adj" fmla="val 1857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4315968"/>
            <a:ext cx="1179576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Account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84080" y="4297680"/>
            <a:ext cx="1645920" cy="640080"/>
          </a:xfrm>
          <a:prstGeom prst="roundRect">
            <a:avLst>
              <a:gd name="adj" fmla="val 18571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57232" y="4315968"/>
            <a:ext cx="1499616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PortalBinding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" y="5449824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另设：机构任职历史、成果署名机构、来源记录与原始版本。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INGESTION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多源采集：可恢复、幂等、可追踪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2578608" cy="640080"/>
          </a:xfrm>
          <a:prstGeom prst="roundRect">
            <a:avLst>
              <a:gd name="adj" fmla="val 18571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7282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论文：OpenAlex / DBLP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6432" y="1709928"/>
            <a:ext cx="2578608" cy="640080"/>
          </a:xfrm>
          <a:prstGeom prst="roundRect">
            <a:avLst>
              <a:gd name="adj" fmla="val 1857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7282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专利：CNIPA / EPO候选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7064" y="1709928"/>
            <a:ext cx="2578608" cy="640080"/>
          </a:xfrm>
          <a:prstGeom prst="roundRect">
            <a:avLst>
              <a:gd name="adj" fmla="val 18571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17282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项目：NSFC / 公开公告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7696" y="1709928"/>
            <a:ext cx="2578608" cy="640080"/>
          </a:xfrm>
          <a:prstGeom prst="roundRect">
            <a:avLst>
              <a:gd name="adj" fmla="val 1857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172821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获奖：官方授奖公告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9048" y="2368296"/>
            <a:ext cx="0" cy="32004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94560" y="2724912"/>
            <a:ext cx="7818120" cy="576072"/>
          </a:xfrm>
          <a:prstGeom prst="roundRect">
            <a:avLst>
              <a:gd name="adj" fmla="val 20635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7712" y="2743200"/>
            <a:ext cx="7671816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来源适配器：fetch_page() / parse()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9048" y="3319272"/>
            <a:ext cx="0" cy="29260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4560" y="3657600"/>
            <a:ext cx="7818120" cy="603504"/>
          </a:xfrm>
          <a:prstGeom prst="roundRect">
            <a:avLst>
              <a:gd name="adj" fmla="val 19697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3675888"/>
            <a:ext cx="7671816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 raw_record + source_record + checksum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9048" y="4288536"/>
            <a:ext cx="0" cy="26517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94560" y="4590288"/>
            <a:ext cx="7818120" cy="585216"/>
          </a:xfrm>
          <a:prstGeom prst="roundRect">
            <a:avLst>
              <a:gd name="adj" fmla="val 2031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4608576"/>
            <a:ext cx="767181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事务提交检查点 → ETL处理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5870448"/>
            <a:ext cx="10835640" cy="402336"/>
          </a:xfrm>
          <a:prstGeom prst="roundRect">
            <a:avLst>
              <a:gd name="adj" fmla="val 2954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916168"/>
            <a:ext cx="10469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状态机：待执行 → 运行中 → 成功 / 失败 / 已停止；失败 → 重试 → 运行中。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数据清洗：原值、比较值与缺失状态分离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10698480" cy="475488"/>
          </a:xfrm>
          <a:prstGeom prst="roundRect">
            <a:avLst>
              <a:gd name="adj" fmla="val 25000"/>
            </a:avLst>
          </a:prstGeom>
          <a:solidFill>
            <a:srgbClr val="101C35"/>
          </a:solidFill>
          <a:ln w="12700">
            <a:solidFill>
              <a:srgbClr val="101C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178308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7830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规范化输出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10698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49424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24942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  Learning &amp;amp;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224942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 Learning &amp; 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706624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07208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280720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DOI:10.1234/Demo.X01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280720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10.1234/demo.x01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264408"/>
            <a:ext cx="10698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6499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336499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33649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value=2024, precision=year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3822192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22776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引用次数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392277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未提供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92277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NULL + missing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379976"/>
            <a:ext cx="10698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4805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项目编号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80360" y="44805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00123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4480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00123（保留前导零）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处理链：解析编码 → 文本清理 → Unicode规范化 → 校验 → 比较键 → 分类映射 → 质量标记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5870448"/>
            <a:ext cx="10835640" cy="402336"/>
          </a:xfrm>
          <a:prstGeom prst="roundRect">
            <a:avLst>
              <a:gd name="adj" fmla="val 2954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916168"/>
            <a:ext cx="10469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缺题名等关键字段隔离；缺摘要或DOI可合法入库；所有规范值保留来源与规则版本。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DEDUPLICATION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成果去重：精确标识与多维评分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64792"/>
            <a:ext cx="2880360" cy="621792"/>
          </a:xfrm>
          <a:prstGeom prst="roundRect">
            <a:avLst>
              <a:gd name="adj" fmla="val 19118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83080"/>
            <a:ext cx="273405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标准化论文记录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03904" y="2075688"/>
            <a:ext cx="52120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7408" y="1764792"/>
            <a:ext cx="3063240" cy="621792"/>
          </a:xfrm>
          <a:prstGeom prst="roundRect">
            <a:avLst>
              <a:gd name="adj" fmla="val 19118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78308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DOI优先 / 候选召回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43800" y="2075688"/>
            <a:ext cx="466344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74152" y="1764792"/>
            <a:ext cx="3246120" cy="621792"/>
          </a:xfrm>
          <a:prstGeom prst="roundRect">
            <a:avLst>
              <a:gd name="adj" fmla="val 19118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1783080"/>
            <a:ext cx="3099816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加权相似度与冲突检查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" y="2734056"/>
            <a:ext cx="10616184" cy="960120"/>
          </a:xfrm>
          <a:prstGeom prst="roundRect">
            <a:avLst>
              <a:gd name="adj" fmla="val 1238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962656"/>
            <a:ext cx="10241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 = 0.55 × 题名 + 0.20 × 作者 + 0.10 × 年份 + 0.10 × 出版物 + 0.05 × 页码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77240" y="3995928"/>
            <a:ext cx="3383280" cy="1152144"/>
          </a:xfrm>
          <a:prstGeom prst="roundRect">
            <a:avLst>
              <a:gd name="adj" fmla="val 103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20624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0.92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4690872"/>
            <a:ext cx="2971800" cy="3749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证据充分且无硬冲突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自动合并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3995928"/>
            <a:ext cx="3383280" cy="1152144"/>
          </a:xfrm>
          <a:prstGeom prst="roundRect">
            <a:avLst>
              <a:gd name="adj" fmla="val 103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20624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0.82–0.92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45152" y="4690872"/>
            <a:ext cx="2971800" cy="3749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人工复核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2440" y="3995928"/>
            <a:ext cx="3383280" cy="1152144"/>
          </a:xfrm>
          <a:prstGeom prst="roundRect">
            <a:avLst>
              <a:gd name="adj" fmla="val 1031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420624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&lt; 0.82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02752" y="4690872"/>
            <a:ext cx="2971800" cy="3749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保持独立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870448"/>
            <a:ext cx="10835640" cy="402336"/>
          </a:xfrm>
          <a:prstGeom prst="roundRect">
            <a:avLst>
              <a:gd name="adj" fmla="val 2954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5916168"/>
            <a:ext cx="10469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样例：0.55×0.98 + 0.20 + 0.10 + 0.10 = 0.939；阈值属于待验证规则。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ENTITY RESOLUTION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作者消歧：同名不等于同一实体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709928"/>
            <a:ext cx="5212080" cy="2103120"/>
          </a:xfrm>
          <a:prstGeom prst="roundRect">
            <a:avLst>
              <a:gd name="adj" fmla="val 565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20240"/>
            <a:ext cx="48280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陈宁（A01）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404872"/>
            <a:ext cx="4800600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华城大学 / 软件工程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静态分析、软件验证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署名机构：I01、I03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7064" y="1709928"/>
            <a:ext cx="5212080" cy="2103120"/>
          </a:xfrm>
          <a:prstGeom prst="roundRect">
            <a:avLst>
              <a:gd name="adj" fmla="val 565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920240"/>
            <a:ext cx="482803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陈宁（A02）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2404872"/>
            <a:ext cx="4800600" cy="1325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另一机构 / 生物方向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蛋白质折叠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署名机构：I02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4069080"/>
            <a:ext cx="10680192" cy="859536"/>
          </a:xfrm>
          <a:prstGeom prst="roundRect">
            <a:avLst>
              <a:gd name="adj" fmla="val 1383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297680"/>
            <a:ext cx="102412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 = 0.30 × 姓名 + 0.25 × 机构 + 0.25 × 共同作者 + 0.15 × 主题 + 0.05 × 时间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3816" y="5184648"/>
            <a:ext cx="105156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示例评分 0.365 → 保留两个独立Person；ORCID格式、来源关联和账号控制分别验证。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来源冲突：字段选主值与人工复核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709928"/>
            <a:ext cx="10607040" cy="777240"/>
          </a:xfrm>
          <a:prstGeom prst="roundRect">
            <a:avLst>
              <a:gd name="adj" fmla="val 15294"/>
            </a:avLst>
          </a:prstGeom>
          <a:solidFill>
            <a:srgbClr val="F4F7FB"/>
          </a:solidFill>
          <a:ln w="8890">
            <a:solidFill>
              <a:srgbClr val="DC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928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1856232"/>
            <a:ext cx="397764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OpenAlex：T1 / Crossref：T2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0528" y="1837944"/>
            <a:ext cx="459943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按出版字段优先级选主值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624328"/>
            <a:ext cx="1060704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8890">
            <a:solidFill>
              <a:srgbClr val="DC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8072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作者顺序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2770632"/>
            <a:ext cx="397764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不同平台名单或顺序不同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0528" y="2752344"/>
            <a:ext cx="459943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采用可信的完整作者数组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538728"/>
            <a:ext cx="10607040" cy="777240"/>
          </a:xfrm>
          <a:prstGeom prst="roundRect">
            <a:avLst>
              <a:gd name="adj" fmla="val 15294"/>
            </a:avLst>
          </a:prstGeom>
          <a:solidFill>
            <a:srgbClr val="F4F7FB"/>
          </a:solidFill>
          <a:ln w="8890">
            <a:solidFill>
              <a:srgbClr val="DC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7216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研究主题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3685032"/>
            <a:ext cx="397764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OpenAlex Topics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3666744"/>
            <a:ext cx="459943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保留已确认主题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453128"/>
            <a:ext cx="10607040" cy="777240"/>
          </a:xfrm>
          <a:prstGeom prst="roundRect">
            <a:avLst>
              <a:gd name="adj" fmla="val 15294"/>
            </a:avLst>
          </a:prstGeom>
          <a:solidFill>
            <a:srgbClr val="FFFFFF"/>
          </a:solidFill>
          <a:ln w="8890">
            <a:solidFill>
              <a:srgbClr val="DC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63600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引用次数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77440" y="4599432"/>
            <a:ext cx="397764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OpenAlex=12；其他来源不同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4581144"/>
            <a:ext cx="459943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按来源与观测时间分别保存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6384" y="5559552"/>
            <a:ext cx="10561320" cy="576072"/>
          </a:xfrm>
          <a:prstGeom prst="roundRect">
            <a:avLst>
              <a:gd name="adj" fmla="val 2063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5577840"/>
            <a:ext cx="10415016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人工核实锁定  →  字段权威来源  →  时效与一致性判断  →  ReviewTask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&amp; RANKING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检索设计：关联约束、综合排序与版本一致性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627632"/>
            <a:ext cx="6601968" cy="2487168"/>
          </a:xfrm>
          <a:prstGeom prst="roundRect">
            <a:avLst>
              <a:gd name="adj" fmla="val 477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8288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查询：static analysis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9264" y="2331720"/>
            <a:ext cx="1399032" cy="411480"/>
          </a:xfrm>
          <a:prstGeom prst="roundRect">
            <a:avLst>
              <a:gd name="adj" fmla="val 2888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50008"/>
            <a:ext cx="1252728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05456" y="2331720"/>
            <a:ext cx="1399032" cy="411480"/>
          </a:xfrm>
          <a:prstGeom prst="roundRect">
            <a:avLst>
              <a:gd name="adj" fmla="val 2888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350008"/>
            <a:ext cx="1252728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 A01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41648" y="2331720"/>
            <a:ext cx="1399032" cy="411480"/>
          </a:xfrm>
          <a:prstGeom prst="roundRect">
            <a:avLst>
              <a:gd name="adj" fmla="val 2888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350008"/>
            <a:ext cx="1252728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 I01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331720"/>
            <a:ext cx="1399032" cy="411480"/>
          </a:xfrm>
          <a:prstGeom prst="roundRect">
            <a:avLst>
              <a:gd name="adj" fmla="val 2888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350008"/>
            <a:ext cx="1252728" cy="3749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2024–2025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78408" y="306324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示例结果：R01、R04（2篇）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1627632"/>
            <a:ext cx="3840480" cy="2487168"/>
          </a:xfrm>
          <a:prstGeom prst="roundRect">
            <a:avLst>
              <a:gd name="adj" fmla="val 477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1883664"/>
            <a:ext cx="329184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筛选语义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99832" y="2414016"/>
            <a:ext cx="3383280" cy="10789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跨维度 AND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同维度多选 OR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同作者署名机构：nested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453128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论文综合排序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86384" y="4882896"/>
            <a:ext cx="10652760" cy="758952"/>
          </a:xfrm>
          <a:prstGeom prst="roundRect">
            <a:avLst>
              <a:gd name="adj" fmla="val 1566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5074920"/>
            <a:ext cx="10287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Score = 0.80 Rtext + 0.10 Rcitation + 0.05 Rrecency + 0.05 Rquality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" y="5870448"/>
            <a:ext cx="10835640" cy="402336"/>
          </a:xfrm>
          <a:prstGeom prst="roundRect">
            <a:avLst>
              <a:gd name="adj" fmla="val 2954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916168"/>
            <a:ext cx="10469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BM25与其他分量先归一化；查询、详情、统计固定同一release_id。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CLAIM &amp; AUTHORIZATION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门户认领：状态审核与原子绑定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58568" y="1755648"/>
            <a:ext cx="7543800" cy="585216"/>
          </a:xfrm>
          <a:prstGeom prst="roundRect">
            <a:avLst>
              <a:gd name="adj" fmla="val 2031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773936"/>
            <a:ext cx="739749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草稿 → 待审核 → 审核中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2359152"/>
            <a:ext cx="0" cy="347472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2770632"/>
            <a:ext cx="3465576" cy="1517904"/>
          </a:xfrm>
          <a:prstGeom prst="roundRect">
            <a:avLst>
              <a:gd name="adj" fmla="val 78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980944"/>
            <a:ext cx="30815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待补充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1832" y="3465576"/>
            <a:ext cx="3054096" cy="740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补材料返回待审核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53128" y="2770632"/>
            <a:ext cx="3465576" cy="1517904"/>
          </a:xfrm>
          <a:prstGeom prst="roundRect">
            <a:avLst>
              <a:gd name="adj" fmla="val 78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80944"/>
            <a:ext cx="30815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已通过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465576"/>
            <a:ext cx="3054096" cy="740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写入唯一有效绑定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74736" y="2770632"/>
            <a:ext cx="3465576" cy="1517904"/>
          </a:xfrm>
          <a:prstGeom prst="roundRect">
            <a:avLst>
              <a:gd name="adj" fmla="val 783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980944"/>
            <a:ext cx="30815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已驳回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5048" y="3465576"/>
            <a:ext cx="3054096" cy="740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保留历史，新建申请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0857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审核通过事务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9808" y="5047488"/>
            <a:ext cx="10735056" cy="749808"/>
          </a:xfrm>
          <a:prstGeom prst="roundRect">
            <a:avLst>
              <a:gd name="adj" fmla="val 1585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65776"/>
            <a:ext cx="10588752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锁申请 → 锁账号与人物 → 检查绑定 → 写绑定/审核结果/审计 → 提交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ANALYTICS &amp; 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统计分析与创新：可解释的合作网络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机构论文全计数（模拟样例）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037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47088" y="2203704"/>
            <a:ext cx="3017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2203704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8094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847088" y="2980944"/>
            <a:ext cx="60350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980944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7581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47088" y="3758184"/>
            <a:ext cx="181051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3758184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919472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独立论文8篇；机构合计9次（同一成果可属于多个机构）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08192" y="1682496"/>
            <a:ext cx="0" cy="3941064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20" name="Text 18"/>
          <p:cNvSpPr/>
          <p:nvPr/>
        </p:nvSpPr>
        <p:spPr>
          <a:xfrm>
            <a:off x="6409944" y="16642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共著最短路径：BFS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34072" y="3035808"/>
            <a:ext cx="1179576" cy="66751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</a:ln>
        </p:spPr>
      </p:sp>
      <p:sp>
        <p:nvSpPr>
          <p:cNvPr id="22" name="Shape 20"/>
          <p:cNvSpPr/>
          <p:nvPr/>
        </p:nvSpPr>
        <p:spPr>
          <a:xfrm flipV="1">
            <a:off x="9217025" y="3070225"/>
            <a:ext cx="1152525" cy="73977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</a:ln>
        </p:spPr>
      </p:sp>
      <p:sp>
        <p:nvSpPr>
          <p:cNvPr id="23" name="Shape 21"/>
          <p:cNvSpPr/>
          <p:nvPr/>
        </p:nvSpPr>
        <p:spPr>
          <a:xfrm>
            <a:off x="6848856" y="2523744"/>
            <a:ext cx="658368" cy="658368"/>
          </a:xfrm>
          <a:prstGeom prst="ellipse">
            <a:avLst/>
          </a:prstGeom>
          <a:solidFill>
            <a:srgbClr val="EAF1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273405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A03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58784" y="3547872"/>
            <a:ext cx="658368" cy="658368"/>
          </a:xfrm>
          <a:prstGeom prst="ellipse">
            <a:avLst/>
          </a:prstGeom>
          <a:solidFill>
            <a:srgbClr val="EAF1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3758184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A01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305288" y="2523744"/>
            <a:ext cx="658368" cy="658368"/>
          </a:xfrm>
          <a:prstGeom prst="ellipse">
            <a:avLst/>
          </a:prstGeom>
          <a:solidFill>
            <a:srgbClr val="EAF1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9296" y="2734056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62088" y="3236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3篇共著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28632" y="3236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1篇共著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11696" y="497433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A03 → A01 → A04：2跳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验证与验收：设计目标转化为测试证据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578608" cy="1216152"/>
          </a:xfrm>
          <a:prstGeom prst="roundRect">
            <a:avLst>
              <a:gd name="adj" fmla="val 977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92024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≥99%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数据清洗正确率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93008" y="1691640"/>
            <a:ext cx="2578608" cy="1216152"/>
          </a:xfrm>
          <a:prstGeom prst="roundRect">
            <a:avLst>
              <a:gd name="adj" fmla="val 977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192024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≥98%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584448" y="239572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自动成果去重准确率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578608" cy="1216152"/>
          </a:xfrm>
          <a:prstGeom prst="roundRect">
            <a:avLst>
              <a:gd name="adj" fmla="val 977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92024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≥97%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45936" y="239572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自动作者合并准确率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15984" y="1691640"/>
            <a:ext cx="2578608" cy="1216152"/>
          </a:xfrm>
          <a:prstGeom prst="roundRect">
            <a:avLst>
              <a:gd name="adj" fmla="val 977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1920240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≥10,000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107424" y="2395728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规范成果规模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3218688"/>
            <a:ext cx="10634472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291840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功能测试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35224" y="3282696"/>
            <a:ext cx="81838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四类成果导入、检索、详情、认领、统计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6384" y="3785616"/>
            <a:ext cx="106344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3858768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数据质量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35224" y="3849624"/>
            <a:ext cx="81838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同名、重复、来源冲突、缺失值与人工复核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6384" y="4352544"/>
            <a:ext cx="10634472" cy="5029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425696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可靠性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35224" y="4416552"/>
            <a:ext cx="81838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重复采集、并发认领、事务回滚、发布失败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6384" y="4919472"/>
            <a:ext cx="106344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99262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35224" y="4983480"/>
            <a:ext cx="81838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万条规范成果下普通关键词查询目标2秒以内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870448"/>
            <a:ext cx="10835640" cy="402336"/>
          </a:xfrm>
          <a:prstGeom prst="roundRect">
            <a:avLst>
              <a:gd name="adj" fmla="val 2954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5916168"/>
            <a:ext cx="10469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所有指标均为验收目标，采集、编码、性能测试尚待执行；不得当作已完成结果。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0175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SUMMARY &amp;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110185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设计总结与下一步实施计划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1036808" cy="0"/>
          </a:xfrm>
          <a:prstGeom prst="line">
            <a:avLst/>
          </a:prstGeom>
          <a:noFill/>
          <a:ln w="19050">
            <a:solidFill>
              <a:srgbClr val="DCE4EE"/>
            </a:solidFill>
            <a:prstDash val="solid"/>
            <a:headEnd type="none"/>
          </a:ln>
        </p:spPr>
      </p:sp>
      <p:sp>
        <p:nvSpPr>
          <p:cNvPr id="6" name="Text 4"/>
          <p:cNvSpPr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学术成果分享平台  ·  详细设计方案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5288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8096" y="1691640"/>
            <a:ext cx="5257800" cy="1115568"/>
          </a:xfrm>
          <a:prstGeom prst="roundRect">
            <a:avLst>
              <a:gd name="adj" fmla="val 1065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901952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统一成果模型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2386584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公共字段与类型扩展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18504" y="1691640"/>
            <a:ext cx="5257800" cy="1115568"/>
          </a:xfrm>
          <a:prstGeom prst="roundRect">
            <a:avLst>
              <a:gd name="adj" fmla="val 1065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901952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多源数据治理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28816" y="2386584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采集、清洗、去重、消歧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" y="3044952"/>
            <a:ext cx="5257800" cy="1115568"/>
          </a:xfrm>
          <a:prstGeom prst="roundRect">
            <a:avLst>
              <a:gd name="adj" fmla="val 1065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255264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公开检索与授权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8408" y="3739896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版本一致性、门户认领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18504" y="3044952"/>
            <a:ext cx="5257800" cy="1115568"/>
          </a:xfrm>
          <a:prstGeom prst="roundRect">
            <a:avLst>
              <a:gd name="adj" fmla="val 1065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3255264"/>
            <a:ext cx="4873752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统计与创新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8816" y="3739896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08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全计数、共著网络、BFS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4690872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后续工作路线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68096" y="5221224"/>
            <a:ext cx="2578608" cy="576072"/>
          </a:xfrm>
          <a:prstGeom prst="roundRect">
            <a:avLst>
              <a:gd name="adj" fmla="val 2063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239512"/>
            <a:ext cx="2432304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 规范回写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64992" y="5513832"/>
            <a:ext cx="1554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29584" y="5221224"/>
            <a:ext cx="2578608" cy="576072"/>
          </a:xfrm>
          <a:prstGeom prst="roundRect">
            <a:avLst>
              <a:gd name="adj" fmla="val 20635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5239512"/>
            <a:ext cx="2432304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 核心开发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5513832"/>
            <a:ext cx="1554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91072" y="5221224"/>
            <a:ext cx="2578608" cy="576072"/>
          </a:xfrm>
          <a:prstGeom prst="roundRect">
            <a:avLst>
              <a:gd name="adj" fmla="val 20635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5239512"/>
            <a:ext cx="2432304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 功能集成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887968" y="5513832"/>
            <a:ext cx="1554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52560" y="5221224"/>
            <a:ext cx="2578608" cy="576072"/>
          </a:xfrm>
          <a:prstGeom prst="roundRect">
            <a:avLst>
              <a:gd name="adj" fmla="val 20635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5712" y="5239512"/>
            <a:ext cx="2432304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9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 验证交付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08960" y="6007608"/>
            <a:ext cx="61264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C3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  ·  感谢聆听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3548</Words>
  <Application>WPS 演示</Application>
  <PresentationFormat>On-screen Show (16:9)</PresentationFormat>
  <Paragraphs>500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学术成果分享平台—详细设计方案汇报</dc:title>
  <dc:creator>课程项目组</dc:creator>
  <dc:subject>学术成果分享平台详细设计方案</dc:subject>
  <cp:lastModifiedBy>昌昂旺</cp:lastModifiedBy>
  <cp:revision>5</cp:revision>
  <dcterms:created xsi:type="dcterms:W3CDTF">2026-10-09T06:35:00Z</dcterms:created>
  <dcterms:modified xsi:type="dcterms:W3CDTF">2026-10-10T07:09:44Z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FBE8D8A315AB4BD7A23F9029AEA3ED3D_12</vt:lpwstr>
  </property>
  <property fmtid="{D5CDD505-2E9C-101B-9397-08002B2CF9AE}" pid="3" name="KSOProductBuildVer">
    <vt:lpwstr>2052-12.1.0.28505</vt:lpwstr>
  </property>
</Properties>
</file>