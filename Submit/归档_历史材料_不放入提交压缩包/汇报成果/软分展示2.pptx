
<file path=[Content_Types].xml><?xml version="1.0" encoding="utf-8"?>
<Types xmlns="http://schemas.openxmlformats.org/package/2006/content-types">
  <Default Extension="jpeg" ContentType="image/jpeg"/>
  <Default Extension="JPG" ContentType="image/.jpg"/>
  <Default Extension="xlsx" ContentType="application/vnd.openxmlformats-officedocument.spreadsheetml.sheet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72" r:id="rId6"/>
    <p:sldId id="259" r:id="rId7"/>
    <p:sldId id="260" r:id="rId8"/>
    <p:sldId id="273" r:id="rId9"/>
    <p:sldId id="263" r:id="rId10"/>
    <p:sldId id="274" r:id="rId11"/>
    <p:sldId id="275" r:id="rId12"/>
    <p:sldId id="276" r:id="rId13"/>
    <p:sldId id="277" r:id="rId14"/>
    <p:sldId id="278" r:id="rId15"/>
    <p:sldId id="279" r:id="rId16"/>
    <p:sldId id="270" r:id="rId17"/>
    <p:sldId id="271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微软雅黑" panose="020B0503020204020204" charset="-122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微软雅黑" panose="020B0503020204020204" charset="-122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微软雅黑" panose="020B0503020204020204" charset="-122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微软雅黑" panose="020B0503020204020204" charset="-122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微软雅黑" panose="020B0503020204020204" charset="-122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微软雅黑" panose="020B0503020204020204" charset="-122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微软雅黑" panose="020B0503020204020204" charset="-122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微软雅黑" panose="020B0503020204020204" charset="-122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微软雅黑" panose="020B0503020204020204" charset="-122"/>
      </a:defRPr>
    </a:lvl9pPr>
  </p:defaultTextStyle>
  <p:extLst>
    <p:ext uri="{EFAFB233-063F-42B5-8137-9DF3F51BA10A}">
      <p15:sldGuideLst xmlns:p15="http://schemas.microsoft.com/office/powerpoint/2012/main">
        <p15:guide id="1" orient="horz" pos="2128" userDrawn="1">
          <p15:clr>
            <a:srgbClr val="A4A3A4"/>
          </p15:clr>
        </p15:guide>
        <p15:guide id="2" pos="285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 showGuides="1">
      <p:cViewPr varScale="1">
        <p:scale>
          <a:sx n="101" d="100"/>
          <a:sy n="101" d="100"/>
        </p:scale>
        <p:origin x="756" y="96"/>
      </p:cViewPr>
      <p:guideLst>
        <p:guide orient="horz" pos="2128"/>
        <p:guide pos="285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10"/>
    </mc:Choice>
    <mc:Fallback>
      <c:style val="10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1952359415046"/>
          <c:y val="0.0638175230566535"/>
          <c:w val="0.877317955676165"/>
          <c:h val="0.760128458498024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人工智能 cs.AI</c:v>
                </c:pt>
              </c:strCache>
            </c:strRef>
          </c:tx>
          <c:spPr>
            <a:ln w="30480" cap="rnd" cmpd="sng" algn="ctr">
              <a:solidFill>
                <a:srgbClr val="3179CB"/>
              </a:solidFill>
              <a:prstDash val="solid"/>
              <a:round/>
            </a:ln>
          </c:spPr>
          <c:marker>
            <c:symbol val="circle"/>
            <c:size val="6"/>
            <c:spPr>
              <a:solidFill>
                <a:srgbClr val="FFFFFF"/>
              </a:solidFill>
              <a:ln w="21590" cap="flat" cmpd="sng" algn="ctr">
                <a:solidFill>
                  <a:srgbClr val="3179CB"/>
                </a:solidFill>
                <a:prstDash val="solid"/>
                <a:round/>
              </a:ln>
            </c:spPr>
          </c:marker>
          <c:dLbls>
            <c:delete val="1"/>
          </c:dLbls>
          <c:cat>
            <c:strRef>
              <c:f>Sheet1!$A$2:$A$6</c:f>
              <c:strCach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12523</c:v>
                </c:pt>
                <c:pt idx="1">
                  <c:v>14806</c:v>
                </c:pt>
                <c:pt idx="2">
                  <c:v>21856</c:v>
                </c:pt>
                <c:pt idx="3">
                  <c:v>33036</c:v>
                </c:pt>
                <c:pt idx="4">
                  <c:v>45133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机器学习 cs.LG</c:v>
                </c:pt>
              </c:strCache>
            </c:strRef>
          </c:tx>
          <c:spPr>
            <a:ln w="30480" cap="rnd" cmpd="sng" algn="ctr">
              <a:solidFill>
                <a:srgbClr val="ED9047"/>
              </a:solidFill>
              <a:prstDash val="solid"/>
              <a:round/>
            </a:ln>
          </c:spPr>
          <c:marker>
            <c:symbol val="circle"/>
            <c:size val="6"/>
            <c:spPr>
              <a:solidFill>
                <a:srgbClr val="FFFFFF"/>
              </a:solidFill>
              <a:ln w="21590" cap="flat" cmpd="sng" algn="ctr">
                <a:solidFill>
                  <a:srgbClr val="ED9047"/>
                </a:solidFill>
                <a:prstDash val="solid"/>
                <a:round/>
              </a:ln>
            </c:spPr>
          </c:marker>
          <c:dLbls>
            <c:delete val="1"/>
          </c:dLbls>
          <c:cat>
            <c:strRef>
              <c:f>Sheet1!$A$2:$A$6</c:f>
              <c:strCach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26532</c:v>
                </c:pt>
                <c:pt idx="1">
                  <c:v>28721</c:v>
                </c:pt>
                <c:pt idx="2">
                  <c:v>33021</c:v>
                </c:pt>
                <c:pt idx="3">
                  <c:v>39786</c:v>
                </c:pt>
                <c:pt idx="4">
                  <c:v>46005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自然语言 cs.CL</c:v>
                </c:pt>
              </c:strCache>
            </c:strRef>
          </c:tx>
          <c:spPr>
            <a:ln w="30480" cap="rnd" cmpd="sng" algn="ctr">
              <a:solidFill>
                <a:srgbClr val="139B9D"/>
              </a:solidFill>
              <a:prstDash val="solid"/>
              <a:round/>
            </a:ln>
          </c:spPr>
          <c:marker>
            <c:symbol val="circle"/>
            <c:size val="6"/>
            <c:spPr>
              <a:solidFill>
                <a:srgbClr val="FFFFFF"/>
              </a:solidFill>
              <a:ln w="21590" cap="flat" cmpd="sng" algn="ctr">
                <a:solidFill>
                  <a:srgbClr val="139B9D"/>
                </a:solidFill>
                <a:prstDash val="solid"/>
                <a:round/>
              </a:ln>
            </c:spPr>
          </c:marker>
          <c:dLbls>
            <c:delete val="1"/>
          </c:dLbls>
          <c:cat>
            <c:strRef>
              <c:f>Sheet1!$A$2:$A$6</c:f>
              <c:strCach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8083</c:v>
                </c:pt>
                <c:pt idx="1">
                  <c:v>8971</c:v>
                </c:pt>
                <c:pt idx="2">
                  <c:v>13601</c:v>
                </c:pt>
                <c:pt idx="3">
                  <c:v>20689</c:v>
                </c:pt>
                <c:pt idx="4">
                  <c:v>23753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 w="9525" cap="flat" cmpd="sng" algn="ctr">
            <a:noFill/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100" b="0" i="0" u="none" strike="noStrike" kern="1200" baseline="0">
                <a:solidFill>
                  <a:srgbClr val="5C70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50000"/>
          <c:min val="0"/>
        </c:scaling>
        <c:delete val="0"/>
        <c:axPos val="l"/>
        <c:majorGridlines>
          <c:spPr>
            <a:ln w="10160" cap="flat" cmpd="sng" algn="ctr">
              <a:solidFill>
                <a:srgbClr val="E1ECF6"/>
              </a:solidFill>
              <a:prstDash val="solid"/>
              <a:round/>
            </a:ln>
          </c:spPr>
        </c:majorGridlines>
        <c:numFmt formatCode="#,##0" sourceLinked="0"/>
        <c:majorTickMark val="none"/>
        <c:minorTickMark val="none"/>
        <c:tickLblPos val="nextTo"/>
        <c:spPr>
          <a:ln w="9525" cap="flat" cmpd="sng" algn="ctr">
            <a:noFill/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rgbClr val="5C70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</a:p>
        </c:txPr>
        <c:crossAx val="2118791784"/>
        <c:crosses val="autoZero"/>
        <c:crossBetween val="between"/>
        <c:majorUnit val="10000"/>
      </c:valAx>
    </c:plotArea>
    <c:plotVisOnly val="1"/>
    <c:dispBlanksAs val="gap"/>
    <c:showDLblsOverMax val="0"/>
    <c:extLst>
      <c:ext uri="{0b15fc19-7d7d-44ad-8c2d-2c3a37ce22c3}">
        <chartProps xmlns="https://web.wps.cn/et/2018/main" chartId="{e60e3f8f-dae4-4f57-a1c2-e53ae50b4724}"/>
      </c:ext>
    </c:extLst>
  </c:chart>
  <c:txPr>
    <a:bodyPr/>
    <a:lstStyle/>
    <a:p>
      <a:pPr>
        <a:defRPr lang="zh-CN" sz="1800"/>
      </a:pPr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微软雅黑" panose="020B0503020204020204" charset="-122"/>
        <a:buChar char="•"/>
        <a:defRPr sz="32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1pPr>
      <a:lvl2pPr marL="742950" indent="-285750" algn="l" defTabSz="457200" rtl="0" eaLnBrk="1" latinLnBrk="0" hangingPunct="1">
        <a:spcBef>
          <a:spcPct val="20000"/>
        </a:spcBef>
        <a:buFont typeface="微软雅黑" panose="020B0503020204020204" charset="-122"/>
        <a:buChar char="–"/>
        <a:defRPr sz="28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2pPr>
      <a:lvl3pPr marL="1143000" indent="-228600" algn="l" defTabSz="457200" rtl="0" eaLnBrk="1" latinLnBrk="0" hangingPunct="1">
        <a:spcBef>
          <a:spcPct val="20000"/>
        </a:spcBef>
        <a:buFont typeface="微软雅黑" panose="020B0503020204020204" charset="-122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3pPr>
      <a:lvl4pPr marL="1600200" indent="-228600" algn="l" defTabSz="457200" rtl="0" eaLnBrk="1" latinLnBrk="0" hangingPunct="1">
        <a:spcBef>
          <a:spcPct val="20000"/>
        </a:spcBef>
        <a:buFont typeface="微软雅黑" panose="020B0503020204020204" charset="-122"/>
        <a:buChar char="–"/>
        <a:defRPr sz="20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4pPr>
      <a:lvl5pPr marL="2057400" indent="-228600" algn="l" defTabSz="457200" rtl="0" eaLnBrk="1" latinLnBrk="0" hangingPunct="1">
        <a:spcBef>
          <a:spcPct val="20000"/>
        </a:spcBef>
        <a:buFont typeface="微软雅黑" panose="020B0503020204020204" charset="-122"/>
        <a:buChar char="»"/>
        <a:defRPr sz="20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5pPr>
      <a:lvl6pPr marL="2514600" indent="-228600" algn="l" defTabSz="457200" rtl="0" eaLnBrk="1" latinLnBrk="0" hangingPunct="1">
        <a:spcBef>
          <a:spcPct val="20000"/>
        </a:spcBef>
        <a:buFont typeface="微软雅黑" panose="020B0503020204020204" charset="-122"/>
        <a:buChar char="•"/>
        <a:defRPr sz="20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6pPr>
      <a:lvl7pPr marL="2971800" indent="-228600" algn="l" defTabSz="457200" rtl="0" eaLnBrk="1" latinLnBrk="0" hangingPunct="1">
        <a:spcBef>
          <a:spcPct val="20000"/>
        </a:spcBef>
        <a:buFont typeface="微软雅黑" panose="020B0503020204020204" charset="-122"/>
        <a:buChar char="•"/>
        <a:defRPr sz="20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7pPr>
      <a:lvl8pPr marL="3429000" indent="-228600" algn="l" defTabSz="457200" rtl="0" eaLnBrk="1" latinLnBrk="0" hangingPunct="1">
        <a:spcBef>
          <a:spcPct val="20000"/>
        </a:spcBef>
        <a:buFont typeface="微软雅黑" panose="020B0503020204020204" charset="-122"/>
        <a:buChar char="•"/>
        <a:defRPr sz="20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8pPr>
      <a:lvl9pPr marL="3886200" indent="-228600" algn="l" defTabSz="457200" rtl="0" eaLnBrk="1" latinLnBrk="0" hangingPunct="1">
        <a:spcBef>
          <a:spcPct val="20000"/>
        </a:spcBef>
        <a:buFont typeface="微软雅黑" panose="020B0503020204020204" charset="-122"/>
        <a:buChar char="•"/>
        <a:defRPr sz="20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3" Type="http://schemas.openxmlformats.org/officeDocument/2006/relationships/slideLayout" Target="../slideLayouts/slideLayout7.xml"/><Relationship Id="rId22" Type="http://schemas.openxmlformats.org/officeDocument/2006/relationships/tags" Target="../tags/tag22.xml"/><Relationship Id="rId21" Type="http://schemas.openxmlformats.org/officeDocument/2006/relationships/tags" Target="../tags/tag21.xml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chart" Target="../charts/char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7999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80000">
                <a:srgbClr val="F7FAFE"/>
              </a:gs>
              <a:gs pos="100000">
                <a:srgbClr val="ECF5FE"/>
              </a:gs>
            </a:gsLst>
            <a:lin ang="315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Freeform 2"/>
          <p:cNvSpPr/>
          <p:nvPr/>
        </p:nvSpPr>
        <p:spPr>
          <a:xfrm>
            <a:off x="8549640" y="0"/>
            <a:ext cx="3642360" cy="4000500"/>
          </a:xfrm>
          <a:custGeom>
            <a:avLst/>
            <a:gdLst/>
            <a:ahLst/>
            <a:cxnLst/>
            <a:rect l="l" t="t" r="r" b="b"/>
            <a:pathLst>
              <a:path w="478" h="525">
                <a:moveTo>
                  <a:pt x="478" y="0"/>
                </a:moveTo>
                <a:lnTo>
                  <a:pt x="58" y="0"/>
                </a:lnTo>
                <a:lnTo>
                  <a:pt x="41" y="24"/>
                </a:lnTo>
                <a:lnTo>
                  <a:pt x="27" y="49"/>
                </a:lnTo>
                <a:lnTo>
                  <a:pt x="16" y="73"/>
                </a:lnTo>
                <a:lnTo>
                  <a:pt x="8" y="97"/>
                </a:lnTo>
                <a:lnTo>
                  <a:pt x="3" y="121"/>
                </a:lnTo>
                <a:lnTo>
                  <a:pt x="0" y="144"/>
                </a:lnTo>
                <a:lnTo>
                  <a:pt x="0" y="167"/>
                </a:lnTo>
                <a:lnTo>
                  <a:pt x="3" y="190"/>
                </a:lnTo>
                <a:lnTo>
                  <a:pt x="8" y="212"/>
                </a:lnTo>
                <a:lnTo>
                  <a:pt x="15" y="234"/>
                </a:lnTo>
                <a:lnTo>
                  <a:pt x="24" y="255"/>
                </a:lnTo>
                <a:lnTo>
                  <a:pt x="36" y="276"/>
                </a:lnTo>
                <a:lnTo>
                  <a:pt x="49" y="295"/>
                </a:lnTo>
                <a:lnTo>
                  <a:pt x="63" y="314"/>
                </a:lnTo>
                <a:lnTo>
                  <a:pt x="80" y="333"/>
                </a:lnTo>
                <a:lnTo>
                  <a:pt x="98" y="350"/>
                </a:lnTo>
                <a:lnTo>
                  <a:pt x="128" y="371"/>
                </a:lnTo>
                <a:lnTo>
                  <a:pt x="157" y="388"/>
                </a:lnTo>
                <a:lnTo>
                  <a:pt x="185" y="402"/>
                </a:lnTo>
                <a:lnTo>
                  <a:pt x="212" y="413"/>
                </a:lnTo>
                <a:lnTo>
                  <a:pt x="239" y="422"/>
                </a:lnTo>
                <a:lnTo>
                  <a:pt x="265" y="429"/>
                </a:lnTo>
                <a:lnTo>
                  <a:pt x="290" y="434"/>
                </a:lnTo>
                <a:lnTo>
                  <a:pt x="314" y="439"/>
                </a:lnTo>
                <a:lnTo>
                  <a:pt x="338" y="444"/>
                </a:lnTo>
                <a:lnTo>
                  <a:pt x="360" y="450"/>
                </a:lnTo>
                <a:lnTo>
                  <a:pt x="382" y="456"/>
                </a:lnTo>
                <a:lnTo>
                  <a:pt x="403" y="465"/>
                </a:lnTo>
                <a:lnTo>
                  <a:pt x="423" y="475"/>
                </a:lnTo>
                <a:lnTo>
                  <a:pt x="442" y="488"/>
                </a:lnTo>
                <a:lnTo>
                  <a:pt x="461" y="505"/>
                </a:lnTo>
                <a:lnTo>
                  <a:pt x="478" y="525"/>
                </a:lnTo>
                <a:lnTo>
                  <a:pt x="478" y="0"/>
                </a:lnTo>
                <a:close/>
              </a:path>
            </a:pathLst>
          </a:custGeom>
          <a:solidFill>
            <a:srgbClr val="EAF5FE">
              <a:alpha val="6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Oval 5"/>
          <p:cNvSpPr/>
          <p:nvPr/>
        </p:nvSpPr>
        <p:spPr>
          <a:xfrm>
            <a:off x="10020299" y="365759"/>
            <a:ext cx="121919" cy="121919"/>
          </a:xfrm>
          <a:prstGeom prst="ellipse">
            <a:avLst/>
          </a:prstGeom>
          <a:solidFill>
            <a:srgbClr val="48A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Oval 6"/>
          <p:cNvSpPr/>
          <p:nvPr/>
        </p:nvSpPr>
        <p:spPr>
          <a:xfrm>
            <a:off x="11452859" y="2689859"/>
            <a:ext cx="106679" cy="106679"/>
          </a:xfrm>
          <a:prstGeom prst="ellipse">
            <a:avLst/>
          </a:prstGeom>
          <a:solidFill>
            <a:srgbClr val="48A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Oval 7"/>
          <p:cNvSpPr/>
          <p:nvPr/>
        </p:nvSpPr>
        <p:spPr>
          <a:xfrm>
            <a:off x="12085319" y="868679"/>
            <a:ext cx="91439" cy="91439"/>
          </a:xfrm>
          <a:prstGeom prst="ellipse">
            <a:avLst/>
          </a:prstGeom>
          <a:solidFill>
            <a:srgbClr val="48A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Oval 8"/>
          <p:cNvSpPr/>
          <p:nvPr/>
        </p:nvSpPr>
        <p:spPr>
          <a:xfrm>
            <a:off x="10553699" y="2065019"/>
            <a:ext cx="76199" cy="76199"/>
          </a:xfrm>
          <a:prstGeom prst="ellipse">
            <a:avLst/>
          </a:prstGeom>
          <a:solidFill>
            <a:srgbClr val="48A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2" name="Connector 11"/>
          <p:cNvCxnSpPr/>
          <p:nvPr/>
        </p:nvCxnSpPr>
        <p:spPr>
          <a:xfrm>
            <a:off x="617219" y="6370319"/>
            <a:ext cx="10949940" cy="0"/>
          </a:xfrm>
          <a:prstGeom prst="line">
            <a:avLst/>
          </a:prstGeom>
          <a:ln w="11429">
            <a:solidFill>
              <a:srgbClr val="D2E2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字｜学术成果分享平台   /   系统分析与设计"/>
          <p:cNvSpPr txBox="1"/>
          <p:nvPr/>
        </p:nvSpPr>
        <p:spPr>
          <a:xfrm>
            <a:off x="640079" y="6463131"/>
            <a:ext cx="3121342" cy="18653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80" b="0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学术成果分享平台   /   系统分析与设计</a:t>
            </a:r>
            <a:endParaRPr lang="zh-CN" sz="1080" b="0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文字｜学术成果分享平台"/>
          <p:cNvSpPr txBox="1"/>
          <p:nvPr/>
        </p:nvSpPr>
        <p:spPr>
          <a:xfrm>
            <a:off x="655319" y="1148791"/>
            <a:ext cx="6160007" cy="78760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456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学术成果分享平台</a:t>
            </a:r>
            <a:endParaRPr lang="zh-CN" sz="4560" b="1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文字｜平台方案设计与数据治理框架"/>
          <p:cNvSpPr txBox="1"/>
          <p:nvPr/>
        </p:nvSpPr>
        <p:spPr>
          <a:xfrm>
            <a:off x="685799" y="1961235"/>
            <a:ext cx="5030723" cy="39380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28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平台方案设计与数据治理框架</a:t>
            </a:r>
            <a:endParaRPr lang="zh-CN" sz="2280" b="1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文字｜以学术成果检索为入口，以学者门户和成果认领为核心，"/>
          <p:cNvSpPr txBox="1"/>
          <p:nvPr/>
        </p:nvSpPr>
        <p:spPr>
          <a:xfrm>
            <a:off x="685799" y="2821228"/>
            <a:ext cx="6080759" cy="2487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4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以学术成果检索为入口，以学者门户和成果认领为核心，</a:t>
            </a:r>
            <a:endParaRPr lang="zh-CN" sz="1440" b="0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文字｜以持续的数据治理保证准确性。"/>
          <p:cNvSpPr txBox="1"/>
          <p:nvPr/>
        </p:nvSpPr>
        <p:spPr>
          <a:xfrm>
            <a:off x="685799" y="3156508"/>
            <a:ext cx="3465575" cy="2487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4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以持续的数据治理保证准确性。</a:t>
            </a:r>
            <a:endParaRPr lang="zh-CN" sz="1440" b="0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文字｜通过统计与相关推荐支持研究资料发现。"/>
          <p:cNvSpPr txBox="1"/>
          <p:nvPr/>
        </p:nvSpPr>
        <p:spPr>
          <a:xfrm>
            <a:off x="685799" y="3491788"/>
            <a:ext cx="4416551" cy="2487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4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通过统计与相关推荐支持研究资料发现。</a:t>
            </a:r>
            <a:endParaRPr lang="zh-CN" sz="1440" b="0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6743699" y="1356359"/>
            <a:ext cx="4709159" cy="2689859"/>
          </a:xfrm>
          <a:prstGeom prst="roundRect">
            <a:avLst>
              <a:gd name="adj" fmla="val 5382"/>
            </a:avLst>
          </a:prstGeom>
          <a:solidFill>
            <a:srgbClr val="FFFFFF"/>
          </a:solidFill>
          <a:ln w="7619">
            <a:solidFill>
              <a:srgbClr val="D8E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6941819" y="1562099"/>
            <a:ext cx="4312919" cy="289559"/>
          </a:xfrm>
          <a:prstGeom prst="roundRect">
            <a:avLst>
              <a:gd name="adj" fmla="val 31578"/>
            </a:avLst>
          </a:prstGeom>
          <a:solidFill>
            <a:srgbClr val="E7F3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Oval 23"/>
          <p:cNvSpPr/>
          <p:nvPr/>
        </p:nvSpPr>
        <p:spPr>
          <a:xfrm>
            <a:off x="7025639" y="1653539"/>
            <a:ext cx="91439" cy="91439"/>
          </a:xfrm>
          <a:prstGeom prst="ellipse">
            <a:avLst/>
          </a:prstGeom>
          <a:solidFill>
            <a:srgbClr val="E69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Oval 24"/>
          <p:cNvSpPr/>
          <p:nvPr/>
        </p:nvSpPr>
        <p:spPr>
          <a:xfrm>
            <a:off x="7178039" y="1653539"/>
            <a:ext cx="91439" cy="91439"/>
          </a:xfrm>
          <a:prstGeom prst="ellipse">
            <a:avLst/>
          </a:prstGeom>
          <a:solidFill>
            <a:srgbClr val="159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Oval 25"/>
          <p:cNvSpPr/>
          <p:nvPr/>
        </p:nvSpPr>
        <p:spPr>
          <a:xfrm>
            <a:off x="7330439" y="1653539"/>
            <a:ext cx="91439" cy="91439"/>
          </a:xfrm>
          <a:prstGeom prst="ellipse">
            <a:avLst/>
          </a:prstGeom>
          <a:solidFill>
            <a:srgbClr val="327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7040879" y="2103119"/>
            <a:ext cx="4069079" cy="533399"/>
          </a:xfrm>
          <a:prstGeom prst="roundRect">
            <a:avLst>
              <a:gd name="adj" fmla="val 27142"/>
            </a:avLst>
          </a:prstGeom>
          <a:solidFill>
            <a:srgbClr val="FFFFFF"/>
          </a:solidFill>
          <a:ln w="7619">
            <a:solidFill>
              <a:srgbClr val="D8E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文字｜检索论文 / 专利 / 项目 / 奖项"/>
          <p:cNvSpPr txBox="1"/>
          <p:nvPr/>
        </p:nvSpPr>
        <p:spPr>
          <a:xfrm>
            <a:off x="7619999" y="2264968"/>
            <a:ext cx="3113603" cy="2487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4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检索论文 / 专利 / 项目 / 奖项</a:t>
            </a:r>
            <a:endParaRPr lang="zh-CN" sz="1440" b="0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7048499" y="2857499"/>
            <a:ext cx="3924299" cy="350519"/>
          </a:xfrm>
          <a:prstGeom prst="roundRect">
            <a:avLst>
              <a:gd name="adj" fmla="val 21739"/>
            </a:avLst>
          </a:prstGeom>
          <a:solidFill>
            <a:srgbClr val="F1F7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Oval 30"/>
          <p:cNvSpPr/>
          <p:nvPr/>
        </p:nvSpPr>
        <p:spPr>
          <a:xfrm>
            <a:off x="7162799" y="2887979"/>
            <a:ext cx="289559" cy="289559"/>
          </a:xfrm>
          <a:prstGeom prst="ellipse">
            <a:avLst/>
          </a:prstGeom>
          <a:solidFill>
            <a:srgbClr val="E5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文字｜论文元数据"/>
          <p:cNvSpPr txBox="1"/>
          <p:nvPr/>
        </p:nvSpPr>
        <p:spPr>
          <a:xfrm>
            <a:off x="7543799" y="2942843"/>
            <a:ext cx="1127759" cy="20726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论文元数据</a:t>
            </a:r>
            <a:endParaRPr lang="zh-CN" sz="1200" b="1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9067799" y="2964179"/>
            <a:ext cx="1219199" cy="53339"/>
          </a:xfrm>
          <a:prstGeom prst="roundRect">
            <a:avLst>
              <a:gd name="adj" fmla="val 50000"/>
            </a:avLst>
          </a:prstGeom>
          <a:solidFill>
            <a:srgbClr val="C8D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9067799" y="3070859"/>
            <a:ext cx="838199" cy="45719"/>
          </a:xfrm>
          <a:prstGeom prst="roundRect">
            <a:avLst>
              <a:gd name="adj" fmla="val 50000"/>
            </a:avLst>
          </a:prstGeom>
          <a:solidFill>
            <a:srgbClr val="D8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7048499" y="3284219"/>
            <a:ext cx="3924299" cy="350519"/>
          </a:xfrm>
          <a:prstGeom prst="roundRect">
            <a:avLst>
              <a:gd name="adj" fmla="val 21739"/>
            </a:avLst>
          </a:prstGeom>
          <a:solidFill>
            <a:srgbClr val="F1F7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Oval 36"/>
          <p:cNvSpPr/>
          <p:nvPr/>
        </p:nvSpPr>
        <p:spPr>
          <a:xfrm>
            <a:off x="7162799" y="3314699"/>
            <a:ext cx="289559" cy="289559"/>
          </a:xfrm>
          <a:prstGeom prst="ellipse">
            <a:avLst/>
          </a:prstGeom>
          <a:solidFill>
            <a:srgbClr val="E5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文字｜学者与机构"/>
          <p:cNvSpPr txBox="1"/>
          <p:nvPr/>
        </p:nvSpPr>
        <p:spPr>
          <a:xfrm>
            <a:off x="7543799" y="3369563"/>
            <a:ext cx="1127759" cy="20726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学者与机构</a:t>
            </a:r>
            <a:endParaRPr lang="zh-CN" sz="1200" b="1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9067799" y="3390899"/>
            <a:ext cx="1219199" cy="53339"/>
          </a:xfrm>
          <a:prstGeom prst="roundRect">
            <a:avLst>
              <a:gd name="adj" fmla="val 50000"/>
            </a:avLst>
          </a:prstGeom>
          <a:solidFill>
            <a:srgbClr val="C8D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Rounded Rectangle 40"/>
          <p:cNvSpPr/>
          <p:nvPr/>
        </p:nvSpPr>
        <p:spPr>
          <a:xfrm>
            <a:off x="9067799" y="3497579"/>
            <a:ext cx="838199" cy="45719"/>
          </a:xfrm>
          <a:prstGeom prst="roundRect">
            <a:avLst>
              <a:gd name="adj" fmla="val 50000"/>
            </a:avLst>
          </a:prstGeom>
          <a:solidFill>
            <a:srgbClr val="D8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Oval 41"/>
          <p:cNvSpPr/>
          <p:nvPr/>
        </p:nvSpPr>
        <p:spPr>
          <a:xfrm>
            <a:off x="10149839" y="3047999"/>
            <a:ext cx="1280159" cy="1280159"/>
          </a:xfrm>
          <a:prstGeom prst="ellipse">
            <a:avLst/>
          </a:prstGeom>
          <a:solidFill>
            <a:srgbClr val="DF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624839" y="4671059"/>
            <a:ext cx="2773679" cy="1135379"/>
          </a:xfrm>
          <a:prstGeom prst="roundRect">
            <a:avLst>
              <a:gd name="adj" fmla="val 12751"/>
            </a:avLst>
          </a:prstGeom>
          <a:solidFill>
            <a:srgbClr val="FFFFFF"/>
          </a:solidFill>
          <a:ln w="7619">
            <a:solidFill>
              <a:srgbClr val="D8E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Oval 44"/>
          <p:cNvSpPr/>
          <p:nvPr/>
        </p:nvSpPr>
        <p:spPr>
          <a:xfrm>
            <a:off x="800099" y="4876799"/>
            <a:ext cx="640079" cy="640079"/>
          </a:xfrm>
          <a:prstGeom prst="ellipse">
            <a:avLst/>
          </a:prstGeom>
          <a:solidFill>
            <a:srgbClr val="E5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文字｜学术检索"/>
          <p:cNvSpPr txBox="1"/>
          <p:nvPr/>
        </p:nvSpPr>
        <p:spPr>
          <a:xfrm>
            <a:off x="1577339" y="4955057"/>
            <a:ext cx="1207007" cy="27980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2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学术检索</a:t>
            </a:r>
            <a:endParaRPr lang="zh-CN" sz="1620" b="1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文字｜统一检索入口"/>
          <p:cNvSpPr txBox="1"/>
          <p:nvPr/>
        </p:nvSpPr>
        <p:spPr>
          <a:xfrm>
            <a:off x="1577339" y="5312663"/>
            <a:ext cx="1325879" cy="20726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统一检索入口</a:t>
            </a:r>
            <a:endParaRPr lang="zh-CN" sz="1200" b="0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Rounded Rectangle 48"/>
          <p:cNvSpPr/>
          <p:nvPr/>
        </p:nvSpPr>
        <p:spPr>
          <a:xfrm>
            <a:off x="3543299" y="4671059"/>
            <a:ext cx="2773679" cy="1135379"/>
          </a:xfrm>
          <a:prstGeom prst="roundRect">
            <a:avLst>
              <a:gd name="adj" fmla="val 12751"/>
            </a:avLst>
          </a:prstGeom>
          <a:solidFill>
            <a:srgbClr val="FFFFFF"/>
          </a:solidFill>
          <a:ln w="7619">
            <a:solidFill>
              <a:srgbClr val="D8E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Oval 49"/>
          <p:cNvSpPr/>
          <p:nvPr/>
        </p:nvSpPr>
        <p:spPr>
          <a:xfrm>
            <a:off x="3718559" y="4876799"/>
            <a:ext cx="640079" cy="640079"/>
          </a:xfrm>
          <a:prstGeom prst="ellipse">
            <a:avLst/>
          </a:prstGeom>
          <a:solidFill>
            <a:srgbClr val="E5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" name="文字｜学者门户"/>
          <p:cNvSpPr txBox="1"/>
          <p:nvPr/>
        </p:nvSpPr>
        <p:spPr>
          <a:xfrm>
            <a:off x="4495799" y="4955057"/>
            <a:ext cx="1207007" cy="27980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2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学者门户</a:t>
            </a:r>
            <a:endParaRPr lang="zh-CN" sz="1620" b="1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" name="文字｜维护学术画像"/>
          <p:cNvSpPr txBox="1"/>
          <p:nvPr/>
        </p:nvSpPr>
        <p:spPr>
          <a:xfrm>
            <a:off x="4495799" y="5312663"/>
            <a:ext cx="1325879" cy="20726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维护学术画像</a:t>
            </a:r>
            <a:endParaRPr lang="zh-CN" sz="1200" b="0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4" name="Rounded Rectangle 53"/>
          <p:cNvSpPr/>
          <p:nvPr/>
        </p:nvSpPr>
        <p:spPr>
          <a:xfrm>
            <a:off x="6461759" y="4671059"/>
            <a:ext cx="2773679" cy="1135379"/>
          </a:xfrm>
          <a:prstGeom prst="roundRect">
            <a:avLst>
              <a:gd name="adj" fmla="val 12751"/>
            </a:avLst>
          </a:prstGeom>
          <a:solidFill>
            <a:srgbClr val="FFFFFF"/>
          </a:solidFill>
          <a:ln w="7619">
            <a:solidFill>
              <a:srgbClr val="D8E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5" name="Oval 54"/>
          <p:cNvSpPr/>
          <p:nvPr/>
        </p:nvSpPr>
        <p:spPr>
          <a:xfrm>
            <a:off x="6637019" y="4876799"/>
            <a:ext cx="640079" cy="640079"/>
          </a:xfrm>
          <a:prstGeom prst="ellipse">
            <a:avLst/>
          </a:prstGeom>
          <a:solidFill>
            <a:srgbClr val="FFF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7" name="文字｜成果认领"/>
          <p:cNvSpPr txBox="1"/>
          <p:nvPr/>
        </p:nvSpPr>
        <p:spPr>
          <a:xfrm>
            <a:off x="7414259" y="4955057"/>
            <a:ext cx="1207007" cy="27980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2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成果认领</a:t>
            </a:r>
            <a:endParaRPr lang="zh-CN" sz="1620" b="1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8" name="文字｜审核确认归属"/>
          <p:cNvSpPr txBox="1"/>
          <p:nvPr/>
        </p:nvSpPr>
        <p:spPr>
          <a:xfrm>
            <a:off x="7414259" y="5312663"/>
            <a:ext cx="1325879" cy="20726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审核确认归属</a:t>
            </a:r>
            <a:endParaRPr lang="zh-CN" sz="1200" b="0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9" name="Rounded Rectangle 58"/>
          <p:cNvSpPr/>
          <p:nvPr/>
        </p:nvSpPr>
        <p:spPr>
          <a:xfrm>
            <a:off x="9380219" y="4671059"/>
            <a:ext cx="2773679" cy="1135379"/>
          </a:xfrm>
          <a:prstGeom prst="roundRect">
            <a:avLst>
              <a:gd name="adj" fmla="val 12751"/>
            </a:avLst>
          </a:prstGeom>
          <a:solidFill>
            <a:srgbClr val="FFFFFF"/>
          </a:solidFill>
          <a:ln w="7619">
            <a:solidFill>
              <a:srgbClr val="D8E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0" name="Oval 59"/>
          <p:cNvSpPr/>
          <p:nvPr/>
        </p:nvSpPr>
        <p:spPr>
          <a:xfrm>
            <a:off x="9555479" y="4876799"/>
            <a:ext cx="640079" cy="640079"/>
          </a:xfrm>
          <a:prstGeom prst="ellipse">
            <a:avLst/>
          </a:prstGeom>
          <a:solidFill>
            <a:srgbClr val="E5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2" name="文字｜数据治理"/>
          <p:cNvSpPr txBox="1"/>
          <p:nvPr/>
        </p:nvSpPr>
        <p:spPr>
          <a:xfrm>
            <a:off x="10332719" y="4955057"/>
            <a:ext cx="1207007" cy="27980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2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数据治理</a:t>
            </a:r>
            <a:endParaRPr lang="zh-CN" sz="1620" b="1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3" name="文字｜保障数据质量"/>
          <p:cNvSpPr txBox="1"/>
          <p:nvPr/>
        </p:nvSpPr>
        <p:spPr>
          <a:xfrm>
            <a:off x="10332719" y="5312663"/>
            <a:ext cx="1325879" cy="20726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保障数据质量</a:t>
            </a:r>
            <a:endParaRPr lang="zh-CN" sz="1200" b="0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4" name="文字｜覆盖论文、专利、科研项目、获奖信息   ·   面向普通用户、科研人员与平台"/>
          <p:cNvSpPr txBox="1"/>
          <p:nvPr/>
        </p:nvSpPr>
        <p:spPr>
          <a:xfrm>
            <a:off x="655319" y="5960440"/>
            <a:ext cx="7606283" cy="21762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6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覆盖论文、专利、科研项目、获奖信息   ·   面向普通用户、科研人员与平台管理员</a:t>
            </a:r>
            <a:endParaRPr lang="zh-CN" sz="1260" b="0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5" name="Oval 64"/>
          <p:cNvSpPr/>
          <p:nvPr/>
        </p:nvSpPr>
        <p:spPr>
          <a:xfrm>
            <a:off x="7077515" y="2193095"/>
            <a:ext cx="368685" cy="368685"/>
          </a:xfrm>
          <a:prstGeom prst="ellipse">
            <a:avLst/>
          </a:prstGeom>
          <a:solidFill>
            <a:srgbClr val="E6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186646" y="2257099"/>
            <a:ext cx="142902" cy="235663"/>
          </a:xfrm>
          <a:prstGeom prst="rect">
            <a:avLst/>
          </a:prstGeom>
          <a:noFill/>
          <a:ln w="18415">
            <a:solidFill>
              <a:srgbClr val="055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7" name="Connector 66"/>
          <p:cNvCxnSpPr/>
          <p:nvPr/>
        </p:nvCxnSpPr>
        <p:spPr>
          <a:xfrm>
            <a:off x="7216731" y="2322283"/>
            <a:ext cx="80226" cy="0"/>
          </a:xfrm>
          <a:prstGeom prst="line">
            <a:avLst/>
          </a:prstGeom>
          <a:ln w="21590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7216731" y="2384959"/>
            <a:ext cx="80226" cy="0"/>
          </a:xfrm>
          <a:prstGeom prst="line">
            <a:avLst/>
          </a:prstGeom>
          <a:ln w="21590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7216731" y="2442622"/>
            <a:ext cx="80226" cy="0"/>
          </a:xfrm>
          <a:prstGeom prst="line">
            <a:avLst/>
          </a:prstGeom>
          <a:ln w="21590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Oval 69"/>
          <p:cNvSpPr/>
          <p:nvPr/>
        </p:nvSpPr>
        <p:spPr>
          <a:xfrm>
            <a:off x="7117969" y="2843149"/>
            <a:ext cx="379219" cy="379219"/>
          </a:xfrm>
          <a:prstGeom prst="ellipse">
            <a:avLst/>
          </a:prstGeom>
          <a:solidFill>
            <a:srgbClr val="FF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7250847" y="2914139"/>
            <a:ext cx="113462" cy="113462"/>
          </a:xfrm>
          <a:prstGeom prst="ellipse">
            <a:avLst/>
          </a:prstGeom>
          <a:noFill/>
          <a:ln w="18415">
            <a:solidFill>
              <a:srgbClr val="F47B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2" name="Connector 71"/>
          <p:cNvCxnSpPr/>
          <p:nvPr/>
        </p:nvCxnSpPr>
        <p:spPr>
          <a:xfrm flipV="1">
            <a:off x="7183801" y="3097226"/>
            <a:ext cx="7736" cy="54152"/>
          </a:xfrm>
          <a:prstGeom prst="line">
            <a:avLst/>
          </a:prstGeom>
          <a:ln w="18415">
            <a:solidFill>
              <a:srgbClr val="F47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7191537" y="3058545"/>
            <a:ext cx="41259" cy="38681"/>
          </a:xfrm>
          <a:prstGeom prst="line">
            <a:avLst/>
          </a:prstGeom>
          <a:ln w="18415">
            <a:solidFill>
              <a:srgbClr val="F47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7232796" y="3058545"/>
            <a:ext cx="149565" cy="0"/>
          </a:xfrm>
          <a:prstGeom prst="line">
            <a:avLst/>
          </a:prstGeom>
          <a:ln w="18415">
            <a:solidFill>
              <a:srgbClr val="F47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7382361" y="3058545"/>
            <a:ext cx="41259" cy="38681"/>
          </a:xfrm>
          <a:prstGeom prst="line">
            <a:avLst/>
          </a:prstGeom>
          <a:ln w="18415">
            <a:solidFill>
              <a:srgbClr val="F47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7423620" y="3097226"/>
            <a:ext cx="7736" cy="54152"/>
          </a:xfrm>
          <a:prstGeom prst="line">
            <a:avLst/>
          </a:prstGeom>
          <a:ln w="18415">
            <a:solidFill>
              <a:srgbClr val="F47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Oval 76"/>
          <p:cNvSpPr/>
          <p:nvPr/>
        </p:nvSpPr>
        <p:spPr>
          <a:xfrm>
            <a:off x="7117969" y="3269869"/>
            <a:ext cx="379219" cy="379219"/>
          </a:xfrm>
          <a:prstGeom prst="ellipse">
            <a:avLst/>
          </a:prstGeom>
          <a:solidFill>
            <a:srgbClr val="E6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230218" y="3335701"/>
            <a:ext cx="146985" cy="242396"/>
          </a:xfrm>
          <a:prstGeom prst="rect">
            <a:avLst/>
          </a:prstGeom>
          <a:noFill/>
          <a:ln w="18415">
            <a:solidFill>
              <a:srgbClr val="055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9" name="Connector 78"/>
          <p:cNvCxnSpPr/>
          <p:nvPr/>
        </p:nvCxnSpPr>
        <p:spPr>
          <a:xfrm>
            <a:off x="7261162" y="3402747"/>
            <a:ext cx="82518" cy="0"/>
          </a:xfrm>
          <a:prstGeom prst="line">
            <a:avLst/>
          </a:prstGeom>
          <a:ln w="21590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7261162" y="3467215"/>
            <a:ext cx="82518" cy="0"/>
          </a:xfrm>
          <a:prstGeom prst="line">
            <a:avLst/>
          </a:prstGeom>
          <a:ln w="21590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7261162" y="3526524"/>
            <a:ext cx="82518" cy="0"/>
          </a:xfrm>
          <a:prstGeom prst="line">
            <a:avLst/>
          </a:prstGeom>
          <a:ln w="21590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Oval 81"/>
          <p:cNvSpPr/>
          <p:nvPr/>
        </p:nvSpPr>
        <p:spPr>
          <a:xfrm>
            <a:off x="10263224" y="3161384"/>
            <a:ext cx="1053387" cy="1053387"/>
          </a:xfrm>
          <a:prstGeom prst="ellipse">
            <a:avLst/>
          </a:prstGeom>
          <a:solidFill>
            <a:srgbClr val="E6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3" name="Connector 82"/>
          <p:cNvCxnSpPr/>
          <p:nvPr/>
        </p:nvCxnSpPr>
        <p:spPr>
          <a:xfrm>
            <a:off x="10539212" y="3401557"/>
            <a:ext cx="501412" cy="0"/>
          </a:xfrm>
          <a:prstGeom prst="line">
            <a:avLst/>
          </a:prstGeom>
          <a:ln w="24130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H="1">
            <a:off x="10983320" y="3401557"/>
            <a:ext cx="57304" cy="365314"/>
          </a:xfrm>
          <a:prstGeom prst="line">
            <a:avLst/>
          </a:prstGeom>
          <a:ln w="24130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H="1">
            <a:off x="10789918" y="3766871"/>
            <a:ext cx="193402" cy="114609"/>
          </a:xfrm>
          <a:prstGeom prst="line">
            <a:avLst/>
          </a:prstGeom>
          <a:ln w="24130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H="1" flipV="1">
            <a:off x="10596516" y="3766871"/>
            <a:ext cx="193402" cy="114609"/>
          </a:xfrm>
          <a:prstGeom prst="line">
            <a:avLst/>
          </a:prstGeom>
          <a:ln w="24130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H="1" flipV="1">
            <a:off x="10539212" y="3401557"/>
            <a:ext cx="57304" cy="365314"/>
          </a:xfrm>
          <a:prstGeom prst="line">
            <a:avLst/>
          </a:prstGeom>
          <a:ln w="24130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H="1">
            <a:off x="10410277" y="3487513"/>
            <a:ext cx="128935" cy="0"/>
          </a:xfrm>
          <a:prstGeom prst="line">
            <a:avLst/>
          </a:prstGeom>
          <a:ln w="24130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10410277" y="3487513"/>
            <a:ext cx="21489" cy="286521"/>
          </a:xfrm>
          <a:prstGeom prst="line">
            <a:avLst/>
          </a:prstGeom>
          <a:ln w="24130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10431766" y="3774034"/>
            <a:ext cx="214891" cy="85957"/>
          </a:xfrm>
          <a:prstGeom prst="line">
            <a:avLst/>
          </a:prstGeom>
          <a:ln w="24130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11040624" y="3487513"/>
            <a:ext cx="128935" cy="0"/>
          </a:xfrm>
          <a:prstGeom prst="line">
            <a:avLst/>
          </a:prstGeom>
          <a:ln w="24130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H="1">
            <a:off x="11148070" y="3487513"/>
            <a:ext cx="21489" cy="286521"/>
          </a:xfrm>
          <a:prstGeom prst="line">
            <a:avLst/>
          </a:prstGeom>
          <a:ln w="24130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H="1">
            <a:off x="10933179" y="3774034"/>
            <a:ext cx="214891" cy="85957"/>
          </a:xfrm>
          <a:prstGeom prst="line">
            <a:avLst/>
          </a:prstGeom>
          <a:ln w="24130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10789918" y="3874317"/>
            <a:ext cx="0" cy="157587"/>
          </a:xfrm>
          <a:prstGeom prst="line">
            <a:avLst/>
          </a:prstGeom>
          <a:ln w="24130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10610842" y="4031904"/>
            <a:ext cx="358152" cy="0"/>
          </a:xfrm>
          <a:prstGeom prst="line">
            <a:avLst/>
          </a:prstGeom>
          <a:ln w="24130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Oval 95"/>
          <p:cNvSpPr/>
          <p:nvPr/>
        </p:nvSpPr>
        <p:spPr>
          <a:xfrm>
            <a:off x="930529" y="5007229"/>
            <a:ext cx="379219" cy="379219"/>
          </a:xfrm>
          <a:prstGeom prst="ellipse">
            <a:avLst/>
          </a:prstGeom>
          <a:solidFill>
            <a:srgbClr val="FF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1009255" y="5083376"/>
            <a:ext cx="159878" cy="159878"/>
          </a:xfrm>
          <a:prstGeom prst="ellipse">
            <a:avLst/>
          </a:prstGeom>
          <a:noFill/>
          <a:ln w="18415">
            <a:solidFill>
              <a:srgbClr val="F47B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8" name="Connector 97"/>
          <p:cNvCxnSpPr/>
          <p:nvPr/>
        </p:nvCxnSpPr>
        <p:spPr>
          <a:xfrm>
            <a:off x="1153661" y="5227783"/>
            <a:ext cx="90255" cy="92833"/>
          </a:xfrm>
          <a:prstGeom prst="line">
            <a:avLst/>
          </a:prstGeom>
          <a:ln w="31750">
            <a:solidFill>
              <a:srgbClr val="F47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Oval 98"/>
          <p:cNvSpPr/>
          <p:nvPr/>
        </p:nvSpPr>
        <p:spPr>
          <a:xfrm>
            <a:off x="3848989" y="5007229"/>
            <a:ext cx="379219" cy="379219"/>
          </a:xfrm>
          <a:prstGeom prst="ellipse">
            <a:avLst/>
          </a:prstGeom>
          <a:solidFill>
            <a:srgbClr val="E6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3981867" y="5078219"/>
            <a:ext cx="113462" cy="113462"/>
          </a:xfrm>
          <a:prstGeom prst="ellipse">
            <a:avLst/>
          </a:prstGeom>
          <a:noFill/>
          <a:ln w="18415">
            <a:solidFill>
              <a:srgbClr val="055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1" name="Connector 100"/>
          <p:cNvCxnSpPr/>
          <p:nvPr/>
        </p:nvCxnSpPr>
        <p:spPr>
          <a:xfrm flipV="1">
            <a:off x="3914821" y="5261306"/>
            <a:ext cx="7736" cy="54152"/>
          </a:xfrm>
          <a:prstGeom prst="line">
            <a:avLst/>
          </a:prstGeom>
          <a:ln w="18415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3922557" y="5222625"/>
            <a:ext cx="41259" cy="38681"/>
          </a:xfrm>
          <a:prstGeom prst="line">
            <a:avLst/>
          </a:prstGeom>
          <a:ln w="18415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3963816" y="5222625"/>
            <a:ext cx="149565" cy="0"/>
          </a:xfrm>
          <a:prstGeom prst="line">
            <a:avLst/>
          </a:prstGeom>
          <a:ln w="18415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4113381" y="5222625"/>
            <a:ext cx="41259" cy="38681"/>
          </a:xfrm>
          <a:prstGeom prst="line">
            <a:avLst/>
          </a:prstGeom>
          <a:ln w="18415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4154640" y="5261306"/>
            <a:ext cx="7736" cy="54152"/>
          </a:xfrm>
          <a:prstGeom prst="line">
            <a:avLst/>
          </a:prstGeom>
          <a:ln w="18415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Oval 105"/>
          <p:cNvSpPr/>
          <p:nvPr/>
        </p:nvSpPr>
        <p:spPr>
          <a:xfrm>
            <a:off x="6767449" y="5007229"/>
            <a:ext cx="379219" cy="379219"/>
          </a:xfrm>
          <a:prstGeom prst="ellipse">
            <a:avLst/>
          </a:prstGeom>
          <a:solidFill>
            <a:srgbClr val="E6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6838439" y="5078219"/>
            <a:ext cx="237239" cy="237239"/>
          </a:xfrm>
          <a:prstGeom prst="ellipse">
            <a:avLst/>
          </a:prstGeom>
          <a:noFill/>
          <a:ln w="18415">
            <a:solidFill>
              <a:srgbClr val="055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8" name="Connector 107"/>
          <p:cNvCxnSpPr/>
          <p:nvPr/>
        </p:nvCxnSpPr>
        <p:spPr>
          <a:xfrm>
            <a:off x="6897749" y="5201996"/>
            <a:ext cx="51573" cy="54152"/>
          </a:xfrm>
          <a:prstGeom prst="line">
            <a:avLst/>
          </a:prstGeom>
          <a:ln w="23495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6949322" y="5142686"/>
            <a:ext cx="82519" cy="113462"/>
          </a:xfrm>
          <a:prstGeom prst="line">
            <a:avLst/>
          </a:prstGeom>
          <a:ln w="23495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Oval 109"/>
          <p:cNvSpPr/>
          <p:nvPr/>
        </p:nvSpPr>
        <p:spPr>
          <a:xfrm>
            <a:off x="9685909" y="5007229"/>
            <a:ext cx="379219" cy="379219"/>
          </a:xfrm>
          <a:prstGeom prst="ellipse">
            <a:avLst/>
          </a:prstGeom>
          <a:solidFill>
            <a:srgbClr val="FF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9808473" y="5129793"/>
            <a:ext cx="134091" cy="134091"/>
          </a:xfrm>
          <a:prstGeom prst="ellipse">
            <a:avLst/>
          </a:prstGeom>
          <a:noFill/>
          <a:ln w="18415">
            <a:solidFill>
              <a:srgbClr val="F47B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2" name="Connector 111"/>
          <p:cNvCxnSpPr/>
          <p:nvPr/>
        </p:nvCxnSpPr>
        <p:spPr>
          <a:xfrm>
            <a:off x="9950301" y="5196839"/>
            <a:ext cx="54152" cy="0"/>
          </a:xfrm>
          <a:prstGeom prst="line">
            <a:avLst/>
          </a:prstGeom>
          <a:ln w="31115">
            <a:solidFill>
              <a:srgbClr val="F47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9928397" y="5249717"/>
            <a:ext cx="38292" cy="38292"/>
          </a:xfrm>
          <a:prstGeom prst="line">
            <a:avLst/>
          </a:prstGeom>
          <a:ln w="31115">
            <a:solidFill>
              <a:srgbClr val="F47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>
            <a:off x="9875519" y="5271621"/>
            <a:ext cx="0" cy="54152"/>
          </a:xfrm>
          <a:prstGeom prst="line">
            <a:avLst/>
          </a:prstGeom>
          <a:ln w="31115">
            <a:solidFill>
              <a:srgbClr val="F47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 flipH="1">
            <a:off x="9784348" y="5249717"/>
            <a:ext cx="38292" cy="38292"/>
          </a:xfrm>
          <a:prstGeom prst="line">
            <a:avLst/>
          </a:prstGeom>
          <a:ln w="31115">
            <a:solidFill>
              <a:srgbClr val="F47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H="1">
            <a:off x="9746584" y="5196839"/>
            <a:ext cx="54152" cy="0"/>
          </a:xfrm>
          <a:prstGeom prst="line">
            <a:avLst/>
          </a:prstGeom>
          <a:ln w="31115">
            <a:solidFill>
              <a:srgbClr val="F47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H="1" flipV="1">
            <a:off x="9784348" y="5105668"/>
            <a:ext cx="38292" cy="38292"/>
          </a:xfrm>
          <a:prstGeom prst="line">
            <a:avLst/>
          </a:prstGeom>
          <a:ln w="31115">
            <a:solidFill>
              <a:srgbClr val="F47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V="1">
            <a:off x="9875519" y="5067904"/>
            <a:ext cx="0" cy="54152"/>
          </a:xfrm>
          <a:prstGeom prst="line">
            <a:avLst/>
          </a:prstGeom>
          <a:ln w="31115">
            <a:solidFill>
              <a:srgbClr val="F47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V="1">
            <a:off x="9928397" y="5105668"/>
            <a:ext cx="38292" cy="38292"/>
          </a:xfrm>
          <a:prstGeom prst="line">
            <a:avLst/>
          </a:prstGeom>
          <a:ln w="31115">
            <a:solidFill>
              <a:srgbClr val="F47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7999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80000">
                <a:srgbClr val="F7FAFE"/>
              </a:gs>
              <a:gs pos="100000">
                <a:srgbClr val="ECF5FE"/>
              </a:gs>
            </a:gsLst>
            <a:lin ang="315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Freeform 2"/>
          <p:cNvSpPr/>
          <p:nvPr/>
        </p:nvSpPr>
        <p:spPr>
          <a:xfrm>
            <a:off x="8549640" y="0"/>
            <a:ext cx="3642360" cy="4000500"/>
          </a:xfrm>
          <a:custGeom>
            <a:avLst/>
            <a:gdLst/>
            <a:ahLst/>
            <a:cxnLst/>
            <a:rect l="l" t="t" r="r" b="b"/>
            <a:pathLst>
              <a:path w="478" h="525">
                <a:moveTo>
                  <a:pt x="478" y="0"/>
                </a:moveTo>
                <a:lnTo>
                  <a:pt x="58" y="0"/>
                </a:lnTo>
                <a:lnTo>
                  <a:pt x="41" y="24"/>
                </a:lnTo>
                <a:lnTo>
                  <a:pt x="27" y="49"/>
                </a:lnTo>
                <a:lnTo>
                  <a:pt x="16" y="73"/>
                </a:lnTo>
                <a:lnTo>
                  <a:pt x="8" y="97"/>
                </a:lnTo>
                <a:lnTo>
                  <a:pt x="3" y="121"/>
                </a:lnTo>
                <a:lnTo>
                  <a:pt x="0" y="144"/>
                </a:lnTo>
                <a:lnTo>
                  <a:pt x="0" y="167"/>
                </a:lnTo>
                <a:lnTo>
                  <a:pt x="3" y="190"/>
                </a:lnTo>
                <a:lnTo>
                  <a:pt x="8" y="212"/>
                </a:lnTo>
                <a:lnTo>
                  <a:pt x="15" y="234"/>
                </a:lnTo>
                <a:lnTo>
                  <a:pt x="24" y="255"/>
                </a:lnTo>
                <a:lnTo>
                  <a:pt x="36" y="276"/>
                </a:lnTo>
                <a:lnTo>
                  <a:pt x="49" y="295"/>
                </a:lnTo>
                <a:lnTo>
                  <a:pt x="63" y="314"/>
                </a:lnTo>
                <a:lnTo>
                  <a:pt x="80" y="333"/>
                </a:lnTo>
                <a:lnTo>
                  <a:pt x="98" y="350"/>
                </a:lnTo>
                <a:lnTo>
                  <a:pt x="128" y="371"/>
                </a:lnTo>
                <a:lnTo>
                  <a:pt x="157" y="388"/>
                </a:lnTo>
                <a:lnTo>
                  <a:pt x="185" y="402"/>
                </a:lnTo>
                <a:lnTo>
                  <a:pt x="212" y="413"/>
                </a:lnTo>
                <a:lnTo>
                  <a:pt x="239" y="422"/>
                </a:lnTo>
                <a:lnTo>
                  <a:pt x="265" y="429"/>
                </a:lnTo>
                <a:lnTo>
                  <a:pt x="290" y="434"/>
                </a:lnTo>
                <a:lnTo>
                  <a:pt x="314" y="439"/>
                </a:lnTo>
                <a:lnTo>
                  <a:pt x="338" y="444"/>
                </a:lnTo>
                <a:lnTo>
                  <a:pt x="360" y="450"/>
                </a:lnTo>
                <a:lnTo>
                  <a:pt x="382" y="456"/>
                </a:lnTo>
                <a:lnTo>
                  <a:pt x="403" y="465"/>
                </a:lnTo>
                <a:lnTo>
                  <a:pt x="423" y="475"/>
                </a:lnTo>
                <a:lnTo>
                  <a:pt x="442" y="488"/>
                </a:lnTo>
                <a:lnTo>
                  <a:pt x="461" y="505"/>
                </a:lnTo>
                <a:lnTo>
                  <a:pt x="478" y="525"/>
                </a:lnTo>
                <a:lnTo>
                  <a:pt x="478" y="0"/>
                </a:lnTo>
                <a:close/>
              </a:path>
            </a:pathLst>
          </a:custGeom>
          <a:solidFill>
            <a:srgbClr val="EAF5FE">
              <a:alpha val="6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Oval 5"/>
          <p:cNvSpPr/>
          <p:nvPr/>
        </p:nvSpPr>
        <p:spPr>
          <a:xfrm>
            <a:off x="10020299" y="365759"/>
            <a:ext cx="121919" cy="121919"/>
          </a:xfrm>
          <a:prstGeom prst="ellipse">
            <a:avLst/>
          </a:prstGeom>
          <a:solidFill>
            <a:srgbClr val="48A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Oval 6"/>
          <p:cNvSpPr/>
          <p:nvPr>
            <p:custDataLst>
              <p:tags r:id="rId1"/>
            </p:custDataLst>
          </p:nvPr>
        </p:nvSpPr>
        <p:spPr>
          <a:xfrm>
            <a:off x="11452859" y="2689859"/>
            <a:ext cx="106679" cy="106679"/>
          </a:xfrm>
          <a:prstGeom prst="ellipse">
            <a:avLst/>
          </a:prstGeom>
          <a:solidFill>
            <a:srgbClr val="48A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Oval 7"/>
          <p:cNvSpPr/>
          <p:nvPr/>
        </p:nvSpPr>
        <p:spPr>
          <a:xfrm>
            <a:off x="12085319" y="868679"/>
            <a:ext cx="91439" cy="91439"/>
          </a:xfrm>
          <a:prstGeom prst="ellipse">
            <a:avLst/>
          </a:prstGeom>
          <a:solidFill>
            <a:srgbClr val="48A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Oval 8"/>
          <p:cNvSpPr/>
          <p:nvPr>
            <p:custDataLst>
              <p:tags r:id="rId2"/>
            </p:custDataLst>
          </p:nvPr>
        </p:nvSpPr>
        <p:spPr>
          <a:xfrm>
            <a:off x="10553699" y="2065019"/>
            <a:ext cx="76199" cy="76199"/>
          </a:xfrm>
          <a:prstGeom prst="ellipse">
            <a:avLst/>
          </a:prstGeom>
          <a:solidFill>
            <a:srgbClr val="48A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文字｜项目背景与核心问题"/>
          <p:cNvSpPr txBox="1"/>
          <p:nvPr/>
        </p:nvSpPr>
        <p:spPr>
          <a:xfrm>
            <a:off x="640079" y="765886"/>
            <a:ext cx="4684013" cy="52852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306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项目背景与核心问题</a:t>
            </a:r>
            <a:endParaRPr lang="zh-CN" sz="3060" b="1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文字｜建设可检索、可认领、可治理、可分析的学术成果平台"/>
          <p:cNvSpPr txBox="1"/>
          <p:nvPr/>
        </p:nvSpPr>
        <p:spPr>
          <a:xfrm>
            <a:off x="662939" y="1373504"/>
            <a:ext cx="6080759" cy="25907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建设可检索、可认领、可治理、可分析的学术成果平台</a:t>
            </a:r>
            <a:endParaRPr lang="zh-CN" sz="1500" b="0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6" name="Connector 15"/>
          <p:cNvCxnSpPr/>
          <p:nvPr/>
        </p:nvCxnSpPr>
        <p:spPr>
          <a:xfrm>
            <a:off x="617219" y="6370319"/>
            <a:ext cx="10949940" cy="0"/>
          </a:xfrm>
          <a:prstGeom prst="line">
            <a:avLst/>
          </a:prstGeom>
          <a:ln w="11429">
            <a:solidFill>
              <a:srgbClr val="D2E2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字｜学术成果分享平台   /   系统分析与设计"/>
          <p:cNvSpPr txBox="1"/>
          <p:nvPr/>
        </p:nvSpPr>
        <p:spPr>
          <a:xfrm>
            <a:off x="640079" y="6463131"/>
            <a:ext cx="3121342" cy="18653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80" b="0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学术成果分享平台   /   系统分析与设计</a:t>
            </a:r>
            <a:endParaRPr lang="zh-CN" sz="1080" b="0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>
            <p:custDataLst>
              <p:tags r:id="rId3"/>
            </p:custDataLst>
          </p:nvPr>
        </p:nvSpPr>
        <p:spPr>
          <a:xfrm>
            <a:off x="624839" y="2118359"/>
            <a:ext cx="5333999" cy="1584959"/>
          </a:xfrm>
          <a:prstGeom prst="roundRect">
            <a:avLst>
              <a:gd name="adj" fmla="val 9134"/>
            </a:avLst>
          </a:prstGeom>
          <a:solidFill>
            <a:srgbClr val="FFFFFF"/>
          </a:solidFill>
          <a:ln w="7619">
            <a:solidFill>
              <a:srgbClr val="D8E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Oval 20"/>
          <p:cNvSpPr/>
          <p:nvPr>
            <p:custDataLst>
              <p:tags r:id="rId4"/>
            </p:custDataLst>
          </p:nvPr>
        </p:nvSpPr>
        <p:spPr>
          <a:xfrm>
            <a:off x="830579" y="2476499"/>
            <a:ext cx="792479" cy="792479"/>
          </a:xfrm>
          <a:prstGeom prst="ellipse">
            <a:avLst/>
          </a:prstGeom>
          <a:solidFill>
            <a:srgbClr val="E5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文字｜数据来源分散"/>
          <p:cNvSpPr txBox="1"/>
          <p:nvPr>
            <p:custDataLst>
              <p:tags r:id="rId5"/>
            </p:custDataLst>
          </p:nvPr>
        </p:nvSpPr>
        <p:spPr>
          <a:xfrm>
            <a:off x="1844039" y="2427427"/>
            <a:ext cx="1828800" cy="36893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40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数据来源分散</a:t>
            </a:r>
            <a:endParaRPr lang="zh-CN" sz="2400" b="1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文字｜论文、专利、项目、获奖来源不同"/>
          <p:cNvSpPr txBox="1"/>
          <p:nvPr>
            <p:custDataLst>
              <p:tags r:id="rId6"/>
            </p:custDataLst>
          </p:nvPr>
        </p:nvSpPr>
        <p:spPr>
          <a:xfrm>
            <a:off x="1844039" y="2874416"/>
            <a:ext cx="2667000" cy="2152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0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论文、专利、项目、获奖来源不同</a:t>
            </a:r>
            <a:endParaRPr lang="zh-CN" sz="1400" b="0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文字｜字段结构与时间口径不一致"/>
          <p:cNvSpPr txBox="1"/>
          <p:nvPr>
            <p:custDataLst>
              <p:tags r:id="rId7"/>
            </p:custDataLst>
          </p:nvPr>
        </p:nvSpPr>
        <p:spPr>
          <a:xfrm>
            <a:off x="1844039" y="3133496"/>
            <a:ext cx="2133600" cy="2152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0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字段结构与时间口径不一致</a:t>
            </a:r>
            <a:endParaRPr lang="zh-CN" sz="1400" b="0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Rounded Rectangle 25"/>
          <p:cNvSpPr/>
          <p:nvPr>
            <p:custDataLst>
              <p:tags r:id="rId8"/>
            </p:custDataLst>
          </p:nvPr>
        </p:nvSpPr>
        <p:spPr>
          <a:xfrm>
            <a:off x="6294119" y="2118359"/>
            <a:ext cx="5333999" cy="1584959"/>
          </a:xfrm>
          <a:prstGeom prst="roundRect">
            <a:avLst>
              <a:gd name="adj" fmla="val 9134"/>
            </a:avLst>
          </a:prstGeom>
          <a:solidFill>
            <a:srgbClr val="FFFFFF"/>
          </a:solidFill>
          <a:ln w="7619">
            <a:solidFill>
              <a:srgbClr val="D8E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Oval 26"/>
          <p:cNvSpPr/>
          <p:nvPr>
            <p:custDataLst>
              <p:tags r:id="rId9"/>
            </p:custDataLst>
          </p:nvPr>
        </p:nvSpPr>
        <p:spPr>
          <a:xfrm>
            <a:off x="6499859" y="2476499"/>
            <a:ext cx="792479" cy="792479"/>
          </a:xfrm>
          <a:prstGeom prst="ellipse">
            <a:avLst/>
          </a:prstGeom>
          <a:solidFill>
            <a:srgbClr val="E5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文字｜学者身份歧义"/>
          <p:cNvSpPr txBox="1"/>
          <p:nvPr>
            <p:custDataLst>
              <p:tags r:id="rId10"/>
            </p:custDataLst>
          </p:nvPr>
        </p:nvSpPr>
        <p:spPr>
          <a:xfrm>
            <a:off x="7513319" y="2427427"/>
            <a:ext cx="1828800" cy="36893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sz="240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学者身份歧义</a:t>
            </a:r>
            <a:endParaRPr lang="zh-CN" sz="2400" b="1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文字｜同名人员、机构变更"/>
          <p:cNvSpPr txBox="1"/>
          <p:nvPr>
            <p:custDataLst>
              <p:tags r:id="rId11"/>
            </p:custDataLst>
          </p:nvPr>
        </p:nvSpPr>
        <p:spPr>
          <a:xfrm>
            <a:off x="7513319" y="2874416"/>
            <a:ext cx="1828800" cy="24574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同名人员、机构变更</a:t>
            </a:r>
            <a:endParaRPr lang="zh-CN" sz="1600" b="0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文字｜自动关联错误造成成果归属不确定"/>
          <p:cNvSpPr txBox="1"/>
          <p:nvPr>
            <p:custDataLst>
              <p:tags r:id="rId12"/>
            </p:custDataLst>
          </p:nvPr>
        </p:nvSpPr>
        <p:spPr>
          <a:xfrm>
            <a:off x="7513319" y="3133496"/>
            <a:ext cx="3048000" cy="24574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自动关联错误造成成果归属不确定</a:t>
            </a:r>
            <a:endParaRPr lang="zh-CN" sz="1600" b="0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Rounded Rectangle 31"/>
          <p:cNvSpPr/>
          <p:nvPr>
            <p:custDataLst>
              <p:tags r:id="rId13"/>
            </p:custDataLst>
          </p:nvPr>
        </p:nvSpPr>
        <p:spPr>
          <a:xfrm>
            <a:off x="624839" y="3878579"/>
            <a:ext cx="5333999" cy="1584959"/>
          </a:xfrm>
          <a:prstGeom prst="roundRect">
            <a:avLst>
              <a:gd name="adj" fmla="val 9134"/>
            </a:avLst>
          </a:prstGeom>
          <a:solidFill>
            <a:srgbClr val="FFFFFF"/>
          </a:solidFill>
          <a:ln w="7619">
            <a:solidFill>
              <a:srgbClr val="D8E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Oval 32"/>
          <p:cNvSpPr/>
          <p:nvPr>
            <p:custDataLst>
              <p:tags r:id="rId14"/>
            </p:custDataLst>
          </p:nvPr>
        </p:nvSpPr>
        <p:spPr>
          <a:xfrm>
            <a:off x="830579" y="4236719"/>
            <a:ext cx="792479" cy="792479"/>
          </a:xfrm>
          <a:prstGeom prst="ellipse">
            <a:avLst/>
          </a:prstGeom>
          <a:solidFill>
            <a:srgbClr val="FFF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文字｜管理与分析约束"/>
          <p:cNvSpPr txBox="1"/>
          <p:nvPr>
            <p:custDataLst>
              <p:tags r:id="rId15"/>
            </p:custDataLst>
          </p:nvPr>
        </p:nvSpPr>
        <p:spPr>
          <a:xfrm>
            <a:off x="1844039" y="4130497"/>
            <a:ext cx="2133600" cy="36893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sz="240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管理与分析约束</a:t>
            </a:r>
            <a:endParaRPr lang="zh-CN" sz="2400" b="1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文字｜个人成果需要认领、纠错"/>
          <p:cNvSpPr txBox="1"/>
          <p:nvPr>
            <p:custDataLst>
              <p:tags r:id="rId16"/>
            </p:custDataLst>
          </p:nvPr>
        </p:nvSpPr>
        <p:spPr>
          <a:xfrm>
            <a:off x="1844039" y="4634636"/>
            <a:ext cx="1955800" cy="2152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0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个人成果需要认领、纠错</a:t>
            </a:r>
            <a:endParaRPr lang="zh-CN" sz="1400" b="0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文字｜统计需说明来源、范围与指标含义"/>
          <p:cNvSpPr txBox="1"/>
          <p:nvPr>
            <p:custDataLst>
              <p:tags r:id="rId17"/>
            </p:custDataLst>
          </p:nvPr>
        </p:nvSpPr>
        <p:spPr>
          <a:xfrm>
            <a:off x="1844039" y="4893716"/>
            <a:ext cx="2667000" cy="2152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0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统计需说明来源、范围与指标含义</a:t>
            </a:r>
            <a:endParaRPr lang="zh-CN" sz="1400" b="0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Rounded Rectangle 37"/>
          <p:cNvSpPr/>
          <p:nvPr>
            <p:custDataLst>
              <p:tags r:id="rId18"/>
            </p:custDataLst>
          </p:nvPr>
        </p:nvSpPr>
        <p:spPr>
          <a:xfrm>
            <a:off x="6294119" y="3878579"/>
            <a:ext cx="5333999" cy="1584959"/>
          </a:xfrm>
          <a:prstGeom prst="roundRect">
            <a:avLst>
              <a:gd name="adj" fmla="val 9134"/>
            </a:avLst>
          </a:prstGeom>
          <a:solidFill>
            <a:srgbClr val="FFFFFF"/>
          </a:solidFill>
          <a:ln w="7619">
            <a:solidFill>
              <a:srgbClr val="D8E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Oval 38"/>
          <p:cNvSpPr/>
          <p:nvPr>
            <p:custDataLst>
              <p:tags r:id="rId19"/>
            </p:custDataLst>
          </p:nvPr>
        </p:nvSpPr>
        <p:spPr>
          <a:xfrm>
            <a:off x="6499859" y="4236719"/>
            <a:ext cx="792479" cy="792479"/>
          </a:xfrm>
          <a:prstGeom prst="ellipse">
            <a:avLst/>
          </a:prstGeom>
          <a:solidFill>
            <a:srgbClr val="E5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文字｜重复与字段冲突"/>
          <p:cNvSpPr txBox="1"/>
          <p:nvPr>
            <p:custDataLst>
              <p:tags r:id="rId20"/>
            </p:custDataLst>
          </p:nvPr>
        </p:nvSpPr>
        <p:spPr>
          <a:xfrm>
            <a:off x="7513319" y="4130497"/>
            <a:ext cx="2133600" cy="36893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sz="240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重复与字段冲突</a:t>
            </a:r>
            <a:endParaRPr lang="zh-CN" sz="2400" b="1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文字｜跨来源重复收录、字段不一致"/>
          <p:cNvSpPr txBox="1"/>
          <p:nvPr>
            <p:custDataLst>
              <p:tags r:id="rId21"/>
            </p:custDataLst>
          </p:nvPr>
        </p:nvSpPr>
        <p:spPr>
          <a:xfrm>
            <a:off x="7513319" y="4634636"/>
            <a:ext cx="2311400" cy="2152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0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跨来源重复收录、字段不一致</a:t>
            </a:r>
            <a:endParaRPr lang="zh-CN" sz="1400" b="0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文字｜影响检索质量及统计可靠性"/>
          <p:cNvSpPr txBox="1"/>
          <p:nvPr>
            <p:custDataLst>
              <p:tags r:id="rId22"/>
            </p:custDataLst>
          </p:nvPr>
        </p:nvSpPr>
        <p:spPr>
          <a:xfrm>
            <a:off x="7513319" y="4893716"/>
            <a:ext cx="2133600" cy="2152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0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影响检索质量及统计可靠性</a:t>
            </a:r>
            <a:endParaRPr lang="zh-CN" sz="1400" b="0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624839" y="5760719"/>
            <a:ext cx="10934699" cy="518159"/>
          </a:xfrm>
          <a:prstGeom prst="roundRect">
            <a:avLst>
              <a:gd name="adj" fmla="val 25000"/>
            </a:avLst>
          </a:prstGeom>
          <a:solidFill>
            <a:srgbClr val="EC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Oval 44"/>
          <p:cNvSpPr/>
          <p:nvPr/>
        </p:nvSpPr>
        <p:spPr>
          <a:xfrm>
            <a:off x="761999" y="5829299"/>
            <a:ext cx="380999" cy="380999"/>
          </a:xfrm>
          <a:prstGeom prst="ellipse">
            <a:avLst/>
          </a:prstGeom>
          <a:solidFill>
            <a:srgbClr val="E5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文字｜核心目标"/>
          <p:cNvSpPr txBox="1"/>
          <p:nvPr/>
        </p:nvSpPr>
        <p:spPr>
          <a:xfrm>
            <a:off x="1257299" y="5899784"/>
            <a:ext cx="1127759" cy="25907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核心目标</a:t>
            </a:r>
            <a:endParaRPr lang="zh-CN" sz="1500" b="1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文字｜连接检索、认领、数据治理与统计分析全业务链条。"/>
          <p:cNvSpPr txBox="1"/>
          <p:nvPr/>
        </p:nvSpPr>
        <p:spPr>
          <a:xfrm>
            <a:off x="2834639" y="5907252"/>
            <a:ext cx="5377433" cy="23835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8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连接检索、认领、数据治理与统计分析全业务链条。</a:t>
            </a:r>
            <a:endParaRPr lang="zh-CN" sz="1380" b="0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Oval 48"/>
          <p:cNvSpPr/>
          <p:nvPr/>
        </p:nvSpPr>
        <p:spPr>
          <a:xfrm>
            <a:off x="1037209" y="2683129"/>
            <a:ext cx="379219" cy="379219"/>
          </a:xfrm>
          <a:prstGeom prst="ellipse">
            <a:avLst/>
          </a:prstGeom>
          <a:solidFill>
            <a:srgbClr val="E6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123671" y="2697388"/>
            <a:ext cx="206295" cy="206295"/>
          </a:xfrm>
          <a:prstGeom prst="ellipse">
            <a:avLst/>
          </a:prstGeom>
          <a:noFill/>
          <a:ln w="18415">
            <a:solidFill>
              <a:srgbClr val="055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123671" y="2846952"/>
            <a:ext cx="206295" cy="206295"/>
          </a:xfrm>
          <a:prstGeom prst="ellipse">
            <a:avLst/>
          </a:prstGeom>
          <a:noFill/>
          <a:ln w="18415">
            <a:solidFill>
              <a:srgbClr val="055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" name="Connector 51"/>
          <p:cNvCxnSpPr/>
          <p:nvPr/>
        </p:nvCxnSpPr>
        <p:spPr>
          <a:xfrm>
            <a:off x="1123671" y="2800535"/>
            <a:ext cx="0" cy="149564"/>
          </a:xfrm>
          <a:prstGeom prst="line">
            <a:avLst/>
          </a:prstGeom>
          <a:ln w="18415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329966" y="2800535"/>
            <a:ext cx="0" cy="149564"/>
          </a:xfrm>
          <a:prstGeom prst="line">
            <a:avLst/>
          </a:prstGeom>
          <a:ln w="18415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Oval 53"/>
          <p:cNvSpPr/>
          <p:nvPr/>
        </p:nvSpPr>
        <p:spPr>
          <a:xfrm>
            <a:off x="1123671" y="2777327"/>
            <a:ext cx="206295" cy="206295"/>
          </a:xfrm>
          <a:prstGeom prst="ellipse">
            <a:avLst/>
          </a:prstGeom>
          <a:noFill/>
          <a:ln w="18415">
            <a:solidFill>
              <a:srgbClr val="055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6706489" y="2683129"/>
            <a:ext cx="379219" cy="379219"/>
          </a:xfrm>
          <a:prstGeom prst="ellipse">
            <a:avLst/>
          </a:prstGeom>
          <a:solidFill>
            <a:srgbClr val="FF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6839367" y="2754119"/>
            <a:ext cx="113462" cy="113462"/>
          </a:xfrm>
          <a:prstGeom prst="ellipse">
            <a:avLst/>
          </a:prstGeom>
          <a:noFill/>
          <a:ln w="18415">
            <a:solidFill>
              <a:srgbClr val="F47B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" name="Connector 56"/>
          <p:cNvCxnSpPr/>
          <p:nvPr/>
        </p:nvCxnSpPr>
        <p:spPr>
          <a:xfrm flipV="1">
            <a:off x="6772321" y="2937206"/>
            <a:ext cx="7736" cy="54152"/>
          </a:xfrm>
          <a:prstGeom prst="line">
            <a:avLst/>
          </a:prstGeom>
          <a:ln w="18415">
            <a:solidFill>
              <a:srgbClr val="F47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6780057" y="2898525"/>
            <a:ext cx="41259" cy="38681"/>
          </a:xfrm>
          <a:prstGeom prst="line">
            <a:avLst/>
          </a:prstGeom>
          <a:ln w="18415">
            <a:solidFill>
              <a:srgbClr val="F47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6821316" y="2898525"/>
            <a:ext cx="149565" cy="0"/>
          </a:xfrm>
          <a:prstGeom prst="line">
            <a:avLst/>
          </a:prstGeom>
          <a:ln w="18415">
            <a:solidFill>
              <a:srgbClr val="F47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6970881" y="2898525"/>
            <a:ext cx="41259" cy="38681"/>
          </a:xfrm>
          <a:prstGeom prst="line">
            <a:avLst/>
          </a:prstGeom>
          <a:ln w="18415">
            <a:solidFill>
              <a:srgbClr val="F47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7012140" y="2937206"/>
            <a:ext cx="7736" cy="54152"/>
          </a:xfrm>
          <a:prstGeom prst="line">
            <a:avLst/>
          </a:prstGeom>
          <a:ln w="18415">
            <a:solidFill>
              <a:srgbClr val="F47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Oval 61"/>
          <p:cNvSpPr/>
          <p:nvPr/>
        </p:nvSpPr>
        <p:spPr>
          <a:xfrm>
            <a:off x="1037209" y="4443349"/>
            <a:ext cx="379219" cy="379219"/>
          </a:xfrm>
          <a:prstGeom prst="ellipse">
            <a:avLst/>
          </a:prstGeom>
          <a:solidFill>
            <a:srgbClr val="E6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3" name="Connector 62"/>
          <p:cNvCxnSpPr/>
          <p:nvPr/>
        </p:nvCxnSpPr>
        <p:spPr>
          <a:xfrm>
            <a:off x="1226819" y="4514339"/>
            <a:ext cx="95411" cy="38680"/>
          </a:xfrm>
          <a:prstGeom prst="line">
            <a:avLst/>
          </a:prstGeom>
          <a:ln w="18415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H="1">
            <a:off x="1314494" y="4553019"/>
            <a:ext cx="7736" cy="134092"/>
          </a:xfrm>
          <a:prstGeom prst="line">
            <a:avLst/>
          </a:prstGeom>
          <a:ln w="18415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H="1">
            <a:off x="1226819" y="4687111"/>
            <a:ext cx="87675" cy="67046"/>
          </a:xfrm>
          <a:prstGeom prst="line">
            <a:avLst/>
          </a:prstGeom>
          <a:ln w="18415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H="1" flipV="1">
            <a:off x="1139143" y="4687111"/>
            <a:ext cx="87676" cy="67046"/>
          </a:xfrm>
          <a:prstGeom prst="line">
            <a:avLst/>
          </a:prstGeom>
          <a:ln w="18415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H="1" flipV="1">
            <a:off x="1131407" y="4553019"/>
            <a:ext cx="7736" cy="134092"/>
          </a:xfrm>
          <a:prstGeom prst="line">
            <a:avLst/>
          </a:prstGeom>
          <a:ln w="18415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1131407" y="4514339"/>
            <a:ext cx="95412" cy="38680"/>
          </a:xfrm>
          <a:prstGeom prst="line">
            <a:avLst/>
          </a:prstGeom>
          <a:ln w="18415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Oval 68"/>
          <p:cNvSpPr/>
          <p:nvPr/>
        </p:nvSpPr>
        <p:spPr>
          <a:xfrm>
            <a:off x="6706489" y="4443349"/>
            <a:ext cx="379219" cy="379219"/>
          </a:xfrm>
          <a:prstGeom prst="ellipse">
            <a:avLst/>
          </a:prstGeom>
          <a:solidFill>
            <a:srgbClr val="E6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818738" y="4509181"/>
            <a:ext cx="146985" cy="242396"/>
          </a:xfrm>
          <a:prstGeom prst="rect">
            <a:avLst/>
          </a:prstGeom>
          <a:noFill/>
          <a:ln w="18415">
            <a:solidFill>
              <a:srgbClr val="055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1" name="Connector 70"/>
          <p:cNvCxnSpPr/>
          <p:nvPr/>
        </p:nvCxnSpPr>
        <p:spPr>
          <a:xfrm>
            <a:off x="6849682" y="4576227"/>
            <a:ext cx="82518" cy="0"/>
          </a:xfrm>
          <a:prstGeom prst="line">
            <a:avLst/>
          </a:prstGeom>
          <a:ln w="21590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6849682" y="4640695"/>
            <a:ext cx="82518" cy="0"/>
          </a:xfrm>
          <a:prstGeom prst="line">
            <a:avLst/>
          </a:prstGeom>
          <a:ln w="21590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6849682" y="4700004"/>
            <a:ext cx="82518" cy="0"/>
          </a:xfrm>
          <a:prstGeom prst="line">
            <a:avLst/>
          </a:prstGeom>
          <a:ln w="21590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Oval 73"/>
          <p:cNvSpPr/>
          <p:nvPr/>
        </p:nvSpPr>
        <p:spPr>
          <a:xfrm>
            <a:off x="762889" y="5830189"/>
            <a:ext cx="379219" cy="379219"/>
          </a:xfrm>
          <a:prstGeom prst="ellipse">
            <a:avLst/>
          </a:prstGeom>
          <a:solidFill>
            <a:srgbClr val="FF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885453" y="5952753"/>
            <a:ext cx="134091" cy="134091"/>
          </a:xfrm>
          <a:prstGeom prst="ellipse">
            <a:avLst/>
          </a:prstGeom>
          <a:noFill/>
          <a:ln w="18415">
            <a:solidFill>
              <a:srgbClr val="F47B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6" name="Connector 75"/>
          <p:cNvCxnSpPr/>
          <p:nvPr/>
        </p:nvCxnSpPr>
        <p:spPr>
          <a:xfrm>
            <a:off x="1027281" y="6019798"/>
            <a:ext cx="54152" cy="0"/>
          </a:xfrm>
          <a:prstGeom prst="line">
            <a:avLst/>
          </a:prstGeom>
          <a:ln w="31115">
            <a:solidFill>
              <a:srgbClr val="F47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1005377" y="6072677"/>
            <a:ext cx="38292" cy="38292"/>
          </a:xfrm>
          <a:prstGeom prst="line">
            <a:avLst/>
          </a:prstGeom>
          <a:ln w="31115">
            <a:solidFill>
              <a:srgbClr val="F47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952499" y="6094581"/>
            <a:ext cx="0" cy="54152"/>
          </a:xfrm>
          <a:prstGeom prst="line">
            <a:avLst/>
          </a:prstGeom>
          <a:ln w="31115">
            <a:solidFill>
              <a:srgbClr val="F47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H="1">
            <a:off x="861328" y="6072677"/>
            <a:ext cx="38292" cy="38292"/>
          </a:xfrm>
          <a:prstGeom prst="line">
            <a:avLst/>
          </a:prstGeom>
          <a:ln w="31115">
            <a:solidFill>
              <a:srgbClr val="F47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H="1">
            <a:off x="823564" y="6019798"/>
            <a:ext cx="54152" cy="0"/>
          </a:xfrm>
          <a:prstGeom prst="line">
            <a:avLst/>
          </a:prstGeom>
          <a:ln w="31115">
            <a:solidFill>
              <a:srgbClr val="F47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H="1" flipV="1">
            <a:off x="861328" y="5928628"/>
            <a:ext cx="38292" cy="38292"/>
          </a:xfrm>
          <a:prstGeom prst="line">
            <a:avLst/>
          </a:prstGeom>
          <a:ln w="31115">
            <a:solidFill>
              <a:srgbClr val="F47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952499" y="5890864"/>
            <a:ext cx="0" cy="54152"/>
          </a:xfrm>
          <a:prstGeom prst="line">
            <a:avLst/>
          </a:prstGeom>
          <a:ln w="31115">
            <a:solidFill>
              <a:srgbClr val="F47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1005377" y="5928628"/>
            <a:ext cx="38292" cy="38292"/>
          </a:xfrm>
          <a:prstGeom prst="line">
            <a:avLst/>
          </a:prstGeom>
          <a:ln w="31115">
            <a:solidFill>
              <a:srgbClr val="F47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7999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80000">
                <a:srgbClr val="F7FAFE"/>
              </a:gs>
              <a:gs pos="100000">
                <a:srgbClr val="ECF5FE"/>
              </a:gs>
            </a:gsLst>
            <a:lin ang="315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Freeform 2"/>
          <p:cNvSpPr/>
          <p:nvPr/>
        </p:nvSpPr>
        <p:spPr>
          <a:xfrm>
            <a:off x="8549640" y="0"/>
            <a:ext cx="3642360" cy="4000500"/>
          </a:xfrm>
          <a:custGeom>
            <a:avLst/>
            <a:gdLst/>
            <a:ahLst/>
            <a:cxnLst/>
            <a:rect l="l" t="t" r="r" b="b"/>
            <a:pathLst>
              <a:path w="478" h="525">
                <a:moveTo>
                  <a:pt x="478" y="0"/>
                </a:moveTo>
                <a:lnTo>
                  <a:pt x="58" y="0"/>
                </a:lnTo>
                <a:lnTo>
                  <a:pt x="41" y="24"/>
                </a:lnTo>
                <a:lnTo>
                  <a:pt x="27" y="49"/>
                </a:lnTo>
                <a:lnTo>
                  <a:pt x="16" y="73"/>
                </a:lnTo>
                <a:lnTo>
                  <a:pt x="8" y="97"/>
                </a:lnTo>
                <a:lnTo>
                  <a:pt x="3" y="121"/>
                </a:lnTo>
                <a:lnTo>
                  <a:pt x="0" y="144"/>
                </a:lnTo>
                <a:lnTo>
                  <a:pt x="0" y="167"/>
                </a:lnTo>
                <a:lnTo>
                  <a:pt x="3" y="190"/>
                </a:lnTo>
                <a:lnTo>
                  <a:pt x="8" y="212"/>
                </a:lnTo>
                <a:lnTo>
                  <a:pt x="15" y="234"/>
                </a:lnTo>
                <a:lnTo>
                  <a:pt x="24" y="255"/>
                </a:lnTo>
                <a:lnTo>
                  <a:pt x="36" y="276"/>
                </a:lnTo>
                <a:lnTo>
                  <a:pt x="49" y="295"/>
                </a:lnTo>
                <a:lnTo>
                  <a:pt x="63" y="314"/>
                </a:lnTo>
                <a:lnTo>
                  <a:pt x="80" y="333"/>
                </a:lnTo>
                <a:lnTo>
                  <a:pt x="98" y="350"/>
                </a:lnTo>
                <a:lnTo>
                  <a:pt x="128" y="371"/>
                </a:lnTo>
                <a:lnTo>
                  <a:pt x="157" y="388"/>
                </a:lnTo>
                <a:lnTo>
                  <a:pt x="185" y="402"/>
                </a:lnTo>
                <a:lnTo>
                  <a:pt x="212" y="413"/>
                </a:lnTo>
                <a:lnTo>
                  <a:pt x="239" y="422"/>
                </a:lnTo>
                <a:lnTo>
                  <a:pt x="265" y="429"/>
                </a:lnTo>
                <a:lnTo>
                  <a:pt x="290" y="434"/>
                </a:lnTo>
                <a:lnTo>
                  <a:pt x="314" y="439"/>
                </a:lnTo>
                <a:lnTo>
                  <a:pt x="338" y="444"/>
                </a:lnTo>
                <a:lnTo>
                  <a:pt x="360" y="450"/>
                </a:lnTo>
                <a:lnTo>
                  <a:pt x="382" y="456"/>
                </a:lnTo>
                <a:lnTo>
                  <a:pt x="403" y="465"/>
                </a:lnTo>
                <a:lnTo>
                  <a:pt x="423" y="475"/>
                </a:lnTo>
                <a:lnTo>
                  <a:pt x="442" y="488"/>
                </a:lnTo>
                <a:lnTo>
                  <a:pt x="461" y="505"/>
                </a:lnTo>
                <a:lnTo>
                  <a:pt x="478" y="525"/>
                </a:lnTo>
                <a:lnTo>
                  <a:pt x="478" y="0"/>
                </a:lnTo>
                <a:close/>
              </a:path>
            </a:pathLst>
          </a:custGeom>
          <a:solidFill>
            <a:srgbClr val="EAF5FE">
              <a:alpha val="6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Oval 5"/>
          <p:cNvSpPr/>
          <p:nvPr/>
        </p:nvSpPr>
        <p:spPr>
          <a:xfrm>
            <a:off x="10020299" y="365759"/>
            <a:ext cx="121919" cy="121919"/>
          </a:xfrm>
          <a:prstGeom prst="ellipse">
            <a:avLst/>
          </a:prstGeom>
          <a:solidFill>
            <a:srgbClr val="48A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Oval 6"/>
          <p:cNvSpPr/>
          <p:nvPr/>
        </p:nvSpPr>
        <p:spPr>
          <a:xfrm>
            <a:off x="11452859" y="2689859"/>
            <a:ext cx="106679" cy="106679"/>
          </a:xfrm>
          <a:prstGeom prst="ellipse">
            <a:avLst/>
          </a:prstGeom>
          <a:solidFill>
            <a:srgbClr val="48A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Oval 7"/>
          <p:cNvSpPr/>
          <p:nvPr/>
        </p:nvSpPr>
        <p:spPr>
          <a:xfrm>
            <a:off x="12085319" y="868679"/>
            <a:ext cx="91439" cy="91439"/>
          </a:xfrm>
          <a:prstGeom prst="ellipse">
            <a:avLst/>
          </a:prstGeom>
          <a:solidFill>
            <a:srgbClr val="48A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Oval 8"/>
          <p:cNvSpPr/>
          <p:nvPr/>
        </p:nvSpPr>
        <p:spPr>
          <a:xfrm>
            <a:off x="10553699" y="2065019"/>
            <a:ext cx="76199" cy="76199"/>
          </a:xfrm>
          <a:prstGeom prst="ellipse">
            <a:avLst/>
          </a:prstGeom>
          <a:solidFill>
            <a:srgbClr val="48A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文字｜同类平台调研与启示"/>
          <p:cNvSpPr txBox="1"/>
          <p:nvPr/>
        </p:nvSpPr>
        <p:spPr>
          <a:xfrm>
            <a:off x="640079" y="765886"/>
            <a:ext cx="4684013" cy="52852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306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同类平台调研与启示</a:t>
            </a:r>
            <a:endParaRPr lang="zh-CN" sz="3060" b="1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文字｜典型平台的优势、局限与可借鉴设计"/>
          <p:cNvSpPr txBox="1"/>
          <p:nvPr/>
        </p:nvSpPr>
        <p:spPr>
          <a:xfrm>
            <a:off x="662939" y="1373504"/>
            <a:ext cx="4099559" cy="25907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典型平台的优势、局限与可借鉴设计</a:t>
            </a:r>
            <a:endParaRPr lang="zh-CN" sz="1500" b="0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6" name="Connector 15"/>
          <p:cNvCxnSpPr/>
          <p:nvPr/>
        </p:nvCxnSpPr>
        <p:spPr>
          <a:xfrm>
            <a:off x="617219" y="6370319"/>
            <a:ext cx="10949940" cy="0"/>
          </a:xfrm>
          <a:prstGeom prst="line">
            <a:avLst/>
          </a:prstGeom>
          <a:ln w="11429">
            <a:solidFill>
              <a:srgbClr val="D2E2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字｜学术成果分享平台   /   系统分析与设计"/>
          <p:cNvSpPr txBox="1"/>
          <p:nvPr/>
        </p:nvSpPr>
        <p:spPr>
          <a:xfrm>
            <a:off x="640079" y="6463131"/>
            <a:ext cx="3121342" cy="18653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80" b="0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学术成果分享平台   /   系统分析与设计</a:t>
            </a:r>
            <a:endParaRPr lang="zh-CN" sz="1080" b="0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24839" y="2118359"/>
            <a:ext cx="3482339" cy="3474719"/>
          </a:xfrm>
          <a:prstGeom prst="roundRect">
            <a:avLst>
              <a:gd name="adj" fmla="val 4166"/>
            </a:avLst>
          </a:prstGeom>
          <a:solidFill>
            <a:srgbClr val="FFFFFF"/>
          </a:solidFill>
          <a:ln w="7619">
            <a:solidFill>
              <a:srgbClr val="D8E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807719" y="2263139"/>
            <a:ext cx="579119" cy="579119"/>
          </a:xfrm>
          <a:prstGeom prst="ellipse">
            <a:avLst/>
          </a:prstGeom>
          <a:solidFill>
            <a:srgbClr val="E5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文字｜OpenAlex"/>
          <p:cNvSpPr txBox="1"/>
          <p:nvPr/>
        </p:nvSpPr>
        <p:spPr>
          <a:xfrm>
            <a:off x="1493519" y="2364562"/>
            <a:ext cx="1507128" cy="32125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6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OpenAlex</a:t>
            </a:r>
            <a:endParaRPr lang="zh-CN" sz="1860" b="1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文字｜开放学术知识图谱"/>
          <p:cNvSpPr txBox="1"/>
          <p:nvPr/>
        </p:nvSpPr>
        <p:spPr>
          <a:xfrm>
            <a:off x="1539239" y="2796793"/>
            <a:ext cx="1722119" cy="20726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开放学术知识图谱</a:t>
            </a:r>
            <a:endParaRPr lang="zh-CN" sz="1200" b="0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5" name="Connector 24"/>
          <p:cNvCxnSpPr/>
          <p:nvPr/>
        </p:nvCxnSpPr>
        <p:spPr>
          <a:xfrm>
            <a:off x="838199" y="3124199"/>
            <a:ext cx="3032760" cy="0"/>
          </a:xfrm>
          <a:prstGeom prst="line">
            <a:avLst/>
          </a:prstGeom>
          <a:ln w="15239">
            <a:solidFill>
              <a:srgbClr val="D8E7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字｜优势"/>
          <p:cNvSpPr txBox="1"/>
          <p:nvPr/>
        </p:nvSpPr>
        <p:spPr>
          <a:xfrm>
            <a:off x="853439" y="3240176"/>
            <a:ext cx="508000" cy="3073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优势</a:t>
            </a:r>
            <a:endParaRPr lang="zh-CN" sz="2000" b="1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文字｜开放数据与 API"/>
          <p:cNvSpPr txBox="1"/>
          <p:nvPr/>
        </p:nvSpPr>
        <p:spPr>
          <a:xfrm>
            <a:off x="1539239" y="3247643"/>
            <a:ext cx="1403350" cy="24574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开放数据与 API</a:t>
            </a:r>
            <a:endParaRPr lang="zh-CN" sz="1600" b="0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文字｜结构化学术元数据"/>
          <p:cNvSpPr txBox="1"/>
          <p:nvPr/>
        </p:nvSpPr>
        <p:spPr>
          <a:xfrm>
            <a:off x="1539239" y="3491483"/>
            <a:ext cx="1625600" cy="24574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结构化学术元数据</a:t>
            </a:r>
            <a:endParaRPr lang="zh-CN" sz="1600" b="0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9" name="Connector 28"/>
          <p:cNvCxnSpPr/>
          <p:nvPr/>
        </p:nvCxnSpPr>
        <p:spPr>
          <a:xfrm>
            <a:off x="838199" y="4023359"/>
            <a:ext cx="3032760" cy="0"/>
          </a:xfrm>
          <a:prstGeom prst="line">
            <a:avLst/>
          </a:prstGeom>
          <a:ln w="15239">
            <a:solidFill>
              <a:srgbClr val="D8E7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字｜局限"/>
          <p:cNvSpPr txBox="1"/>
          <p:nvPr/>
        </p:nvSpPr>
        <p:spPr>
          <a:xfrm>
            <a:off x="853439" y="4139336"/>
            <a:ext cx="508000" cy="3073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局限</a:t>
            </a:r>
            <a:endParaRPr lang="zh-CN" sz="2000" b="1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文字｜中文覆盖与本地化不足"/>
          <p:cNvSpPr txBox="1"/>
          <p:nvPr/>
        </p:nvSpPr>
        <p:spPr>
          <a:xfrm>
            <a:off x="1539239" y="4146803"/>
            <a:ext cx="2032000" cy="24574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中文覆盖与本地化不足</a:t>
            </a:r>
            <a:endParaRPr lang="zh-CN" sz="1600" b="0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文字｜个人认领功能有限"/>
          <p:cNvSpPr txBox="1"/>
          <p:nvPr/>
        </p:nvSpPr>
        <p:spPr>
          <a:xfrm>
            <a:off x="1539239" y="4390643"/>
            <a:ext cx="1625600" cy="24574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个人认领功能有限</a:t>
            </a:r>
            <a:endParaRPr lang="zh-CN" sz="1600" b="0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3" name="Connector 32"/>
          <p:cNvCxnSpPr/>
          <p:nvPr/>
        </p:nvCxnSpPr>
        <p:spPr>
          <a:xfrm>
            <a:off x="838199" y="4907279"/>
            <a:ext cx="3032760" cy="0"/>
          </a:xfrm>
          <a:prstGeom prst="line">
            <a:avLst/>
          </a:prstGeom>
          <a:ln w="15239">
            <a:solidFill>
              <a:srgbClr val="D8E7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文字｜借鉴"/>
          <p:cNvSpPr txBox="1"/>
          <p:nvPr/>
        </p:nvSpPr>
        <p:spPr>
          <a:xfrm>
            <a:off x="853439" y="5038496"/>
            <a:ext cx="508000" cy="3073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sz="200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借鉴</a:t>
            </a:r>
            <a:endParaRPr lang="zh-CN" sz="2000" b="1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文字｜开放接口、标准化数据"/>
          <p:cNvSpPr txBox="1"/>
          <p:nvPr/>
        </p:nvSpPr>
        <p:spPr>
          <a:xfrm>
            <a:off x="1539239" y="5076291"/>
            <a:ext cx="2032000" cy="24574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开放接口、标准化数据</a:t>
            </a:r>
            <a:endParaRPr lang="zh-CN" sz="1600" b="0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4381499" y="2118359"/>
            <a:ext cx="3482339" cy="3474719"/>
          </a:xfrm>
          <a:prstGeom prst="roundRect">
            <a:avLst>
              <a:gd name="adj" fmla="val 4166"/>
            </a:avLst>
          </a:prstGeom>
          <a:solidFill>
            <a:srgbClr val="FFFFFF"/>
          </a:solidFill>
          <a:ln w="7619">
            <a:solidFill>
              <a:srgbClr val="D8E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Oval 36"/>
          <p:cNvSpPr/>
          <p:nvPr/>
        </p:nvSpPr>
        <p:spPr>
          <a:xfrm>
            <a:off x="4564379" y="2263139"/>
            <a:ext cx="579119" cy="579119"/>
          </a:xfrm>
          <a:prstGeom prst="ellipse">
            <a:avLst/>
          </a:prstGeom>
          <a:solidFill>
            <a:srgbClr val="E5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文字｜Google Scholar"/>
          <p:cNvSpPr txBox="1"/>
          <p:nvPr/>
        </p:nvSpPr>
        <p:spPr>
          <a:xfrm>
            <a:off x="5250179" y="2364562"/>
            <a:ext cx="2311217" cy="32125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6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Google Scholar</a:t>
            </a:r>
            <a:endParaRPr lang="zh-CN" sz="1860" b="1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文字｜学术检索与个人画像"/>
          <p:cNvSpPr txBox="1"/>
          <p:nvPr/>
        </p:nvSpPr>
        <p:spPr>
          <a:xfrm>
            <a:off x="5250179" y="2796793"/>
            <a:ext cx="1920239" cy="20726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学术检索与个人画像</a:t>
            </a:r>
            <a:endParaRPr lang="zh-CN" sz="1200" b="0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1" name="Connector 40"/>
          <p:cNvCxnSpPr/>
          <p:nvPr/>
        </p:nvCxnSpPr>
        <p:spPr>
          <a:xfrm>
            <a:off x="4594859" y="3124199"/>
            <a:ext cx="3032760" cy="0"/>
          </a:xfrm>
          <a:prstGeom prst="line">
            <a:avLst/>
          </a:prstGeom>
          <a:ln w="15239">
            <a:solidFill>
              <a:srgbClr val="D8E7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文字｜优势"/>
          <p:cNvSpPr txBox="1"/>
          <p:nvPr/>
        </p:nvSpPr>
        <p:spPr>
          <a:xfrm>
            <a:off x="4610099" y="3240176"/>
            <a:ext cx="508000" cy="3073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优势</a:t>
            </a:r>
            <a:endParaRPr lang="zh-CN" sz="1320" b="1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文字｜检索覆盖广"/>
          <p:cNvSpPr txBox="1"/>
          <p:nvPr/>
        </p:nvSpPr>
        <p:spPr>
          <a:xfrm>
            <a:off x="5295899" y="3247643"/>
            <a:ext cx="1016000" cy="24574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检索覆盖广</a:t>
            </a:r>
            <a:endParaRPr lang="zh-CN" sz="1600" b="0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文字｜引用网络和学者画像成熟"/>
          <p:cNvSpPr txBox="1"/>
          <p:nvPr/>
        </p:nvSpPr>
        <p:spPr>
          <a:xfrm>
            <a:off x="5295899" y="3491483"/>
            <a:ext cx="2235200" cy="24574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引用网络和学者画像成熟</a:t>
            </a:r>
            <a:endParaRPr lang="zh-CN" sz="1600" b="0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5" name="Connector 44"/>
          <p:cNvCxnSpPr/>
          <p:nvPr/>
        </p:nvCxnSpPr>
        <p:spPr>
          <a:xfrm>
            <a:off x="4594859" y="4023359"/>
            <a:ext cx="3032760" cy="0"/>
          </a:xfrm>
          <a:prstGeom prst="line">
            <a:avLst/>
          </a:prstGeom>
          <a:ln w="15239">
            <a:solidFill>
              <a:srgbClr val="D8E7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文字｜局限"/>
          <p:cNvSpPr txBox="1"/>
          <p:nvPr/>
        </p:nvSpPr>
        <p:spPr>
          <a:xfrm>
            <a:off x="4610099" y="4139336"/>
            <a:ext cx="508000" cy="3073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局限</a:t>
            </a:r>
            <a:endParaRPr lang="zh-CN" sz="1320" b="1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文字｜数据透明度有限"/>
          <p:cNvSpPr txBox="1"/>
          <p:nvPr/>
        </p:nvSpPr>
        <p:spPr>
          <a:xfrm>
            <a:off x="5295899" y="4146803"/>
            <a:ext cx="1422400" cy="24574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数据透明度有限</a:t>
            </a:r>
            <a:endParaRPr lang="zh-CN" sz="1600" b="0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文字｜公开纠错机制有限"/>
          <p:cNvSpPr txBox="1"/>
          <p:nvPr/>
        </p:nvSpPr>
        <p:spPr>
          <a:xfrm>
            <a:off x="5295899" y="4390643"/>
            <a:ext cx="1625600" cy="24574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公开纠错机制有限</a:t>
            </a:r>
            <a:endParaRPr lang="zh-CN" sz="1600" b="0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9" name="Connector 48"/>
          <p:cNvCxnSpPr/>
          <p:nvPr/>
        </p:nvCxnSpPr>
        <p:spPr>
          <a:xfrm>
            <a:off x="4594859" y="4907279"/>
            <a:ext cx="3032760" cy="0"/>
          </a:xfrm>
          <a:prstGeom prst="line">
            <a:avLst/>
          </a:prstGeom>
          <a:ln w="15239">
            <a:solidFill>
              <a:srgbClr val="D8E7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文字｜借鉴"/>
          <p:cNvSpPr txBox="1"/>
          <p:nvPr/>
        </p:nvSpPr>
        <p:spPr>
          <a:xfrm>
            <a:off x="4610099" y="5038496"/>
            <a:ext cx="508000" cy="3073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借鉴</a:t>
            </a:r>
            <a:endParaRPr lang="zh-CN" sz="1320" b="1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文字｜学者门户、引文发现"/>
          <p:cNvSpPr txBox="1"/>
          <p:nvPr/>
        </p:nvSpPr>
        <p:spPr>
          <a:xfrm>
            <a:off x="5295899" y="5076291"/>
            <a:ext cx="1651000" cy="24574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sz="140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学者门户、</a:t>
            </a:r>
            <a:r>
              <a:rPr lang="zh-CN" sz="160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引文</a:t>
            </a:r>
            <a:r>
              <a:rPr lang="zh-CN" sz="140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发现</a:t>
            </a:r>
            <a:endParaRPr lang="zh-CN" sz="1400" b="0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" name="Rounded Rectangle 51"/>
          <p:cNvSpPr/>
          <p:nvPr/>
        </p:nvSpPr>
        <p:spPr>
          <a:xfrm>
            <a:off x="8138159" y="2118359"/>
            <a:ext cx="3482339" cy="3474719"/>
          </a:xfrm>
          <a:prstGeom prst="roundRect">
            <a:avLst>
              <a:gd name="adj" fmla="val 4166"/>
            </a:avLst>
          </a:prstGeom>
          <a:solidFill>
            <a:srgbClr val="FFFFFF"/>
          </a:solidFill>
          <a:ln w="7619">
            <a:solidFill>
              <a:srgbClr val="D8E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" name="Oval 52"/>
          <p:cNvSpPr/>
          <p:nvPr/>
        </p:nvSpPr>
        <p:spPr>
          <a:xfrm>
            <a:off x="8321039" y="2263139"/>
            <a:ext cx="579119" cy="579119"/>
          </a:xfrm>
          <a:prstGeom prst="ellipse">
            <a:avLst/>
          </a:prstGeom>
          <a:solidFill>
            <a:srgbClr val="FFF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5" name="文字｜中国知网"/>
          <p:cNvSpPr txBox="1"/>
          <p:nvPr/>
        </p:nvSpPr>
        <p:spPr>
          <a:xfrm>
            <a:off x="9006839" y="2364562"/>
            <a:ext cx="1365503" cy="32125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6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中国知网</a:t>
            </a:r>
            <a:endParaRPr lang="zh-CN" sz="1860" b="1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6" name="文字｜中文学术资源平台"/>
          <p:cNvSpPr txBox="1"/>
          <p:nvPr/>
        </p:nvSpPr>
        <p:spPr>
          <a:xfrm>
            <a:off x="8939529" y="2805683"/>
            <a:ext cx="1722119" cy="20726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中文学术资源平台</a:t>
            </a:r>
            <a:endParaRPr lang="zh-CN" sz="1200" b="0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57" name="Connector 56"/>
          <p:cNvCxnSpPr/>
          <p:nvPr/>
        </p:nvCxnSpPr>
        <p:spPr>
          <a:xfrm>
            <a:off x="8351519" y="3124199"/>
            <a:ext cx="3032760" cy="0"/>
          </a:xfrm>
          <a:prstGeom prst="line">
            <a:avLst/>
          </a:prstGeom>
          <a:ln w="15239">
            <a:solidFill>
              <a:srgbClr val="D8E7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文字｜优势"/>
          <p:cNvSpPr txBox="1"/>
          <p:nvPr/>
        </p:nvSpPr>
        <p:spPr>
          <a:xfrm>
            <a:off x="8366759" y="3240176"/>
            <a:ext cx="508000" cy="3073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优势</a:t>
            </a:r>
            <a:endParaRPr lang="zh-CN" sz="1320" b="1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9" name="文字｜中文资源丰富"/>
          <p:cNvSpPr txBox="1"/>
          <p:nvPr/>
        </p:nvSpPr>
        <p:spPr>
          <a:xfrm>
            <a:off x="9052559" y="3247643"/>
            <a:ext cx="1219200" cy="24574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中文资源丰富</a:t>
            </a:r>
            <a:endParaRPr lang="zh-CN" sz="1600" b="0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0" name="文字｜期刊资源和分类较细"/>
          <p:cNvSpPr txBox="1"/>
          <p:nvPr/>
        </p:nvSpPr>
        <p:spPr>
          <a:xfrm>
            <a:off x="9052559" y="3491483"/>
            <a:ext cx="1828800" cy="24574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期刊资源和分类较细</a:t>
            </a:r>
            <a:endParaRPr lang="zh-CN" sz="1600" b="0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61" name="Connector 60"/>
          <p:cNvCxnSpPr/>
          <p:nvPr/>
        </p:nvCxnSpPr>
        <p:spPr>
          <a:xfrm>
            <a:off x="8351519" y="4023359"/>
            <a:ext cx="3032760" cy="0"/>
          </a:xfrm>
          <a:prstGeom prst="line">
            <a:avLst/>
          </a:prstGeom>
          <a:ln w="15239">
            <a:solidFill>
              <a:srgbClr val="D8E7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文字｜局限"/>
          <p:cNvSpPr txBox="1"/>
          <p:nvPr/>
        </p:nvSpPr>
        <p:spPr>
          <a:xfrm>
            <a:off x="8366759" y="4139336"/>
            <a:ext cx="508000" cy="3073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局限</a:t>
            </a:r>
            <a:endParaRPr lang="zh-CN" sz="1320" b="1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3" name="文字｜开放访问有限"/>
          <p:cNvSpPr txBox="1"/>
          <p:nvPr/>
        </p:nvSpPr>
        <p:spPr>
          <a:xfrm>
            <a:off x="9052559" y="4146803"/>
            <a:ext cx="1219200" cy="24574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开放访问有限</a:t>
            </a:r>
            <a:endParaRPr lang="zh-CN" sz="1600" b="0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4" name="文字｜跨源融合与认领约束"/>
          <p:cNvSpPr txBox="1"/>
          <p:nvPr/>
        </p:nvSpPr>
        <p:spPr>
          <a:xfrm>
            <a:off x="9052559" y="4390643"/>
            <a:ext cx="1828800" cy="24574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跨源融合与认领约束</a:t>
            </a:r>
            <a:endParaRPr lang="zh-CN" sz="1600" b="0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65" name="Connector 64"/>
          <p:cNvCxnSpPr/>
          <p:nvPr/>
        </p:nvCxnSpPr>
        <p:spPr>
          <a:xfrm>
            <a:off x="8351519" y="4907279"/>
            <a:ext cx="3032760" cy="0"/>
          </a:xfrm>
          <a:prstGeom prst="line">
            <a:avLst/>
          </a:prstGeom>
          <a:ln w="15239">
            <a:solidFill>
              <a:srgbClr val="D8E7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文字｜借鉴"/>
          <p:cNvSpPr txBox="1"/>
          <p:nvPr/>
        </p:nvSpPr>
        <p:spPr>
          <a:xfrm>
            <a:off x="8366759" y="5038496"/>
            <a:ext cx="508000" cy="3073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借鉴</a:t>
            </a:r>
            <a:endParaRPr lang="zh-CN" sz="1320" b="1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7" name="文字｜本土资源与学科分类"/>
          <p:cNvSpPr txBox="1"/>
          <p:nvPr/>
        </p:nvSpPr>
        <p:spPr>
          <a:xfrm>
            <a:off x="9052559" y="5076291"/>
            <a:ext cx="1828800" cy="24574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sz="160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本土资源与学科分类</a:t>
            </a:r>
            <a:endParaRPr lang="zh-CN" sz="1600" b="0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8" name="Rounded Rectangle 67"/>
          <p:cNvSpPr/>
          <p:nvPr/>
        </p:nvSpPr>
        <p:spPr>
          <a:xfrm>
            <a:off x="624839" y="5775959"/>
            <a:ext cx="10934699" cy="441959"/>
          </a:xfrm>
          <a:prstGeom prst="roundRect">
            <a:avLst>
              <a:gd name="adj" fmla="val 25862"/>
            </a:avLst>
          </a:prstGeom>
          <a:solidFill>
            <a:srgbClr val="E8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9" name="文字｜调研结论"/>
          <p:cNvSpPr txBox="1"/>
          <p:nvPr/>
        </p:nvSpPr>
        <p:spPr>
          <a:xfrm>
            <a:off x="830579" y="5892088"/>
            <a:ext cx="1088135" cy="2487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4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调研结论</a:t>
            </a:r>
            <a:endParaRPr lang="zh-CN" sz="1440" b="1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0" name="文字｜检索要强     ·     数据治理要透明     ·     成果认领需"/>
          <p:cNvSpPr txBox="1"/>
          <p:nvPr/>
        </p:nvSpPr>
        <p:spPr>
          <a:xfrm>
            <a:off x="2567939" y="5907176"/>
            <a:ext cx="6587204" cy="2279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2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检索要强     ·     数据治理要透明     ·     成果认领需形成完整审核闭环</a:t>
            </a:r>
            <a:endParaRPr lang="zh-CN" sz="1320" b="0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1" name="Oval 70"/>
          <p:cNvSpPr/>
          <p:nvPr/>
        </p:nvSpPr>
        <p:spPr>
          <a:xfrm>
            <a:off x="907669" y="2363089"/>
            <a:ext cx="379219" cy="379219"/>
          </a:xfrm>
          <a:prstGeom prst="ellipse">
            <a:avLst/>
          </a:prstGeom>
          <a:solidFill>
            <a:srgbClr val="E6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994131" y="2377348"/>
            <a:ext cx="206295" cy="206295"/>
          </a:xfrm>
          <a:prstGeom prst="ellipse">
            <a:avLst/>
          </a:prstGeom>
          <a:noFill/>
          <a:ln w="18415">
            <a:solidFill>
              <a:srgbClr val="055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994131" y="2526912"/>
            <a:ext cx="206295" cy="206295"/>
          </a:xfrm>
          <a:prstGeom prst="ellipse">
            <a:avLst/>
          </a:prstGeom>
          <a:noFill/>
          <a:ln w="18415">
            <a:solidFill>
              <a:srgbClr val="055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4" name="Connector 73"/>
          <p:cNvCxnSpPr/>
          <p:nvPr/>
        </p:nvCxnSpPr>
        <p:spPr>
          <a:xfrm>
            <a:off x="994131" y="2480495"/>
            <a:ext cx="0" cy="149564"/>
          </a:xfrm>
          <a:prstGeom prst="line">
            <a:avLst/>
          </a:prstGeom>
          <a:ln w="18415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1200426" y="2480495"/>
            <a:ext cx="0" cy="149564"/>
          </a:xfrm>
          <a:prstGeom prst="line">
            <a:avLst/>
          </a:prstGeom>
          <a:ln w="18415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Oval 75"/>
          <p:cNvSpPr/>
          <p:nvPr/>
        </p:nvSpPr>
        <p:spPr>
          <a:xfrm>
            <a:off x="994131" y="2457287"/>
            <a:ext cx="206295" cy="206295"/>
          </a:xfrm>
          <a:prstGeom prst="ellipse">
            <a:avLst/>
          </a:prstGeom>
          <a:noFill/>
          <a:ln w="18415">
            <a:solidFill>
              <a:srgbClr val="055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4664329" y="2363089"/>
            <a:ext cx="379219" cy="379219"/>
          </a:xfrm>
          <a:prstGeom prst="ellipse">
            <a:avLst/>
          </a:prstGeom>
          <a:solidFill>
            <a:srgbClr val="FF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4743055" y="2439236"/>
            <a:ext cx="159878" cy="159878"/>
          </a:xfrm>
          <a:prstGeom prst="ellipse">
            <a:avLst/>
          </a:prstGeom>
          <a:noFill/>
          <a:ln w="18415">
            <a:solidFill>
              <a:srgbClr val="F47B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9" name="Connector 78"/>
          <p:cNvCxnSpPr/>
          <p:nvPr/>
        </p:nvCxnSpPr>
        <p:spPr>
          <a:xfrm>
            <a:off x="4887461" y="2583643"/>
            <a:ext cx="90255" cy="92833"/>
          </a:xfrm>
          <a:prstGeom prst="line">
            <a:avLst/>
          </a:prstGeom>
          <a:ln w="31750">
            <a:solidFill>
              <a:srgbClr val="F47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Oval 79"/>
          <p:cNvSpPr/>
          <p:nvPr/>
        </p:nvSpPr>
        <p:spPr>
          <a:xfrm>
            <a:off x="8420989" y="2363089"/>
            <a:ext cx="379219" cy="379219"/>
          </a:xfrm>
          <a:prstGeom prst="ellipse">
            <a:avLst/>
          </a:prstGeom>
          <a:solidFill>
            <a:srgbClr val="E6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8533238" y="2428921"/>
            <a:ext cx="146985" cy="242396"/>
          </a:xfrm>
          <a:prstGeom prst="rect">
            <a:avLst/>
          </a:prstGeom>
          <a:noFill/>
          <a:ln w="18415">
            <a:solidFill>
              <a:srgbClr val="055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2" name="Connector 81"/>
          <p:cNvCxnSpPr/>
          <p:nvPr/>
        </p:nvCxnSpPr>
        <p:spPr>
          <a:xfrm>
            <a:off x="8564182" y="2495967"/>
            <a:ext cx="82518" cy="0"/>
          </a:xfrm>
          <a:prstGeom prst="line">
            <a:avLst/>
          </a:prstGeom>
          <a:ln w="21590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8564182" y="2560435"/>
            <a:ext cx="82518" cy="0"/>
          </a:xfrm>
          <a:prstGeom prst="line">
            <a:avLst/>
          </a:prstGeom>
          <a:ln w="21590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8564182" y="2619744"/>
            <a:ext cx="82518" cy="0"/>
          </a:xfrm>
          <a:prstGeom prst="line">
            <a:avLst/>
          </a:prstGeom>
          <a:ln w="21590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7999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80000">
                <a:srgbClr val="F7FAFE"/>
              </a:gs>
              <a:gs pos="100000">
                <a:srgbClr val="ECF5FE"/>
              </a:gs>
            </a:gsLst>
            <a:lin ang="315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Freeform 2"/>
          <p:cNvSpPr/>
          <p:nvPr/>
        </p:nvSpPr>
        <p:spPr>
          <a:xfrm>
            <a:off x="8549640" y="0"/>
            <a:ext cx="3642360" cy="4000500"/>
          </a:xfrm>
          <a:custGeom>
            <a:avLst/>
            <a:gdLst/>
            <a:ahLst/>
            <a:cxnLst/>
            <a:rect l="l" t="t" r="r" b="b"/>
            <a:pathLst>
              <a:path w="478" h="525">
                <a:moveTo>
                  <a:pt x="478" y="0"/>
                </a:moveTo>
                <a:lnTo>
                  <a:pt x="58" y="0"/>
                </a:lnTo>
                <a:lnTo>
                  <a:pt x="41" y="24"/>
                </a:lnTo>
                <a:lnTo>
                  <a:pt x="27" y="49"/>
                </a:lnTo>
                <a:lnTo>
                  <a:pt x="16" y="73"/>
                </a:lnTo>
                <a:lnTo>
                  <a:pt x="8" y="97"/>
                </a:lnTo>
                <a:lnTo>
                  <a:pt x="3" y="121"/>
                </a:lnTo>
                <a:lnTo>
                  <a:pt x="0" y="144"/>
                </a:lnTo>
                <a:lnTo>
                  <a:pt x="0" y="167"/>
                </a:lnTo>
                <a:lnTo>
                  <a:pt x="3" y="190"/>
                </a:lnTo>
                <a:lnTo>
                  <a:pt x="8" y="212"/>
                </a:lnTo>
                <a:lnTo>
                  <a:pt x="15" y="234"/>
                </a:lnTo>
                <a:lnTo>
                  <a:pt x="24" y="255"/>
                </a:lnTo>
                <a:lnTo>
                  <a:pt x="36" y="276"/>
                </a:lnTo>
                <a:lnTo>
                  <a:pt x="49" y="295"/>
                </a:lnTo>
                <a:lnTo>
                  <a:pt x="63" y="314"/>
                </a:lnTo>
                <a:lnTo>
                  <a:pt x="80" y="333"/>
                </a:lnTo>
                <a:lnTo>
                  <a:pt x="98" y="350"/>
                </a:lnTo>
                <a:lnTo>
                  <a:pt x="128" y="371"/>
                </a:lnTo>
                <a:lnTo>
                  <a:pt x="157" y="388"/>
                </a:lnTo>
                <a:lnTo>
                  <a:pt x="185" y="402"/>
                </a:lnTo>
                <a:lnTo>
                  <a:pt x="212" y="413"/>
                </a:lnTo>
                <a:lnTo>
                  <a:pt x="239" y="422"/>
                </a:lnTo>
                <a:lnTo>
                  <a:pt x="265" y="429"/>
                </a:lnTo>
                <a:lnTo>
                  <a:pt x="290" y="434"/>
                </a:lnTo>
                <a:lnTo>
                  <a:pt x="314" y="439"/>
                </a:lnTo>
                <a:lnTo>
                  <a:pt x="338" y="444"/>
                </a:lnTo>
                <a:lnTo>
                  <a:pt x="360" y="450"/>
                </a:lnTo>
                <a:lnTo>
                  <a:pt x="382" y="456"/>
                </a:lnTo>
                <a:lnTo>
                  <a:pt x="403" y="465"/>
                </a:lnTo>
                <a:lnTo>
                  <a:pt x="423" y="475"/>
                </a:lnTo>
                <a:lnTo>
                  <a:pt x="442" y="488"/>
                </a:lnTo>
                <a:lnTo>
                  <a:pt x="461" y="505"/>
                </a:lnTo>
                <a:lnTo>
                  <a:pt x="478" y="525"/>
                </a:lnTo>
                <a:lnTo>
                  <a:pt x="478" y="0"/>
                </a:lnTo>
                <a:close/>
              </a:path>
            </a:pathLst>
          </a:custGeom>
          <a:solidFill>
            <a:srgbClr val="EAF5FE">
              <a:alpha val="6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Oval 5"/>
          <p:cNvSpPr/>
          <p:nvPr/>
        </p:nvSpPr>
        <p:spPr>
          <a:xfrm>
            <a:off x="10020299" y="365759"/>
            <a:ext cx="121919" cy="121919"/>
          </a:xfrm>
          <a:prstGeom prst="ellipse">
            <a:avLst/>
          </a:prstGeom>
          <a:solidFill>
            <a:srgbClr val="48A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Oval 6"/>
          <p:cNvSpPr/>
          <p:nvPr/>
        </p:nvSpPr>
        <p:spPr>
          <a:xfrm>
            <a:off x="11452859" y="2689859"/>
            <a:ext cx="106679" cy="106679"/>
          </a:xfrm>
          <a:prstGeom prst="ellipse">
            <a:avLst/>
          </a:prstGeom>
          <a:solidFill>
            <a:srgbClr val="48A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Oval 7"/>
          <p:cNvSpPr/>
          <p:nvPr/>
        </p:nvSpPr>
        <p:spPr>
          <a:xfrm>
            <a:off x="12085319" y="868679"/>
            <a:ext cx="91439" cy="91439"/>
          </a:xfrm>
          <a:prstGeom prst="ellipse">
            <a:avLst/>
          </a:prstGeom>
          <a:solidFill>
            <a:srgbClr val="48A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Oval 8"/>
          <p:cNvSpPr/>
          <p:nvPr/>
        </p:nvSpPr>
        <p:spPr>
          <a:xfrm>
            <a:off x="10553699" y="2065019"/>
            <a:ext cx="76199" cy="76199"/>
          </a:xfrm>
          <a:prstGeom prst="ellipse">
            <a:avLst/>
          </a:prstGeom>
          <a:solidFill>
            <a:srgbClr val="48A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文字｜学术成果数据来源调研"/>
          <p:cNvSpPr txBox="1"/>
          <p:nvPr/>
        </p:nvSpPr>
        <p:spPr>
          <a:xfrm>
            <a:off x="640079" y="765886"/>
            <a:ext cx="5189219" cy="52852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306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学术成果数据来源调研</a:t>
            </a:r>
            <a:endParaRPr lang="zh-CN" sz="3060" b="1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文字｜多源公开数据：明确范围、字段、可用方式与合规边界"/>
          <p:cNvSpPr txBox="1"/>
          <p:nvPr/>
        </p:nvSpPr>
        <p:spPr>
          <a:xfrm>
            <a:off x="662939" y="1373504"/>
            <a:ext cx="6080759" cy="25907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多源公开数据：明确范围、字段、可用方式与合规边界</a:t>
            </a:r>
            <a:endParaRPr lang="zh-CN" sz="1500" b="0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6" name="Connector 15"/>
          <p:cNvCxnSpPr/>
          <p:nvPr/>
        </p:nvCxnSpPr>
        <p:spPr>
          <a:xfrm>
            <a:off x="617219" y="6370319"/>
            <a:ext cx="10949940" cy="0"/>
          </a:xfrm>
          <a:prstGeom prst="line">
            <a:avLst/>
          </a:prstGeom>
          <a:ln w="11429">
            <a:solidFill>
              <a:srgbClr val="D2E2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字｜学术成果分享平台   /   系统分析与设计"/>
          <p:cNvSpPr txBox="1"/>
          <p:nvPr/>
        </p:nvSpPr>
        <p:spPr>
          <a:xfrm>
            <a:off x="640079" y="6463131"/>
            <a:ext cx="3121342" cy="18653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80" b="0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学术成果分享平台   /   系统分析与设计</a:t>
            </a:r>
            <a:endParaRPr lang="zh-CN" sz="1080" b="0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24839" y="2194559"/>
            <a:ext cx="2697479" cy="3208019"/>
          </a:xfrm>
          <a:prstGeom prst="roundRect">
            <a:avLst>
              <a:gd name="adj" fmla="val 5367"/>
            </a:avLst>
          </a:prstGeom>
          <a:solidFill>
            <a:srgbClr val="FFFFFF"/>
          </a:solidFill>
          <a:ln w="7619">
            <a:solidFill>
              <a:srgbClr val="D8E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784859" y="2369819"/>
            <a:ext cx="670559" cy="670559"/>
          </a:xfrm>
          <a:prstGeom prst="ellipse">
            <a:avLst/>
          </a:prstGeom>
          <a:solidFill>
            <a:srgbClr val="E5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文字｜论文"/>
          <p:cNvSpPr txBox="1"/>
          <p:nvPr/>
        </p:nvSpPr>
        <p:spPr>
          <a:xfrm>
            <a:off x="1539239" y="2539745"/>
            <a:ext cx="731519" cy="32918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论文</a:t>
            </a:r>
            <a:endParaRPr lang="zh-CN" sz="2000" b="1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文字｜来源渠道"/>
          <p:cNvSpPr txBox="1"/>
          <p:nvPr/>
        </p:nvSpPr>
        <p:spPr>
          <a:xfrm>
            <a:off x="830579" y="3131820"/>
            <a:ext cx="929639" cy="28346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10" b="1" noProof="0" dirty="0">
                <a:solidFill>
                  <a:srgbClr val="1721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来源渠道</a:t>
            </a:r>
            <a:endParaRPr lang="zh-CN" sz="1310" b="1" noProof="0" dirty="0">
              <a:solidFill>
                <a:srgbClr val="1721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文字｜Crossref / OpenAlex / DBLP"/>
          <p:cNvSpPr txBox="1"/>
          <p:nvPr/>
        </p:nvSpPr>
        <p:spPr>
          <a:xfrm>
            <a:off x="830579" y="3429000"/>
            <a:ext cx="2432304" cy="28346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30" b="1" noProof="0" dirty="0">
                <a:solidFill>
                  <a:srgbClr val="1B39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Crossref / OpenAlex / DBLP</a:t>
            </a:r>
            <a:endParaRPr lang="zh-CN" sz="1330" b="1" noProof="0" dirty="0">
              <a:solidFill>
                <a:srgbClr val="1B39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6" name="Connector 25"/>
          <p:cNvCxnSpPr/>
          <p:nvPr/>
        </p:nvCxnSpPr>
        <p:spPr>
          <a:xfrm>
            <a:off x="830579" y="3787139"/>
            <a:ext cx="2278380" cy="0"/>
          </a:xfrm>
          <a:prstGeom prst="line">
            <a:avLst/>
          </a:prstGeom>
          <a:ln w="15239">
            <a:solidFill>
              <a:srgbClr val="D8E7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字｜主要字段"/>
          <p:cNvSpPr txBox="1"/>
          <p:nvPr/>
        </p:nvSpPr>
        <p:spPr>
          <a:xfrm>
            <a:off x="830579" y="3918204"/>
            <a:ext cx="929639" cy="28346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10" b="1" noProof="0" dirty="0">
                <a:solidFill>
                  <a:srgbClr val="1721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主要字段</a:t>
            </a:r>
            <a:endParaRPr lang="zh-CN" sz="1310" b="1" noProof="0" dirty="0">
              <a:solidFill>
                <a:srgbClr val="1721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文字｜DOI、标题、作者、期刊、"/>
          <p:cNvSpPr txBox="1"/>
          <p:nvPr/>
        </p:nvSpPr>
        <p:spPr>
          <a:xfrm>
            <a:off x="830579" y="4206240"/>
            <a:ext cx="2450592" cy="29260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00" b="1" noProof="0" dirty="0">
                <a:solidFill>
                  <a:srgbClr val="1721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DOI、标题、作者、期刊、</a:t>
            </a:r>
            <a:endParaRPr lang="zh-CN" sz="1400" b="1" noProof="0" dirty="0">
              <a:solidFill>
                <a:srgbClr val="1721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文字｜发表时间"/>
          <p:cNvSpPr txBox="1"/>
          <p:nvPr/>
        </p:nvSpPr>
        <p:spPr>
          <a:xfrm>
            <a:off x="830579" y="4466844"/>
            <a:ext cx="2450592" cy="29260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00" b="1" noProof="0" dirty="0">
                <a:solidFill>
                  <a:srgbClr val="1721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发表时间</a:t>
            </a:r>
            <a:endParaRPr lang="zh-CN" sz="1400" b="1" noProof="0" dirty="0">
              <a:solidFill>
                <a:srgbClr val="1721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0" name="Connector 29"/>
          <p:cNvCxnSpPr/>
          <p:nvPr/>
        </p:nvCxnSpPr>
        <p:spPr>
          <a:xfrm>
            <a:off x="830579" y="4892039"/>
            <a:ext cx="2278380" cy="0"/>
          </a:xfrm>
          <a:prstGeom prst="line">
            <a:avLst/>
          </a:prstGeom>
          <a:ln w="15239">
            <a:solidFill>
              <a:srgbClr val="D8E7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字｜优先采用开放 API 或授权数据"/>
          <p:cNvSpPr txBox="1"/>
          <p:nvPr/>
        </p:nvSpPr>
        <p:spPr>
          <a:xfrm>
            <a:off x="830579" y="5020056"/>
            <a:ext cx="2286000" cy="31089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65" b="1" noProof="0" dirty="0">
                <a:solidFill>
                  <a:srgbClr val="1721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优先采用开放 API 或授权数据</a:t>
            </a:r>
            <a:endParaRPr lang="zh-CN" sz="1265" b="0" noProof="0" dirty="0">
              <a:solidFill>
                <a:srgbClr val="1721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3520439" y="2194559"/>
            <a:ext cx="2697479" cy="3208019"/>
          </a:xfrm>
          <a:prstGeom prst="roundRect">
            <a:avLst>
              <a:gd name="adj" fmla="val 5367"/>
            </a:avLst>
          </a:prstGeom>
          <a:solidFill>
            <a:srgbClr val="FFFFFF"/>
          </a:solidFill>
          <a:ln w="7619">
            <a:solidFill>
              <a:srgbClr val="D8E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Oval 32"/>
          <p:cNvSpPr/>
          <p:nvPr/>
        </p:nvSpPr>
        <p:spPr>
          <a:xfrm>
            <a:off x="3680459" y="2369819"/>
            <a:ext cx="670559" cy="670559"/>
          </a:xfrm>
          <a:prstGeom prst="ellipse">
            <a:avLst/>
          </a:prstGeom>
          <a:solidFill>
            <a:srgbClr val="FFF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文字｜专利"/>
          <p:cNvSpPr txBox="1"/>
          <p:nvPr/>
        </p:nvSpPr>
        <p:spPr>
          <a:xfrm>
            <a:off x="4434839" y="2539745"/>
            <a:ext cx="731519" cy="32918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专利</a:t>
            </a:r>
            <a:endParaRPr lang="zh-CN" sz="2000" b="1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文字｜来源渠道"/>
          <p:cNvSpPr txBox="1"/>
          <p:nvPr/>
        </p:nvSpPr>
        <p:spPr>
          <a:xfrm>
            <a:off x="3726179" y="3131820"/>
            <a:ext cx="929639" cy="28346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10" b="1" noProof="0" dirty="0">
                <a:solidFill>
                  <a:srgbClr val="1721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来源渠道</a:t>
            </a:r>
            <a:endParaRPr lang="zh-CN" sz="1310" b="1" noProof="0" dirty="0">
              <a:solidFill>
                <a:srgbClr val="1721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文字｜国家或地区专利公开信息"/>
          <p:cNvSpPr txBox="1"/>
          <p:nvPr/>
        </p:nvSpPr>
        <p:spPr>
          <a:xfrm>
            <a:off x="3726179" y="3429000"/>
            <a:ext cx="2377440" cy="28346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70" b="1" noProof="0" dirty="0">
                <a:solidFill>
                  <a:srgbClr val="1B39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国家或地区专利公开信息</a:t>
            </a:r>
            <a:endParaRPr lang="zh-CN" sz="1370" b="1" noProof="0" dirty="0">
              <a:solidFill>
                <a:srgbClr val="1B39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8" name="Connector 37"/>
          <p:cNvCxnSpPr/>
          <p:nvPr/>
        </p:nvCxnSpPr>
        <p:spPr>
          <a:xfrm>
            <a:off x="3726179" y="3787139"/>
            <a:ext cx="2278380" cy="0"/>
          </a:xfrm>
          <a:prstGeom prst="line">
            <a:avLst/>
          </a:prstGeom>
          <a:ln w="15239">
            <a:solidFill>
              <a:srgbClr val="D8E7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文字｜主要字段"/>
          <p:cNvSpPr txBox="1"/>
          <p:nvPr/>
        </p:nvSpPr>
        <p:spPr>
          <a:xfrm>
            <a:off x="3726179" y="3918204"/>
            <a:ext cx="929639" cy="28346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10" b="1" noProof="0" dirty="0">
                <a:solidFill>
                  <a:srgbClr val="1721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主要字段</a:t>
            </a:r>
            <a:endParaRPr lang="zh-CN" sz="1310" b="1" noProof="0" dirty="0">
              <a:solidFill>
                <a:srgbClr val="1721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文字｜申请号、公开号、名称、"/>
          <p:cNvSpPr txBox="1"/>
          <p:nvPr/>
        </p:nvSpPr>
        <p:spPr>
          <a:xfrm>
            <a:off x="3726179" y="4206240"/>
            <a:ext cx="2450592" cy="29260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00" b="1" noProof="0" dirty="0">
                <a:solidFill>
                  <a:srgbClr val="1721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申请号、公开号、名称、</a:t>
            </a:r>
            <a:endParaRPr lang="zh-CN" sz="1400" b="1" noProof="0" dirty="0">
              <a:solidFill>
                <a:srgbClr val="1721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文字｜发明人"/>
          <p:cNvSpPr txBox="1"/>
          <p:nvPr/>
        </p:nvSpPr>
        <p:spPr>
          <a:xfrm>
            <a:off x="3726179" y="4466844"/>
            <a:ext cx="2450592" cy="29260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00" b="1" noProof="0" dirty="0">
                <a:solidFill>
                  <a:srgbClr val="1721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发明人</a:t>
            </a:r>
            <a:endParaRPr lang="zh-CN" sz="1400" b="1" noProof="0" dirty="0">
              <a:solidFill>
                <a:srgbClr val="1721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2" name="Connector 41"/>
          <p:cNvCxnSpPr/>
          <p:nvPr/>
        </p:nvCxnSpPr>
        <p:spPr>
          <a:xfrm>
            <a:off x="3726179" y="4892039"/>
            <a:ext cx="2278380" cy="0"/>
          </a:xfrm>
          <a:prstGeom prst="line">
            <a:avLst/>
          </a:prstGeom>
          <a:ln w="15239">
            <a:solidFill>
              <a:srgbClr val="D8E7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文字｜区分申请、公开与授权编号"/>
          <p:cNvSpPr txBox="1"/>
          <p:nvPr/>
        </p:nvSpPr>
        <p:spPr>
          <a:xfrm>
            <a:off x="3726179" y="5020056"/>
            <a:ext cx="2286000" cy="31089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65" b="1" noProof="0" dirty="0">
                <a:solidFill>
                  <a:srgbClr val="1721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区分申请、公开与授权编号</a:t>
            </a:r>
            <a:endParaRPr lang="zh-CN" sz="1265" b="0" noProof="0" dirty="0">
              <a:solidFill>
                <a:srgbClr val="1721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6416039" y="2194559"/>
            <a:ext cx="2697479" cy="3208019"/>
          </a:xfrm>
          <a:prstGeom prst="roundRect">
            <a:avLst>
              <a:gd name="adj" fmla="val 5367"/>
            </a:avLst>
          </a:prstGeom>
          <a:solidFill>
            <a:srgbClr val="FFFFFF"/>
          </a:solidFill>
          <a:ln w="7619">
            <a:solidFill>
              <a:srgbClr val="D8E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Oval 44"/>
          <p:cNvSpPr/>
          <p:nvPr/>
        </p:nvSpPr>
        <p:spPr>
          <a:xfrm>
            <a:off x="6576059" y="2369819"/>
            <a:ext cx="670559" cy="670559"/>
          </a:xfrm>
          <a:prstGeom prst="ellipse">
            <a:avLst/>
          </a:prstGeom>
          <a:solidFill>
            <a:srgbClr val="E5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文字｜科研项目"/>
          <p:cNvSpPr txBox="1"/>
          <p:nvPr/>
        </p:nvSpPr>
        <p:spPr>
          <a:xfrm>
            <a:off x="7330439" y="2539745"/>
            <a:ext cx="1325879" cy="32918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科研项目</a:t>
            </a:r>
            <a:endParaRPr lang="zh-CN" sz="2000" b="1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文字｜来源渠道"/>
          <p:cNvSpPr txBox="1"/>
          <p:nvPr/>
        </p:nvSpPr>
        <p:spPr>
          <a:xfrm>
            <a:off x="6621779" y="3131820"/>
            <a:ext cx="929639" cy="28346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10" b="1" noProof="0" dirty="0">
                <a:solidFill>
                  <a:srgbClr val="1721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来源渠道</a:t>
            </a:r>
            <a:endParaRPr lang="zh-CN" sz="1310" b="1" noProof="0" dirty="0">
              <a:solidFill>
                <a:srgbClr val="1721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文字｜科研资助机构官方公开清单"/>
          <p:cNvSpPr txBox="1"/>
          <p:nvPr/>
        </p:nvSpPr>
        <p:spPr>
          <a:xfrm>
            <a:off x="6621779" y="3429000"/>
            <a:ext cx="2432304" cy="28346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30" b="1" noProof="0" dirty="0">
                <a:solidFill>
                  <a:srgbClr val="1B39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科研资助机构官方公开清单</a:t>
            </a:r>
            <a:endParaRPr lang="zh-CN" sz="1330" b="1" noProof="0" dirty="0">
              <a:solidFill>
                <a:srgbClr val="1B39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50" name="Connector 49"/>
          <p:cNvCxnSpPr/>
          <p:nvPr/>
        </p:nvCxnSpPr>
        <p:spPr>
          <a:xfrm>
            <a:off x="6621779" y="3787139"/>
            <a:ext cx="2278380" cy="0"/>
          </a:xfrm>
          <a:prstGeom prst="line">
            <a:avLst/>
          </a:prstGeom>
          <a:ln w="15239">
            <a:solidFill>
              <a:srgbClr val="D8E7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文字｜主要字段"/>
          <p:cNvSpPr txBox="1"/>
          <p:nvPr/>
        </p:nvSpPr>
        <p:spPr>
          <a:xfrm>
            <a:off x="6621779" y="3918204"/>
            <a:ext cx="929639" cy="28346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10" b="1" noProof="0" dirty="0">
                <a:solidFill>
                  <a:srgbClr val="1721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主要字段</a:t>
            </a:r>
            <a:endParaRPr lang="zh-CN" sz="1310" b="1" noProof="0" dirty="0">
              <a:solidFill>
                <a:srgbClr val="1721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" name="文字｜批准号、项目名称、"/>
          <p:cNvSpPr txBox="1"/>
          <p:nvPr/>
        </p:nvSpPr>
        <p:spPr>
          <a:xfrm>
            <a:off x="6621779" y="4206240"/>
            <a:ext cx="2450592" cy="29260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00" b="1" noProof="0" dirty="0">
                <a:solidFill>
                  <a:srgbClr val="1721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批准号、项目名称、</a:t>
            </a:r>
            <a:endParaRPr lang="zh-CN" sz="1400" b="1" noProof="0" dirty="0">
              <a:solidFill>
                <a:srgbClr val="1721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" name="文字｜负责人、年度"/>
          <p:cNvSpPr txBox="1"/>
          <p:nvPr/>
        </p:nvSpPr>
        <p:spPr>
          <a:xfrm>
            <a:off x="6621779" y="4466844"/>
            <a:ext cx="2450592" cy="29260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00" b="1" noProof="0" dirty="0">
                <a:solidFill>
                  <a:srgbClr val="1721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负责人、年度</a:t>
            </a:r>
            <a:endParaRPr lang="zh-CN" sz="1400" b="1" noProof="0" dirty="0">
              <a:solidFill>
                <a:srgbClr val="1721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54" name="Connector 53"/>
          <p:cNvCxnSpPr/>
          <p:nvPr/>
        </p:nvCxnSpPr>
        <p:spPr>
          <a:xfrm>
            <a:off x="6621779" y="4892039"/>
            <a:ext cx="2278380" cy="0"/>
          </a:xfrm>
          <a:prstGeom prst="line">
            <a:avLst/>
          </a:prstGeom>
          <a:ln w="15239">
            <a:solidFill>
              <a:srgbClr val="D8E7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文字｜一期可先覆盖国家级项目"/>
          <p:cNvSpPr txBox="1"/>
          <p:nvPr/>
        </p:nvSpPr>
        <p:spPr>
          <a:xfrm>
            <a:off x="6621779" y="5020056"/>
            <a:ext cx="2286000" cy="31089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65" b="1" noProof="0" dirty="0">
                <a:solidFill>
                  <a:srgbClr val="1721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一期可先覆盖国家级项目</a:t>
            </a:r>
            <a:endParaRPr lang="zh-CN" sz="1265" b="0" noProof="0" dirty="0">
              <a:solidFill>
                <a:srgbClr val="1721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6" name="Rounded Rectangle 55"/>
          <p:cNvSpPr/>
          <p:nvPr/>
        </p:nvSpPr>
        <p:spPr>
          <a:xfrm>
            <a:off x="9311639" y="2194559"/>
            <a:ext cx="2697479" cy="3208019"/>
          </a:xfrm>
          <a:prstGeom prst="roundRect">
            <a:avLst>
              <a:gd name="adj" fmla="val 5367"/>
            </a:avLst>
          </a:prstGeom>
          <a:solidFill>
            <a:srgbClr val="FFFFFF"/>
          </a:solidFill>
          <a:ln w="7619">
            <a:solidFill>
              <a:srgbClr val="D8E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7" name="Oval 56"/>
          <p:cNvSpPr/>
          <p:nvPr/>
        </p:nvSpPr>
        <p:spPr>
          <a:xfrm>
            <a:off x="9471659" y="2369819"/>
            <a:ext cx="670559" cy="670559"/>
          </a:xfrm>
          <a:prstGeom prst="ellipse">
            <a:avLst/>
          </a:prstGeom>
          <a:solidFill>
            <a:srgbClr val="E5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9" name="文字｜获奖信息"/>
          <p:cNvSpPr txBox="1"/>
          <p:nvPr/>
        </p:nvSpPr>
        <p:spPr>
          <a:xfrm>
            <a:off x="10226039" y="2539745"/>
            <a:ext cx="1325879" cy="32918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获奖信息</a:t>
            </a:r>
            <a:endParaRPr lang="zh-CN" sz="2000" b="1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0" name="文字｜来源渠道"/>
          <p:cNvSpPr txBox="1"/>
          <p:nvPr/>
        </p:nvSpPr>
        <p:spPr>
          <a:xfrm>
            <a:off x="9517379" y="3131820"/>
            <a:ext cx="929639" cy="28346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10" b="1" noProof="0" dirty="0">
                <a:solidFill>
                  <a:srgbClr val="1721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来源渠道</a:t>
            </a:r>
            <a:endParaRPr lang="zh-CN" sz="1310" b="1" noProof="0" dirty="0">
              <a:solidFill>
                <a:srgbClr val="1721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1" name="文字｜学会、政府部门公开公告"/>
          <p:cNvSpPr txBox="1"/>
          <p:nvPr/>
        </p:nvSpPr>
        <p:spPr>
          <a:xfrm>
            <a:off x="9517379" y="3429000"/>
            <a:ext cx="2432304" cy="28346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70" b="1" noProof="0" dirty="0">
                <a:solidFill>
                  <a:srgbClr val="1B39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学会、政府部门公开公告</a:t>
            </a:r>
            <a:endParaRPr lang="zh-CN" sz="1370" b="1" noProof="0" dirty="0">
              <a:solidFill>
                <a:srgbClr val="1B39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62" name="Connector 61"/>
          <p:cNvCxnSpPr/>
          <p:nvPr/>
        </p:nvCxnSpPr>
        <p:spPr>
          <a:xfrm>
            <a:off x="9517379" y="3787139"/>
            <a:ext cx="2278380" cy="0"/>
          </a:xfrm>
          <a:prstGeom prst="line">
            <a:avLst/>
          </a:prstGeom>
          <a:ln w="15239">
            <a:solidFill>
              <a:srgbClr val="D8E7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文字｜主要字段"/>
          <p:cNvSpPr txBox="1"/>
          <p:nvPr/>
        </p:nvSpPr>
        <p:spPr>
          <a:xfrm>
            <a:off x="9517379" y="3918204"/>
            <a:ext cx="929639" cy="28346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10" b="1" noProof="0" dirty="0">
                <a:solidFill>
                  <a:srgbClr val="1721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主要字段</a:t>
            </a:r>
            <a:endParaRPr lang="zh-CN" sz="1310" b="1" noProof="0" dirty="0">
              <a:solidFill>
                <a:srgbClr val="1721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4" name="文字｜奖项、年度、获奖项目"/>
          <p:cNvSpPr txBox="1"/>
          <p:nvPr/>
        </p:nvSpPr>
        <p:spPr>
          <a:xfrm>
            <a:off x="9517379" y="4206240"/>
            <a:ext cx="2450592" cy="29260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00" b="1" noProof="0" dirty="0">
                <a:solidFill>
                  <a:srgbClr val="1721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奖项、年度、获奖项目</a:t>
            </a:r>
            <a:endParaRPr lang="zh-CN" sz="1400" b="1" noProof="0" dirty="0">
              <a:solidFill>
                <a:srgbClr val="1721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5" name="文字｜及获奖人员"/>
          <p:cNvSpPr txBox="1"/>
          <p:nvPr/>
        </p:nvSpPr>
        <p:spPr>
          <a:xfrm>
            <a:off x="9517379" y="4466844"/>
            <a:ext cx="2450592" cy="29260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00" b="1" noProof="0" dirty="0">
                <a:solidFill>
                  <a:srgbClr val="1721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及获奖人员</a:t>
            </a:r>
            <a:endParaRPr lang="zh-CN" sz="1400" b="1" noProof="0" dirty="0">
              <a:solidFill>
                <a:srgbClr val="1721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66" name="Connector 65"/>
          <p:cNvCxnSpPr/>
          <p:nvPr/>
        </p:nvCxnSpPr>
        <p:spPr>
          <a:xfrm>
            <a:off x="9517379" y="4892039"/>
            <a:ext cx="2278380" cy="0"/>
          </a:xfrm>
          <a:prstGeom prst="line">
            <a:avLst/>
          </a:prstGeom>
          <a:ln w="15239">
            <a:solidFill>
              <a:srgbClr val="D8E7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文字｜以可核验的官方公示为准"/>
          <p:cNvSpPr txBox="1"/>
          <p:nvPr/>
        </p:nvSpPr>
        <p:spPr>
          <a:xfrm>
            <a:off x="9517379" y="5020056"/>
            <a:ext cx="2286000" cy="31089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65" b="1" noProof="0" dirty="0">
                <a:solidFill>
                  <a:srgbClr val="1721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以可核验的官方公示为准</a:t>
            </a:r>
            <a:endParaRPr lang="zh-CN" sz="1265" b="0" noProof="0" dirty="0">
              <a:solidFill>
                <a:srgbClr val="1721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8" name="Rounded Rectangle 67"/>
          <p:cNvSpPr/>
          <p:nvPr/>
        </p:nvSpPr>
        <p:spPr>
          <a:xfrm>
            <a:off x="624839" y="5684519"/>
            <a:ext cx="10934699" cy="533399"/>
          </a:xfrm>
          <a:prstGeom prst="roundRect">
            <a:avLst>
              <a:gd name="adj" fmla="val 21428"/>
            </a:avLst>
          </a:prstGeom>
          <a:solidFill>
            <a:srgbClr val="EA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0" name="文字｜采集边界：仅采用公开且允许使用的数据；遵守版权、访问限制与数据合规要求。"/>
          <p:cNvSpPr txBox="1"/>
          <p:nvPr/>
        </p:nvSpPr>
        <p:spPr>
          <a:xfrm>
            <a:off x="1219199" y="5820156"/>
            <a:ext cx="10040112" cy="30175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1B39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采集边界：</a:t>
            </a:r>
            <a:r>
              <a:rPr sz="1400" b="1">
                <a:solidFill>
                  <a:srgbClr val="1721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仅采用公开且允许使用的数据；遵守版权、访问限制与数据合规要求。</a:t>
            </a:r>
            <a:endParaRPr sz="1400" b="1">
              <a:solidFill>
                <a:srgbClr val="1721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1" name="Oval 70"/>
          <p:cNvSpPr/>
          <p:nvPr/>
        </p:nvSpPr>
        <p:spPr>
          <a:xfrm>
            <a:off x="930529" y="2515489"/>
            <a:ext cx="379219" cy="379219"/>
          </a:xfrm>
          <a:prstGeom prst="ellipse">
            <a:avLst/>
          </a:prstGeom>
          <a:solidFill>
            <a:srgbClr val="E6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1042778" y="2581321"/>
            <a:ext cx="146985" cy="242396"/>
          </a:xfrm>
          <a:prstGeom prst="rect">
            <a:avLst/>
          </a:prstGeom>
          <a:noFill/>
          <a:ln w="18415">
            <a:solidFill>
              <a:srgbClr val="055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3" name="Connector 72"/>
          <p:cNvCxnSpPr/>
          <p:nvPr/>
        </p:nvCxnSpPr>
        <p:spPr>
          <a:xfrm>
            <a:off x="1073722" y="2648367"/>
            <a:ext cx="82518" cy="0"/>
          </a:xfrm>
          <a:prstGeom prst="line">
            <a:avLst/>
          </a:prstGeom>
          <a:ln w="21590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1073722" y="2712835"/>
            <a:ext cx="82518" cy="0"/>
          </a:xfrm>
          <a:prstGeom prst="line">
            <a:avLst/>
          </a:prstGeom>
          <a:ln w="21590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1073722" y="2772144"/>
            <a:ext cx="82518" cy="0"/>
          </a:xfrm>
          <a:prstGeom prst="line">
            <a:avLst/>
          </a:prstGeom>
          <a:ln w="21590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Oval 75"/>
          <p:cNvSpPr/>
          <p:nvPr/>
        </p:nvSpPr>
        <p:spPr>
          <a:xfrm>
            <a:off x="3826129" y="2515489"/>
            <a:ext cx="379219" cy="379219"/>
          </a:xfrm>
          <a:prstGeom prst="ellipse">
            <a:avLst/>
          </a:prstGeom>
          <a:solidFill>
            <a:srgbClr val="FF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3904855" y="2591636"/>
            <a:ext cx="159878" cy="159878"/>
          </a:xfrm>
          <a:prstGeom prst="ellipse">
            <a:avLst/>
          </a:prstGeom>
          <a:noFill/>
          <a:ln w="18415">
            <a:solidFill>
              <a:srgbClr val="F47B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8" name="Connector 77"/>
          <p:cNvCxnSpPr/>
          <p:nvPr/>
        </p:nvCxnSpPr>
        <p:spPr>
          <a:xfrm>
            <a:off x="4049261" y="2736043"/>
            <a:ext cx="90255" cy="92833"/>
          </a:xfrm>
          <a:prstGeom prst="line">
            <a:avLst/>
          </a:prstGeom>
          <a:ln w="31750">
            <a:solidFill>
              <a:srgbClr val="F47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Oval 78"/>
          <p:cNvSpPr/>
          <p:nvPr/>
        </p:nvSpPr>
        <p:spPr>
          <a:xfrm>
            <a:off x="6721729" y="2515489"/>
            <a:ext cx="379219" cy="379219"/>
          </a:xfrm>
          <a:prstGeom prst="ellipse">
            <a:avLst/>
          </a:prstGeom>
          <a:solidFill>
            <a:srgbClr val="E6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0" name="Connector 79"/>
          <p:cNvCxnSpPr/>
          <p:nvPr/>
        </p:nvCxnSpPr>
        <p:spPr>
          <a:xfrm>
            <a:off x="6792719" y="2653525"/>
            <a:ext cx="59310" cy="0"/>
          </a:xfrm>
          <a:prstGeom prst="line">
            <a:avLst/>
          </a:prstGeom>
          <a:ln w="18415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6852029" y="2620002"/>
            <a:ext cx="28365" cy="33523"/>
          </a:xfrm>
          <a:prstGeom prst="line">
            <a:avLst/>
          </a:prstGeom>
          <a:ln w="18415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6880394" y="2620002"/>
            <a:ext cx="64467" cy="0"/>
          </a:xfrm>
          <a:prstGeom prst="line">
            <a:avLst/>
          </a:prstGeom>
          <a:ln w="18415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6944861" y="2620002"/>
            <a:ext cx="18051" cy="33523"/>
          </a:xfrm>
          <a:prstGeom prst="line">
            <a:avLst/>
          </a:prstGeom>
          <a:ln w="18415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6792719" y="2653525"/>
            <a:ext cx="244975" cy="0"/>
          </a:xfrm>
          <a:prstGeom prst="line">
            <a:avLst/>
          </a:prstGeom>
          <a:ln w="18415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H="1">
            <a:off x="7017065" y="2653525"/>
            <a:ext cx="20629" cy="149564"/>
          </a:xfrm>
          <a:prstGeom prst="line">
            <a:avLst/>
          </a:prstGeom>
          <a:ln w="18415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H="1">
            <a:off x="6810770" y="2803089"/>
            <a:ext cx="206295" cy="0"/>
          </a:xfrm>
          <a:prstGeom prst="line">
            <a:avLst/>
          </a:prstGeom>
          <a:ln w="18415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H="1" flipV="1">
            <a:off x="6792719" y="2653525"/>
            <a:ext cx="18051" cy="149564"/>
          </a:xfrm>
          <a:prstGeom prst="line">
            <a:avLst/>
          </a:prstGeom>
          <a:ln w="18415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Oval 87"/>
          <p:cNvSpPr/>
          <p:nvPr/>
        </p:nvSpPr>
        <p:spPr>
          <a:xfrm>
            <a:off x="9617329" y="2515489"/>
            <a:ext cx="379219" cy="379219"/>
          </a:xfrm>
          <a:prstGeom prst="ellipse">
            <a:avLst/>
          </a:prstGeom>
          <a:solidFill>
            <a:srgbClr val="E6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9" name="Connector 88"/>
          <p:cNvCxnSpPr/>
          <p:nvPr/>
        </p:nvCxnSpPr>
        <p:spPr>
          <a:xfrm>
            <a:off x="9716684" y="2601951"/>
            <a:ext cx="180509" cy="0"/>
          </a:xfrm>
          <a:prstGeom prst="line">
            <a:avLst/>
          </a:prstGeom>
          <a:ln w="18415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H="1">
            <a:off x="9876563" y="2601951"/>
            <a:ext cx="20630" cy="131513"/>
          </a:xfrm>
          <a:prstGeom prst="line">
            <a:avLst/>
          </a:prstGeom>
          <a:ln w="18415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H="1">
            <a:off x="9806939" y="2733464"/>
            <a:ext cx="69624" cy="41259"/>
          </a:xfrm>
          <a:prstGeom prst="line">
            <a:avLst/>
          </a:prstGeom>
          <a:ln w="18415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H="1" flipV="1">
            <a:off x="9737314" y="2733464"/>
            <a:ext cx="69625" cy="41259"/>
          </a:xfrm>
          <a:prstGeom prst="line">
            <a:avLst/>
          </a:prstGeom>
          <a:ln w="18415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H="1" flipV="1">
            <a:off x="9716684" y="2601951"/>
            <a:ext cx="20630" cy="131513"/>
          </a:xfrm>
          <a:prstGeom prst="line">
            <a:avLst/>
          </a:prstGeom>
          <a:ln w="18415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H="1">
            <a:off x="9670268" y="2632895"/>
            <a:ext cx="46416" cy="0"/>
          </a:xfrm>
          <a:prstGeom prst="line">
            <a:avLst/>
          </a:prstGeom>
          <a:ln w="18415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9670268" y="2632895"/>
            <a:ext cx="7736" cy="103148"/>
          </a:xfrm>
          <a:prstGeom prst="line">
            <a:avLst/>
          </a:prstGeom>
          <a:ln w="18415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9678004" y="2736043"/>
            <a:ext cx="77361" cy="30944"/>
          </a:xfrm>
          <a:prstGeom prst="line">
            <a:avLst/>
          </a:prstGeom>
          <a:ln w="18415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9897193" y="2632895"/>
            <a:ext cx="46416" cy="0"/>
          </a:xfrm>
          <a:prstGeom prst="line">
            <a:avLst/>
          </a:prstGeom>
          <a:ln w="18415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H="1">
            <a:off x="9935873" y="2632895"/>
            <a:ext cx="7736" cy="103148"/>
          </a:xfrm>
          <a:prstGeom prst="line">
            <a:avLst/>
          </a:prstGeom>
          <a:ln w="18415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H="1">
            <a:off x="9858512" y="2736043"/>
            <a:ext cx="77361" cy="30944"/>
          </a:xfrm>
          <a:prstGeom prst="line">
            <a:avLst/>
          </a:prstGeom>
          <a:ln w="18415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9806939" y="2772144"/>
            <a:ext cx="0" cy="56732"/>
          </a:xfrm>
          <a:prstGeom prst="line">
            <a:avLst/>
          </a:prstGeom>
          <a:ln w="18415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9742471" y="2828876"/>
            <a:ext cx="128935" cy="0"/>
          </a:xfrm>
          <a:prstGeom prst="line">
            <a:avLst/>
          </a:prstGeom>
          <a:ln w="18415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Oval 101"/>
          <p:cNvSpPr/>
          <p:nvPr/>
        </p:nvSpPr>
        <p:spPr>
          <a:xfrm>
            <a:off x="737675" y="5766875"/>
            <a:ext cx="368685" cy="368685"/>
          </a:xfrm>
          <a:prstGeom prst="ellipse">
            <a:avLst/>
          </a:prstGeom>
          <a:solidFill>
            <a:srgbClr val="FF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3" name="Connector 102"/>
          <p:cNvCxnSpPr/>
          <p:nvPr/>
        </p:nvCxnSpPr>
        <p:spPr>
          <a:xfrm>
            <a:off x="922018" y="5835893"/>
            <a:ext cx="92761" cy="37606"/>
          </a:xfrm>
          <a:prstGeom prst="line">
            <a:avLst/>
          </a:prstGeom>
          <a:ln w="18415">
            <a:solidFill>
              <a:srgbClr val="F47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H="1">
            <a:off x="1007258" y="5873499"/>
            <a:ext cx="7521" cy="130367"/>
          </a:xfrm>
          <a:prstGeom prst="line">
            <a:avLst/>
          </a:prstGeom>
          <a:ln w="18415">
            <a:solidFill>
              <a:srgbClr val="F47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H="1">
            <a:off x="922018" y="6003866"/>
            <a:ext cx="85240" cy="65184"/>
          </a:xfrm>
          <a:prstGeom prst="line">
            <a:avLst/>
          </a:prstGeom>
          <a:ln w="18415">
            <a:solidFill>
              <a:srgbClr val="F47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H="1" flipV="1">
            <a:off x="836778" y="6003866"/>
            <a:ext cx="85240" cy="65184"/>
          </a:xfrm>
          <a:prstGeom prst="line">
            <a:avLst/>
          </a:prstGeom>
          <a:ln w="18415">
            <a:solidFill>
              <a:srgbClr val="F47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H="1" flipV="1">
            <a:off x="829257" y="5873499"/>
            <a:ext cx="7521" cy="130367"/>
          </a:xfrm>
          <a:prstGeom prst="line">
            <a:avLst/>
          </a:prstGeom>
          <a:ln w="18415">
            <a:solidFill>
              <a:srgbClr val="F47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829257" y="5835893"/>
            <a:ext cx="92761" cy="37606"/>
          </a:xfrm>
          <a:prstGeom prst="line">
            <a:avLst/>
          </a:prstGeom>
          <a:ln w="18415">
            <a:solidFill>
              <a:srgbClr val="F47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7999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80000">
                <a:srgbClr val="F7FAFE"/>
              </a:gs>
              <a:gs pos="100000">
                <a:srgbClr val="ECF5FE"/>
              </a:gs>
            </a:gsLst>
            <a:lin ang="315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Freeform 2"/>
          <p:cNvSpPr/>
          <p:nvPr/>
        </p:nvSpPr>
        <p:spPr>
          <a:xfrm>
            <a:off x="8549640" y="0"/>
            <a:ext cx="3642360" cy="4000500"/>
          </a:xfrm>
          <a:custGeom>
            <a:avLst/>
            <a:gdLst/>
            <a:ahLst/>
            <a:cxnLst/>
            <a:rect l="l" t="t" r="r" b="b"/>
            <a:pathLst>
              <a:path w="478" h="525">
                <a:moveTo>
                  <a:pt x="478" y="0"/>
                </a:moveTo>
                <a:lnTo>
                  <a:pt x="58" y="0"/>
                </a:lnTo>
                <a:lnTo>
                  <a:pt x="41" y="24"/>
                </a:lnTo>
                <a:lnTo>
                  <a:pt x="27" y="49"/>
                </a:lnTo>
                <a:lnTo>
                  <a:pt x="16" y="73"/>
                </a:lnTo>
                <a:lnTo>
                  <a:pt x="8" y="97"/>
                </a:lnTo>
                <a:lnTo>
                  <a:pt x="3" y="121"/>
                </a:lnTo>
                <a:lnTo>
                  <a:pt x="0" y="144"/>
                </a:lnTo>
                <a:lnTo>
                  <a:pt x="0" y="167"/>
                </a:lnTo>
                <a:lnTo>
                  <a:pt x="3" y="190"/>
                </a:lnTo>
                <a:lnTo>
                  <a:pt x="8" y="212"/>
                </a:lnTo>
                <a:lnTo>
                  <a:pt x="15" y="234"/>
                </a:lnTo>
                <a:lnTo>
                  <a:pt x="24" y="255"/>
                </a:lnTo>
                <a:lnTo>
                  <a:pt x="36" y="276"/>
                </a:lnTo>
                <a:lnTo>
                  <a:pt x="49" y="295"/>
                </a:lnTo>
                <a:lnTo>
                  <a:pt x="63" y="314"/>
                </a:lnTo>
                <a:lnTo>
                  <a:pt x="80" y="333"/>
                </a:lnTo>
                <a:lnTo>
                  <a:pt x="98" y="350"/>
                </a:lnTo>
                <a:lnTo>
                  <a:pt x="128" y="371"/>
                </a:lnTo>
                <a:lnTo>
                  <a:pt x="157" y="388"/>
                </a:lnTo>
                <a:lnTo>
                  <a:pt x="185" y="402"/>
                </a:lnTo>
                <a:lnTo>
                  <a:pt x="212" y="413"/>
                </a:lnTo>
                <a:lnTo>
                  <a:pt x="239" y="422"/>
                </a:lnTo>
                <a:lnTo>
                  <a:pt x="265" y="429"/>
                </a:lnTo>
                <a:lnTo>
                  <a:pt x="290" y="434"/>
                </a:lnTo>
                <a:lnTo>
                  <a:pt x="314" y="439"/>
                </a:lnTo>
                <a:lnTo>
                  <a:pt x="338" y="444"/>
                </a:lnTo>
                <a:lnTo>
                  <a:pt x="360" y="450"/>
                </a:lnTo>
                <a:lnTo>
                  <a:pt x="382" y="456"/>
                </a:lnTo>
                <a:lnTo>
                  <a:pt x="403" y="465"/>
                </a:lnTo>
                <a:lnTo>
                  <a:pt x="423" y="475"/>
                </a:lnTo>
                <a:lnTo>
                  <a:pt x="442" y="488"/>
                </a:lnTo>
                <a:lnTo>
                  <a:pt x="461" y="505"/>
                </a:lnTo>
                <a:lnTo>
                  <a:pt x="478" y="525"/>
                </a:lnTo>
                <a:lnTo>
                  <a:pt x="478" y="0"/>
                </a:lnTo>
                <a:close/>
              </a:path>
            </a:pathLst>
          </a:custGeom>
          <a:solidFill>
            <a:srgbClr val="EAF5FE">
              <a:alpha val="6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Oval 5"/>
          <p:cNvSpPr/>
          <p:nvPr/>
        </p:nvSpPr>
        <p:spPr>
          <a:xfrm>
            <a:off x="10020299" y="365759"/>
            <a:ext cx="121919" cy="121919"/>
          </a:xfrm>
          <a:prstGeom prst="ellipse">
            <a:avLst/>
          </a:prstGeom>
          <a:solidFill>
            <a:srgbClr val="48A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Oval 6"/>
          <p:cNvSpPr/>
          <p:nvPr/>
        </p:nvSpPr>
        <p:spPr>
          <a:xfrm>
            <a:off x="11452859" y="2689859"/>
            <a:ext cx="106679" cy="106679"/>
          </a:xfrm>
          <a:prstGeom prst="ellipse">
            <a:avLst/>
          </a:prstGeom>
          <a:solidFill>
            <a:srgbClr val="48A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Oval 7"/>
          <p:cNvSpPr/>
          <p:nvPr/>
        </p:nvSpPr>
        <p:spPr>
          <a:xfrm>
            <a:off x="12085319" y="868679"/>
            <a:ext cx="91439" cy="91439"/>
          </a:xfrm>
          <a:prstGeom prst="ellipse">
            <a:avLst/>
          </a:prstGeom>
          <a:solidFill>
            <a:srgbClr val="48A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Oval 8"/>
          <p:cNvSpPr/>
          <p:nvPr/>
        </p:nvSpPr>
        <p:spPr>
          <a:xfrm>
            <a:off x="10553699" y="2065019"/>
            <a:ext cx="76199" cy="76199"/>
          </a:xfrm>
          <a:prstGeom prst="ellipse">
            <a:avLst/>
          </a:prstGeom>
          <a:solidFill>
            <a:srgbClr val="48A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文字｜总体架构与改进设计"/>
          <p:cNvSpPr txBox="1"/>
          <p:nvPr/>
        </p:nvSpPr>
        <p:spPr>
          <a:xfrm>
            <a:off x="640079" y="765886"/>
            <a:ext cx="4684013" cy="52852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6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总体架构与改进设计</a:t>
            </a:r>
            <a:endParaRPr sz="306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文字｜展现层 → 业务服务层 → 数据存储层，采集管道与检索统计解耦"/>
          <p:cNvSpPr txBox="1"/>
          <p:nvPr/>
        </p:nvSpPr>
        <p:spPr>
          <a:xfrm>
            <a:off x="662939" y="1373504"/>
            <a:ext cx="7045356" cy="25907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展现层 → 业务服务层 → 数据存储层，采集管道与检索统计解耦</a:t>
            </a:r>
            <a:endParaRPr sz="1500" b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6" name="Connector 15"/>
          <p:cNvCxnSpPr/>
          <p:nvPr/>
        </p:nvCxnSpPr>
        <p:spPr>
          <a:xfrm>
            <a:off x="617219" y="6370319"/>
            <a:ext cx="10949940" cy="0"/>
          </a:xfrm>
          <a:prstGeom prst="line">
            <a:avLst/>
          </a:prstGeom>
          <a:ln w="11429">
            <a:solidFill>
              <a:srgbClr val="D2E2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字｜学术成果分享平台   /   系统分析与设计"/>
          <p:cNvSpPr txBox="1"/>
          <p:nvPr/>
        </p:nvSpPr>
        <p:spPr>
          <a:xfrm>
            <a:off x="640079" y="6463131"/>
            <a:ext cx="3121342" cy="18653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学术成果分享平台   /   系统分析与设计</a:t>
            </a:r>
            <a:endParaRPr sz="1080" b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文字｜展现层"/>
          <p:cNvSpPr txBox="1"/>
          <p:nvPr/>
        </p:nvSpPr>
        <p:spPr>
          <a:xfrm>
            <a:off x="685799" y="2229967"/>
            <a:ext cx="762000" cy="3073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展现层</a:t>
            </a:r>
            <a:endParaRPr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文字｜业务层"/>
          <p:cNvSpPr txBox="1"/>
          <p:nvPr/>
        </p:nvSpPr>
        <p:spPr>
          <a:xfrm>
            <a:off x="685799" y="3246602"/>
            <a:ext cx="762000" cy="3073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业务层</a:t>
            </a:r>
            <a:endParaRPr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文字｜存储层"/>
          <p:cNvSpPr txBox="1"/>
          <p:nvPr/>
        </p:nvSpPr>
        <p:spPr>
          <a:xfrm>
            <a:off x="685799" y="4358487"/>
            <a:ext cx="762000" cy="3073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存储层</a:t>
            </a:r>
            <a:endParaRPr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文字｜采集层"/>
          <p:cNvSpPr txBox="1"/>
          <p:nvPr/>
        </p:nvSpPr>
        <p:spPr>
          <a:xfrm>
            <a:off x="685799" y="5484977"/>
            <a:ext cx="762000" cy="3073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采集层</a:t>
            </a:r>
            <a:endParaRPr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1981199" y="2049779"/>
            <a:ext cx="2590799" cy="701039"/>
          </a:xfrm>
          <a:prstGeom prst="roundRect">
            <a:avLst>
              <a:gd name="adj" fmla="val 20652"/>
            </a:avLst>
          </a:prstGeom>
          <a:solidFill>
            <a:srgbClr val="FFFFFF"/>
          </a:solidFill>
          <a:ln w="7619">
            <a:solidFill>
              <a:srgbClr val="D8E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Oval 24"/>
          <p:cNvSpPr/>
          <p:nvPr/>
        </p:nvSpPr>
        <p:spPr>
          <a:xfrm>
            <a:off x="2141219" y="2156459"/>
            <a:ext cx="472439" cy="472439"/>
          </a:xfrm>
          <a:prstGeom prst="ellipse">
            <a:avLst/>
          </a:prstGeom>
          <a:solidFill>
            <a:srgbClr val="E5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文字｜公开前端"/>
          <p:cNvSpPr txBox="1"/>
          <p:nvPr/>
        </p:nvSpPr>
        <p:spPr>
          <a:xfrm>
            <a:off x="2727959" y="2257577"/>
            <a:ext cx="1207007" cy="27980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公开前端</a:t>
            </a:r>
            <a:endParaRPr sz="162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5029199" y="2049779"/>
            <a:ext cx="2590799" cy="701039"/>
          </a:xfrm>
          <a:prstGeom prst="roundRect">
            <a:avLst>
              <a:gd name="adj" fmla="val 20652"/>
            </a:avLst>
          </a:prstGeom>
          <a:solidFill>
            <a:srgbClr val="FFFFFF"/>
          </a:solidFill>
          <a:ln w="7619">
            <a:solidFill>
              <a:srgbClr val="D8E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Oval 28"/>
          <p:cNvSpPr/>
          <p:nvPr/>
        </p:nvSpPr>
        <p:spPr>
          <a:xfrm>
            <a:off x="5189219" y="2156459"/>
            <a:ext cx="472439" cy="472439"/>
          </a:xfrm>
          <a:prstGeom prst="ellipse">
            <a:avLst/>
          </a:prstGeom>
          <a:solidFill>
            <a:srgbClr val="E5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文字｜学者门户"/>
          <p:cNvSpPr txBox="1"/>
          <p:nvPr/>
        </p:nvSpPr>
        <p:spPr>
          <a:xfrm>
            <a:off x="5775959" y="2257577"/>
            <a:ext cx="1207007" cy="27980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学者门户</a:t>
            </a:r>
            <a:endParaRPr sz="162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8077199" y="2049779"/>
            <a:ext cx="2590799" cy="701039"/>
          </a:xfrm>
          <a:prstGeom prst="roundRect">
            <a:avLst>
              <a:gd name="adj" fmla="val 20652"/>
            </a:avLst>
          </a:prstGeom>
          <a:solidFill>
            <a:srgbClr val="FFFFFF"/>
          </a:solidFill>
          <a:ln w="7619">
            <a:solidFill>
              <a:srgbClr val="D8E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Oval 32"/>
          <p:cNvSpPr/>
          <p:nvPr/>
        </p:nvSpPr>
        <p:spPr>
          <a:xfrm>
            <a:off x="8237219" y="2156459"/>
            <a:ext cx="472439" cy="472439"/>
          </a:xfrm>
          <a:prstGeom prst="ellipse">
            <a:avLst/>
          </a:prstGeom>
          <a:solidFill>
            <a:srgbClr val="FFF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文字｜管理后台"/>
          <p:cNvSpPr txBox="1"/>
          <p:nvPr/>
        </p:nvSpPr>
        <p:spPr>
          <a:xfrm>
            <a:off x="8823959" y="2257577"/>
            <a:ext cx="1207007" cy="27980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管理后台</a:t>
            </a:r>
            <a:endParaRPr sz="162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6" name="Connector 35"/>
          <p:cNvCxnSpPr/>
          <p:nvPr/>
        </p:nvCxnSpPr>
        <p:spPr>
          <a:xfrm>
            <a:off x="6095999" y="2804159"/>
            <a:ext cx="0" cy="243840"/>
          </a:xfrm>
          <a:prstGeom prst="line">
            <a:avLst/>
          </a:prstGeom>
          <a:ln w="21335">
            <a:solidFill>
              <a:srgbClr val="7BB5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Freeform 36"/>
          <p:cNvSpPr/>
          <p:nvPr/>
        </p:nvSpPr>
        <p:spPr>
          <a:xfrm>
            <a:off x="6057900" y="29718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10" h="10">
                <a:moveTo>
                  <a:pt x="0" y="0"/>
                </a:moveTo>
                <a:lnTo>
                  <a:pt x="5" y="10"/>
                </a:lnTo>
                <a:lnTo>
                  <a:pt x="10" y="0"/>
                </a:lnTo>
              </a:path>
            </a:pathLst>
          </a:custGeom>
          <a:noFill/>
          <a:ln w="21335">
            <a:solidFill>
              <a:srgbClr val="7BB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1981199" y="3063239"/>
            <a:ext cx="2125979" cy="769619"/>
          </a:xfrm>
          <a:prstGeom prst="roundRect">
            <a:avLst>
              <a:gd name="adj" fmla="val 18811"/>
            </a:avLst>
          </a:prstGeom>
          <a:solidFill>
            <a:srgbClr val="FFFFFF"/>
          </a:solidFill>
          <a:ln w="7619">
            <a:solidFill>
              <a:srgbClr val="D8E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Oval 38"/>
          <p:cNvSpPr/>
          <p:nvPr/>
        </p:nvSpPr>
        <p:spPr>
          <a:xfrm>
            <a:off x="2103119" y="3215639"/>
            <a:ext cx="457199" cy="457199"/>
          </a:xfrm>
          <a:prstGeom prst="ellipse">
            <a:avLst/>
          </a:prstGeom>
          <a:solidFill>
            <a:srgbClr val="E5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文字｜检索服务"/>
          <p:cNvSpPr txBox="1"/>
          <p:nvPr/>
        </p:nvSpPr>
        <p:spPr>
          <a:xfrm>
            <a:off x="2659379" y="3324224"/>
            <a:ext cx="1127759" cy="25907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检索服务</a:t>
            </a:r>
            <a:endParaRPr sz="15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4290059" y="3063239"/>
            <a:ext cx="2125979" cy="769619"/>
          </a:xfrm>
          <a:prstGeom prst="roundRect">
            <a:avLst>
              <a:gd name="adj" fmla="val 18811"/>
            </a:avLst>
          </a:prstGeom>
          <a:solidFill>
            <a:srgbClr val="FFFFFF"/>
          </a:solidFill>
          <a:ln w="7619">
            <a:solidFill>
              <a:srgbClr val="D8E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Oval 42"/>
          <p:cNvSpPr/>
          <p:nvPr/>
        </p:nvSpPr>
        <p:spPr>
          <a:xfrm>
            <a:off x="4411979" y="3215639"/>
            <a:ext cx="457199" cy="457199"/>
          </a:xfrm>
          <a:prstGeom prst="ellipse">
            <a:avLst/>
          </a:prstGeom>
          <a:solidFill>
            <a:srgbClr val="FFF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文字｜成果服务"/>
          <p:cNvSpPr txBox="1"/>
          <p:nvPr/>
        </p:nvSpPr>
        <p:spPr>
          <a:xfrm>
            <a:off x="4968239" y="3324224"/>
            <a:ext cx="1127759" cy="25907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成果服务</a:t>
            </a:r>
            <a:endParaRPr sz="15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6598919" y="3063239"/>
            <a:ext cx="2125979" cy="769619"/>
          </a:xfrm>
          <a:prstGeom prst="roundRect">
            <a:avLst>
              <a:gd name="adj" fmla="val 18811"/>
            </a:avLst>
          </a:prstGeom>
          <a:solidFill>
            <a:srgbClr val="FFFFFF"/>
          </a:solidFill>
          <a:ln w="7619">
            <a:solidFill>
              <a:srgbClr val="D8E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Oval 46"/>
          <p:cNvSpPr/>
          <p:nvPr/>
        </p:nvSpPr>
        <p:spPr>
          <a:xfrm>
            <a:off x="6720839" y="3215639"/>
            <a:ext cx="457199" cy="457199"/>
          </a:xfrm>
          <a:prstGeom prst="ellipse">
            <a:avLst/>
          </a:prstGeom>
          <a:solidFill>
            <a:srgbClr val="E5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文字｜认领服务"/>
          <p:cNvSpPr txBox="1"/>
          <p:nvPr/>
        </p:nvSpPr>
        <p:spPr>
          <a:xfrm>
            <a:off x="7277099" y="3324224"/>
            <a:ext cx="1127759" cy="25907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认领服务</a:t>
            </a:r>
            <a:endParaRPr sz="15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Rounded Rectangle 49"/>
          <p:cNvSpPr/>
          <p:nvPr/>
        </p:nvSpPr>
        <p:spPr>
          <a:xfrm>
            <a:off x="8907779" y="3063239"/>
            <a:ext cx="2125979" cy="769619"/>
          </a:xfrm>
          <a:prstGeom prst="roundRect">
            <a:avLst>
              <a:gd name="adj" fmla="val 18811"/>
            </a:avLst>
          </a:prstGeom>
          <a:solidFill>
            <a:srgbClr val="FFFFFF"/>
          </a:solidFill>
          <a:ln w="7619">
            <a:solidFill>
              <a:srgbClr val="D8E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Oval 50"/>
          <p:cNvSpPr/>
          <p:nvPr/>
        </p:nvSpPr>
        <p:spPr>
          <a:xfrm>
            <a:off x="9029699" y="3215639"/>
            <a:ext cx="457199" cy="457199"/>
          </a:xfrm>
          <a:prstGeom prst="ellipse">
            <a:avLst/>
          </a:prstGeom>
          <a:solidFill>
            <a:srgbClr val="E5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" name="文字｜统计服务"/>
          <p:cNvSpPr txBox="1"/>
          <p:nvPr/>
        </p:nvSpPr>
        <p:spPr>
          <a:xfrm>
            <a:off x="9585959" y="3324224"/>
            <a:ext cx="1127759" cy="25907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统计服务</a:t>
            </a:r>
            <a:endParaRPr sz="15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54" name="Connector 53"/>
          <p:cNvCxnSpPr/>
          <p:nvPr/>
        </p:nvCxnSpPr>
        <p:spPr>
          <a:xfrm>
            <a:off x="6080759" y="3848099"/>
            <a:ext cx="0" cy="274320"/>
          </a:xfrm>
          <a:prstGeom prst="line">
            <a:avLst/>
          </a:prstGeom>
          <a:ln w="21335">
            <a:solidFill>
              <a:srgbClr val="7BB5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Freeform 54"/>
          <p:cNvSpPr/>
          <p:nvPr/>
        </p:nvSpPr>
        <p:spPr>
          <a:xfrm>
            <a:off x="6042660" y="4046220"/>
            <a:ext cx="76200" cy="76200"/>
          </a:xfrm>
          <a:custGeom>
            <a:avLst/>
            <a:gdLst/>
            <a:ahLst/>
            <a:cxnLst/>
            <a:rect l="l" t="t" r="r" b="b"/>
            <a:pathLst>
              <a:path w="10" h="10">
                <a:moveTo>
                  <a:pt x="0" y="0"/>
                </a:moveTo>
                <a:lnTo>
                  <a:pt x="5" y="10"/>
                </a:lnTo>
                <a:lnTo>
                  <a:pt x="10" y="0"/>
                </a:lnTo>
              </a:path>
            </a:pathLst>
          </a:custGeom>
          <a:noFill/>
          <a:ln w="21335">
            <a:solidFill>
              <a:srgbClr val="7BB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6" name="Rounded Rectangle 55"/>
          <p:cNvSpPr/>
          <p:nvPr/>
        </p:nvSpPr>
        <p:spPr>
          <a:xfrm>
            <a:off x="1996439" y="4122419"/>
            <a:ext cx="5623559" cy="822959"/>
          </a:xfrm>
          <a:prstGeom prst="roundRect">
            <a:avLst>
              <a:gd name="adj" fmla="val 17592"/>
            </a:avLst>
          </a:prstGeom>
          <a:solidFill>
            <a:srgbClr val="EBF5FF"/>
          </a:solidFill>
          <a:ln w="7619">
            <a:solidFill>
              <a:srgbClr val="D8E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7" name="Oval 56"/>
          <p:cNvSpPr/>
          <p:nvPr/>
        </p:nvSpPr>
        <p:spPr>
          <a:xfrm>
            <a:off x="2209799" y="4259579"/>
            <a:ext cx="548639" cy="548639"/>
          </a:xfrm>
          <a:prstGeom prst="ellipse">
            <a:avLst/>
          </a:prstGeom>
          <a:solidFill>
            <a:srgbClr val="E5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9" name="文字｜主业务数据库"/>
          <p:cNvSpPr txBox="1"/>
          <p:nvPr/>
        </p:nvSpPr>
        <p:spPr>
          <a:xfrm>
            <a:off x="2941319" y="4254093"/>
            <a:ext cx="1801367" cy="2901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8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主业务数据库</a:t>
            </a:r>
            <a:endParaRPr sz="168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0" name="文字｜统一成果、人员、机构、来源、认领与审计数据"/>
          <p:cNvSpPr txBox="1"/>
          <p:nvPr/>
        </p:nvSpPr>
        <p:spPr>
          <a:xfrm>
            <a:off x="2933699" y="4581143"/>
            <a:ext cx="4297679" cy="20726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统一成果、人员、机构、来源、认领与审计数据</a:t>
            </a:r>
            <a:endParaRPr sz="1200" b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1" name="Rounded Rectangle 60"/>
          <p:cNvSpPr/>
          <p:nvPr/>
        </p:nvSpPr>
        <p:spPr>
          <a:xfrm>
            <a:off x="7848599" y="4137659"/>
            <a:ext cx="3291839" cy="365759"/>
          </a:xfrm>
          <a:prstGeom prst="roundRect">
            <a:avLst>
              <a:gd name="adj" fmla="val 39583"/>
            </a:avLst>
          </a:prstGeom>
          <a:solidFill>
            <a:srgbClr val="FFFFFF"/>
          </a:solidFill>
          <a:ln w="7619">
            <a:solidFill>
              <a:srgbClr val="D8E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3" name="文字｜搜索索引同步"/>
          <p:cNvSpPr txBox="1"/>
          <p:nvPr/>
        </p:nvSpPr>
        <p:spPr>
          <a:xfrm>
            <a:off x="8389619" y="4207916"/>
            <a:ext cx="1444751" cy="2279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搜索索引同步</a:t>
            </a:r>
            <a:endParaRPr sz="132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64" name="Connector 63"/>
          <p:cNvCxnSpPr/>
          <p:nvPr/>
        </p:nvCxnSpPr>
        <p:spPr>
          <a:xfrm>
            <a:off x="7635239" y="4320539"/>
            <a:ext cx="160020" cy="0"/>
          </a:xfrm>
          <a:prstGeom prst="line">
            <a:avLst/>
          </a:prstGeom>
          <a:ln w="15239">
            <a:solidFill>
              <a:srgbClr val="3279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Freeform 64"/>
          <p:cNvSpPr/>
          <p:nvPr/>
        </p:nvSpPr>
        <p:spPr>
          <a:xfrm>
            <a:off x="7719060" y="4282440"/>
            <a:ext cx="76200" cy="76200"/>
          </a:xfrm>
          <a:custGeom>
            <a:avLst/>
            <a:gdLst/>
            <a:ahLst/>
            <a:cxnLst/>
            <a:rect l="l" t="t" r="r" b="b"/>
            <a:pathLst>
              <a:path w="10" h="10">
                <a:moveTo>
                  <a:pt x="0" y="10"/>
                </a:moveTo>
                <a:lnTo>
                  <a:pt x="10" y="5"/>
                </a:lnTo>
                <a:lnTo>
                  <a:pt x="0" y="0"/>
                </a:lnTo>
              </a:path>
            </a:pathLst>
          </a:custGeom>
          <a:noFill/>
          <a:ln w="15239">
            <a:solidFill>
              <a:srgbClr val="3279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6" name="Rounded Rectangle 65"/>
          <p:cNvSpPr/>
          <p:nvPr/>
        </p:nvSpPr>
        <p:spPr>
          <a:xfrm>
            <a:off x="7848599" y="4564379"/>
            <a:ext cx="3291839" cy="365759"/>
          </a:xfrm>
          <a:prstGeom prst="roundRect">
            <a:avLst>
              <a:gd name="adj" fmla="val 39583"/>
            </a:avLst>
          </a:prstGeom>
          <a:solidFill>
            <a:srgbClr val="FFFFFF"/>
          </a:solidFill>
          <a:ln w="7619">
            <a:solidFill>
              <a:srgbClr val="D8E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8" name="文字｜统计快照生成"/>
          <p:cNvSpPr txBox="1"/>
          <p:nvPr/>
        </p:nvSpPr>
        <p:spPr>
          <a:xfrm>
            <a:off x="8389619" y="4634636"/>
            <a:ext cx="1444751" cy="2279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统计快照生成</a:t>
            </a:r>
            <a:endParaRPr sz="132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69" name="Connector 68"/>
          <p:cNvCxnSpPr/>
          <p:nvPr/>
        </p:nvCxnSpPr>
        <p:spPr>
          <a:xfrm>
            <a:off x="7635239" y="4747259"/>
            <a:ext cx="160020" cy="0"/>
          </a:xfrm>
          <a:prstGeom prst="line">
            <a:avLst/>
          </a:prstGeom>
          <a:ln w="15239">
            <a:solidFill>
              <a:srgbClr val="3279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Freeform 69"/>
          <p:cNvSpPr/>
          <p:nvPr/>
        </p:nvSpPr>
        <p:spPr>
          <a:xfrm>
            <a:off x="7719060" y="4709160"/>
            <a:ext cx="76200" cy="76200"/>
          </a:xfrm>
          <a:custGeom>
            <a:avLst/>
            <a:gdLst/>
            <a:ahLst/>
            <a:cxnLst/>
            <a:rect l="l" t="t" r="r" b="b"/>
            <a:pathLst>
              <a:path w="10" h="10">
                <a:moveTo>
                  <a:pt x="0" y="10"/>
                </a:moveTo>
                <a:lnTo>
                  <a:pt x="10" y="5"/>
                </a:lnTo>
                <a:lnTo>
                  <a:pt x="0" y="0"/>
                </a:lnTo>
              </a:path>
            </a:pathLst>
          </a:custGeom>
          <a:noFill/>
          <a:ln w="15239">
            <a:solidFill>
              <a:srgbClr val="3279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1" name="Connector 70"/>
          <p:cNvCxnSpPr/>
          <p:nvPr/>
        </p:nvCxnSpPr>
        <p:spPr>
          <a:xfrm flipV="1">
            <a:off x="4770119" y="4960619"/>
            <a:ext cx="0" cy="342900"/>
          </a:xfrm>
          <a:prstGeom prst="line">
            <a:avLst/>
          </a:prstGeom>
          <a:ln w="21335">
            <a:solidFill>
              <a:srgbClr val="159D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Freeform 71"/>
          <p:cNvSpPr/>
          <p:nvPr/>
        </p:nvSpPr>
        <p:spPr>
          <a:xfrm>
            <a:off x="4732020" y="4960620"/>
            <a:ext cx="76200" cy="76200"/>
          </a:xfrm>
          <a:custGeom>
            <a:avLst/>
            <a:gdLst/>
            <a:ahLst/>
            <a:cxnLst/>
            <a:rect l="l" t="t" r="r" b="b"/>
            <a:pathLst>
              <a:path w="10" h="10">
                <a:moveTo>
                  <a:pt x="10" y="10"/>
                </a:moveTo>
                <a:lnTo>
                  <a:pt x="5" y="0"/>
                </a:lnTo>
                <a:lnTo>
                  <a:pt x="0" y="10"/>
                </a:lnTo>
              </a:path>
            </a:pathLst>
          </a:custGeom>
          <a:noFill/>
          <a:ln w="21335">
            <a:solidFill>
              <a:srgbClr val="159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3" name="Rounded Rectangle 72"/>
          <p:cNvSpPr/>
          <p:nvPr/>
        </p:nvSpPr>
        <p:spPr>
          <a:xfrm>
            <a:off x="1965959" y="5273039"/>
            <a:ext cx="9121139" cy="792479"/>
          </a:xfrm>
          <a:prstGeom prst="roundRect">
            <a:avLst>
              <a:gd name="adj" fmla="val 18269"/>
            </a:avLst>
          </a:prstGeom>
          <a:solidFill>
            <a:srgbClr val="F5FBFE"/>
          </a:solidFill>
          <a:ln w="7619">
            <a:solidFill>
              <a:srgbClr val="D8E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4" name="Oval 73"/>
          <p:cNvSpPr/>
          <p:nvPr/>
        </p:nvSpPr>
        <p:spPr>
          <a:xfrm>
            <a:off x="2247899" y="5440679"/>
            <a:ext cx="441959" cy="441959"/>
          </a:xfrm>
          <a:prstGeom prst="ellipse">
            <a:avLst/>
          </a:prstGeom>
          <a:solidFill>
            <a:srgbClr val="E5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6" name="文字｜外部公开数据"/>
          <p:cNvSpPr txBox="1"/>
          <p:nvPr/>
        </p:nvSpPr>
        <p:spPr>
          <a:xfrm>
            <a:off x="2804159" y="5564276"/>
            <a:ext cx="1444751" cy="2279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外部公开数据</a:t>
            </a:r>
            <a:endParaRPr sz="132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7" name="Connector 76"/>
          <p:cNvCxnSpPr/>
          <p:nvPr/>
        </p:nvCxnSpPr>
        <p:spPr>
          <a:xfrm>
            <a:off x="4389119" y="5669279"/>
            <a:ext cx="495300" cy="0"/>
          </a:xfrm>
          <a:prstGeom prst="line">
            <a:avLst/>
          </a:prstGeom>
          <a:ln w="21335">
            <a:solidFill>
              <a:srgbClr val="79B6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Freeform 77"/>
          <p:cNvSpPr/>
          <p:nvPr/>
        </p:nvSpPr>
        <p:spPr>
          <a:xfrm>
            <a:off x="4808220" y="5631180"/>
            <a:ext cx="76200" cy="76200"/>
          </a:xfrm>
          <a:custGeom>
            <a:avLst/>
            <a:gdLst/>
            <a:ahLst/>
            <a:cxnLst/>
            <a:rect l="l" t="t" r="r" b="b"/>
            <a:pathLst>
              <a:path w="10" h="10">
                <a:moveTo>
                  <a:pt x="0" y="10"/>
                </a:moveTo>
                <a:lnTo>
                  <a:pt x="10" y="5"/>
                </a:lnTo>
                <a:lnTo>
                  <a:pt x="0" y="0"/>
                </a:lnTo>
              </a:path>
            </a:pathLst>
          </a:custGeom>
          <a:noFill/>
          <a:ln w="21335">
            <a:solidFill>
              <a:srgbClr val="79B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9" name="Oval 78"/>
          <p:cNvSpPr/>
          <p:nvPr/>
        </p:nvSpPr>
        <p:spPr>
          <a:xfrm>
            <a:off x="5158739" y="5440679"/>
            <a:ext cx="441959" cy="441959"/>
          </a:xfrm>
          <a:prstGeom prst="ellipse">
            <a:avLst/>
          </a:prstGeom>
          <a:solidFill>
            <a:srgbClr val="E5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1" name="文字｜采集 Worker"/>
          <p:cNvSpPr txBox="1"/>
          <p:nvPr/>
        </p:nvSpPr>
        <p:spPr>
          <a:xfrm>
            <a:off x="5714999" y="5564276"/>
            <a:ext cx="1350799" cy="2279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采集 Worker</a:t>
            </a:r>
            <a:endParaRPr sz="132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82" name="Connector 81"/>
          <p:cNvCxnSpPr/>
          <p:nvPr/>
        </p:nvCxnSpPr>
        <p:spPr>
          <a:xfrm>
            <a:off x="7299959" y="5669279"/>
            <a:ext cx="495300" cy="0"/>
          </a:xfrm>
          <a:prstGeom prst="line">
            <a:avLst/>
          </a:prstGeom>
          <a:ln w="21335">
            <a:solidFill>
              <a:srgbClr val="79B6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Freeform 82"/>
          <p:cNvSpPr/>
          <p:nvPr/>
        </p:nvSpPr>
        <p:spPr>
          <a:xfrm>
            <a:off x="7719060" y="5631180"/>
            <a:ext cx="76200" cy="76200"/>
          </a:xfrm>
          <a:custGeom>
            <a:avLst/>
            <a:gdLst/>
            <a:ahLst/>
            <a:cxnLst/>
            <a:rect l="l" t="t" r="r" b="b"/>
            <a:pathLst>
              <a:path w="10" h="10">
                <a:moveTo>
                  <a:pt x="0" y="10"/>
                </a:moveTo>
                <a:lnTo>
                  <a:pt x="10" y="5"/>
                </a:lnTo>
                <a:lnTo>
                  <a:pt x="0" y="0"/>
                </a:lnTo>
              </a:path>
            </a:pathLst>
          </a:custGeom>
          <a:noFill/>
          <a:ln w="21335">
            <a:solidFill>
              <a:srgbClr val="79B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4" name="Oval 83"/>
          <p:cNvSpPr/>
          <p:nvPr/>
        </p:nvSpPr>
        <p:spPr>
          <a:xfrm>
            <a:off x="8069579" y="5440679"/>
            <a:ext cx="441959" cy="441959"/>
          </a:xfrm>
          <a:prstGeom prst="ellipse">
            <a:avLst/>
          </a:prstGeom>
          <a:solidFill>
            <a:srgbClr val="FFF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6" name="文字｜清洗 / 去重 / 消歧"/>
          <p:cNvSpPr txBox="1"/>
          <p:nvPr/>
        </p:nvSpPr>
        <p:spPr>
          <a:xfrm>
            <a:off x="8625839" y="5564276"/>
            <a:ext cx="1810654" cy="2279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清洗 / 去重 / 消歧</a:t>
            </a:r>
            <a:endParaRPr sz="132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7" name="Oval 86"/>
          <p:cNvSpPr/>
          <p:nvPr/>
        </p:nvSpPr>
        <p:spPr>
          <a:xfrm>
            <a:off x="2187829" y="2203069"/>
            <a:ext cx="379219" cy="379219"/>
          </a:xfrm>
          <a:prstGeom prst="ellipse">
            <a:avLst/>
          </a:prstGeom>
          <a:solidFill>
            <a:srgbClr val="E6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2284606" y="2299846"/>
            <a:ext cx="185665" cy="185665"/>
          </a:xfrm>
          <a:prstGeom prst="ellipse">
            <a:avLst/>
          </a:prstGeom>
          <a:noFill/>
          <a:ln w="18415">
            <a:solidFill>
              <a:srgbClr val="055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5235829" y="2203069"/>
            <a:ext cx="379219" cy="379219"/>
          </a:xfrm>
          <a:prstGeom prst="ellipse">
            <a:avLst/>
          </a:prstGeom>
          <a:solidFill>
            <a:srgbClr val="FF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5368707" y="2274059"/>
            <a:ext cx="113462" cy="113462"/>
          </a:xfrm>
          <a:prstGeom prst="ellipse">
            <a:avLst/>
          </a:prstGeom>
          <a:noFill/>
          <a:ln w="18415">
            <a:solidFill>
              <a:srgbClr val="F47B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1" name="Connector 90"/>
          <p:cNvCxnSpPr/>
          <p:nvPr/>
        </p:nvCxnSpPr>
        <p:spPr>
          <a:xfrm flipV="1">
            <a:off x="5301661" y="2457146"/>
            <a:ext cx="7736" cy="54152"/>
          </a:xfrm>
          <a:prstGeom prst="line">
            <a:avLst/>
          </a:prstGeom>
          <a:ln w="18415">
            <a:solidFill>
              <a:srgbClr val="F47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5309397" y="2418465"/>
            <a:ext cx="41259" cy="38681"/>
          </a:xfrm>
          <a:prstGeom prst="line">
            <a:avLst/>
          </a:prstGeom>
          <a:ln w="18415">
            <a:solidFill>
              <a:srgbClr val="F47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5350656" y="2418465"/>
            <a:ext cx="149565" cy="0"/>
          </a:xfrm>
          <a:prstGeom prst="line">
            <a:avLst/>
          </a:prstGeom>
          <a:ln w="18415">
            <a:solidFill>
              <a:srgbClr val="F47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5500221" y="2418465"/>
            <a:ext cx="41259" cy="38681"/>
          </a:xfrm>
          <a:prstGeom prst="line">
            <a:avLst/>
          </a:prstGeom>
          <a:ln w="18415">
            <a:solidFill>
              <a:srgbClr val="F47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5541480" y="2457146"/>
            <a:ext cx="7736" cy="54152"/>
          </a:xfrm>
          <a:prstGeom prst="line">
            <a:avLst/>
          </a:prstGeom>
          <a:ln w="18415">
            <a:solidFill>
              <a:srgbClr val="F47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Oval 95"/>
          <p:cNvSpPr/>
          <p:nvPr/>
        </p:nvSpPr>
        <p:spPr>
          <a:xfrm>
            <a:off x="8283829" y="2203069"/>
            <a:ext cx="379219" cy="379219"/>
          </a:xfrm>
          <a:prstGeom prst="ellipse">
            <a:avLst/>
          </a:prstGeom>
          <a:solidFill>
            <a:srgbClr val="E6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8406393" y="2325633"/>
            <a:ext cx="134091" cy="134091"/>
          </a:xfrm>
          <a:prstGeom prst="ellipse">
            <a:avLst/>
          </a:prstGeom>
          <a:noFill/>
          <a:ln w="18415">
            <a:solidFill>
              <a:srgbClr val="055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8" name="Connector 97"/>
          <p:cNvCxnSpPr/>
          <p:nvPr/>
        </p:nvCxnSpPr>
        <p:spPr>
          <a:xfrm>
            <a:off x="8548221" y="2392679"/>
            <a:ext cx="54152" cy="0"/>
          </a:xfrm>
          <a:prstGeom prst="line">
            <a:avLst/>
          </a:prstGeom>
          <a:ln w="31115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8526317" y="2445557"/>
            <a:ext cx="38292" cy="38292"/>
          </a:xfrm>
          <a:prstGeom prst="line">
            <a:avLst/>
          </a:prstGeom>
          <a:ln w="31115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8473439" y="2467461"/>
            <a:ext cx="0" cy="54152"/>
          </a:xfrm>
          <a:prstGeom prst="line">
            <a:avLst/>
          </a:prstGeom>
          <a:ln w="31115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H="1">
            <a:off x="8382268" y="2445557"/>
            <a:ext cx="38292" cy="38292"/>
          </a:xfrm>
          <a:prstGeom prst="line">
            <a:avLst/>
          </a:prstGeom>
          <a:ln w="31115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H="1">
            <a:off x="8344504" y="2392679"/>
            <a:ext cx="54152" cy="0"/>
          </a:xfrm>
          <a:prstGeom prst="line">
            <a:avLst/>
          </a:prstGeom>
          <a:ln w="31115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H="1" flipV="1">
            <a:off x="8382268" y="2301508"/>
            <a:ext cx="38292" cy="38292"/>
          </a:xfrm>
          <a:prstGeom prst="line">
            <a:avLst/>
          </a:prstGeom>
          <a:ln w="31115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8473439" y="2263744"/>
            <a:ext cx="0" cy="54152"/>
          </a:xfrm>
          <a:prstGeom prst="line">
            <a:avLst/>
          </a:prstGeom>
          <a:ln w="31115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8526317" y="2301508"/>
            <a:ext cx="38292" cy="38292"/>
          </a:xfrm>
          <a:prstGeom prst="line">
            <a:avLst/>
          </a:prstGeom>
          <a:ln w="31115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Oval 105"/>
          <p:cNvSpPr/>
          <p:nvPr/>
        </p:nvSpPr>
        <p:spPr>
          <a:xfrm>
            <a:off x="2142109" y="3254629"/>
            <a:ext cx="379219" cy="379219"/>
          </a:xfrm>
          <a:prstGeom prst="ellipse">
            <a:avLst/>
          </a:prstGeom>
          <a:solidFill>
            <a:srgbClr val="E6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2220835" y="3330776"/>
            <a:ext cx="159878" cy="159878"/>
          </a:xfrm>
          <a:prstGeom prst="ellipse">
            <a:avLst/>
          </a:prstGeom>
          <a:noFill/>
          <a:ln w="18415">
            <a:solidFill>
              <a:srgbClr val="055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8" name="Connector 107"/>
          <p:cNvCxnSpPr/>
          <p:nvPr/>
        </p:nvCxnSpPr>
        <p:spPr>
          <a:xfrm>
            <a:off x="2365241" y="3475183"/>
            <a:ext cx="90255" cy="92833"/>
          </a:xfrm>
          <a:prstGeom prst="line">
            <a:avLst/>
          </a:prstGeom>
          <a:ln w="31750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Oval 108"/>
          <p:cNvSpPr/>
          <p:nvPr/>
        </p:nvSpPr>
        <p:spPr>
          <a:xfrm>
            <a:off x="4450969" y="3254629"/>
            <a:ext cx="379219" cy="379219"/>
          </a:xfrm>
          <a:prstGeom prst="ellipse">
            <a:avLst/>
          </a:prstGeom>
          <a:solidFill>
            <a:srgbClr val="FF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4563218" y="3320461"/>
            <a:ext cx="146985" cy="242396"/>
          </a:xfrm>
          <a:prstGeom prst="rect">
            <a:avLst/>
          </a:prstGeom>
          <a:noFill/>
          <a:ln w="18415">
            <a:solidFill>
              <a:srgbClr val="F47B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1" name="Connector 110"/>
          <p:cNvCxnSpPr/>
          <p:nvPr/>
        </p:nvCxnSpPr>
        <p:spPr>
          <a:xfrm>
            <a:off x="4594162" y="3387507"/>
            <a:ext cx="82518" cy="0"/>
          </a:xfrm>
          <a:prstGeom prst="line">
            <a:avLst/>
          </a:prstGeom>
          <a:ln w="21590">
            <a:solidFill>
              <a:srgbClr val="F47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4594162" y="3451975"/>
            <a:ext cx="82518" cy="0"/>
          </a:xfrm>
          <a:prstGeom prst="line">
            <a:avLst/>
          </a:prstGeom>
          <a:ln w="21590">
            <a:solidFill>
              <a:srgbClr val="F47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4594162" y="3511284"/>
            <a:ext cx="82518" cy="0"/>
          </a:xfrm>
          <a:prstGeom prst="line">
            <a:avLst/>
          </a:prstGeom>
          <a:ln w="21590">
            <a:solidFill>
              <a:srgbClr val="F47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Oval 113"/>
          <p:cNvSpPr/>
          <p:nvPr/>
        </p:nvSpPr>
        <p:spPr>
          <a:xfrm>
            <a:off x="6759829" y="3254629"/>
            <a:ext cx="379219" cy="379219"/>
          </a:xfrm>
          <a:prstGeom prst="ellipse">
            <a:avLst/>
          </a:prstGeom>
          <a:solidFill>
            <a:srgbClr val="E6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6830819" y="3325619"/>
            <a:ext cx="237239" cy="237239"/>
          </a:xfrm>
          <a:prstGeom prst="ellipse">
            <a:avLst/>
          </a:prstGeom>
          <a:noFill/>
          <a:ln w="18415">
            <a:solidFill>
              <a:srgbClr val="055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6" name="Connector 115"/>
          <p:cNvCxnSpPr/>
          <p:nvPr/>
        </p:nvCxnSpPr>
        <p:spPr>
          <a:xfrm>
            <a:off x="6890129" y="3449396"/>
            <a:ext cx="51573" cy="54152"/>
          </a:xfrm>
          <a:prstGeom prst="line">
            <a:avLst/>
          </a:prstGeom>
          <a:ln w="23495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V="1">
            <a:off x="6941702" y="3390086"/>
            <a:ext cx="82519" cy="113462"/>
          </a:xfrm>
          <a:prstGeom prst="line">
            <a:avLst/>
          </a:prstGeom>
          <a:ln w="23495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Oval 117"/>
          <p:cNvSpPr/>
          <p:nvPr/>
        </p:nvSpPr>
        <p:spPr>
          <a:xfrm>
            <a:off x="9068689" y="3254629"/>
            <a:ext cx="379219" cy="379219"/>
          </a:xfrm>
          <a:prstGeom prst="ellipse">
            <a:avLst/>
          </a:prstGeom>
          <a:solidFill>
            <a:srgbClr val="E6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9155151" y="3467447"/>
            <a:ext cx="36101" cy="74782"/>
          </a:xfrm>
          <a:prstGeom prst="rect">
            <a:avLst/>
          </a:prstGeom>
          <a:noFill/>
          <a:ln w="18415">
            <a:solidFill>
              <a:srgbClr val="055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9232512" y="3426188"/>
            <a:ext cx="36101" cy="116041"/>
          </a:xfrm>
          <a:prstGeom prst="rect">
            <a:avLst/>
          </a:prstGeom>
          <a:noFill/>
          <a:ln w="18415">
            <a:solidFill>
              <a:srgbClr val="055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9309872" y="3369456"/>
            <a:ext cx="36101" cy="172772"/>
          </a:xfrm>
          <a:prstGeom prst="rect">
            <a:avLst/>
          </a:prstGeom>
          <a:noFill/>
          <a:ln w="18415">
            <a:solidFill>
              <a:srgbClr val="055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2294509" y="4344289"/>
            <a:ext cx="379219" cy="379219"/>
          </a:xfrm>
          <a:prstGeom prst="ellipse">
            <a:avLst/>
          </a:prstGeom>
          <a:solidFill>
            <a:srgbClr val="FF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3" name="Connector 122"/>
          <p:cNvCxnSpPr/>
          <p:nvPr/>
        </p:nvCxnSpPr>
        <p:spPr>
          <a:xfrm>
            <a:off x="2365499" y="4482325"/>
            <a:ext cx="59310" cy="0"/>
          </a:xfrm>
          <a:prstGeom prst="line">
            <a:avLst/>
          </a:prstGeom>
          <a:ln w="18415">
            <a:solidFill>
              <a:srgbClr val="F47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 flipV="1">
            <a:off x="2424809" y="4448802"/>
            <a:ext cx="28365" cy="33523"/>
          </a:xfrm>
          <a:prstGeom prst="line">
            <a:avLst/>
          </a:prstGeom>
          <a:ln w="18415">
            <a:solidFill>
              <a:srgbClr val="F47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2453174" y="4448802"/>
            <a:ext cx="64467" cy="0"/>
          </a:xfrm>
          <a:prstGeom prst="line">
            <a:avLst/>
          </a:prstGeom>
          <a:ln w="18415">
            <a:solidFill>
              <a:srgbClr val="F47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>
            <a:off x="2517641" y="4448802"/>
            <a:ext cx="18051" cy="33523"/>
          </a:xfrm>
          <a:prstGeom prst="line">
            <a:avLst/>
          </a:prstGeom>
          <a:ln w="18415">
            <a:solidFill>
              <a:srgbClr val="F47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2365499" y="4482325"/>
            <a:ext cx="244975" cy="0"/>
          </a:xfrm>
          <a:prstGeom prst="line">
            <a:avLst/>
          </a:prstGeom>
          <a:ln w="18415">
            <a:solidFill>
              <a:srgbClr val="F47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 flipH="1">
            <a:off x="2589845" y="4482325"/>
            <a:ext cx="20629" cy="149564"/>
          </a:xfrm>
          <a:prstGeom prst="line">
            <a:avLst/>
          </a:prstGeom>
          <a:ln w="18415">
            <a:solidFill>
              <a:srgbClr val="F47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 flipH="1">
            <a:off x="2383550" y="4631889"/>
            <a:ext cx="206295" cy="0"/>
          </a:xfrm>
          <a:prstGeom prst="line">
            <a:avLst/>
          </a:prstGeom>
          <a:ln w="18415">
            <a:solidFill>
              <a:srgbClr val="F47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 flipH="1" flipV="1">
            <a:off x="2365499" y="4482325"/>
            <a:ext cx="18051" cy="149564"/>
          </a:xfrm>
          <a:prstGeom prst="line">
            <a:avLst/>
          </a:prstGeom>
          <a:ln w="18415">
            <a:solidFill>
              <a:srgbClr val="F47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Oval 130"/>
          <p:cNvSpPr/>
          <p:nvPr/>
        </p:nvSpPr>
        <p:spPr>
          <a:xfrm>
            <a:off x="8002060" y="4199680"/>
            <a:ext cx="226478" cy="226478"/>
          </a:xfrm>
          <a:prstGeom prst="ellipse">
            <a:avLst/>
          </a:prstGeom>
          <a:solidFill>
            <a:srgbClr val="E6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8053697" y="4208195"/>
            <a:ext cx="123204" cy="123204"/>
          </a:xfrm>
          <a:prstGeom prst="ellipse">
            <a:avLst/>
          </a:prstGeom>
          <a:noFill/>
          <a:ln w="18415">
            <a:solidFill>
              <a:srgbClr val="055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8053697" y="4297518"/>
            <a:ext cx="123204" cy="123204"/>
          </a:xfrm>
          <a:prstGeom prst="ellipse">
            <a:avLst/>
          </a:prstGeom>
          <a:noFill/>
          <a:ln w="18415">
            <a:solidFill>
              <a:srgbClr val="055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4" name="Connector 133"/>
          <p:cNvCxnSpPr/>
          <p:nvPr/>
        </p:nvCxnSpPr>
        <p:spPr>
          <a:xfrm>
            <a:off x="8053697" y="4269798"/>
            <a:ext cx="0" cy="89323"/>
          </a:xfrm>
          <a:prstGeom prst="line">
            <a:avLst/>
          </a:prstGeom>
          <a:ln w="18415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8176901" y="4269798"/>
            <a:ext cx="0" cy="89323"/>
          </a:xfrm>
          <a:prstGeom prst="line">
            <a:avLst/>
          </a:prstGeom>
          <a:ln w="18415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Oval 135"/>
          <p:cNvSpPr/>
          <p:nvPr/>
        </p:nvSpPr>
        <p:spPr>
          <a:xfrm>
            <a:off x="8053697" y="4255937"/>
            <a:ext cx="123204" cy="123204"/>
          </a:xfrm>
          <a:prstGeom prst="ellipse">
            <a:avLst/>
          </a:prstGeom>
          <a:noFill/>
          <a:ln w="18415">
            <a:solidFill>
              <a:srgbClr val="055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8002060" y="4626400"/>
            <a:ext cx="226478" cy="226478"/>
          </a:xfrm>
          <a:prstGeom prst="ellipse">
            <a:avLst/>
          </a:prstGeom>
          <a:solidFill>
            <a:srgbClr val="E6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8049077" y="4673417"/>
            <a:ext cx="132444" cy="132444"/>
          </a:xfrm>
          <a:prstGeom prst="ellipse">
            <a:avLst/>
          </a:prstGeom>
          <a:noFill/>
          <a:ln w="18415">
            <a:solidFill>
              <a:srgbClr val="055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9" name="Connector 138"/>
          <p:cNvCxnSpPr/>
          <p:nvPr/>
        </p:nvCxnSpPr>
        <p:spPr>
          <a:xfrm flipV="1">
            <a:off x="8178441" y="4668797"/>
            <a:ext cx="0" cy="41581"/>
          </a:xfrm>
          <a:prstGeom prst="line">
            <a:avLst/>
          </a:prstGeom>
          <a:ln w="18415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 flipH="1" flipV="1">
            <a:off x="8136860" y="4702678"/>
            <a:ext cx="41581" cy="7700"/>
          </a:xfrm>
          <a:prstGeom prst="line">
            <a:avLst/>
          </a:prstGeom>
          <a:ln w="18415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>
            <a:off x="8052157" y="4768900"/>
            <a:ext cx="0" cy="41581"/>
          </a:xfrm>
          <a:prstGeom prst="line">
            <a:avLst/>
          </a:prstGeom>
          <a:ln w="18415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>
            <a:off x="8052157" y="4768900"/>
            <a:ext cx="41581" cy="7700"/>
          </a:xfrm>
          <a:prstGeom prst="line">
            <a:avLst/>
          </a:prstGeom>
          <a:ln w="18415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Oval 142"/>
          <p:cNvSpPr/>
          <p:nvPr/>
        </p:nvSpPr>
        <p:spPr>
          <a:xfrm>
            <a:off x="2279269" y="5472049"/>
            <a:ext cx="379219" cy="379219"/>
          </a:xfrm>
          <a:prstGeom prst="ellipse">
            <a:avLst/>
          </a:prstGeom>
          <a:solidFill>
            <a:srgbClr val="FF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4" name="Connector 143"/>
          <p:cNvCxnSpPr/>
          <p:nvPr/>
        </p:nvCxnSpPr>
        <p:spPr>
          <a:xfrm>
            <a:off x="2468879" y="5543039"/>
            <a:ext cx="95411" cy="38680"/>
          </a:xfrm>
          <a:prstGeom prst="line">
            <a:avLst/>
          </a:prstGeom>
          <a:ln w="18415">
            <a:solidFill>
              <a:srgbClr val="F47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 flipH="1">
            <a:off x="2556554" y="5581719"/>
            <a:ext cx="7736" cy="134092"/>
          </a:xfrm>
          <a:prstGeom prst="line">
            <a:avLst/>
          </a:prstGeom>
          <a:ln w="18415">
            <a:solidFill>
              <a:srgbClr val="F47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 flipH="1">
            <a:off x="2468879" y="5715811"/>
            <a:ext cx="87675" cy="67046"/>
          </a:xfrm>
          <a:prstGeom prst="line">
            <a:avLst/>
          </a:prstGeom>
          <a:ln w="18415">
            <a:solidFill>
              <a:srgbClr val="F47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 flipH="1" flipV="1">
            <a:off x="2381203" y="5715811"/>
            <a:ext cx="87676" cy="67046"/>
          </a:xfrm>
          <a:prstGeom prst="line">
            <a:avLst/>
          </a:prstGeom>
          <a:ln w="18415">
            <a:solidFill>
              <a:srgbClr val="F47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 flipH="1" flipV="1">
            <a:off x="2373467" y="5581719"/>
            <a:ext cx="7736" cy="134092"/>
          </a:xfrm>
          <a:prstGeom prst="line">
            <a:avLst/>
          </a:prstGeom>
          <a:ln w="18415">
            <a:solidFill>
              <a:srgbClr val="F47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 flipV="1">
            <a:off x="2373467" y="5543039"/>
            <a:ext cx="95412" cy="38680"/>
          </a:xfrm>
          <a:prstGeom prst="line">
            <a:avLst/>
          </a:prstGeom>
          <a:ln w="18415">
            <a:solidFill>
              <a:srgbClr val="F47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Oval 149"/>
          <p:cNvSpPr/>
          <p:nvPr/>
        </p:nvSpPr>
        <p:spPr>
          <a:xfrm>
            <a:off x="5190109" y="5472049"/>
            <a:ext cx="379219" cy="379219"/>
          </a:xfrm>
          <a:prstGeom prst="ellipse">
            <a:avLst/>
          </a:prstGeom>
          <a:solidFill>
            <a:srgbClr val="E6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Oval 150"/>
          <p:cNvSpPr/>
          <p:nvPr/>
        </p:nvSpPr>
        <p:spPr>
          <a:xfrm>
            <a:off x="5322987" y="5543039"/>
            <a:ext cx="113462" cy="113462"/>
          </a:xfrm>
          <a:prstGeom prst="ellipse">
            <a:avLst/>
          </a:prstGeom>
          <a:noFill/>
          <a:ln w="18415">
            <a:solidFill>
              <a:srgbClr val="055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2" name="Connector 151"/>
          <p:cNvCxnSpPr/>
          <p:nvPr/>
        </p:nvCxnSpPr>
        <p:spPr>
          <a:xfrm flipV="1">
            <a:off x="5255941" y="5726126"/>
            <a:ext cx="7736" cy="54152"/>
          </a:xfrm>
          <a:prstGeom prst="line">
            <a:avLst/>
          </a:prstGeom>
          <a:ln w="18415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 flipV="1">
            <a:off x="5263677" y="5687445"/>
            <a:ext cx="41259" cy="38681"/>
          </a:xfrm>
          <a:prstGeom prst="line">
            <a:avLst/>
          </a:prstGeom>
          <a:ln w="18415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>
            <a:off x="5304936" y="5687445"/>
            <a:ext cx="149565" cy="0"/>
          </a:xfrm>
          <a:prstGeom prst="line">
            <a:avLst/>
          </a:prstGeom>
          <a:ln w="18415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>
            <a:off x="5454501" y="5687445"/>
            <a:ext cx="41259" cy="38681"/>
          </a:xfrm>
          <a:prstGeom prst="line">
            <a:avLst/>
          </a:prstGeom>
          <a:ln w="18415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>
            <a:off x="5495760" y="5726126"/>
            <a:ext cx="7736" cy="54152"/>
          </a:xfrm>
          <a:prstGeom prst="line">
            <a:avLst/>
          </a:prstGeom>
          <a:ln w="18415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7" name="Oval 156"/>
          <p:cNvSpPr/>
          <p:nvPr/>
        </p:nvSpPr>
        <p:spPr>
          <a:xfrm>
            <a:off x="8100949" y="5472049"/>
            <a:ext cx="379219" cy="379219"/>
          </a:xfrm>
          <a:prstGeom prst="ellipse">
            <a:avLst/>
          </a:prstGeom>
          <a:solidFill>
            <a:srgbClr val="E6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Oval 157"/>
          <p:cNvSpPr/>
          <p:nvPr/>
        </p:nvSpPr>
        <p:spPr>
          <a:xfrm>
            <a:off x="8223513" y="5594613"/>
            <a:ext cx="134091" cy="134091"/>
          </a:xfrm>
          <a:prstGeom prst="ellipse">
            <a:avLst/>
          </a:prstGeom>
          <a:noFill/>
          <a:ln w="18415">
            <a:solidFill>
              <a:srgbClr val="055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9" name="Connector 158"/>
          <p:cNvCxnSpPr/>
          <p:nvPr/>
        </p:nvCxnSpPr>
        <p:spPr>
          <a:xfrm>
            <a:off x="8365341" y="5661659"/>
            <a:ext cx="54152" cy="0"/>
          </a:xfrm>
          <a:prstGeom prst="line">
            <a:avLst/>
          </a:prstGeom>
          <a:ln w="31115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>
            <a:off x="8343437" y="5714537"/>
            <a:ext cx="38292" cy="38292"/>
          </a:xfrm>
          <a:prstGeom prst="line">
            <a:avLst/>
          </a:prstGeom>
          <a:ln w="31115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>
            <a:off x="8290559" y="5736441"/>
            <a:ext cx="0" cy="54152"/>
          </a:xfrm>
          <a:prstGeom prst="line">
            <a:avLst/>
          </a:prstGeom>
          <a:ln w="31115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 flipH="1">
            <a:off x="8199388" y="5714537"/>
            <a:ext cx="38292" cy="38292"/>
          </a:xfrm>
          <a:prstGeom prst="line">
            <a:avLst/>
          </a:prstGeom>
          <a:ln w="31115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 flipH="1">
            <a:off x="8161624" y="5661659"/>
            <a:ext cx="54152" cy="0"/>
          </a:xfrm>
          <a:prstGeom prst="line">
            <a:avLst/>
          </a:prstGeom>
          <a:ln w="31115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 flipH="1" flipV="1">
            <a:off x="8199388" y="5570488"/>
            <a:ext cx="38292" cy="38292"/>
          </a:xfrm>
          <a:prstGeom prst="line">
            <a:avLst/>
          </a:prstGeom>
          <a:ln w="31115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 flipV="1">
            <a:off x="8290559" y="5532724"/>
            <a:ext cx="0" cy="54152"/>
          </a:xfrm>
          <a:prstGeom prst="line">
            <a:avLst/>
          </a:prstGeom>
          <a:ln w="31115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 flipV="1">
            <a:off x="8343437" y="5570488"/>
            <a:ext cx="38292" cy="38292"/>
          </a:xfrm>
          <a:prstGeom prst="line">
            <a:avLst/>
          </a:prstGeom>
          <a:ln w="31115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7999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80000">
                <a:srgbClr val="F7FAFE"/>
              </a:gs>
              <a:gs pos="100000">
                <a:srgbClr val="ECF5FE"/>
              </a:gs>
            </a:gsLst>
            <a:lin ang="315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Freeform 2"/>
          <p:cNvSpPr/>
          <p:nvPr/>
        </p:nvSpPr>
        <p:spPr>
          <a:xfrm>
            <a:off x="8534400" y="0"/>
            <a:ext cx="3642360" cy="4000500"/>
          </a:xfrm>
          <a:custGeom>
            <a:avLst/>
            <a:gdLst/>
            <a:ahLst/>
            <a:cxnLst/>
            <a:rect l="l" t="t" r="r" b="b"/>
            <a:pathLst>
              <a:path w="478" h="525">
                <a:moveTo>
                  <a:pt x="478" y="0"/>
                </a:moveTo>
                <a:lnTo>
                  <a:pt x="58" y="0"/>
                </a:lnTo>
                <a:lnTo>
                  <a:pt x="41" y="24"/>
                </a:lnTo>
                <a:lnTo>
                  <a:pt x="27" y="49"/>
                </a:lnTo>
                <a:lnTo>
                  <a:pt x="16" y="73"/>
                </a:lnTo>
                <a:lnTo>
                  <a:pt x="8" y="97"/>
                </a:lnTo>
                <a:lnTo>
                  <a:pt x="3" y="121"/>
                </a:lnTo>
                <a:lnTo>
                  <a:pt x="0" y="144"/>
                </a:lnTo>
                <a:lnTo>
                  <a:pt x="0" y="167"/>
                </a:lnTo>
                <a:lnTo>
                  <a:pt x="3" y="190"/>
                </a:lnTo>
                <a:lnTo>
                  <a:pt x="8" y="212"/>
                </a:lnTo>
                <a:lnTo>
                  <a:pt x="15" y="234"/>
                </a:lnTo>
                <a:lnTo>
                  <a:pt x="24" y="255"/>
                </a:lnTo>
                <a:lnTo>
                  <a:pt x="36" y="276"/>
                </a:lnTo>
                <a:lnTo>
                  <a:pt x="49" y="295"/>
                </a:lnTo>
                <a:lnTo>
                  <a:pt x="63" y="314"/>
                </a:lnTo>
                <a:lnTo>
                  <a:pt x="80" y="333"/>
                </a:lnTo>
                <a:lnTo>
                  <a:pt x="98" y="350"/>
                </a:lnTo>
                <a:lnTo>
                  <a:pt x="128" y="371"/>
                </a:lnTo>
                <a:lnTo>
                  <a:pt x="157" y="388"/>
                </a:lnTo>
                <a:lnTo>
                  <a:pt x="185" y="402"/>
                </a:lnTo>
                <a:lnTo>
                  <a:pt x="212" y="413"/>
                </a:lnTo>
                <a:lnTo>
                  <a:pt x="239" y="422"/>
                </a:lnTo>
                <a:lnTo>
                  <a:pt x="265" y="429"/>
                </a:lnTo>
                <a:lnTo>
                  <a:pt x="290" y="434"/>
                </a:lnTo>
                <a:lnTo>
                  <a:pt x="314" y="439"/>
                </a:lnTo>
                <a:lnTo>
                  <a:pt x="338" y="444"/>
                </a:lnTo>
                <a:lnTo>
                  <a:pt x="360" y="450"/>
                </a:lnTo>
                <a:lnTo>
                  <a:pt x="382" y="456"/>
                </a:lnTo>
                <a:lnTo>
                  <a:pt x="403" y="465"/>
                </a:lnTo>
                <a:lnTo>
                  <a:pt x="423" y="475"/>
                </a:lnTo>
                <a:lnTo>
                  <a:pt x="442" y="488"/>
                </a:lnTo>
                <a:lnTo>
                  <a:pt x="461" y="505"/>
                </a:lnTo>
                <a:lnTo>
                  <a:pt x="478" y="525"/>
                </a:lnTo>
                <a:lnTo>
                  <a:pt x="478" y="0"/>
                </a:lnTo>
                <a:close/>
              </a:path>
            </a:pathLst>
          </a:custGeom>
          <a:solidFill>
            <a:srgbClr val="EAF5FE">
              <a:alpha val="6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Oval 5"/>
          <p:cNvSpPr/>
          <p:nvPr/>
        </p:nvSpPr>
        <p:spPr>
          <a:xfrm>
            <a:off x="10020299" y="365759"/>
            <a:ext cx="121919" cy="121919"/>
          </a:xfrm>
          <a:prstGeom prst="ellipse">
            <a:avLst/>
          </a:prstGeom>
          <a:solidFill>
            <a:srgbClr val="48A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Oval 6"/>
          <p:cNvSpPr/>
          <p:nvPr/>
        </p:nvSpPr>
        <p:spPr>
          <a:xfrm>
            <a:off x="11452859" y="2689859"/>
            <a:ext cx="106679" cy="106679"/>
          </a:xfrm>
          <a:prstGeom prst="ellipse">
            <a:avLst/>
          </a:prstGeom>
          <a:solidFill>
            <a:srgbClr val="48A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Oval 7"/>
          <p:cNvSpPr/>
          <p:nvPr/>
        </p:nvSpPr>
        <p:spPr>
          <a:xfrm>
            <a:off x="12085319" y="868679"/>
            <a:ext cx="91439" cy="91439"/>
          </a:xfrm>
          <a:prstGeom prst="ellipse">
            <a:avLst/>
          </a:prstGeom>
          <a:solidFill>
            <a:srgbClr val="48A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Oval 8"/>
          <p:cNvSpPr/>
          <p:nvPr/>
        </p:nvSpPr>
        <p:spPr>
          <a:xfrm>
            <a:off x="10553699" y="2065019"/>
            <a:ext cx="76199" cy="76199"/>
          </a:xfrm>
          <a:prstGeom prst="ellipse">
            <a:avLst/>
          </a:prstGeom>
          <a:solidFill>
            <a:srgbClr val="48A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文字｜需求分析与功能边界"/>
          <p:cNvSpPr txBox="1"/>
          <p:nvPr/>
        </p:nvSpPr>
        <p:spPr>
          <a:xfrm>
            <a:off x="640079" y="765886"/>
            <a:ext cx="4684013" cy="52852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6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需求分析与功能边界</a:t>
            </a:r>
            <a:endParaRPr sz="306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文字｜按照访问权限与业务职责划分三类用户"/>
          <p:cNvSpPr txBox="1"/>
          <p:nvPr/>
        </p:nvSpPr>
        <p:spPr>
          <a:xfrm>
            <a:off x="662939" y="1373504"/>
            <a:ext cx="4347209" cy="25907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按照访问权限与业务职责划分三类用户</a:t>
            </a:r>
            <a:endParaRPr sz="1500" b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6" name="Connector 15"/>
          <p:cNvCxnSpPr/>
          <p:nvPr/>
        </p:nvCxnSpPr>
        <p:spPr>
          <a:xfrm>
            <a:off x="617219" y="6370319"/>
            <a:ext cx="10949940" cy="0"/>
          </a:xfrm>
          <a:prstGeom prst="line">
            <a:avLst/>
          </a:prstGeom>
          <a:ln w="11429">
            <a:solidFill>
              <a:srgbClr val="D2E2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字｜学术成果分享平台   /   系统分析与设计"/>
          <p:cNvSpPr txBox="1"/>
          <p:nvPr/>
        </p:nvSpPr>
        <p:spPr>
          <a:xfrm>
            <a:off x="640079" y="6463131"/>
            <a:ext cx="3121342" cy="18653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学术成果分享平台   /   系统分析与设计</a:t>
            </a:r>
            <a:endParaRPr sz="1080" b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24839" y="2156459"/>
            <a:ext cx="3482339" cy="3398519"/>
          </a:xfrm>
          <a:prstGeom prst="roundRect">
            <a:avLst>
              <a:gd name="adj" fmla="val 4260"/>
            </a:avLst>
          </a:prstGeom>
          <a:solidFill>
            <a:srgbClr val="FFFFFF"/>
          </a:solidFill>
          <a:ln w="7619">
            <a:solidFill>
              <a:srgbClr val="D8E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792479" y="2331719"/>
            <a:ext cx="670559" cy="670559"/>
          </a:xfrm>
          <a:prstGeom prst="ellipse">
            <a:avLst/>
          </a:prstGeom>
          <a:solidFill>
            <a:srgbClr val="E5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文字｜访客 / 普通用户"/>
          <p:cNvSpPr txBox="1"/>
          <p:nvPr/>
        </p:nvSpPr>
        <p:spPr>
          <a:xfrm>
            <a:off x="1569719" y="2516809"/>
            <a:ext cx="2102262" cy="3005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4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访客 / 普通用户</a:t>
            </a:r>
            <a:endParaRPr sz="174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Oval 23"/>
          <p:cNvSpPr/>
          <p:nvPr/>
        </p:nvSpPr>
        <p:spPr>
          <a:xfrm>
            <a:off x="922019" y="3215639"/>
            <a:ext cx="91439" cy="91439"/>
          </a:xfrm>
          <a:prstGeom prst="ellipse">
            <a:avLst/>
          </a:prstGeom>
          <a:solidFill>
            <a:srgbClr val="327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文字｜成果与学者检索"/>
          <p:cNvSpPr txBox="1"/>
          <p:nvPr/>
        </p:nvSpPr>
        <p:spPr>
          <a:xfrm>
            <a:off x="1158239" y="3156356"/>
            <a:ext cx="1422400" cy="24574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成果与学者检索</a:t>
            </a:r>
            <a:endParaRPr sz="1600" b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Oval 25"/>
          <p:cNvSpPr/>
          <p:nvPr/>
        </p:nvSpPr>
        <p:spPr>
          <a:xfrm>
            <a:off x="922019" y="3649979"/>
            <a:ext cx="91439" cy="91439"/>
          </a:xfrm>
          <a:prstGeom prst="ellipse">
            <a:avLst/>
          </a:prstGeom>
          <a:solidFill>
            <a:srgbClr val="327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文字｜成果详情与来源外链"/>
          <p:cNvSpPr txBox="1"/>
          <p:nvPr/>
        </p:nvSpPr>
        <p:spPr>
          <a:xfrm>
            <a:off x="1158239" y="3590696"/>
            <a:ext cx="1828800" cy="24574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成果详情与来源外链</a:t>
            </a:r>
            <a:endParaRPr sz="1600" b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Oval 27"/>
          <p:cNvSpPr/>
          <p:nvPr/>
        </p:nvSpPr>
        <p:spPr>
          <a:xfrm>
            <a:off x="922019" y="4084319"/>
            <a:ext cx="91439" cy="91439"/>
          </a:xfrm>
          <a:prstGeom prst="ellipse">
            <a:avLst/>
          </a:prstGeom>
          <a:solidFill>
            <a:srgbClr val="327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文字｜公开统计与相关推荐"/>
          <p:cNvSpPr txBox="1"/>
          <p:nvPr/>
        </p:nvSpPr>
        <p:spPr>
          <a:xfrm>
            <a:off x="1158239" y="4025036"/>
            <a:ext cx="1828800" cy="24574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公开统计与相关推荐</a:t>
            </a:r>
            <a:endParaRPr sz="1600" b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Oval 29"/>
          <p:cNvSpPr/>
          <p:nvPr/>
        </p:nvSpPr>
        <p:spPr>
          <a:xfrm>
            <a:off x="922019" y="4518659"/>
            <a:ext cx="91439" cy="91439"/>
          </a:xfrm>
          <a:prstGeom prst="ellipse">
            <a:avLst/>
          </a:prstGeom>
          <a:solidFill>
            <a:srgbClr val="327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文字｜申请机构注册 / 科研人员身份"/>
          <p:cNvSpPr txBox="1"/>
          <p:nvPr/>
        </p:nvSpPr>
        <p:spPr>
          <a:xfrm>
            <a:off x="1158239" y="4459376"/>
            <a:ext cx="2646045" cy="24574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申请机构注册 / 科研人员身份</a:t>
            </a:r>
            <a:endParaRPr sz="1600" b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4381499" y="2156459"/>
            <a:ext cx="3482339" cy="3398519"/>
          </a:xfrm>
          <a:prstGeom prst="roundRect">
            <a:avLst>
              <a:gd name="adj" fmla="val 4260"/>
            </a:avLst>
          </a:prstGeom>
          <a:solidFill>
            <a:srgbClr val="FFFFFF"/>
          </a:solidFill>
          <a:ln w="7619">
            <a:solidFill>
              <a:srgbClr val="D8E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Oval 32"/>
          <p:cNvSpPr/>
          <p:nvPr/>
        </p:nvSpPr>
        <p:spPr>
          <a:xfrm>
            <a:off x="4549139" y="2331719"/>
            <a:ext cx="670559" cy="670559"/>
          </a:xfrm>
          <a:prstGeom prst="ellipse">
            <a:avLst/>
          </a:prstGeom>
          <a:solidFill>
            <a:srgbClr val="E5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文字｜科研人员"/>
          <p:cNvSpPr txBox="1"/>
          <p:nvPr/>
        </p:nvSpPr>
        <p:spPr>
          <a:xfrm>
            <a:off x="5326379" y="2516809"/>
            <a:ext cx="1286255" cy="3005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4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科研人员</a:t>
            </a:r>
            <a:endParaRPr sz="174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Oval 35"/>
          <p:cNvSpPr/>
          <p:nvPr/>
        </p:nvSpPr>
        <p:spPr>
          <a:xfrm>
            <a:off x="4678679" y="3215639"/>
            <a:ext cx="91439" cy="91439"/>
          </a:xfrm>
          <a:prstGeom prst="ellipse">
            <a:avLst/>
          </a:prstGeom>
          <a:solidFill>
            <a:srgbClr val="159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文字｜申请学者门户管理权"/>
          <p:cNvSpPr txBox="1"/>
          <p:nvPr/>
        </p:nvSpPr>
        <p:spPr>
          <a:xfrm>
            <a:off x="4914899" y="3156356"/>
            <a:ext cx="1828800" cy="24574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申请学者门户管理权</a:t>
            </a:r>
            <a:endParaRPr sz="1600" b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Oval 37"/>
          <p:cNvSpPr/>
          <p:nvPr/>
        </p:nvSpPr>
        <p:spPr>
          <a:xfrm>
            <a:off x="4678679" y="3649979"/>
            <a:ext cx="91439" cy="91439"/>
          </a:xfrm>
          <a:prstGeom prst="ellipse">
            <a:avLst/>
          </a:prstGeom>
          <a:solidFill>
            <a:srgbClr val="159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文字｜逐项申请成果认领"/>
          <p:cNvSpPr txBox="1"/>
          <p:nvPr/>
        </p:nvSpPr>
        <p:spPr>
          <a:xfrm>
            <a:off x="4914899" y="3590696"/>
            <a:ext cx="1625600" cy="24574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逐项申请成果认领</a:t>
            </a:r>
            <a:endParaRPr sz="1600" b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Oval 39"/>
          <p:cNvSpPr/>
          <p:nvPr/>
        </p:nvSpPr>
        <p:spPr>
          <a:xfrm>
            <a:off x="4678679" y="4084319"/>
            <a:ext cx="91439" cy="91439"/>
          </a:xfrm>
          <a:prstGeom prst="ellipse">
            <a:avLst/>
          </a:prstGeom>
          <a:solidFill>
            <a:srgbClr val="159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文字｜提交补录 / 纠错"/>
          <p:cNvSpPr txBox="1"/>
          <p:nvPr/>
        </p:nvSpPr>
        <p:spPr>
          <a:xfrm>
            <a:off x="4914899" y="4025036"/>
            <a:ext cx="1426845" cy="24574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提交补录 / 纠错</a:t>
            </a:r>
            <a:endParaRPr sz="1600" b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Oval 41"/>
          <p:cNvSpPr/>
          <p:nvPr/>
        </p:nvSpPr>
        <p:spPr>
          <a:xfrm>
            <a:off x="4678679" y="4518659"/>
            <a:ext cx="91439" cy="91439"/>
          </a:xfrm>
          <a:prstGeom prst="ellipse">
            <a:avLst/>
          </a:prstGeom>
          <a:solidFill>
            <a:srgbClr val="159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文字｜维护个人标签与说明"/>
          <p:cNvSpPr txBox="1"/>
          <p:nvPr/>
        </p:nvSpPr>
        <p:spPr>
          <a:xfrm>
            <a:off x="4914899" y="4459376"/>
            <a:ext cx="1828800" cy="24574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维护个人标签与说明</a:t>
            </a:r>
            <a:endParaRPr sz="1600" b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Oval 43"/>
          <p:cNvSpPr/>
          <p:nvPr/>
        </p:nvSpPr>
        <p:spPr>
          <a:xfrm>
            <a:off x="4678679" y="4952999"/>
            <a:ext cx="91439" cy="91439"/>
          </a:xfrm>
          <a:prstGeom prst="ellipse">
            <a:avLst/>
          </a:prstGeom>
          <a:solidFill>
            <a:srgbClr val="159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文字｜查看申请与审核状态"/>
          <p:cNvSpPr txBox="1"/>
          <p:nvPr/>
        </p:nvSpPr>
        <p:spPr>
          <a:xfrm>
            <a:off x="4914899" y="4893716"/>
            <a:ext cx="1828800" cy="24574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查看申请与审核状态</a:t>
            </a:r>
            <a:endParaRPr sz="1600" b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8138159" y="2156459"/>
            <a:ext cx="3482339" cy="3398519"/>
          </a:xfrm>
          <a:prstGeom prst="roundRect">
            <a:avLst>
              <a:gd name="adj" fmla="val 4260"/>
            </a:avLst>
          </a:prstGeom>
          <a:solidFill>
            <a:srgbClr val="FFFFFF"/>
          </a:solidFill>
          <a:ln w="7619">
            <a:solidFill>
              <a:srgbClr val="D8E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Oval 46"/>
          <p:cNvSpPr/>
          <p:nvPr/>
        </p:nvSpPr>
        <p:spPr>
          <a:xfrm>
            <a:off x="8305799" y="2331719"/>
            <a:ext cx="670559" cy="670559"/>
          </a:xfrm>
          <a:prstGeom prst="ellipse">
            <a:avLst/>
          </a:prstGeom>
          <a:solidFill>
            <a:srgbClr val="FFF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文字｜平台管理员"/>
          <p:cNvSpPr txBox="1"/>
          <p:nvPr/>
        </p:nvSpPr>
        <p:spPr>
          <a:xfrm>
            <a:off x="9083039" y="2516809"/>
            <a:ext cx="1573529" cy="3005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4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平台管理员</a:t>
            </a:r>
            <a:endParaRPr sz="174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Oval 49"/>
          <p:cNvSpPr/>
          <p:nvPr/>
        </p:nvSpPr>
        <p:spPr>
          <a:xfrm>
            <a:off x="8435339" y="3215639"/>
            <a:ext cx="91439" cy="91439"/>
          </a:xfrm>
          <a:prstGeom prst="ellipse">
            <a:avLst/>
          </a:prstGeom>
          <a:solidFill>
            <a:srgbClr val="E69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文字｜审核机构与人员身份"/>
          <p:cNvSpPr txBox="1"/>
          <p:nvPr/>
        </p:nvSpPr>
        <p:spPr>
          <a:xfrm>
            <a:off x="8671559" y="3156356"/>
            <a:ext cx="1828800" cy="24574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审核机构与人员身份</a:t>
            </a:r>
            <a:endParaRPr sz="1600" b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" name="Oval 51"/>
          <p:cNvSpPr/>
          <p:nvPr/>
        </p:nvSpPr>
        <p:spPr>
          <a:xfrm>
            <a:off x="8435339" y="3649979"/>
            <a:ext cx="91439" cy="91439"/>
          </a:xfrm>
          <a:prstGeom prst="ellipse">
            <a:avLst/>
          </a:prstGeom>
          <a:solidFill>
            <a:srgbClr val="E69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" name="文字｜审核门户与成果认领"/>
          <p:cNvSpPr txBox="1"/>
          <p:nvPr/>
        </p:nvSpPr>
        <p:spPr>
          <a:xfrm>
            <a:off x="8671559" y="3590696"/>
            <a:ext cx="1828800" cy="24574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审核门户与成果认领</a:t>
            </a:r>
            <a:endParaRPr sz="1600" b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4" name="Oval 53"/>
          <p:cNvSpPr/>
          <p:nvPr/>
        </p:nvSpPr>
        <p:spPr>
          <a:xfrm>
            <a:off x="8435339" y="4084319"/>
            <a:ext cx="91439" cy="91439"/>
          </a:xfrm>
          <a:prstGeom prst="ellipse">
            <a:avLst/>
          </a:prstGeom>
          <a:solidFill>
            <a:srgbClr val="E69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5" name="文字｜管理采集与数据治理"/>
          <p:cNvSpPr txBox="1"/>
          <p:nvPr/>
        </p:nvSpPr>
        <p:spPr>
          <a:xfrm>
            <a:off x="8671559" y="4025036"/>
            <a:ext cx="1828800" cy="24574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管理采集与数据治理</a:t>
            </a:r>
            <a:endParaRPr sz="1600" b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6" name="Oval 55"/>
          <p:cNvSpPr/>
          <p:nvPr/>
        </p:nvSpPr>
        <p:spPr>
          <a:xfrm>
            <a:off x="8435339" y="4518659"/>
            <a:ext cx="91439" cy="91439"/>
          </a:xfrm>
          <a:prstGeom prst="ellipse">
            <a:avLst/>
          </a:prstGeom>
          <a:solidFill>
            <a:srgbClr val="E69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7" name="文字｜维护检索索引及质量审计"/>
          <p:cNvSpPr txBox="1"/>
          <p:nvPr/>
        </p:nvSpPr>
        <p:spPr>
          <a:xfrm>
            <a:off x="8671559" y="4459376"/>
            <a:ext cx="2235200" cy="24574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维护检索索引及质量审计</a:t>
            </a:r>
            <a:endParaRPr sz="1600" b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8" name="Rounded Rectangle 57"/>
          <p:cNvSpPr/>
          <p:nvPr/>
        </p:nvSpPr>
        <p:spPr>
          <a:xfrm>
            <a:off x="624839" y="5783579"/>
            <a:ext cx="10934699" cy="510539"/>
          </a:xfrm>
          <a:prstGeom prst="roundRect">
            <a:avLst>
              <a:gd name="adj" fmla="val 25373"/>
            </a:avLst>
          </a:prstGeom>
          <a:solidFill>
            <a:srgbClr val="EC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9" name="Oval 58"/>
          <p:cNvSpPr/>
          <p:nvPr/>
        </p:nvSpPr>
        <p:spPr>
          <a:xfrm>
            <a:off x="761999" y="5848349"/>
            <a:ext cx="380999" cy="380999"/>
          </a:xfrm>
          <a:prstGeom prst="ellipse">
            <a:avLst/>
          </a:prstGeom>
          <a:solidFill>
            <a:srgbClr val="E5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1" name="文字｜权限原则"/>
          <p:cNvSpPr txBox="1"/>
          <p:nvPr/>
        </p:nvSpPr>
        <p:spPr>
          <a:xfrm>
            <a:off x="1257299" y="5918834"/>
            <a:ext cx="1127759" cy="25907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权限原则</a:t>
            </a:r>
            <a:endParaRPr sz="15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2" name="文字｜公开信息开放展示；认领受审核控制；治理操作全程留痕。"/>
          <p:cNvSpPr txBox="1"/>
          <p:nvPr/>
        </p:nvSpPr>
        <p:spPr>
          <a:xfrm>
            <a:off x="2834639" y="5926302"/>
            <a:ext cx="6060947" cy="23835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公开信息开放展示；认领受审核控制；治理操作全程留痕。</a:t>
            </a:r>
            <a:endParaRPr sz="1380" b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3" name="Oval 62"/>
          <p:cNvSpPr/>
          <p:nvPr/>
        </p:nvSpPr>
        <p:spPr>
          <a:xfrm>
            <a:off x="938149" y="2477389"/>
            <a:ext cx="379219" cy="379219"/>
          </a:xfrm>
          <a:prstGeom prst="ellipse">
            <a:avLst/>
          </a:prstGeom>
          <a:solidFill>
            <a:srgbClr val="E6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1016875" y="2553536"/>
            <a:ext cx="159878" cy="159878"/>
          </a:xfrm>
          <a:prstGeom prst="ellipse">
            <a:avLst/>
          </a:prstGeom>
          <a:noFill/>
          <a:ln w="18415">
            <a:solidFill>
              <a:srgbClr val="055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" name="Connector 64"/>
          <p:cNvCxnSpPr/>
          <p:nvPr/>
        </p:nvCxnSpPr>
        <p:spPr>
          <a:xfrm>
            <a:off x="1161281" y="2697943"/>
            <a:ext cx="90255" cy="92833"/>
          </a:xfrm>
          <a:prstGeom prst="line">
            <a:avLst/>
          </a:prstGeom>
          <a:ln w="31750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Oval 65"/>
          <p:cNvSpPr/>
          <p:nvPr/>
        </p:nvSpPr>
        <p:spPr>
          <a:xfrm>
            <a:off x="4694809" y="2477389"/>
            <a:ext cx="379219" cy="379219"/>
          </a:xfrm>
          <a:prstGeom prst="ellipse">
            <a:avLst/>
          </a:prstGeom>
          <a:solidFill>
            <a:srgbClr val="FF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4827687" y="2548379"/>
            <a:ext cx="113462" cy="113462"/>
          </a:xfrm>
          <a:prstGeom prst="ellipse">
            <a:avLst/>
          </a:prstGeom>
          <a:noFill/>
          <a:ln w="18415">
            <a:solidFill>
              <a:srgbClr val="F47B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8" name="Connector 67"/>
          <p:cNvCxnSpPr/>
          <p:nvPr/>
        </p:nvCxnSpPr>
        <p:spPr>
          <a:xfrm flipV="1">
            <a:off x="4760641" y="2731466"/>
            <a:ext cx="7736" cy="54152"/>
          </a:xfrm>
          <a:prstGeom prst="line">
            <a:avLst/>
          </a:prstGeom>
          <a:ln w="18415">
            <a:solidFill>
              <a:srgbClr val="F47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4768377" y="2692785"/>
            <a:ext cx="41259" cy="38681"/>
          </a:xfrm>
          <a:prstGeom prst="line">
            <a:avLst/>
          </a:prstGeom>
          <a:ln w="18415">
            <a:solidFill>
              <a:srgbClr val="F47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4809636" y="2692785"/>
            <a:ext cx="149565" cy="0"/>
          </a:xfrm>
          <a:prstGeom prst="line">
            <a:avLst/>
          </a:prstGeom>
          <a:ln w="18415">
            <a:solidFill>
              <a:srgbClr val="F47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4959201" y="2692785"/>
            <a:ext cx="41259" cy="38681"/>
          </a:xfrm>
          <a:prstGeom prst="line">
            <a:avLst/>
          </a:prstGeom>
          <a:ln w="18415">
            <a:solidFill>
              <a:srgbClr val="F47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5000460" y="2731466"/>
            <a:ext cx="7736" cy="54152"/>
          </a:xfrm>
          <a:prstGeom prst="line">
            <a:avLst/>
          </a:prstGeom>
          <a:ln w="18415">
            <a:solidFill>
              <a:srgbClr val="F47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Oval 72"/>
          <p:cNvSpPr/>
          <p:nvPr/>
        </p:nvSpPr>
        <p:spPr>
          <a:xfrm>
            <a:off x="8451469" y="2477389"/>
            <a:ext cx="379219" cy="379219"/>
          </a:xfrm>
          <a:prstGeom prst="ellipse">
            <a:avLst/>
          </a:prstGeom>
          <a:solidFill>
            <a:srgbClr val="E6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8574033" y="2599953"/>
            <a:ext cx="134091" cy="134091"/>
          </a:xfrm>
          <a:prstGeom prst="ellipse">
            <a:avLst/>
          </a:prstGeom>
          <a:noFill/>
          <a:ln w="18415">
            <a:solidFill>
              <a:srgbClr val="055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5" name="Connector 74"/>
          <p:cNvCxnSpPr/>
          <p:nvPr/>
        </p:nvCxnSpPr>
        <p:spPr>
          <a:xfrm>
            <a:off x="8715861" y="2666999"/>
            <a:ext cx="54152" cy="0"/>
          </a:xfrm>
          <a:prstGeom prst="line">
            <a:avLst/>
          </a:prstGeom>
          <a:ln w="31115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8693957" y="2719877"/>
            <a:ext cx="38292" cy="38292"/>
          </a:xfrm>
          <a:prstGeom prst="line">
            <a:avLst/>
          </a:prstGeom>
          <a:ln w="31115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8641079" y="2741781"/>
            <a:ext cx="0" cy="54152"/>
          </a:xfrm>
          <a:prstGeom prst="line">
            <a:avLst/>
          </a:prstGeom>
          <a:ln w="31115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H="1">
            <a:off x="8549908" y="2719877"/>
            <a:ext cx="38292" cy="38292"/>
          </a:xfrm>
          <a:prstGeom prst="line">
            <a:avLst/>
          </a:prstGeom>
          <a:ln w="31115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H="1">
            <a:off x="8512144" y="2666999"/>
            <a:ext cx="54152" cy="0"/>
          </a:xfrm>
          <a:prstGeom prst="line">
            <a:avLst/>
          </a:prstGeom>
          <a:ln w="31115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H="1" flipV="1">
            <a:off x="8549908" y="2575828"/>
            <a:ext cx="38292" cy="38292"/>
          </a:xfrm>
          <a:prstGeom prst="line">
            <a:avLst/>
          </a:prstGeom>
          <a:ln w="31115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8641079" y="2538064"/>
            <a:ext cx="0" cy="54152"/>
          </a:xfrm>
          <a:prstGeom prst="line">
            <a:avLst/>
          </a:prstGeom>
          <a:ln w="31115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8693957" y="2575828"/>
            <a:ext cx="38292" cy="38292"/>
          </a:xfrm>
          <a:prstGeom prst="line">
            <a:avLst/>
          </a:prstGeom>
          <a:ln w="31115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Oval 82"/>
          <p:cNvSpPr/>
          <p:nvPr/>
        </p:nvSpPr>
        <p:spPr>
          <a:xfrm>
            <a:off x="762889" y="5849239"/>
            <a:ext cx="379219" cy="379219"/>
          </a:xfrm>
          <a:prstGeom prst="ellipse">
            <a:avLst/>
          </a:prstGeom>
          <a:solidFill>
            <a:srgbClr val="E6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4" name="Connector 83"/>
          <p:cNvCxnSpPr/>
          <p:nvPr/>
        </p:nvCxnSpPr>
        <p:spPr>
          <a:xfrm>
            <a:off x="952499" y="5920229"/>
            <a:ext cx="95411" cy="38680"/>
          </a:xfrm>
          <a:prstGeom prst="line">
            <a:avLst/>
          </a:prstGeom>
          <a:ln w="18415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H="1">
            <a:off x="1040174" y="5958909"/>
            <a:ext cx="7736" cy="134092"/>
          </a:xfrm>
          <a:prstGeom prst="line">
            <a:avLst/>
          </a:prstGeom>
          <a:ln w="18415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H="1">
            <a:off x="952499" y="6093001"/>
            <a:ext cx="87675" cy="67046"/>
          </a:xfrm>
          <a:prstGeom prst="line">
            <a:avLst/>
          </a:prstGeom>
          <a:ln w="18415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H="1" flipV="1">
            <a:off x="864823" y="6093001"/>
            <a:ext cx="87676" cy="67046"/>
          </a:xfrm>
          <a:prstGeom prst="line">
            <a:avLst/>
          </a:prstGeom>
          <a:ln w="18415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H="1" flipV="1">
            <a:off x="857087" y="5958909"/>
            <a:ext cx="7736" cy="134092"/>
          </a:xfrm>
          <a:prstGeom prst="line">
            <a:avLst/>
          </a:prstGeom>
          <a:ln w="18415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857087" y="5920229"/>
            <a:ext cx="95412" cy="38680"/>
          </a:xfrm>
          <a:prstGeom prst="line">
            <a:avLst/>
          </a:prstGeom>
          <a:ln w="18415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Freeform 2"/>
          <p:cNvSpPr/>
          <p:nvPr/>
        </p:nvSpPr>
        <p:spPr>
          <a:xfrm>
            <a:off x="8534400" y="0"/>
            <a:ext cx="3642360" cy="4000500"/>
          </a:xfrm>
          <a:custGeom>
            <a:avLst/>
            <a:gdLst/>
            <a:ahLst/>
            <a:cxnLst/>
            <a:rect l="l" t="t" r="r" b="b"/>
            <a:pathLst>
              <a:path w="478" h="525">
                <a:moveTo>
                  <a:pt x="478" y="0"/>
                </a:moveTo>
                <a:lnTo>
                  <a:pt x="58" y="0"/>
                </a:lnTo>
                <a:lnTo>
                  <a:pt x="41" y="24"/>
                </a:lnTo>
                <a:lnTo>
                  <a:pt x="27" y="49"/>
                </a:lnTo>
                <a:lnTo>
                  <a:pt x="16" y="73"/>
                </a:lnTo>
                <a:lnTo>
                  <a:pt x="8" y="97"/>
                </a:lnTo>
                <a:lnTo>
                  <a:pt x="3" y="121"/>
                </a:lnTo>
                <a:lnTo>
                  <a:pt x="0" y="144"/>
                </a:lnTo>
                <a:lnTo>
                  <a:pt x="0" y="167"/>
                </a:lnTo>
                <a:lnTo>
                  <a:pt x="3" y="190"/>
                </a:lnTo>
                <a:lnTo>
                  <a:pt x="8" y="212"/>
                </a:lnTo>
                <a:lnTo>
                  <a:pt x="15" y="234"/>
                </a:lnTo>
                <a:lnTo>
                  <a:pt x="24" y="255"/>
                </a:lnTo>
                <a:lnTo>
                  <a:pt x="36" y="276"/>
                </a:lnTo>
                <a:lnTo>
                  <a:pt x="49" y="295"/>
                </a:lnTo>
                <a:lnTo>
                  <a:pt x="63" y="314"/>
                </a:lnTo>
                <a:lnTo>
                  <a:pt x="80" y="333"/>
                </a:lnTo>
                <a:lnTo>
                  <a:pt x="98" y="350"/>
                </a:lnTo>
                <a:lnTo>
                  <a:pt x="128" y="371"/>
                </a:lnTo>
                <a:lnTo>
                  <a:pt x="157" y="388"/>
                </a:lnTo>
                <a:lnTo>
                  <a:pt x="185" y="402"/>
                </a:lnTo>
                <a:lnTo>
                  <a:pt x="212" y="413"/>
                </a:lnTo>
                <a:lnTo>
                  <a:pt x="239" y="422"/>
                </a:lnTo>
                <a:lnTo>
                  <a:pt x="265" y="429"/>
                </a:lnTo>
                <a:lnTo>
                  <a:pt x="290" y="434"/>
                </a:lnTo>
                <a:lnTo>
                  <a:pt x="314" y="439"/>
                </a:lnTo>
                <a:lnTo>
                  <a:pt x="338" y="444"/>
                </a:lnTo>
                <a:lnTo>
                  <a:pt x="360" y="450"/>
                </a:lnTo>
                <a:lnTo>
                  <a:pt x="382" y="456"/>
                </a:lnTo>
                <a:lnTo>
                  <a:pt x="403" y="465"/>
                </a:lnTo>
                <a:lnTo>
                  <a:pt x="423" y="475"/>
                </a:lnTo>
                <a:lnTo>
                  <a:pt x="442" y="488"/>
                </a:lnTo>
                <a:lnTo>
                  <a:pt x="461" y="505"/>
                </a:lnTo>
                <a:lnTo>
                  <a:pt x="478" y="525"/>
                </a:lnTo>
                <a:lnTo>
                  <a:pt x="478" y="0"/>
                </a:lnTo>
                <a:close/>
              </a:path>
            </a:pathLst>
          </a:custGeom>
          <a:solidFill>
            <a:srgbClr val="EAF5FE">
              <a:alpha val="6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Oval 3"/>
          <p:cNvSpPr/>
          <p:nvPr/>
        </p:nvSpPr>
        <p:spPr>
          <a:xfrm>
            <a:off x="10241280" y="457200"/>
            <a:ext cx="100584" cy="100584"/>
          </a:xfrm>
          <a:prstGeom prst="ellipse">
            <a:avLst/>
          </a:prstGeom>
          <a:solidFill>
            <a:srgbClr val="49B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2033504" y="914400"/>
            <a:ext cx="100584" cy="100584"/>
          </a:xfrm>
          <a:prstGeom prst="ellipse">
            <a:avLst/>
          </a:prstGeom>
          <a:solidFill>
            <a:srgbClr val="49B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823192" y="2880360"/>
            <a:ext cx="100584" cy="100584"/>
          </a:xfrm>
          <a:prstGeom prst="ellipse">
            <a:avLst/>
          </a:prstGeom>
          <a:solidFill>
            <a:srgbClr val="49B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" y="548640"/>
            <a:ext cx="10515600" cy="521207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300" b="1">
                <a:solidFill>
                  <a:srgbClr val="0C20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核心数据模型设计</a:t>
            </a:r>
            <a:endParaRPr sz="3300" b="1">
              <a:solidFill>
                <a:srgbClr val="0C205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0080" y="1124712"/>
            <a:ext cx="10972800" cy="338328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E18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统一成果实体 Work，关联人员、机构、来源、认领与治理</a:t>
            </a:r>
            <a:endParaRPr sz="1800" b="0">
              <a:solidFill>
                <a:srgbClr val="0E18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3" name="Connector 12"/>
          <p:cNvCxnSpPr/>
          <p:nvPr/>
        </p:nvCxnSpPr>
        <p:spPr>
          <a:xfrm>
            <a:off x="640080" y="6483096"/>
            <a:ext cx="11109960" cy="0"/>
          </a:xfrm>
          <a:prstGeom prst="line">
            <a:avLst/>
          </a:prstGeom>
          <a:ln w="8255">
            <a:solidFill>
              <a:srgbClr val="CFE5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40080" y="6501384"/>
            <a:ext cx="7315200" cy="228600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0" b="0">
                <a:solidFill>
                  <a:srgbClr val="0E18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学术成果分享平台   /   系统分析与设计</a:t>
            </a:r>
            <a:endParaRPr sz="1070" b="0">
              <a:solidFill>
                <a:srgbClr val="0E18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7" name="Connector 16"/>
          <p:cNvCxnSpPr/>
          <p:nvPr/>
        </p:nvCxnSpPr>
        <p:spPr>
          <a:xfrm>
            <a:off x="2057400" y="2523744"/>
            <a:ext cx="0" cy="292608"/>
          </a:xfrm>
          <a:prstGeom prst="line">
            <a:avLst/>
          </a:prstGeom>
          <a:ln w="19050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2057400" y="2816352"/>
            <a:ext cx="2898648" cy="0"/>
          </a:xfrm>
          <a:prstGeom prst="line">
            <a:avLst/>
          </a:prstGeom>
          <a:ln w="19050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956048" y="2816352"/>
            <a:ext cx="0" cy="301752"/>
          </a:xfrm>
          <a:prstGeom prst="line">
            <a:avLst/>
          </a:prstGeom>
          <a:ln w="19050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754880" y="2523744"/>
            <a:ext cx="0" cy="201168"/>
          </a:xfrm>
          <a:prstGeom prst="line">
            <a:avLst/>
          </a:prstGeom>
          <a:ln w="19050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754880" y="2724912"/>
            <a:ext cx="1051560" cy="0"/>
          </a:xfrm>
          <a:prstGeom prst="line">
            <a:avLst/>
          </a:prstGeom>
          <a:ln w="19050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806440" y="2724912"/>
            <a:ext cx="0" cy="393192"/>
          </a:xfrm>
          <a:prstGeom prst="line">
            <a:avLst/>
          </a:prstGeom>
          <a:ln w="19050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525512" y="2523744"/>
            <a:ext cx="0" cy="265176"/>
          </a:xfrm>
          <a:prstGeom prst="line">
            <a:avLst/>
          </a:prstGeom>
          <a:ln w="19050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6537960" y="2788920"/>
            <a:ext cx="987552" cy="0"/>
          </a:xfrm>
          <a:prstGeom prst="line">
            <a:avLst/>
          </a:prstGeom>
          <a:ln w="19050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6537960" y="2788920"/>
            <a:ext cx="0" cy="329184"/>
          </a:xfrm>
          <a:prstGeom prst="line">
            <a:avLst/>
          </a:prstGeom>
          <a:ln w="19050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0277856" y="2523744"/>
            <a:ext cx="0" cy="292608"/>
          </a:xfrm>
          <a:prstGeom prst="line">
            <a:avLst/>
          </a:prstGeom>
          <a:ln w="19050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7315200" y="2816352"/>
            <a:ext cx="2962656" cy="0"/>
          </a:xfrm>
          <a:prstGeom prst="line">
            <a:avLst/>
          </a:prstGeom>
          <a:ln w="19050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7315200" y="2816352"/>
            <a:ext cx="0" cy="301752"/>
          </a:xfrm>
          <a:prstGeom prst="line">
            <a:avLst/>
          </a:prstGeom>
          <a:ln w="19050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4956048" y="2907792"/>
            <a:ext cx="0" cy="210312"/>
          </a:xfrm>
          <a:prstGeom prst="line">
            <a:avLst/>
          </a:prstGeom>
          <a:ln w="17780">
            <a:solidFill>
              <a:srgbClr val="0556C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806440" y="2907792"/>
            <a:ext cx="0" cy="210312"/>
          </a:xfrm>
          <a:prstGeom prst="line">
            <a:avLst/>
          </a:prstGeom>
          <a:ln w="17780">
            <a:solidFill>
              <a:srgbClr val="0556C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537960" y="2907792"/>
            <a:ext cx="0" cy="210312"/>
          </a:xfrm>
          <a:prstGeom prst="line">
            <a:avLst/>
          </a:prstGeom>
          <a:ln w="17780">
            <a:solidFill>
              <a:srgbClr val="0556C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315200" y="2907792"/>
            <a:ext cx="0" cy="210312"/>
          </a:xfrm>
          <a:prstGeom prst="line">
            <a:avLst/>
          </a:prstGeom>
          <a:ln w="17780">
            <a:solidFill>
              <a:srgbClr val="0556C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6099048" y="3986784"/>
            <a:ext cx="0" cy="155448"/>
          </a:xfrm>
          <a:prstGeom prst="line">
            <a:avLst/>
          </a:prstGeom>
          <a:ln w="20320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>
            <a:off x="3063240" y="4142232"/>
            <a:ext cx="3035808" cy="0"/>
          </a:xfrm>
          <a:prstGeom prst="line">
            <a:avLst/>
          </a:prstGeom>
          <a:ln w="20320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063240" y="4142232"/>
            <a:ext cx="0" cy="164592"/>
          </a:xfrm>
          <a:prstGeom prst="line">
            <a:avLst/>
          </a:prstGeom>
          <a:ln w="20320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6099048" y="3986784"/>
            <a:ext cx="0" cy="320040"/>
          </a:xfrm>
          <a:prstGeom prst="line">
            <a:avLst/>
          </a:prstGeom>
          <a:ln w="20320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6099048" y="3986784"/>
            <a:ext cx="0" cy="155448"/>
          </a:xfrm>
          <a:prstGeom prst="line">
            <a:avLst/>
          </a:prstGeom>
          <a:ln w="20320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6099048" y="4142232"/>
            <a:ext cx="3072384" cy="0"/>
          </a:xfrm>
          <a:prstGeom prst="line">
            <a:avLst/>
          </a:prstGeom>
          <a:ln w="20320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9171432" y="4142232"/>
            <a:ext cx="0" cy="164592"/>
          </a:xfrm>
          <a:prstGeom prst="line">
            <a:avLst/>
          </a:prstGeom>
          <a:ln w="20320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063240" y="4133087"/>
            <a:ext cx="0" cy="173737"/>
          </a:xfrm>
          <a:prstGeom prst="line">
            <a:avLst/>
          </a:prstGeom>
          <a:ln w="17780">
            <a:solidFill>
              <a:srgbClr val="0556C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6099048" y="4133087"/>
            <a:ext cx="0" cy="173737"/>
          </a:xfrm>
          <a:prstGeom prst="line">
            <a:avLst/>
          </a:prstGeom>
          <a:ln w="17780">
            <a:solidFill>
              <a:srgbClr val="0556C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9171432" y="4133087"/>
            <a:ext cx="0" cy="173737"/>
          </a:xfrm>
          <a:prstGeom prst="line">
            <a:avLst/>
          </a:prstGeom>
          <a:ln w="17780">
            <a:solidFill>
              <a:srgbClr val="0556C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6099048" y="5056632"/>
            <a:ext cx="0" cy="137160"/>
          </a:xfrm>
          <a:prstGeom prst="line">
            <a:avLst/>
          </a:prstGeom>
          <a:ln w="19050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H="1">
            <a:off x="4453128" y="5193792"/>
            <a:ext cx="1645920" cy="0"/>
          </a:xfrm>
          <a:prstGeom prst="line">
            <a:avLst/>
          </a:prstGeom>
          <a:ln w="19050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453128" y="5193792"/>
            <a:ext cx="0" cy="173736"/>
          </a:xfrm>
          <a:prstGeom prst="line">
            <a:avLst/>
          </a:prstGeom>
          <a:ln w="19050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6099048" y="5056632"/>
            <a:ext cx="0" cy="137160"/>
          </a:xfrm>
          <a:prstGeom prst="line">
            <a:avLst/>
          </a:prstGeom>
          <a:ln w="19050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6099048" y="5193792"/>
            <a:ext cx="1719072" cy="0"/>
          </a:xfrm>
          <a:prstGeom prst="line">
            <a:avLst/>
          </a:prstGeom>
          <a:ln w="19050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7818120" y="5193792"/>
            <a:ext cx="0" cy="173736"/>
          </a:xfrm>
          <a:prstGeom prst="line">
            <a:avLst/>
          </a:prstGeom>
          <a:ln w="19050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453128" y="5212080"/>
            <a:ext cx="0" cy="155448"/>
          </a:xfrm>
          <a:prstGeom prst="line">
            <a:avLst/>
          </a:prstGeom>
          <a:ln w="16510">
            <a:solidFill>
              <a:srgbClr val="0556C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7818120" y="5212080"/>
            <a:ext cx="0" cy="155448"/>
          </a:xfrm>
          <a:prstGeom prst="line">
            <a:avLst/>
          </a:prstGeom>
          <a:ln w="16510">
            <a:solidFill>
              <a:srgbClr val="0556C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ounded Rectangle 50"/>
          <p:cNvSpPr/>
          <p:nvPr/>
        </p:nvSpPr>
        <p:spPr>
          <a:xfrm>
            <a:off x="768096" y="1700784"/>
            <a:ext cx="2304288" cy="83210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C9E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014983" y="1815084"/>
            <a:ext cx="603504" cy="603504"/>
          </a:xfrm>
          <a:prstGeom prst="ellipse">
            <a:avLst/>
          </a:prstGeom>
          <a:solidFill>
            <a:srgbClr val="EA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193621" y="1919852"/>
            <a:ext cx="233918" cy="385759"/>
          </a:xfrm>
          <a:prstGeom prst="rect">
            <a:avLst/>
          </a:prstGeom>
          <a:noFill/>
          <a:ln w="26670">
            <a:solidFill>
              <a:srgbClr val="055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" name="Connector 53"/>
          <p:cNvCxnSpPr/>
          <p:nvPr/>
        </p:nvCxnSpPr>
        <p:spPr>
          <a:xfrm>
            <a:off x="1242867" y="2026551"/>
            <a:ext cx="131322" cy="0"/>
          </a:xfrm>
          <a:prstGeom prst="line">
            <a:avLst/>
          </a:prstGeom>
          <a:ln w="21590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1242867" y="2129147"/>
            <a:ext cx="131322" cy="0"/>
          </a:xfrm>
          <a:prstGeom prst="line">
            <a:avLst/>
          </a:prstGeom>
          <a:ln w="21590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242867" y="2223535"/>
            <a:ext cx="131322" cy="0"/>
          </a:xfrm>
          <a:prstGeom prst="line">
            <a:avLst/>
          </a:prstGeom>
          <a:ln w="21590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1847088" y="1865376"/>
            <a:ext cx="1115568" cy="301752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819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论文</a:t>
            </a:r>
            <a:endParaRPr sz="1700" b="1">
              <a:solidFill>
                <a:srgbClr val="08194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1856231" y="2167128"/>
            <a:ext cx="1106424" cy="228600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E18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Paper</a:t>
            </a:r>
            <a:endParaRPr sz="1250" b="1">
              <a:solidFill>
                <a:srgbClr val="0E18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9" name="Rounded Rectangle 58"/>
          <p:cNvSpPr/>
          <p:nvPr/>
        </p:nvSpPr>
        <p:spPr>
          <a:xfrm>
            <a:off x="3611880" y="1700784"/>
            <a:ext cx="2304288" cy="83210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C9E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3858768" y="1815084"/>
            <a:ext cx="603504" cy="603504"/>
          </a:xfrm>
          <a:prstGeom prst="ellipse">
            <a:avLst/>
          </a:prstGeom>
          <a:solidFill>
            <a:srgbClr val="FF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3984055" y="1936267"/>
            <a:ext cx="254437" cy="254437"/>
          </a:xfrm>
          <a:prstGeom prst="ellipse">
            <a:avLst/>
          </a:prstGeom>
          <a:noFill/>
          <a:ln w="26670">
            <a:solidFill>
              <a:srgbClr val="F47B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2" name="Connector 61"/>
          <p:cNvCxnSpPr/>
          <p:nvPr/>
        </p:nvCxnSpPr>
        <p:spPr>
          <a:xfrm>
            <a:off x="4213869" y="2166081"/>
            <a:ext cx="143634" cy="147738"/>
          </a:xfrm>
          <a:prstGeom prst="line">
            <a:avLst/>
          </a:prstGeom>
          <a:ln w="31750">
            <a:solidFill>
              <a:srgbClr val="F47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4690872" y="1865376"/>
            <a:ext cx="1115568" cy="301752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819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专利</a:t>
            </a:r>
            <a:endParaRPr sz="1700" b="1">
              <a:solidFill>
                <a:srgbClr val="08194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4700016" y="2167128"/>
            <a:ext cx="1106424" cy="228600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E18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Patent</a:t>
            </a:r>
            <a:endParaRPr sz="1250" b="1">
              <a:solidFill>
                <a:srgbClr val="0E18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5" name="Rounded Rectangle 64"/>
          <p:cNvSpPr/>
          <p:nvPr/>
        </p:nvSpPr>
        <p:spPr>
          <a:xfrm>
            <a:off x="6382512" y="1700784"/>
            <a:ext cx="2304288" cy="83210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C9E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6629400" y="1815084"/>
            <a:ext cx="603504" cy="603504"/>
          </a:xfrm>
          <a:prstGeom prst="ellipse">
            <a:avLst/>
          </a:prstGeom>
          <a:solidFill>
            <a:srgbClr val="E3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7" name="Connector 66"/>
          <p:cNvCxnSpPr/>
          <p:nvPr/>
        </p:nvCxnSpPr>
        <p:spPr>
          <a:xfrm flipV="1">
            <a:off x="6742375" y="1928059"/>
            <a:ext cx="188777" cy="86181"/>
          </a:xfrm>
          <a:prstGeom prst="line">
            <a:avLst/>
          </a:prstGeom>
          <a:ln w="26670">
            <a:solidFill>
              <a:srgbClr val="1BAF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6931152" y="1928059"/>
            <a:ext cx="188776" cy="86181"/>
          </a:xfrm>
          <a:prstGeom prst="line">
            <a:avLst/>
          </a:prstGeom>
          <a:ln w="26670">
            <a:solidFill>
              <a:srgbClr val="1BAF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H="1">
            <a:off x="6931152" y="2014240"/>
            <a:ext cx="188776" cy="86180"/>
          </a:xfrm>
          <a:prstGeom prst="line">
            <a:avLst/>
          </a:prstGeom>
          <a:ln w="26670">
            <a:solidFill>
              <a:srgbClr val="1BAF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H="1" flipV="1">
            <a:off x="6742375" y="2014240"/>
            <a:ext cx="188777" cy="86180"/>
          </a:xfrm>
          <a:prstGeom prst="line">
            <a:avLst/>
          </a:prstGeom>
          <a:ln w="26670">
            <a:solidFill>
              <a:srgbClr val="1BAF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6742375" y="2030655"/>
            <a:ext cx="188777" cy="86181"/>
          </a:xfrm>
          <a:prstGeom prst="line">
            <a:avLst/>
          </a:prstGeom>
          <a:ln w="26670">
            <a:solidFill>
              <a:srgbClr val="1BAF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6931152" y="2030655"/>
            <a:ext cx="188776" cy="86181"/>
          </a:xfrm>
          <a:prstGeom prst="line">
            <a:avLst/>
          </a:prstGeom>
          <a:ln w="26670">
            <a:solidFill>
              <a:srgbClr val="1BAF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H="1">
            <a:off x="6931152" y="2116836"/>
            <a:ext cx="188776" cy="86180"/>
          </a:xfrm>
          <a:prstGeom prst="line">
            <a:avLst/>
          </a:prstGeom>
          <a:ln w="26670">
            <a:solidFill>
              <a:srgbClr val="1BAF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H="1" flipV="1">
            <a:off x="6742375" y="2116836"/>
            <a:ext cx="188777" cy="86180"/>
          </a:xfrm>
          <a:prstGeom prst="line">
            <a:avLst/>
          </a:prstGeom>
          <a:ln w="26670">
            <a:solidFill>
              <a:srgbClr val="1BAF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6742375" y="2133251"/>
            <a:ext cx="188777" cy="86180"/>
          </a:xfrm>
          <a:prstGeom prst="line">
            <a:avLst/>
          </a:prstGeom>
          <a:ln w="26670">
            <a:solidFill>
              <a:srgbClr val="1BAF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6931152" y="2133251"/>
            <a:ext cx="188776" cy="86180"/>
          </a:xfrm>
          <a:prstGeom prst="line">
            <a:avLst/>
          </a:prstGeom>
          <a:ln w="26670">
            <a:solidFill>
              <a:srgbClr val="1BAF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H="1">
            <a:off x="6931152" y="2219431"/>
            <a:ext cx="188776" cy="86181"/>
          </a:xfrm>
          <a:prstGeom prst="line">
            <a:avLst/>
          </a:prstGeom>
          <a:ln w="26670">
            <a:solidFill>
              <a:srgbClr val="1BAF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H="1" flipV="1">
            <a:off x="6742375" y="2219431"/>
            <a:ext cx="188777" cy="86181"/>
          </a:xfrm>
          <a:prstGeom prst="line">
            <a:avLst/>
          </a:prstGeom>
          <a:ln w="26670">
            <a:solidFill>
              <a:srgbClr val="1BAF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/>
          <p:cNvSpPr txBox="1"/>
          <p:nvPr/>
        </p:nvSpPr>
        <p:spPr>
          <a:xfrm>
            <a:off x="7461504" y="1865376"/>
            <a:ext cx="1115568" cy="301752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819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科研项目</a:t>
            </a:r>
            <a:endParaRPr sz="1700" b="1">
              <a:solidFill>
                <a:srgbClr val="08194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7470648" y="2167128"/>
            <a:ext cx="1106424" cy="228600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E18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Project</a:t>
            </a:r>
            <a:endParaRPr sz="1250" b="1">
              <a:solidFill>
                <a:srgbClr val="0E18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1" name="Rounded Rectangle 80"/>
          <p:cNvSpPr/>
          <p:nvPr/>
        </p:nvSpPr>
        <p:spPr>
          <a:xfrm>
            <a:off x="9134856" y="1700784"/>
            <a:ext cx="2304288" cy="83210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C9E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9381744" y="1815084"/>
            <a:ext cx="603504" cy="603504"/>
          </a:xfrm>
          <a:prstGeom prst="ellipse">
            <a:avLst/>
          </a:prstGeom>
          <a:solidFill>
            <a:srgbClr val="EA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3" name="Connector 82"/>
          <p:cNvCxnSpPr/>
          <p:nvPr/>
        </p:nvCxnSpPr>
        <p:spPr>
          <a:xfrm>
            <a:off x="9539862" y="1952682"/>
            <a:ext cx="287267" cy="0"/>
          </a:xfrm>
          <a:prstGeom prst="line">
            <a:avLst/>
          </a:prstGeom>
          <a:ln w="26670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H="1">
            <a:off x="9794299" y="1952682"/>
            <a:ext cx="32830" cy="209296"/>
          </a:xfrm>
          <a:prstGeom prst="line">
            <a:avLst/>
          </a:prstGeom>
          <a:ln w="26670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H="1">
            <a:off x="9683496" y="2161978"/>
            <a:ext cx="110803" cy="65661"/>
          </a:xfrm>
          <a:prstGeom prst="line">
            <a:avLst/>
          </a:prstGeom>
          <a:ln w="26670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H="1" flipV="1">
            <a:off x="9572692" y="2161978"/>
            <a:ext cx="110804" cy="65661"/>
          </a:xfrm>
          <a:prstGeom prst="line">
            <a:avLst/>
          </a:prstGeom>
          <a:ln w="26670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H="1" flipV="1">
            <a:off x="9539862" y="1952682"/>
            <a:ext cx="32830" cy="209296"/>
          </a:xfrm>
          <a:prstGeom prst="line">
            <a:avLst/>
          </a:prstGeom>
          <a:ln w="26670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H="1">
            <a:off x="9465993" y="2001928"/>
            <a:ext cx="73869" cy="0"/>
          </a:xfrm>
          <a:prstGeom prst="line">
            <a:avLst/>
          </a:prstGeom>
          <a:ln w="26670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9465993" y="2001928"/>
            <a:ext cx="12311" cy="164153"/>
          </a:xfrm>
          <a:prstGeom prst="line">
            <a:avLst/>
          </a:prstGeom>
          <a:ln w="26670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9478304" y="2166081"/>
            <a:ext cx="123115" cy="49246"/>
          </a:xfrm>
          <a:prstGeom prst="line">
            <a:avLst/>
          </a:prstGeom>
          <a:ln w="26670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9827129" y="2001928"/>
            <a:ext cx="73869" cy="0"/>
          </a:xfrm>
          <a:prstGeom prst="line">
            <a:avLst/>
          </a:prstGeom>
          <a:ln w="26670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H="1">
            <a:off x="9888687" y="2001928"/>
            <a:ext cx="12311" cy="164153"/>
          </a:xfrm>
          <a:prstGeom prst="line">
            <a:avLst/>
          </a:prstGeom>
          <a:ln w="26670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H="1">
            <a:off x="9765572" y="2166081"/>
            <a:ext cx="123115" cy="49246"/>
          </a:xfrm>
          <a:prstGeom prst="line">
            <a:avLst/>
          </a:prstGeom>
          <a:ln w="26670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9683496" y="2223535"/>
            <a:ext cx="0" cy="90284"/>
          </a:xfrm>
          <a:prstGeom prst="line">
            <a:avLst/>
          </a:prstGeom>
          <a:ln w="26670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9580900" y="2313819"/>
            <a:ext cx="205191" cy="0"/>
          </a:xfrm>
          <a:prstGeom prst="line">
            <a:avLst/>
          </a:prstGeom>
          <a:ln w="26670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TextBox 95"/>
          <p:cNvSpPr txBox="1"/>
          <p:nvPr/>
        </p:nvSpPr>
        <p:spPr>
          <a:xfrm>
            <a:off x="10213848" y="1865376"/>
            <a:ext cx="1115568" cy="301752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819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获奖</a:t>
            </a:r>
            <a:endParaRPr sz="1700" b="1">
              <a:solidFill>
                <a:srgbClr val="08194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7" name="TextBox 96"/>
          <p:cNvSpPr txBox="1"/>
          <p:nvPr/>
        </p:nvSpPr>
        <p:spPr>
          <a:xfrm>
            <a:off x="10222992" y="2167128"/>
            <a:ext cx="1106424" cy="228600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E18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Award</a:t>
            </a:r>
            <a:endParaRPr sz="1250" b="1">
              <a:solidFill>
                <a:srgbClr val="0E18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8" name="Rounded Rectangle 97"/>
          <p:cNvSpPr/>
          <p:nvPr/>
        </p:nvSpPr>
        <p:spPr>
          <a:xfrm>
            <a:off x="4590288" y="3108960"/>
            <a:ext cx="3090672" cy="877824"/>
          </a:xfrm>
          <a:prstGeom prst="roundRect">
            <a:avLst>
              <a:gd name="adj" fmla="val 14000"/>
            </a:avLst>
          </a:prstGeom>
          <a:solidFill>
            <a:srgbClr val="E6F4FF"/>
          </a:solidFill>
          <a:ln w="12700">
            <a:solidFill>
              <a:srgbClr val="C9E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4837175" y="3246120"/>
            <a:ext cx="603504" cy="603504"/>
          </a:xfrm>
          <a:prstGeom prst="ellipse">
            <a:avLst/>
          </a:prstGeom>
          <a:solidFill>
            <a:srgbClr val="EA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" name="Connector 99"/>
          <p:cNvCxnSpPr/>
          <p:nvPr/>
        </p:nvCxnSpPr>
        <p:spPr>
          <a:xfrm flipV="1">
            <a:off x="4950151" y="3359095"/>
            <a:ext cx="188776" cy="86181"/>
          </a:xfrm>
          <a:prstGeom prst="line">
            <a:avLst/>
          </a:prstGeom>
          <a:ln w="26670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5138927" y="3359095"/>
            <a:ext cx="188777" cy="86181"/>
          </a:xfrm>
          <a:prstGeom prst="line">
            <a:avLst/>
          </a:prstGeom>
          <a:ln w="26670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H="1">
            <a:off x="5138927" y="3445276"/>
            <a:ext cx="188777" cy="86180"/>
          </a:xfrm>
          <a:prstGeom prst="line">
            <a:avLst/>
          </a:prstGeom>
          <a:ln w="26670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H="1" flipV="1">
            <a:off x="4950151" y="3445276"/>
            <a:ext cx="188776" cy="86180"/>
          </a:xfrm>
          <a:prstGeom prst="line">
            <a:avLst/>
          </a:prstGeom>
          <a:ln w="26670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4950151" y="3461691"/>
            <a:ext cx="188776" cy="86181"/>
          </a:xfrm>
          <a:prstGeom prst="line">
            <a:avLst/>
          </a:prstGeom>
          <a:ln w="26670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5138927" y="3461691"/>
            <a:ext cx="188777" cy="86181"/>
          </a:xfrm>
          <a:prstGeom prst="line">
            <a:avLst/>
          </a:prstGeom>
          <a:ln w="26670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H="1">
            <a:off x="5138927" y="3547872"/>
            <a:ext cx="188777" cy="86180"/>
          </a:xfrm>
          <a:prstGeom prst="line">
            <a:avLst/>
          </a:prstGeom>
          <a:ln w="26670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H="1" flipV="1">
            <a:off x="4950151" y="3547872"/>
            <a:ext cx="188776" cy="86180"/>
          </a:xfrm>
          <a:prstGeom prst="line">
            <a:avLst/>
          </a:prstGeom>
          <a:ln w="26670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4950151" y="3564287"/>
            <a:ext cx="188776" cy="86180"/>
          </a:xfrm>
          <a:prstGeom prst="line">
            <a:avLst/>
          </a:prstGeom>
          <a:ln w="26670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5138927" y="3564287"/>
            <a:ext cx="188777" cy="86180"/>
          </a:xfrm>
          <a:prstGeom prst="line">
            <a:avLst/>
          </a:prstGeom>
          <a:ln w="26670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H="1">
            <a:off x="5138927" y="3650467"/>
            <a:ext cx="188777" cy="86181"/>
          </a:xfrm>
          <a:prstGeom prst="line">
            <a:avLst/>
          </a:prstGeom>
          <a:ln w="26670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H="1" flipV="1">
            <a:off x="4950151" y="3650467"/>
            <a:ext cx="188776" cy="86181"/>
          </a:xfrm>
          <a:prstGeom prst="line">
            <a:avLst/>
          </a:prstGeom>
          <a:ln w="26670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TextBox 111"/>
          <p:cNvSpPr txBox="1"/>
          <p:nvPr/>
        </p:nvSpPr>
        <p:spPr>
          <a:xfrm>
            <a:off x="5669279" y="3273552"/>
            <a:ext cx="1901952" cy="301752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819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Work</a:t>
            </a:r>
            <a:endParaRPr sz="2500" b="1">
              <a:solidFill>
                <a:srgbClr val="08194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3" name="TextBox 112"/>
          <p:cNvSpPr txBox="1"/>
          <p:nvPr/>
        </p:nvSpPr>
        <p:spPr>
          <a:xfrm>
            <a:off x="5678423" y="3575304"/>
            <a:ext cx="1892807" cy="228600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C20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统一成果主实体</a:t>
            </a:r>
            <a:endParaRPr sz="1400" b="1">
              <a:solidFill>
                <a:srgbClr val="0C205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4" name="Rounded Rectangle 113"/>
          <p:cNvSpPr/>
          <p:nvPr/>
        </p:nvSpPr>
        <p:spPr>
          <a:xfrm>
            <a:off x="1828800" y="4315968"/>
            <a:ext cx="2560320" cy="74066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C9E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2075688" y="4384548"/>
            <a:ext cx="603504" cy="603504"/>
          </a:xfrm>
          <a:prstGeom prst="ellipse">
            <a:avLst/>
          </a:prstGeom>
          <a:solidFill>
            <a:srgbClr val="E3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2287155" y="4497523"/>
            <a:ext cx="180568" cy="180568"/>
          </a:xfrm>
          <a:prstGeom prst="ellipse">
            <a:avLst/>
          </a:prstGeom>
          <a:noFill/>
          <a:ln w="26670">
            <a:solidFill>
              <a:srgbClr val="1BAF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7" name="Connector 116"/>
          <p:cNvCxnSpPr/>
          <p:nvPr/>
        </p:nvCxnSpPr>
        <p:spPr>
          <a:xfrm flipV="1">
            <a:off x="2180456" y="4788895"/>
            <a:ext cx="12311" cy="86181"/>
          </a:xfrm>
          <a:prstGeom prst="line">
            <a:avLst/>
          </a:prstGeom>
          <a:ln w="26670">
            <a:solidFill>
              <a:srgbClr val="1BAF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V="1">
            <a:off x="2192767" y="4727338"/>
            <a:ext cx="65662" cy="61557"/>
          </a:xfrm>
          <a:prstGeom prst="line">
            <a:avLst/>
          </a:prstGeom>
          <a:ln w="26670">
            <a:solidFill>
              <a:srgbClr val="1BAF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2258429" y="4727338"/>
            <a:ext cx="238021" cy="0"/>
          </a:xfrm>
          <a:prstGeom prst="line">
            <a:avLst/>
          </a:prstGeom>
          <a:ln w="26670">
            <a:solidFill>
              <a:srgbClr val="1BAF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2496450" y="4727338"/>
            <a:ext cx="65662" cy="61557"/>
          </a:xfrm>
          <a:prstGeom prst="line">
            <a:avLst/>
          </a:prstGeom>
          <a:ln w="26670">
            <a:solidFill>
              <a:srgbClr val="1BAF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>
            <a:off x="2562112" y="4788895"/>
            <a:ext cx="12311" cy="86181"/>
          </a:xfrm>
          <a:prstGeom prst="line">
            <a:avLst/>
          </a:prstGeom>
          <a:ln w="26670">
            <a:solidFill>
              <a:srgbClr val="1BAF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TextBox 121"/>
          <p:cNvSpPr txBox="1"/>
          <p:nvPr/>
        </p:nvSpPr>
        <p:spPr>
          <a:xfrm>
            <a:off x="2907791" y="4480559"/>
            <a:ext cx="1371599" cy="301752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819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人员</a:t>
            </a:r>
            <a:endParaRPr sz="1700" b="1">
              <a:solidFill>
                <a:srgbClr val="08194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3" name="TextBox 122"/>
          <p:cNvSpPr txBox="1"/>
          <p:nvPr/>
        </p:nvSpPr>
        <p:spPr>
          <a:xfrm>
            <a:off x="2916936" y="4782312"/>
            <a:ext cx="1362455" cy="228600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E18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Person</a:t>
            </a:r>
            <a:endParaRPr sz="1250" b="1">
              <a:solidFill>
                <a:srgbClr val="0E18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4" name="Rounded Rectangle 123"/>
          <p:cNvSpPr/>
          <p:nvPr/>
        </p:nvSpPr>
        <p:spPr>
          <a:xfrm>
            <a:off x="4791456" y="4315968"/>
            <a:ext cx="2560320" cy="74066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C9E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5038344" y="4384548"/>
            <a:ext cx="603504" cy="603504"/>
          </a:xfrm>
          <a:prstGeom prst="ellipse">
            <a:avLst/>
          </a:prstGeom>
          <a:solidFill>
            <a:srgbClr val="FF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6" name="Connector 125"/>
          <p:cNvCxnSpPr/>
          <p:nvPr/>
        </p:nvCxnSpPr>
        <p:spPr>
          <a:xfrm flipV="1">
            <a:off x="5143112" y="4481108"/>
            <a:ext cx="196984" cy="127219"/>
          </a:xfrm>
          <a:prstGeom prst="line">
            <a:avLst/>
          </a:prstGeom>
          <a:ln w="26670">
            <a:solidFill>
              <a:srgbClr val="F47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5340096" y="4481108"/>
            <a:ext cx="196983" cy="127219"/>
          </a:xfrm>
          <a:prstGeom prst="line">
            <a:avLst/>
          </a:prstGeom>
          <a:ln w="26670">
            <a:solidFill>
              <a:srgbClr val="F47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>
            <a:off x="5188254" y="4624742"/>
            <a:ext cx="0" cy="205191"/>
          </a:xfrm>
          <a:prstGeom prst="line">
            <a:avLst/>
          </a:prstGeom>
          <a:ln w="26670">
            <a:solidFill>
              <a:srgbClr val="F47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>
            <a:off x="5286746" y="4624742"/>
            <a:ext cx="0" cy="205191"/>
          </a:xfrm>
          <a:prstGeom prst="line">
            <a:avLst/>
          </a:prstGeom>
          <a:ln w="26670">
            <a:solidFill>
              <a:srgbClr val="F47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5393445" y="4624742"/>
            <a:ext cx="0" cy="205191"/>
          </a:xfrm>
          <a:prstGeom prst="line">
            <a:avLst/>
          </a:prstGeom>
          <a:ln w="26670">
            <a:solidFill>
              <a:srgbClr val="F47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5491937" y="4624742"/>
            <a:ext cx="0" cy="205191"/>
          </a:xfrm>
          <a:prstGeom prst="line">
            <a:avLst/>
          </a:prstGeom>
          <a:ln w="26670">
            <a:solidFill>
              <a:srgbClr val="F47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5122593" y="4850453"/>
            <a:ext cx="435005" cy="0"/>
          </a:xfrm>
          <a:prstGeom prst="line">
            <a:avLst/>
          </a:prstGeom>
          <a:ln w="27940">
            <a:solidFill>
              <a:srgbClr val="F47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TextBox 132"/>
          <p:cNvSpPr txBox="1"/>
          <p:nvPr/>
        </p:nvSpPr>
        <p:spPr>
          <a:xfrm>
            <a:off x="5870448" y="4480559"/>
            <a:ext cx="1371599" cy="301752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819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机构</a:t>
            </a:r>
            <a:endParaRPr sz="1700" b="1">
              <a:solidFill>
                <a:srgbClr val="08194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4" name="TextBox 133"/>
          <p:cNvSpPr txBox="1"/>
          <p:nvPr/>
        </p:nvSpPr>
        <p:spPr>
          <a:xfrm>
            <a:off x="5879592" y="4782312"/>
            <a:ext cx="1362455" cy="228600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E18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Organization</a:t>
            </a:r>
            <a:endParaRPr sz="1250" b="1">
              <a:solidFill>
                <a:srgbClr val="0E18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5" name="Rounded Rectangle 134"/>
          <p:cNvSpPr/>
          <p:nvPr/>
        </p:nvSpPr>
        <p:spPr>
          <a:xfrm>
            <a:off x="7790688" y="4315968"/>
            <a:ext cx="2606040" cy="74066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C9E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8037575" y="4384548"/>
            <a:ext cx="603504" cy="603504"/>
          </a:xfrm>
          <a:prstGeom prst="ellipse">
            <a:avLst/>
          </a:prstGeom>
          <a:solidFill>
            <a:srgbClr val="EA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8175174" y="4407239"/>
            <a:ext cx="328306" cy="328306"/>
          </a:xfrm>
          <a:prstGeom prst="ellipse">
            <a:avLst/>
          </a:prstGeom>
          <a:noFill/>
          <a:ln w="26670">
            <a:solidFill>
              <a:srgbClr val="055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8175174" y="4645261"/>
            <a:ext cx="328306" cy="328306"/>
          </a:xfrm>
          <a:prstGeom prst="ellipse">
            <a:avLst/>
          </a:prstGeom>
          <a:noFill/>
          <a:ln w="26670">
            <a:solidFill>
              <a:srgbClr val="055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9" name="Connector 138"/>
          <p:cNvCxnSpPr/>
          <p:nvPr/>
        </p:nvCxnSpPr>
        <p:spPr>
          <a:xfrm>
            <a:off x="8175174" y="4571392"/>
            <a:ext cx="0" cy="238022"/>
          </a:xfrm>
          <a:prstGeom prst="line">
            <a:avLst/>
          </a:prstGeom>
          <a:ln w="26670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>
            <a:off x="8503481" y="4571392"/>
            <a:ext cx="0" cy="238022"/>
          </a:xfrm>
          <a:prstGeom prst="line">
            <a:avLst/>
          </a:prstGeom>
          <a:ln w="26670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" name="Oval 140"/>
          <p:cNvSpPr/>
          <p:nvPr/>
        </p:nvSpPr>
        <p:spPr>
          <a:xfrm>
            <a:off x="8175174" y="4534458"/>
            <a:ext cx="328306" cy="328306"/>
          </a:xfrm>
          <a:prstGeom prst="ellipse">
            <a:avLst/>
          </a:prstGeom>
          <a:noFill/>
          <a:ln w="26670">
            <a:solidFill>
              <a:srgbClr val="055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8869680" y="4480559"/>
            <a:ext cx="1417320" cy="301752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819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来源记录</a:t>
            </a:r>
            <a:endParaRPr sz="1700" b="1">
              <a:solidFill>
                <a:srgbClr val="08194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3" name="TextBox 142"/>
          <p:cNvSpPr txBox="1"/>
          <p:nvPr/>
        </p:nvSpPr>
        <p:spPr>
          <a:xfrm>
            <a:off x="8878824" y="4782312"/>
            <a:ext cx="1408176" cy="228600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E18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SourceRecord</a:t>
            </a:r>
            <a:endParaRPr sz="1250" b="1">
              <a:solidFill>
                <a:srgbClr val="0E18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4" name="Rounded Rectangle 143"/>
          <p:cNvSpPr/>
          <p:nvPr/>
        </p:nvSpPr>
        <p:spPr>
          <a:xfrm>
            <a:off x="3200400" y="5376672"/>
            <a:ext cx="2542032" cy="66751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C9E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3447287" y="5408676"/>
            <a:ext cx="603504" cy="603504"/>
          </a:xfrm>
          <a:prstGeom prst="ellipse">
            <a:avLst/>
          </a:prstGeom>
          <a:solidFill>
            <a:srgbClr val="E5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3560263" y="5521651"/>
            <a:ext cx="377552" cy="377552"/>
          </a:xfrm>
          <a:prstGeom prst="ellipse">
            <a:avLst/>
          </a:prstGeom>
          <a:noFill/>
          <a:ln w="26670">
            <a:solidFill>
              <a:srgbClr val="1BAF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7" name="Connector 146"/>
          <p:cNvCxnSpPr/>
          <p:nvPr/>
        </p:nvCxnSpPr>
        <p:spPr>
          <a:xfrm>
            <a:off x="3654651" y="5718635"/>
            <a:ext cx="82077" cy="86181"/>
          </a:xfrm>
          <a:prstGeom prst="line">
            <a:avLst/>
          </a:prstGeom>
          <a:ln w="31750">
            <a:solidFill>
              <a:srgbClr val="1BAF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 flipV="1">
            <a:off x="3736728" y="5624247"/>
            <a:ext cx="131322" cy="180569"/>
          </a:xfrm>
          <a:prstGeom prst="line">
            <a:avLst/>
          </a:prstGeom>
          <a:ln w="31750">
            <a:solidFill>
              <a:srgbClr val="1BAF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9" name="TextBox 148"/>
          <p:cNvSpPr txBox="1"/>
          <p:nvPr/>
        </p:nvSpPr>
        <p:spPr>
          <a:xfrm>
            <a:off x="4279392" y="5541264"/>
            <a:ext cx="1353311" cy="301752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819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认领申请</a:t>
            </a:r>
            <a:endParaRPr sz="1700" b="1">
              <a:solidFill>
                <a:srgbClr val="08194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0" name="TextBox 149"/>
          <p:cNvSpPr txBox="1"/>
          <p:nvPr/>
        </p:nvSpPr>
        <p:spPr>
          <a:xfrm>
            <a:off x="4288536" y="5843016"/>
            <a:ext cx="1344167" cy="228600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E18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Claim</a:t>
            </a:r>
            <a:endParaRPr sz="1250" b="1">
              <a:solidFill>
                <a:srgbClr val="0E18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1" name="Rounded Rectangle 150"/>
          <p:cNvSpPr/>
          <p:nvPr/>
        </p:nvSpPr>
        <p:spPr>
          <a:xfrm>
            <a:off x="6629400" y="5376672"/>
            <a:ext cx="2697480" cy="66751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C9E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Oval 151"/>
          <p:cNvSpPr/>
          <p:nvPr/>
        </p:nvSpPr>
        <p:spPr>
          <a:xfrm>
            <a:off x="6876288" y="5408676"/>
            <a:ext cx="603504" cy="603504"/>
          </a:xfrm>
          <a:prstGeom prst="ellipse">
            <a:avLst/>
          </a:prstGeom>
          <a:solidFill>
            <a:srgbClr val="FF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Oval 152"/>
          <p:cNvSpPr/>
          <p:nvPr/>
        </p:nvSpPr>
        <p:spPr>
          <a:xfrm>
            <a:off x="7071340" y="5603728"/>
            <a:ext cx="213399" cy="213399"/>
          </a:xfrm>
          <a:prstGeom prst="ellipse">
            <a:avLst/>
          </a:prstGeom>
          <a:noFill/>
          <a:ln w="26670">
            <a:solidFill>
              <a:srgbClr val="F47B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4" name="Connector 153"/>
          <p:cNvCxnSpPr/>
          <p:nvPr/>
        </p:nvCxnSpPr>
        <p:spPr>
          <a:xfrm>
            <a:off x="7297050" y="5710428"/>
            <a:ext cx="86181" cy="0"/>
          </a:xfrm>
          <a:prstGeom prst="line">
            <a:avLst/>
          </a:prstGeom>
          <a:ln w="39370">
            <a:solidFill>
              <a:srgbClr val="F47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>
            <a:off x="7262193" y="5794581"/>
            <a:ext cx="60939" cy="60939"/>
          </a:xfrm>
          <a:prstGeom prst="line">
            <a:avLst/>
          </a:prstGeom>
          <a:ln w="39370">
            <a:solidFill>
              <a:srgbClr val="F47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>
            <a:off x="7178040" y="5829438"/>
            <a:ext cx="0" cy="86181"/>
          </a:xfrm>
          <a:prstGeom prst="line">
            <a:avLst/>
          </a:prstGeom>
          <a:ln w="39370">
            <a:solidFill>
              <a:srgbClr val="F47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 flipH="1">
            <a:off x="7032947" y="5794581"/>
            <a:ext cx="60939" cy="60939"/>
          </a:xfrm>
          <a:prstGeom prst="line">
            <a:avLst/>
          </a:prstGeom>
          <a:ln w="39370">
            <a:solidFill>
              <a:srgbClr val="F47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 flipH="1">
            <a:off x="6972848" y="5710428"/>
            <a:ext cx="86181" cy="0"/>
          </a:xfrm>
          <a:prstGeom prst="line">
            <a:avLst/>
          </a:prstGeom>
          <a:ln w="39370">
            <a:solidFill>
              <a:srgbClr val="F47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 flipH="1" flipV="1">
            <a:off x="7032947" y="5565335"/>
            <a:ext cx="60939" cy="60939"/>
          </a:xfrm>
          <a:prstGeom prst="line">
            <a:avLst/>
          </a:prstGeom>
          <a:ln w="39370">
            <a:solidFill>
              <a:srgbClr val="F47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 flipV="1">
            <a:off x="7178040" y="5505236"/>
            <a:ext cx="0" cy="86181"/>
          </a:xfrm>
          <a:prstGeom prst="line">
            <a:avLst/>
          </a:prstGeom>
          <a:ln w="39370">
            <a:solidFill>
              <a:srgbClr val="F47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 flipV="1">
            <a:off x="7262193" y="5565335"/>
            <a:ext cx="60939" cy="60939"/>
          </a:xfrm>
          <a:prstGeom prst="line">
            <a:avLst/>
          </a:prstGeom>
          <a:ln w="39370">
            <a:solidFill>
              <a:srgbClr val="F47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2" name="TextBox 161"/>
          <p:cNvSpPr txBox="1"/>
          <p:nvPr/>
        </p:nvSpPr>
        <p:spPr>
          <a:xfrm>
            <a:off x="7708392" y="5541264"/>
            <a:ext cx="1508760" cy="301752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819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治理任务</a:t>
            </a:r>
            <a:endParaRPr sz="1700" b="1">
              <a:solidFill>
                <a:srgbClr val="08194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3" name="TextBox 162"/>
          <p:cNvSpPr txBox="1"/>
          <p:nvPr/>
        </p:nvSpPr>
        <p:spPr>
          <a:xfrm>
            <a:off x="7717536" y="5843016"/>
            <a:ext cx="1499616" cy="228600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E18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GovernanceTask</a:t>
            </a:r>
            <a:endParaRPr sz="1250" b="1">
              <a:solidFill>
                <a:srgbClr val="0E18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4" name="Rounded Rectangle 163"/>
          <p:cNvSpPr/>
          <p:nvPr/>
        </p:nvSpPr>
        <p:spPr>
          <a:xfrm>
            <a:off x="621792" y="6117336"/>
            <a:ext cx="10972800" cy="329184"/>
          </a:xfrm>
          <a:prstGeom prst="roundRect">
            <a:avLst>
              <a:gd name="adj" fmla="val 14000"/>
            </a:avLst>
          </a:prstGeom>
          <a:solidFill>
            <a:srgbClr val="EA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822960" y="6126480"/>
            <a:ext cx="10698480" cy="274320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/>
            <a:r>
              <a:rPr sz="1530" b="1">
                <a:solidFill>
                  <a:srgbClr val="0556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设计原则：</a:t>
            </a:r>
            <a:r>
              <a:rPr sz="1530" b="0">
                <a:solidFill>
                  <a:srgbClr val="0E18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统一成果标识，保留原始来源，多对多关系用关联表表达，变更记录可审计。</a:t>
            </a:r>
            <a:endParaRPr sz="1530" b="0">
              <a:solidFill>
                <a:srgbClr val="0E18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7999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80000">
                <a:srgbClr val="F7FAFE"/>
              </a:gs>
              <a:gs pos="100000">
                <a:srgbClr val="ECF5FE"/>
              </a:gs>
            </a:gsLst>
            <a:lin ang="315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Freeform 2"/>
          <p:cNvSpPr/>
          <p:nvPr/>
        </p:nvSpPr>
        <p:spPr>
          <a:xfrm>
            <a:off x="8549640" y="0"/>
            <a:ext cx="3642360" cy="4000500"/>
          </a:xfrm>
          <a:custGeom>
            <a:avLst/>
            <a:gdLst/>
            <a:ahLst/>
            <a:cxnLst/>
            <a:rect l="l" t="t" r="r" b="b"/>
            <a:pathLst>
              <a:path w="478" h="525">
                <a:moveTo>
                  <a:pt x="478" y="0"/>
                </a:moveTo>
                <a:lnTo>
                  <a:pt x="58" y="0"/>
                </a:lnTo>
                <a:lnTo>
                  <a:pt x="41" y="24"/>
                </a:lnTo>
                <a:lnTo>
                  <a:pt x="27" y="49"/>
                </a:lnTo>
                <a:lnTo>
                  <a:pt x="16" y="73"/>
                </a:lnTo>
                <a:lnTo>
                  <a:pt x="8" y="97"/>
                </a:lnTo>
                <a:lnTo>
                  <a:pt x="3" y="121"/>
                </a:lnTo>
                <a:lnTo>
                  <a:pt x="0" y="144"/>
                </a:lnTo>
                <a:lnTo>
                  <a:pt x="0" y="167"/>
                </a:lnTo>
                <a:lnTo>
                  <a:pt x="3" y="190"/>
                </a:lnTo>
                <a:lnTo>
                  <a:pt x="8" y="212"/>
                </a:lnTo>
                <a:lnTo>
                  <a:pt x="15" y="234"/>
                </a:lnTo>
                <a:lnTo>
                  <a:pt x="24" y="255"/>
                </a:lnTo>
                <a:lnTo>
                  <a:pt x="36" y="276"/>
                </a:lnTo>
                <a:lnTo>
                  <a:pt x="49" y="295"/>
                </a:lnTo>
                <a:lnTo>
                  <a:pt x="63" y="314"/>
                </a:lnTo>
                <a:lnTo>
                  <a:pt x="80" y="333"/>
                </a:lnTo>
                <a:lnTo>
                  <a:pt x="98" y="350"/>
                </a:lnTo>
                <a:lnTo>
                  <a:pt x="128" y="371"/>
                </a:lnTo>
                <a:lnTo>
                  <a:pt x="157" y="388"/>
                </a:lnTo>
                <a:lnTo>
                  <a:pt x="185" y="402"/>
                </a:lnTo>
                <a:lnTo>
                  <a:pt x="212" y="413"/>
                </a:lnTo>
                <a:lnTo>
                  <a:pt x="239" y="422"/>
                </a:lnTo>
                <a:lnTo>
                  <a:pt x="265" y="429"/>
                </a:lnTo>
                <a:lnTo>
                  <a:pt x="290" y="434"/>
                </a:lnTo>
                <a:lnTo>
                  <a:pt x="314" y="439"/>
                </a:lnTo>
                <a:lnTo>
                  <a:pt x="338" y="444"/>
                </a:lnTo>
                <a:lnTo>
                  <a:pt x="360" y="450"/>
                </a:lnTo>
                <a:lnTo>
                  <a:pt x="382" y="456"/>
                </a:lnTo>
                <a:lnTo>
                  <a:pt x="403" y="465"/>
                </a:lnTo>
                <a:lnTo>
                  <a:pt x="423" y="475"/>
                </a:lnTo>
                <a:lnTo>
                  <a:pt x="442" y="488"/>
                </a:lnTo>
                <a:lnTo>
                  <a:pt x="461" y="505"/>
                </a:lnTo>
                <a:lnTo>
                  <a:pt x="478" y="525"/>
                </a:lnTo>
                <a:lnTo>
                  <a:pt x="478" y="0"/>
                </a:lnTo>
                <a:close/>
              </a:path>
            </a:pathLst>
          </a:custGeom>
          <a:solidFill>
            <a:srgbClr val="EAF5FE">
              <a:alpha val="6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Oval 5"/>
          <p:cNvSpPr/>
          <p:nvPr/>
        </p:nvSpPr>
        <p:spPr>
          <a:xfrm>
            <a:off x="10020299" y="365759"/>
            <a:ext cx="121919" cy="121919"/>
          </a:xfrm>
          <a:prstGeom prst="ellipse">
            <a:avLst/>
          </a:prstGeom>
          <a:solidFill>
            <a:srgbClr val="48A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Oval 6"/>
          <p:cNvSpPr/>
          <p:nvPr/>
        </p:nvSpPr>
        <p:spPr>
          <a:xfrm>
            <a:off x="11452859" y="2689859"/>
            <a:ext cx="106679" cy="106679"/>
          </a:xfrm>
          <a:prstGeom prst="ellipse">
            <a:avLst/>
          </a:prstGeom>
          <a:solidFill>
            <a:srgbClr val="48A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Oval 7"/>
          <p:cNvSpPr/>
          <p:nvPr/>
        </p:nvSpPr>
        <p:spPr>
          <a:xfrm>
            <a:off x="12085319" y="868679"/>
            <a:ext cx="91439" cy="91439"/>
          </a:xfrm>
          <a:prstGeom prst="ellipse">
            <a:avLst/>
          </a:prstGeom>
          <a:solidFill>
            <a:srgbClr val="48A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Oval 8"/>
          <p:cNvSpPr/>
          <p:nvPr/>
        </p:nvSpPr>
        <p:spPr>
          <a:xfrm>
            <a:off x="10553699" y="2065019"/>
            <a:ext cx="76199" cy="76199"/>
          </a:xfrm>
          <a:prstGeom prst="ellipse">
            <a:avLst/>
          </a:prstGeom>
          <a:solidFill>
            <a:srgbClr val="48A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文字｜多源数据采集与更新"/>
          <p:cNvSpPr txBox="1"/>
          <p:nvPr/>
        </p:nvSpPr>
        <p:spPr>
          <a:xfrm>
            <a:off x="640079" y="765886"/>
            <a:ext cx="4684013" cy="52852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6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多源数据采集与更新</a:t>
            </a:r>
            <a:endParaRPr sz="306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文字｜从数据获取到可检索成果的完整 ETL 与同步流程"/>
          <p:cNvSpPr txBox="1"/>
          <p:nvPr/>
        </p:nvSpPr>
        <p:spPr>
          <a:xfrm>
            <a:off x="662939" y="1373504"/>
            <a:ext cx="5381922" cy="25907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从数据获取到可检索成果的完整 ETL 与同步流程</a:t>
            </a:r>
            <a:endParaRPr sz="1500" b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6" name="Connector 15"/>
          <p:cNvCxnSpPr/>
          <p:nvPr/>
        </p:nvCxnSpPr>
        <p:spPr>
          <a:xfrm>
            <a:off x="617219" y="6370319"/>
            <a:ext cx="10949940" cy="0"/>
          </a:xfrm>
          <a:prstGeom prst="line">
            <a:avLst/>
          </a:prstGeom>
          <a:ln w="11429">
            <a:solidFill>
              <a:srgbClr val="D2E2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字｜学术成果分享平台   /   系统分析与设计"/>
          <p:cNvSpPr txBox="1"/>
          <p:nvPr/>
        </p:nvSpPr>
        <p:spPr>
          <a:xfrm>
            <a:off x="640079" y="6463131"/>
            <a:ext cx="3121342" cy="18653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学术成果分享平台   /   系统分析与设计</a:t>
            </a:r>
            <a:endParaRPr sz="1080" b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548639" y="2316479"/>
            <a:ext cx="2133599" cy="2461259"/>
          </a:xfrm>
          <a:prstGeom prst="roundRect">
            <a:avLst>
              <a:gd name="adj" fmla="val 6785"/>
            </a:avLst>
          </a:prstGeom>
          <a:solidFill>
            <a:srgbClr val="FFFFFF"/>
          </a:solidFill>
          <a:ln w="7619">
            <a:solidFill>
              <a:srgbClr val="D8E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文字｜01"/>
          <p:cNvSpPr txBox="1"/>
          <p:nvPr/>
        </p:nvSpPr>
        <p:spPr>
          <a:xfrm>
            <a:off x="754379" y="2577236"/>
            <a:ext cx="378928" cy="2279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132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1173479" y="2766059"/>
            <a:ext cx="883919" cy="883919"/>
          </a:xfrm>
          <a:prstGeom prst="ellipse">
            <a:avLst/>
          </a:prstGeom>
          <a:solidFill>
            <a:srgbClr val="E5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文字｜数据采集"/>
          <p:cNvSpPr txBox="1"/>
          <p:nvPr/>
        </p:nvSpPr>
        <p:spPr>
          <a:xfrm>
            <a:off x="1011935" y="3766337"/>
            <a:ext cx="1207007" cy="27980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数据采集</a:t>
            </a:r>
            <a:endParaRPr sz="162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文字｜按来源接口或公开清单"/>
          <p:cNvSpPr txBox="1"/>
          <p:nvPr/>
        </p:nvSpPr>
        <p:spPr>
          <a:xfrm>
            <a:off x="556259" y="4169663"/>
            <a:ext cx="2118359" cy="20726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按来源接口或公开清单</a:t>
            </a:r>
            <a:endParaRPr sz="1200" b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文字｜获取结构化信息"/>
          <p:cNvSpPr txBox="1"/>
          <p:nvPr/>
        </p:nvSpPr>
        <p:spPr>
          <a:xfrm>
            <a:off x="853439" y="4390643"/>
            <a:ext cx="1523999" cy="20726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获取结构化信息</a:t>
            </a:r>
            <a:endParaRPr sz="1200" b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7" name="Connector 26"/>
          <p:cNvCxnSpPr/>
          <p:nvPr/>
        </p:nvCxnSpPr>
        <p:spPr>
          <a:xfrm>
            <a:off x="2697479" y="3550919"/>
            <a:ext cx="182880" cy="0"/>
          </a:xfrm>
          <a:prstGeom prst="line">
            <a:avLst/>
          </a:prstGeom>
          <a:ln w="22859">
            <a:solidFill>
              <a:srgbClr val="62AA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Freeform 27"/>
          <p:cNvSpPr/>
          <p:nvPr/>
        </p:nvSpPr>
        <p:spPr>
          <a:xfrm>
            <a:off x="2804160" y="3512820"/>
            <a:ext cx="76200" cy="76200"/>
          </a:xfrm>
          <a:custGeom>
            <a:avLst/>
            <a:gdLst/>
            <a:ahLst/>
            <a:cxnLst/>
            <a:rect l="l" t="t" r="r" b="b"/>
            <a:pathLst>
              <a:path w="10" h="10">
                <a:moveTo>
                  <a:pt x="0" y="10"/>
                </a:moveTo>
                <a:lnTo>
                  <a:pt x="10" y="5"/>
                </a:lnTo>
                <a:lnTo>
                  <a:pt x="0" y="0"/>
                </a:lnTo>
              </a:path>
            </a:pathLst>
          </a:custGeom>
          <a:noFill/>
          <a:ln w="22859">
            <a:solidFill>
              <a:srgbClr val="62A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2895599" y="2316479"/>
            <a:ext cx="2133599" cy="2461259"/>
          </a:xfrm>
          <a:prstGeom prst="roundRect">
            <a:avLst>
              <a:gd name="adj" fmla="val 6785"/>
            </a:avLst>
          </a:prstGeom>
          <a:solidFill>
            <a:srgbClr val="FFFFFF"/>
          </a:solidFill>
          <a:ln w="7619">
            <a:solidFill>
              <a:srgbClr val="D8E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文字｜02"/>
          <p:cNvSpPr txBox="1"/>
          <p:nvPr/>
        </p:nvSpPr>
        <p:spPr>
          <a:xfrm>
            <a:off x="3101339" y="2577236"/>
            <a:ext cx="378928" cy="2279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132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Oval 30"/>
          <p:cNvSpPr/>
          <p:nvPr/>
        </p:nvSpPr>
        <p:spPr>
          <a:xfrm>
            <a:off x="3520439" y="2766059"/>
            <a:ext cx="883919" cy="883919"/>
          </a:xfrm>
          <a:prstGeom prst="ellipse">
            <a:avLst/>
          </a:prstGeom>
          <a:solidFill>
            <a:srgbClr val="E5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文字｜数据清洗"/>
          <p:cNvSpPr txBox="1"/>
          <p:nvPr/>
        </p:nvSpPr>
        <p:spPr>
          <a:xfrm>
            <a:off x="3358895" y="3766337"/>
            <a:ext cx="1207007" cy="27980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数据清洗</a:t>
            </a:r>
            <a:endParaRPr sz="162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文字｜统一格式、检查错误"/>
          <p:cNvSpPr txBox="1"/>
          <p:nvPr/>
        </p:nvSpPr>
        <p:spPr>
          <a:xfrm>
            <a:off x="3002279" y="4169663"/>
            <a:ext cx="1920239" cy="20726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统一格式、检查错误</a:t>
            </a:r>
            <a:endParaRPr sz="1200" b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文字｜标记缺失与重复"/>
          <p:cNvSpPr txBox="1"/>
          <p:nvPr/>
        </p:nvSpPr>
        <p:spPr>
          <a:xfrm>
            <a:off x="3200399" y="4390643"/>
            <a:ext cx="1523999" cy="20726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标记缺失与重复</a:t>
            </a:r>
            <a:endParaRPr sz="1200" b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6" name="Connector 35"/>
          <p:cNvCxnSpPr/>
          <p:nvPr/>
        </p:nvCxnSpPr>
        <p:spPr>
          <a:xfrm>
            <a:off x="5044439" y="3550919"/>
            <a:ext cx="182880" cy="0"/>
          </a:xfrm>
          <a:prstGeom prst="line">
            <a:avLst/>
          </a:prstGeom>
          <a:ln w="22859">
            <a:solidFill>
              <a:srgbClr val="62AA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Freeform 36"/>
          <p:cNvSpPr/>
          <p:nvPr/>
        </p:nvSpPr>
        <p:spPr>
          <a:xfrm>
            <a:off x="5151120" y="3512820"/>
            <a:ext cx="76200" cy="76200"/>
          </a:xfrm>
          <a:custGeom>
            <a:avLst/>
            <a:gdLst/>
            <a:ahLst/>
            <a:cxnLst/>
            <a:rect l="l" t="t" r="r" b="b"/>
            <a:pathLst>
              <a:path w="10" h="10">
                <a:moveTo>
                  <a:pt x="0" y="10"/>
                </a:moveTo>
                <a:lnTo>
                  <a:pt x="10" y="5"/>
                </a:lnTo>
                <a:lnTo>
                  <a:pt x="0" y="0"/>
                </a:lnTo>
              </a:path>
            </a:pathLst>
          </a:custGeom>
          <a:noFill/>
          <a:ln w="22859">
            <a:solidFill>
              <a:srgbClr val="62A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5242559" y="2316479"/>
            <a:ext cx="2133599" cy="2461259"/>
          </a:xfrm>
          <a:prstGeom prst="roundRect">
            <a:avLst>
              <a:gd name="adj" fmla="val 6785"/>
            </a:avLst>
          </a:prstGeom>
          <a:solidFill>
            <a:srgbClr val="FFFFFF"/>
          </a:solidFill>
          <a:ln w="7619">
            <a:solidFill>
              <a:srgbClr val="D8E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文字｜03"/>
          <p:cNvSpPr txBox="1"/>
          <p:nvPr/>
        </p:nvSpPr>
        <p:spPr>
          <a:xfrm>
            <a:off x="5448299" y="2577236"/>
            <a:ext cx="378928" cy="2279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132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Oval 39"/>
          <p:cNvSpPr/>
          <p:nvPr/>
        </p:nvSpPr>
        <p:spPr>
          <a:xfrm>
            <a:off x="5867399" y="2766059"/>
            <a:ext cx="883919" cy="883919"/>
          </a:xfrm>
          <a:prstGeom prst="ellipse">
            <a:avLst/>
          </a:prstGeom>
          <a:solidFill>
            <a:srgbClr val="FFF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文字｜数据存储"/>
          <p:cNvSpPr txBox="1"/>
          <p:nvPr/>
        </p:nvSpPr>
        <p:spPr>
          <a:xfrm>
            <a:off x="5705855" y="3766337"/>
            <a:ext cx="1207007" cy="27980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数据存储</a:t>
            </a:r>
            <a:endParaRPr sz="162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文字｜保存规范成果与"/>
          <p:cNvSpPr txBox="1"/>
          <p:nvPr/>
        </p:nvSpPr>
        <p:spPr>
          <a:xfrm>
            <a:off x="5547359" y="4169663"/>
            <a:ext cx="1523999" cy="20726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保存规范成果与</a:t>
            </a:r>
            <a:endParaRPr sz="1200" b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文字｜原始来源记录"/>
          <p:cNvSpPr txBox="1"/>
          <p:nvPr/>
        </p:nvSpPr>
        <p:spPr>
          <a:xfrm>
            <a:off x="5646419" y="4390643"/>
            <a:ext cx="1325879" cy="20726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原始来源记录</a:t>
            </a:r>
            <a:endParaRPr sz="1200" b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5" name="Connector 44"/>
          <p:cNvCxnSpPr/>
          <p:nvPr/>
        </p:nvCxnSpPr>
        <p:spPr>
          <a:xfrm>
            <a:off x="7391399" y="3550919"/>
            <a:ext cx="182880" cy="0"/>
          </a:xfrm>
          <a:prstGeom prst="line">
            <a:avLst/>
          </a:prstGeom>
          <a:ln w="22859">
            <a:solidFill>
              <a:srgbClr val="62AA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Freeform 45"/>
          <p:cNvSpPr/>
          <p:nvPr/>
        </p:nvSpPr>
        <p:spPr>
          <a:xfrm>
            <a:off x="7498080" y="3512820"/>
            <a:ext cx="76200" cy="76200"/>
          </a:xfrm>
          <a:custGeom>
            <a:avLst/>
            <a:gdLst/>
            <a:ahLst/>
            <a:cxnLst/>
            <a:rect l="l" t="t" r="r" b="b"/>
            <a:pathLst>
              <a:path w="10" h="10">
                <a:moveTo>
                  <a:pt x="0" y="10"/>
                </a:moveTo>
                <a:lnTo>
                  <a:pt x="10" y="5"/>
                </a:lnTo>
                <a:lnTo>
                  <a:pt x="0" y="0"/>
                </a:lnTo>
              </a:path>
            </a:pathLst>
          </a:custGeom>
          <a:noFill/>
          <a:ln w="22859">
            <a:solidFill>
              <a:srgbClr val="62A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Rounded Rectangle 46"/>
          <p:cNvSpPr/>
          <p:nvPr/>
        </p:nvSpPr>
        <p:spPr>
          <a:xfrm>
            <a:off x="7589519" y="2316479"/>
            <a:ext cx="2133599" cy="2461259"/>
          </a:xfrm>
          <a:prstGeom prst="roundRect">
            <a:avLst>
              <a:gd name="adj" fmla="val 6785"/>
            </a:avLst>
          </a:prstGeom>
          <a:solidFill>
            <a:srgbClr val="FFFFFF"/>
          </a:solidFill>
          <a:ln w="7619">
            <a:solidFill>
              <a:srgbClr val="D8E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文字｜04"/>
          <p:cNvSpPr txBox="1"/>
          <p:nvPr/>
        </p:nvSpPr>
        <p:spPr>
          <a:xfrm>
            <a:off x="7795259" y="2577236"/>
            <a:ext cx="378928" cy="2279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132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Oval 48"/>
          <p:cNvSpPr/>
          <p:nvPr/>
        </p:nvSpPr>
        <p:spPr>
          <a:xfrm>
            <a:off x="8214359" y="2766059"/>
            <a:ext cx="883919" cy="883919"/>
          </a:xfrm>
          <a:prstGeom prst="ellipse">
            <a:avLst/>
          </a:prstGeom>
          <a:solidFill>
            <a:srgbClr val="E5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文字｜数据同步"/>
          <p:cNvSpPr txBox="1"/>
          <p:nvPr/>
        </p:nvSpPr>
        <p:spPr>
          <a:xfrm>
            <a:off x="8052815" y="3766337"/>
            <a:ext cx="1207007" cy="27980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数据同步</a:t>
            </a:r>
            <a:endParaRPr sz="162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" name="文字｜更新检索索引"/>
          <p:cNvSpPr txBox="1"/>
          <p:nvPr/>
        </p:nvSpPr>
        <p:spPr>
          <a:xfrm>
            <a:off x="7993379" y="4169663"/>
            <a:ext cx="1325879" cy="20726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更新检索索引</a:t>
            </a:r>
            <a:endParaRPr sz="1200" b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" name="文字｜与统计快照"/>
          <p:cNvSpPr txBox="1"/>
          <p:nvPr/>
        </p:nvSpPr>
        <p:spPr>
          <a:xfrm>
            <a:off x="8092439" y="4390643"/>
            <a:ext cx="1127759" cy="20726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与统计快照</a:t>
            </a:r>
            <a:endParaRPr sz="1200" b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54" name="Connector 53"/>
          <p:cNvCxnSpPr/>
          <p:nvPr/>
        </p:nvCxnSpPr>
        <p:spPr>
          <a:xfrm>
            <a:off x="9738359" y="3550919"/>
            <a:ext cx="182880" cy="0"/>
          </a:xfrm>
          <a:prstGeom prst="line">
            <a:avLst/>
          </a:prstGeom>
          <a:ln w="22859">
            <a:solidFill>
              <a:srgbClr val="62AA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Freeform 54"/>
          <p:cNvSpPr/>
          <p:nvPr/>
        </p:nvSpPr>
        <p:spPr>
          <a:xfrm>
            <a:off x="9845040" y="3512820"/>
            <a:ext cx="76200" cy="76200"/>
          </a:xfrm>
          <a:custGeom>
            <a:avLst/>
            <a:gdLst/>
            <a:ahLst/>
            <a:cxnLst/>
            <a:rect l="l" t="t" r="r" b="b"/>
            <a:pathLst>
              <a:path w="10" h="10">
                <a:moveTo>
                  <a:pt x="0" y="10"/>
                </a:moveTo>
                <a:lnTo>
                  <a:pt x="10" y="5"/>
                </a:lnTo>
                <a:lnTo>
                  <a:pt x="0" y="0"/>
                </a:lnTo>
              </a:path>
            </a:pathLst>
          </a:custGeom>
          <a:noFill/>
          <a:ln w="22859">
            <a:solidFill>
              <a:srgbClr val="62A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6" name="Rounded Rectangle 55"/>
          <p:cNvSpPr/>
          <p:nvPr/>
        </p:nvSpPr>
        <p:spPr>
          <a:xfrm>
            <a:off x="9936479" y="2316479"/>
            <a:ext cx="2133599" cy="2461259"/>
          </a:xfrm>
          <a:prstGeom prst="roundRect">
            <a:avLst>
              <a:gd name="adj" fmla="val 6785"/>
            </a:avLst>
          </a:prstGeom>
          <a:solidFill>
            <a:srgbClr val="FFFFFF"/>
          </a:solidFill>
          <a:ln w="7619">
            <a:solidFill>
              <a:srgbClr val="D8E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7" name="文字｜05"/>
          <p:cNvSpPr txBox="1"/>
          <p:nvPr/>
        </p:nvSpPr>
        <p:spPr>
          <a:xfrm>
            <a:off x="10142219" y="2577236"/>
            <a:ext cx="378928" cy="2279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</a:t>
            </a:r>
            <a:endParaRPr sz="132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8" name="Oval 57"/>
          <p:cNvSpPr/>
          <p:nvPr/>
        </p:nvSpPr>
        <p:spPr>
          <a:xfrm>
            <a:off x="10561319" y="2766059"/>
            <a:ext cx="883919" cy="883919"/>
          </a:xfrm>
          <a:prstGeom prst="ellipse">
            <a:avLst/>
          </a:prstGeom>
          <a:solidFill>
            <a:srgbClr val="E5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0" name="文字｜定期更新"/>
          <p:cNvSpPr txBox="1"/>
          <p:nvPr/>
        </p:nvSpPr>
        <p:spPr>
          <a:xfrm>
            <a:off x="10399775" y="3766337"/>
            <a:ext cx="1207007" cy="27980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定期更新</a:t>
            </a:r>
            <a:endParaRPr sz="162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1" name="文字｜进度记录、失败重试"/>
          <p:cNvSpPr txBox="1"/>
          <p:nvPr/>
        </p:nvSpPr>
        <p:spPr>
          <a:xfrm>
            <a:off x="10043159" y="4169663"/>
            <a:ext cx="1920239" cy="20726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进度记录、失败重试</a:t>
            </a:r>
            <a:endParaRPr sz="1200" b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2" name="文字｜支持任务停止"/>
          <p:cNvSpPr txBox="1"/>
          <p:nvPr/>
        </p:nvSpPr>
        <p:spPr>
          <a:xfrm>
            <a:off x="10340339" y="4390643"/>
            <a:ext cx="1325879" cy="20726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支持任务停止</a:t>
            </a:r>
            <a:endParaRPr sz="1200" b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3" name="Rounded Rectangle 62"/>
          <p:cNvSpPr/>
          <p:nvPr/>
        </p:nvSpPr>
        <p:spPr>
          <a:xfrm>
            <a:off x="617219" y="5120639"/>
            <a:ext cx="10934699" cy="1051559"/>
          </a:xfrm>
          <a:prstGeom prst="roundRect">
            <a:avLst>
              <a:gd name="adj" fmla="val 13768"/>
            </a:avLst>
          </a:prstGeom>
          <a:solidFill>
            <a:srgbClr val="F5FAFF"/>
          </a:solidFill>
          <a:ln w="7619">
            <a:solidFill>
              <a:srgbClr val="D8E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4" name="Oval 63"/>
          <p:cNvSpPr/>
          <p:nvPr/>
        </p:nvSpPr>
        <p:spPr>
          <a:xfrm>
            <a:off x="739139" y="5326379"/>
            <a:ext cx="579119" cy="579119"/>
          </a:xfrm>
          <a:prstGeom prst="ellipse">
            <a:avLst/>
          </a:prstGeom>
          <a:solidFill>
            <a:srgbClr val="FFF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6" name="文字｜异常处理与可恢复性"/>
          <p:cNvSpPr txBox="1"/>
          <p:nvPr/>
        </p:nvSpPr>
        <p:spPr>
          <a:xfrm>
            <a:off x="1467266" y="5386351"/>
            <a:ext cx="2455163" cy="26944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6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异常处理与可恢复性</a:t>
            </a:r>
            <a:endParaRPr sz="156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7" name="文字｜采集失败自动重试并记录错误日志  ·  支持任务暂停 / 停止  ·  持续"/>
          <p:cNvSpPr txBox="1"/>
          <p:nvPr/>
        </p:nvSpPr>
        <p:spPr>
          <a:xfrm>
            <a:off x="1467266" y="5690846"/>
            <a:ext cx="8800266" cy="2279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采集失败自动重试并记录错误日志  ·  支持任务暂停 / 停止  ·  持续失败的记录进入人工复核</a:t>
            </a:r>
            <a:endParaRPr sz="1320" b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8" name="Oval 67"/>
          <p:cNvSpPr/>
          <p:nvPr/>
        </p:nvSpPr>
        <p:spPr>
          <a:xfrm>
            <a:off x="1425829" y="3018409"/>
            <a:ext cx="379219" cy="379219"/>
          </a:xfrm>
          <a:prstGeom prst="ellipse">
            <a:avLst/>
          </a:prstGeom>
          <a:solidFill>
            <a:srgbClr val="E6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1512291" y="3032668"/>
            <a:ext cx="206295" cy="206295"/>
          </a:xfrm>
          <a:prstGeom prst="ellipse">
            <a:avLst/>
          </a:prstGeom>
          <a:noFill/>
          <a:ln w="18415">
            <a:solidFill>
              <a:srgbClr val="055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1512291" y="3182232"/>
            <a:ext cx="206295" cy="206295"/>
          </a:xfrm>
          <a:prstGeom prst="ellipse">
            <a:avLst/>
          </a:prstGeom>
          <a:noFill/>
          <a:ln w="18415">
            <a:solidFill>
              <a:srgbClr val="055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1" name="Connector 70"/>
          <p:cNvCxnSpPr/>
          <p:nvPr/>
        </p:nvCxnSpPr>
        <p:spPr>
          <a:xfrm>
            <a:off x="1512291" y="3135815"/>
            <a:ext cx="0" cy="149564"/>
          </a:xfrm>
          <a:prstGeom prst="line">
            <a:avLst/>
          </a:prstGeom>
          <a:ln w="18415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1718586" y="3135815"/>
            <a:ext cx="0" cy="149564"/>
          </a:xfrm>
          <a:prstGeom prst="line">
            <a:avLst/>
          </a:prstGeom>
          <a:ln w="18415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Oval 72"/>
          <p:cNvSpPr/>
          <p:nvPr/>
        </p:nvSpPr>
        <p:spPr>
          <a:xfrm>
            <a:off x="1512291" y="3112607"/>
            <a:ext cx="206295" cy="206295"/>
          </a:xfrm>
          <a:prstGeom prst="ellipse">
            <a:avLst/>
          </a:prstGeom>
          <a:noFill/>
          <a:ln w="18415">
            <a:solidFill>
              <a:srgbClr val="055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3772789" y="3018409"/>
            <a:ext cx="379219" cy="379219"/>
          </a:xfrm>
          <a:prstGeom prst="ellipse">
            <a:avLst/>
          </a:prstGeom>
          <a:solidFill>
            <a:srgbClr val="FF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5" name="Connector 74"/>
          <p:cNvCxnSpPr/>
          <p:nvPr/>
        </p:nvCxnSpPr>
        <p:spPr>
          <a:xfrm>
            <a:off x="3836043" y="3097135"/>
            <a:ext cx="252711" cy="0"/>
          </a:xfrm>
          <a:prstGeom prst="line">
            <a:avLst/>
          </a:prstGeom>
          <a:ln w="18415">
            <a:solidFill>
              <a:srgbClr val="F47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H="1">
            <a:off x="3993343" y="3097135"/>
            <a:ext cx="95411" cy="105726"/>
          </a:xfrm>
          <a:prstGeom prst="line">
            <a:avLst/>
          </a:prstGeom>
          <a:ln w="18415">
            <a:solidFill>
              <a:srgbClr val="F47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3993343" y="3202861"/>
            <a:ext cx="0" cy="95412"/>
          </a:xfrm>
          <a:prstGeom prst="line">
            <a:avLst/>
          </a:prstGeom>
          <a:ln w="18415">
            <a:solidFill>
              <a:srgbClr val="F47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H="1">
            <a:off x="3926297" y="3298273"/>
            <a:ext cx="67046" cy="28365"/>
          </a:xfrm>
          <a:prstGeom prst="line">
            <a:avLst/>
          </a:prstGeom>
          <a:ln w="18415">
            <a:solidFill>
              <a:srgbClr val="F47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3926297" y="3202861"/>
            <a:ext cx="0" cy="123777"/>
          </a:xfrm>
          <a:prstGeom prst="line">
            <a:avLst/>
          </a:prstGeom>
          <a:ln w="18415">
            <a:solidFill>
              <a:srgbClr val="F47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H="1" flipV="1">
            <a:off x="3836043" y="3097135"/>
            <a:ext cx="90254" cy="105726"/>
          </a:xfrm>
          <a:prstGeom prst="line">
            <a:avLst/>
          </a:prstGeom>
          <a:ln w="18415">
            <a:solidFill>
              <a:srgbClr val="F47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Oval 80"/>
          <p:cNvSpPr/>
          <p:nvPr/>
        </p:nvSpPr>
        <p:spPr>
          <a:xfrm>
            <a:off x="6119749" y="3018409"/>
            <a:ext cx="379219" cy="379219"/>
          </a:xfrm>
          <a:prstGeom prst="ellipse">
            <a:avLst/>
          </a:prstGeom>
          <a:solidFill>
            <a:srgbClr val="E6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2" name="Connector 81"/>
          <p:cNvCxnSpPr/>
          <p:nvPr/>
        </p:nvCxnSpPr>
        <p:spPr>
          <a:xfrm flipV="1">
            <a:off x="6190739" y="3089399"/>
            <a:ext cx="118619" cy="54152"/>
          </a:xfrm>
          <a:prstGeom prst="line">
            <a:avLst/>
          </a:prstGeom>
          <a:ln w="18415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6309358" y="3089399"/>
            <a:ext cx="118620" cy="54152"/>
          </a:xfrm>
          <a:prstGeom prst="line">
            <a:avLst/>
          </a:prstGeom>
          <a:ln w="18415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H="1">
            <a:off x="6309358" y="3143551"/>
            <a:ext cx="118620" cy="54153"/>
          </a:xfrm>
          <a:prstGeom prst="line">
            <a:avLst/>
          </a:prstGeom>
          <a:ln w="18415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H="1" flipV="1">
            <a:off x="6190739" y="3143551"/>
            <a:ext cx="118619" cy="54153"/>
          </a:xfrm>
          <a:prstGeom prst="line">
            <a:avLst/>
          </a:prstGeom>
          <a:ln w="18415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6190739" y="3153866"/>
            <a:ext cx="118619" cy="54153"/>
          </a:xfrm>
          <a:prstGeom prst="line">
            <a:avLst/>
          </a:prstGeom>
          <a:ln w="18415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6309358" y="3153866"/>
            <a:ext cx="118620" cy="54153"/>
          </a:xfrm>
          <a:prstGeom prst="line">
            <a:avLst/>
          </a:prstGeom>
          <a:ln w="18415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H="1">
            <a:off x="6309358" y="3208019"/>
            <a:ext cx="118620" cy="54152"/>
          </a:xfrm>
          <a:prstGeom prst="line">
            <a:avLst/>
          </a:prstGeom>
          <a:ln w="18415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H="1" flipV="1">
            <a:off x="6190739" y="3208019"/>
            <a:ext cx="118619" cy="54152"/>
          </a:xfrm>
          <a:prstGeom prst="line">
            <a:avLst/>
          </a:prstGeom>
          <a:ln w="18415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6190739" y="3218333"/>
            <a:ext cx="118619" cy="54153"/>
          </a:xfrm>
          <a:prstGeom prst="line">
            <a:avLst/>
          </a:prstGeom>
          <a:ln w="18415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6309358" y="3218333"/>
            <a:ext cx="118620" cy="54153"/>
          </a:xfrm>
          <a:prstGeom prst="line">
            <a:avLst/>
          </a:prstGeom>
          <a:ln w="18415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H="1">
            <a:off x="6309358" y="3272486"/>
            <a:ext cx="118620" cy="54152"/>
          </a:xfrm>
          <a:prstGeom prst="line">
            <a:avLst/>
          </a:prstGeom>
          <a:ln w="18415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H="1" flipV="1">
            <a:off x="6190739" y="3272486"/>
            <a:ext cx="118619" cy="54152"/>
          </a:xfrm>
          <a:prstGeom prst="line">
            <a:avLst/>
          </a:prstGeom>
          <a:ln w="18415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Oval 93"/>
          <p:cNvSpPr/>
          <p:nvPr/>
        </p:nvSpPr>
        <p:spPr>
          <a:xfrm>
            <a:off x="8466709" y="3018409"/>
            <a:ext cx="379219" cy="379219"/>
          </a:xfrm>
          <a:prstGeom prst="ellipse">
            <a:avLst/>
          </a:prstGeom>
          <a:solidFill>
            <a:srgbClr val="E6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8545435" y="3097135"/>
            <a:ext cx="221767" cy="221767"/>
          </a:xfrm>
          <a:prstGeom prst="ellipse">
            <a:avLst/>
          </a:prstGeom>
          <a:noFill/>
          <a:ln w="18415">
            <a:solidFill>
              <a:srgbClr val="055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6" name="Connector 95"/>
          <p:cNvCxnSpPr/>
          <p:nvPr/>
        </p:nvCxnSpPr>
        <p:spPr>
          <a:xfrm flipV="1">
            <a:off x="8762045" y="3089399"/>
            <a:ext cx="0" cy="69624"/>
          </a:xfrm>
          <a:prstGeom prst="line">
            <a:avLst/>
          </a:prstGeom>
          <a:ln w="18415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H="1" flipV="1">
            <a:off x="8692420" y="3146130"/>
            <a:ext cx="69625" cy="12893"/>
          </a:xfrm>
          <a:prstGeom prst="line">
            <a:avLst/>
          </a:prstGeom>
          <a:ln w="18415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8550592" y="3257014"/>
            <a:ext cx="0" cy="69624"/>
          </a:xfrm>
          <a:prstGeom prst="line">
            <a:avLst/>
          </a:prstGeom>
          <a:ln w="18415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8550592" y="3257014"/>
            <a:ext cx="69625" cy="12893"/>
          </a:xfrm>
          <a:prstGeom prst="line">
            <a:avLst/>
          </a:prstGeom>
          <a:ln w="18415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Oval 99"/>
          <p:cNvSpPr/>
          <p:nvPr/>
        </p:nvSpPr>
        <p:spPr>
          <a:xfrm>
            <a:off x="10813669" y="3018409"/>
            <a:ext cx="379219" cy="379219"/>
          </a:xfrm>
          <a:prstGeom prst="ellipse">
            <a:avLst/>
          </a:prstGeom>
          <a:solidFill>
            <a:srgbClr val="FF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10892395" y="3097135"/>
            <a:ext cx="221767" cy="221767"/>
          </a:xfrm>
          <a:prstGeom prst="ellipse">
            <a:avLst/>
          </a:prstGeom>
          <a:noFill/>
          <a:ln w="18415">
            <a:solidFill>
              <a:srgbClr val="F47B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2" name="Connector 101"/>
          <p:cNvCxnSpPr/>
          <p:nvPr/>
        </p:nvCxnSpPr>
        <p:spPr>
          <a:xfrm>
            <a:off x="11003278" y="3138394"/>
            <a:ext cx="0" cy="74782"/>
          </a:xfrm>
          <a:prstGeom prst="line">
            <a:avLst/>
          </a:prstGeom>
          <a:ln w="18415">
            <a:solidFill>
              <a:srgbClr val="F47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11003278" y="3213176"/>
            <a:ext cx="64468" cy="46416"/>
          </a:xfrm>
          <a:prstGeom prst="line">
            <a:avLst/>
          </a:prstGeom>
          <a:ln w="18415">
            <a:solidFill>
              <a:srgbClr val="F47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Oval 103"/>
          <p:cNvSpPr/>
          <p:nvPr/>
        </p:nvSpPr>
        <p:spPr>
          <a:xfrm>
            <a:off x="839089" y="5426329"/>
            <a:ext cx="379219" cy="379219"/>
          </a:xfrm>
          <a:prstGeom prst="ellipse">
            <a:avLst/>
          </a:prstGeom>
          <a:solidFill>
            <a:srgbClr val="E6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5" name="Connector 104"/>
          <p:cNvCxnSpPr/>
          <p:nvPr/>
        </p:nvCxnSpPr>
        <p:spPr>
          <a:xfrm>
            <a:off x="1028699" y="5489583"/>
            <a:ext cx="128934" cy="229503"/>
          </a:xfrm>
          <a:prstGeom prst="line">
            <a:avLst/>
          </a:prstGeom>
          <a:ln w="18415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H="1">
            <a:off x="899764" y="5719086"/>
            <a:ext cx="257869" cy="0"/>
          </a:xfrm>
          <a:prstGeom prst="line">
            <a:avLst/>
          </a:prstGeom>
          <a:ln w="18415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899764" y="5489583"/>
            <a:ext cx="128935" cy="229503"/>
          </a:xfrm>
          <a:prstGeom prst="line">
            <a:avLst/>
          </a:prstGeom>
          <a:ln w="18415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1028699" y="5577258"/>
            <a:ext cx="0" cy="77361"/>
          </a:xfrm>
          <a:prstGeom prst="line">
            <a:avLst/>
          </a:prstGeom>
          <a:ln w="18415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Oval 108"/>
          <p:cNvSpPr/>
          <p:nvPr/>
        </p:nvSpPr>
        <p:spPr>
          <a:xfrm>
            <a:off x="1022768" y="5682211"/>
            <a:ext cx="11861" cy="11861"/>
          </a:xfrm>
          <a:prstGeom prst="ellipse">
            <a:avLst/>
          </a:prstGeom>
          <a:solidFill>
            <a:srgbClr val="055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7223760" y="131090"/>
            <a:ext cx="129657" cy="33641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353417" y="164731"/>
            <a:ext cx="129657" cy="36565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483074" y="201296"/>
            <a:ext cx="129657" cy="39204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7612731" y="240500"/>
            <a:ext cx="129657" cy="41411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7742388" y="281911"/>
            <a:ext cx="129658" cy="43025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872046" y="324936"/>
            <a:ext cx="129657" cy="43877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001703" y="368813"/>
            <a:ext cx="129657" cy="43806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131360" y="412619"/>
            <a:ext cx="129657" cy="42670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261017" y="455289"/>
            <a:ext cx="129658" cy="40361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390675" y="495650"/>
            <a:ext cx="129657" cy="36826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520332" y="532476"/>
            <a:ext cx="129657" cy="32066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649989" y="564542"/>
            <a:ext cx="129657" cy="26152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779646" y="590694"/>
            <a:ext cx="129658" cy="19230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909304" y="609924"/>
            <a:ext cx="129657" cy="11504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038961" y="621428"/>
            <a:ext cx="129657" cy="3238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9168618" y="619404"/>
            <a:ext cx="129657" cy="5262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9298275" y="605730"/>
            <a:ext cx="129657" cy="13674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9427932" y="584056"/>
            <a:ext cx="129658" cy="21674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9557590" y="555092"/>
            <a:ext cx="129657" cy="28964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9687247" y="519807"/>
            <a:ext cx="129657" cy="35285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9816904" y="479369"/>
            <a:ext cx="129657" cy="40438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9946561" y="435074"/>
            <a:ext cx="129658" cy="44295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10076219" y="388277"/>
            <a:ext cx="129657" cy="46797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10205876" y="340322"/>
            <a:ext cx="129657" cy="47955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10335533" y="292473"/>
            <a:ext cx="129657" cy="47849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10465190" y="245872"/>
            <a:ext cx="129658" cy="46601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10594848" y="201493"/>
            <a:ext cx="129657" cy="44379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10724505" y="160126"/>
            <a:ext cx="129657" cy="41367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10854162" y="122368"/>
            <a:ext cx="129657" cy="37758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10983819" y="88629"/>
            <a:ext cx="129657" cy="33739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11113476" y="59147"/>
            <a:ext cx="129658" cy="29482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11243134" y="34015"/>
            <a:ext cx="129657" cy="25132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11372791" y="13200"/>
            <a:ext cx="129657" cy="20815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11502448" y="-3422"/>
            <a:ext cx="129657" cy="16622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11632105" y="-16047"/>
            <a:ext cx="129658" cy="12625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11761763" y="-24915"/>
            <a:ext cx="129657" cy="8868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11891420" y="-30297"/>
            <a:ext cx="129657" cy="5382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12021077" y="-32477"/>
            <a:ext cx="129657" cy="2180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12150734" y="-32477"/>
            <a:ext cx="129658" cy="732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7223760" y="151010"/>
            <a:ext cx="129657" cy="33617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7353417" y="184627"/>
            <a:ext cx="129657" cy="36370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7483074" y="220997"/>
            <a:ext cx="129657" cy="38843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7612731" y="259840"/>
            <a:ext cx="129657" cy="40888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7742388" y="300728"/>
            <a:ext cx="129658" cy="42351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7872046" y="343079"/>
            <a:ext cx="129657" cy="43062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8001703" y="386141"/>
            <a:ext cx="129657" cy="42864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8131360" y="429005"/>
            <a:ext cx="129657" cy="41618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8261017" y="470623"/>
            <a:ext cx="129658" cy="39219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8390675" y="509842"/>
            <a:ext cx="129657" cy="35611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8520332" y="545453"/>
            <a:ext cx="129657" cy="30800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8649989" y="576253"/>
            <a:ext cx="129657" cy="24859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8779646" y="601112"/>
            <a:ext cx="129658" cy="17929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8909304" y="619041"/>
            <a:ext cx="129657" cy="10220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9038961" y="629261"/>
            <a:ext cx="129657" cy="1993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9168618" y="624807"/>
            <a:ext cx="129657" cy="6447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9298275" y="610029"/>
            <a:ext cx="129657" cy="14778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9427932" y="587350"/>
            <a:ext cx="129658" cy="22679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9557590" y="557499"/>
            <a:ext cx="129657" cy="29851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9687247" y="521461"/>
            <a:ext cx="129657" cy="36038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9816904" y="480414"/>
            <a:ext cx="129657" cy="41047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9946561" y="435668"/>
            <a:ext cx="129658" cy="44746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10076219" y="388584"/>
            <a:ext cx="129657" cy="47084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10205876" y="340511"/>
            <a:ext cx="129657" cy="48073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10335533" y="292716"/>
            <a:ext cx="129657" cy="47795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10465190" y="246339"/>
            <a:ext cx="129658" cy="46377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10594848" y="202351"/>
            <a:ext cx="129657" cy="43988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10724505" y="161534"/>
            <a:ext cx="129657" cy="40817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10854162" y="124476"/>
            <a:ext cx="129657" cy="37058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10983819" y="91576"/>
            <a:ext cx="129657" cy="32900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11113476" y="63056"/>
            <a:ext cx="129658" cy="28520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11243134" y="38992"/>
            <a:ext cx="129657" cy="24064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11372791" y="19335"/>
            <a:ext cx="129657" cy="19657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11502448" y="3937"/>
            <a:ext cx="129657" cy="15398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11632105" y="-7415"/>
            <a:ext cx="129658" cy="11352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11761763" y="-14986"/>
            <a:ext cx="129657" cy="7571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11891420" y="-19069"/>
            <a:ext cx="129657" cy="4083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12021077" y="-19970"/>
            <a:ext cx="129657" cy="901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12150734" y="-19970"/>
            <a:ext cx="129658" cy="1968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7223760" y="170931"/>
            <a:ext cx="129657" cy="33477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7353417" y="204408"/>
            <a:ext cx="129657" cy="36062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7483074" y="240470"/>
            <a:ext cx="129657" cy="38370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7612731" y="278840"/>
            <a:ext cx="129657" cy="40261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7742388" y="319101"/>
            <a:ext cx="129658" cy="41578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7872046" y="360679"/>
            <a:ext cx="129657" cy="42159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8001703" y="402838"/>
            <a:ext cx="129657" cy="41846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8131360" y="444684"/>
            <a:ext cx="129657" cy="40502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8261017" y="485186"/>
            <a:ext cx="129658" cy="38025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8390675" y="523211"/>
            <a:ext cx="129657" cy="34359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8520332" y="557570"/>
            <a:ext cx="129657" cy="29513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8649989" y="587083"/>
            <a:ext cx="129657" cy="23558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8779646" y="610641"/>
            <a:ext cx="129658" cy="16638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8909304" y="627279"/>
            <a:ext cx="129657" cy="8959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9038961" y="636238"/>
            <a:ext cx="129657" cy="787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9168618" y="629446"/>
            <a:ext cx="129657" cy="7579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9298275" y="613630"/>
            <a:ext cx="129657" cy="15816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9427932" y="590025"/>
            <a:ext cx="129658" cy="23605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9557590" y="559377"/>
            <a:ext cx="129657" cy="30648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9687247" y="522683"/>
            <a:ext cx="129657" cy="36694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9816904" y="481134"/>
            <a:ext cx="129657" cy="41549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9946561" y="436048"/>
            <a:ext cx="129658" cy="45086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10076219" y="388792"/>
            <a:ext cx="129657" cy="47256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10205876" y="340718"/>
            <a:ext cx="129657" cy="48074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10335533" y="293094"/>
            <a:ext cx="129657" cy="47624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10465190" y="247055"/>
            <a:ext cx="129658" cy="46039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10594848" y="203567"/>
            <a:ext cx="129657" cy="43488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10724505" y="163404"/>
            <a:ext cx="129657" cy="40163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10854162" y="127143"/>
            <a:ext cx="129657" cy="36261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V="1">
            <a:off x="10983819" y="95167"/>
            <a:ext cx="129657" cy="31976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V="1">
            <a:off x="11113476" y="67684"/>
            <a:ext cx="129658" cy="27483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 flipV="1">
            <a:off x="11243134" y="44752"/>
            <a:ext cx="129657" cy="22932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 flipV="1">
            <a:off x="11372791" y="26300"/>
            <a:ext cx="129657" cy="18452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 flipV="1">
            <a:off x="11502448" y="12162"/>
            <a:ext cx="129657" cy="14138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 flipV="1">
            <a:off x="11632105" y="2100"/>
            <a:ext cx="129658" cy="10062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V="1">
            <a:off x="11761763" y="-4170"/>
            <a:ext cx="129657" cy="6270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V="1">
            <a:off x="11891420" y="-6965"/>
            <a:ext cx="129657" cy="2795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>
            <a:off x="12021077" y="-6965"/>
            <a:ext cx="129657" cy="351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12150734" y="-6614"/>
            <a:ext cx="129658" cy="3164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7223760" y="190776"/>
            <a:ext cx="129657" cy="33221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>
            <a:off x="7353417" y="223997"/>
            <a:ext cx="129657" cy="35641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7483074" y="259638"/>
            <a:ext cx="129657" cy="37790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7612731" y="297428"/>
            <a:ext cx="129657" cy="39533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7742388" y="336961"/>
            <a:ext cx="129658" cy="40716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7872046" y="377677"/>
            <a:ext cx="129657" cy="41175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>
            <a:off x="8001703" y="418852"/>
            <a:ext cx="129657" cy="40759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8131360" y="459611"/>
            <a:ext cx="129657" cy="39331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>
            <a:off x="8261017" y="498942"/>
            <a:ext cx="129658" cy="36789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>
            <a:off x="8390675" y="535731"/>
            <a:ext cx="129657" cy="33081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8520332" y="568812"/>
            <a:ext cx="129657" cy="28213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8649989" y="597025"/>
            <a:ext cx="129657" cy="22261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8779646" y="619286"/>
            <a:ext cx="129658" cy="15365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8909304" y="634651"/>
            <a:ext cx="129657" cy="7734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 flipV="1">
            <a:off x="9038961" y="642014"/>
            <a:ext cx="129657" cy="371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 flipV="1">
            <a:off x="9168618" y="633365"/>
            <a:ext cx="129657" cy="8649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V="1">
            <a:off x="9298275" y="616586"/>
            <a:ext cx="129657" cy="16779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 flipV="1">
            <a:off x="9427932" y="592141"/>
            <a:ext cx="129658" cy="24445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 flipV="1">
            <a:off x="9557590" y="560791"/>
            <a:ext cx="129657" cy="31350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 flipV="1">
            <a:off x="9687247" y="523545"/>
            <a:ext cx="129657" cy="37246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 flipV="1">
            <a:off x="9816904" y="481604"/>
            <a:ext cx="129657" cy="41941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 flipV="1">
            <a:off x="9946561" y="436292"/>
            <a:ext cx="129658" cy="45312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 flipV="1">
            <a:off x="10076219" y="388981"/>
            <a:ext cx="129657" cy="47311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 flipV="1">
            <a:off x="10205876" y="341023"/>
            <a:ext cx="129657" cy="47958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 flipV="1">
            <a:off x="10335533" y="293684"/>
            <a:ext cx="129657" cy="47339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 flipV="1">
            <a:off x="10465190" y="248095"/>
            <a:ext cx="129658" cy="45589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 flipV="1">
            <a:off x="10594848" y="205214"/>
            <a:ext cx="129657" cy="42881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 flipV="1">
            <a:off x="10724505" y="165803"/>
            <a:ext cx="129657" cy="39411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 flipV="1">
            <a:off x="10854162" y="130427"/>
            <a:ext cx="129657" cy="35376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 flipV="1">
            <a:off x="10983819" y="99454"/>
            <a:ext cx="129657" cy="30973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 flipV="1">
            <a:off x="11113476" y="73075"/>
            <a:ext cx="129658" cy="26379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 flipV="1">
            <a:off x="11243134" y="51327"/>
            <a:ext cx="129657" cy="21748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 flipV="1">
            <a:off x="11372791" y="34120"/>
            <a:ext cx="129657" cy="17207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 flipV="1">
            <a:off x="11502448" y="21266"/>
            <a:ext cx="129657" cy="12854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 flipV="1">
            <a:off x="11632105" y="12505"/>
            <a:ext cx="129658" cy="8761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 flipV="1">
            <a:off x="11761763" y="7528"/>
            <a:ext cx="129657" cy="4977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 flipV="1">
            <a:off x="11891420" y="5999"/>
            <a:ext cx="129657" cy="1529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>
            <a:off x="12021077" y="5999"/>
            <a:ext cx="129657" cy="1566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>
            <a:off x="12150734" y="7565"/>
            <a:ext cx="129658" cy="4307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>
            <a:off x="7223760" y="210465"/>
            <a:ext cx="129657" cy="32851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>
            <a:off x="7353417" y="243316"/>
            <a:ext cx="129657" cy="35110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>
            <a:off x="7483074" y="278426"/>
            <a:ext cx="129657" cy="37109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>
            <a:off x="7612731" y="315535"/>
            <a:ext cx="129657" cy="38712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>
            <a:off x="7742388" y="354247"/>
            <a:ext cx="129658" cy="39768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>
            <a:off x="7872046" y="394015"/>
            <a:ext cx="129657" cy="40119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>
            <a:off x="8001703" y="434134"/>
            <a:ext cx="129657" cy="39613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>
            <a:off x="8131360" y="473747"/>
            <a:ext cx="129657" cy="38113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>
            <a:off x="8261017" y="511860"/>
            <a:ext cx="129658" cy="35521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>
            <a:off x="8390675" y="547381"/>
            <a:ext cx="129657" cy="31786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>
            <a:off x="8520332" y="579167"/>
            <a:ext cx="129657" cy="26914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>
            <a:off x="8649989" y="606081"/>
            <a:ext cx="129657" cy="20978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>
            <a:off x="8779646" y="627059"/>
            <a:ext cx="129658" cy="14122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>
            <a:off x="8909304" y="641181"/>
            <a:ext cx="129657" cy="6553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 flipV="1">
            <a:off x="9038961" y="646263"/>
            <a:ext cx="129657" cy="1471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 flipV="1">
            <a:off x="9168618" y="636615"/>
            <a:ext cx="129657" cy="9648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 flipV="1">
            <a:off x="9298275" y="618954"/>
            <a:ext cx="129657" cy="17661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 flipV="1">
            <a:off x="9427932" y="593763"/>
            <a:ext cx="129658" cy="25191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 flipV="1">
            <a:off x="9557590" y="561812"/>
            <a:ext cx="129657" cy="31951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 flipV="1">
            <a:off x="9687247" y="524122"/>
            <a:ext cx="129657" cy="37690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 flipV="1">
            <a:off x="9816904" y="481902"/>
            <a:ext cx="129657" cy="42220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 flipV="1">
            <a:off x="9946561" y="436480"/>
            <a:ext cx="129658" cy="45422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 flipV="1">
            <a:off x="10076219" y="389231"/>
            <a:ext cx="129657" cy="47249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 flipV="1">
            <a:off x="10205876" y="341505"/>
            <a:ext cx="129657" cy="47726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 182"/>
          <p:cNvCxnSpPr/>
          <p:nvPr/>
        </p:nvCxnSpPr>
        <p:spPr>
          <a:xfrm flipV="1">
            <a:off x="10335533" y="294564"/>
            <a:ext cx="129657" cy="46941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 flipV="1">
            <a:off x="10465190" y="249533"/>
            <a:ext cx="129658" cy="45031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 184"/>
          <p:cNvCxnSpPr/>
          <p:nvPr/>
        </p:nvCxnSpPr>
        <p:spPr>
          <a:xfrm flipV="1">
            <a:off x="10594848" y="207359"/>
            <a:ext cx="129657" cy="42174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 flipV="1">
            <a:off x="10724505" y="168793"/>
            <a:ext cx="129657" cy="38566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 flipV="1">
            <a:off x="10854162" y="134385"/>
            <a:ext cx="129657" cy="34408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 flipV="1">
            <a:off x="10983819" y="104485"/>
            <a:ext cx="129657" cy="29900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 188"/>
          <p:cNvCxnSpPr/>
          <p:nvPr/>
        </p:nvCxnSpPr>
        <p:spPr>
          <a:xfrm flipV="1">
            <a:off x="11113476" y="79267"/>
            <a:ext cx="129658" cy="25218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 189"/>
          <p:cNvCxnSpPr/>
          <p:nvPr/>
        </p:nvCxnSpPr>
        <p:spPr>
          <a:xfrm flipV="1">
            <a:off x="11243134" y="58747"/>
            <a:ext cx="129657" cy="20520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 190"/>
          <p:cNvCxnSpPr/>
          <p:nvPr/>
        </p:nvCxnSpPr>
        <p:spPr>
          <a:xfrm flipV="1">
            <a:off x="11372791" y="42813"/>
            <a:ext cx="129657" cy="15934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 191"/>
          <p:cNvCxnSpPr/>
          <p:nvPr/>
        </p:nvCxnSpPr>
        <p:spPr>
          <a:xfrm flipV="1">
            <a:off x="11502448" y="31257"/>
            <a:ext cx="129657" cy="11556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 flipV="1">
            <a:off x="11632105" y="23794"/>
            <a:ext cx="129658" cy="7463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 flipV="1">
            <a:off x="11761763" y="20095"/>
            <a:ext cx="129657" cy="3699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 flipV="1">
            <a:off x="11891420" y="19799"/>
            <a:ext cx="129657" cy="296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>
            <a:off x="12021077" y="19799"/>
            <a:ext cx="129657" cy="2735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>
            <a:off x="12150734" y="22534"/>
            <a:ext cx="129658" cy="5391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>
            <a:off x="7223760" y="229918"/>
            <a:ext cx="129657" cy="32372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>
            <a:off x="7353417" y="262290"/>
            <a:ext cx="129657" cy="34476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 199"/>
          <p:cNvCxnSpPr/>
          <p:nvPr/>
        </p:nvCxnSpPr>
        <p:spPr>
          <a:xfrm>
            <a:off x="7483074" y="296766"/>
            <a:ext cx="129657" cy="36329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 200"/>
          <p:cNvCxnSpPr/>
          <p:nvPr/>
        </p:nvCxnSpPr>
        <p:spPr>
          <a:xfrm>
            <a:off x="7612731" y="333095"/>
            <a:ext cx="129657" cy="37803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Connector 201"/>
          <p:cNvCxnSpPr/>
          <p:nvPr/>
        </p:nvCxnSpPr>
        <p:spPr>
          <a:xfrm>
            <a:off x="7742388" y="370898"/>
            <a:ext cx="129658" cy="38745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Connector 202"/>
          <p:cNvCxnSpPr/>
          <p:nvPr/>
        </p:nvCxnSpPr>
        <p:spPr>
          <a:xfrm>
            <a:off x="7872046" y="409643"/>
            <a:ext cx="129657" cy="38999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Connector 203"/>
          <p:cNvCxnSpPr/>
          <p:nvPr/>
        </p:nvCxnSpPr>
        <p:spPr>
          <a:xfrm>
            <a:off x="8001703" y="448642"/>
            <a:ext cx="129657" cy="38415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Connector 204"/>
          <p:cNvCxnSpPr/>
          <p:nvPr/>
        </p:nvCxnSpPr>
        <p:spPr>
          <a:xfrm>
            <a:off x="8131360" y="487057"/>
            <a:ext cx="129657" cy="36859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Connector 205"/>
          <p:cNvCxnSpPr/>
          <p:nvPr/>
        </p:nvCxnSpPr>
        <p:spPr>
          <a:xfrm>
            <a:off x="8261017" y="523916"/>
            <a:ext cx="129658" cy="34233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Connector 206"/>
          <p:cNvCxnSpPr/>
          <p:nvPr/>
        </p:nvCxnSpPr>
        <p:spPr>
          <a:xfrm>
            <a:off x="8390675" y="558149"/>
            <a:ext cx="129657" cy="30486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Connector 207"/>
          <p:cNvCxnSpPr/>
          <p:nvPr/>
        </p:nvCxnSpPr>
        <p:spPr>
          <a:xfrm>
            <a:off x="8520332" y="588635"/>
            <a:ext cx="129657" cy="25623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 208"/>
          <p:cNvCxnSpPr/>
          <p:nvPr/>
        </p:nvCxnSpPr>
        <p:spPr>
          <a:xfrm>
            <a:off x="8649989" y="614258"/>
            <a:ext cx="129657" cy="19720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Connector 209"/>
          <p:cNvCxnSpPr/>
          <p:nvPr/>
        </p:nvCxnSpPr>
        <p:spPr>
          <a:xfrm>
            <a:off x="8779646" y="633978"/>
            <a:ext cx="129658" cy="12919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Connector 210"/>
          <p:cNvCxnSpPr/>
          <p:nvPr/>
        </p:nvCxnSpPr>
        <p:spPr>
          <a:xfrm>
            <a:off x="8909304" y="646897"/>
            <a:ext cx="129657" cy="5424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Connector 211"/>
          <p:cNvCxnSpPr/>
          <p:nvPr/>
        </p:nvCxnSpPr>
        <p:spPr>
          <a:xfrm flipV="1">
            <a:off x="9038961" y="649817"/>
            <a:ext cx="129657" cy="2504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Connector 212"/>
          <p:cNvCxnSpPr/>
          <p:nvPr/>
        </p:nvCxnSpPr>
        <p:spPr>
          <a:xfrm flipV="1">
            <a:off x="9168618" y="639249"/>
            <a:ext cx="129657" cy="10568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Connector 213"/>
          <p:cNvCxnSpPr/>
          <p:nvPr/>
        </p:nvCxnSpPr>
        <p:spPr>
          <a:xfrm flipV="1">
            <a:off x="9298275" y="620798"/>
            <a:ext cx="129657" cy="18451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Connector 214"/>
          <p:cNvCxnSpPr/>
          <p:nvPr/>
        </p:nvCxnSpPr>
        <p:spPr>
          <a:xfrm flipV="1">
            <a:off x="9427932" y="594957"/>
            <a:ext cx="129658" cy="25841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Connector 215"/>
          <p:cNvCxnSpPr/>
          <p:nvPr/>
        </p:nvCxnSpPr>
        <p:spPr>
          <a:xfrm flipV="1">
            <a:off x="9557590" y="562512"/>
            <a:ext cx="129657" cy="32445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" name="Connector 216"/>
          <p:cNvCxnSpPr/>
          <p:nvPr/>
        </p:nvCxnSpPr>
        <p:spPr>
          <a:xfrm flipV="1">
            <a:off x="9687247" y="524490"/>
            <a:ext cx="129657" cy="38022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Connector 217"/>
          <p:cNvCxnSpPr/>
          <p:nvPr/>
        </p:nvCxnSpPr>
        <p:spPr>
          <a:xfrm flipV="1">
            <a:off x="9816904" y="482106"/>
            <a:ext cx="129657" cy="42384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Connector 218"/>
          <p:cNvCxnSpPr/>
          <p:nvPr/>
        </p:nvCxnSpPr>
        <p:spPr>
          <a:xfrm flipV="1">
            <a:off x="9946561" y="436691"/>
            <a:ext cx="129658" cy="45415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Connector 219"/>
          <p:cNvCxnSpPr/>
          <p:nvPr/>
        </p:nvCxnSpPr>
        <p:spPr>
          <a:xfrm flipV="1">
            <a:off x="10076219" y="389620"/>
            <a:ext cx="129657" cy="47071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Connector 220"/>
          <p:cNvCxnSpPr/>
          <p:nvPr/>
        </p:nvCxnSpPr>
        <p:spPr>
          <a:xfrm flipV="1">
            <a:off x="10205876" y="342241"/>
            <a:ext cx="129657" cy="47379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Connector 221"/>
          <p:cNvCxnSpPr/>
          <p:nvPr/>
        </p:nvCxnSpPr>
        <p:spPr>
          <a:xfrm flipV="1">
            <a:off x="10335533" y="295808"/>
            <a:ext cx="129657" cy="46433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Connector 222"/>
          <p:cNvCxnSpPr/>
          <p:nvPr/>
        </p:nvCxnSpPr>
        <p:spPr>
          <a:xfrm flipV="1">
            <a:off x="10465190" y="251438"/>
            <a:ext cx="129658" cy="44370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Connector 223"/>
          <p:cNvCxnSpPr/>
          <p:nvPr/>
        </p:nvCxnSpPr>
        <p:spPr>
          <a:xfrm flipV="1">
            <a:off x="10594848" y="210066"/>
            <a:ext cx="129657" cy="41372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Connector 224"/>
          <p:cNvCxnSpPr/>
          <p:nvPr/>
        </p:nvCxnSpPr>
        <p:spPr>
          <a:xfrm flipV="1">
            <a:off x="10724505" y="172431"/>
            <a:ext cx="129657" cy="37635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Connector 225"/>
          <p:cNvCxnSpPr/>
          <p:nvPr/>
        </p:nvCxnSpPr>
        <p:spPr>
          <a:xfrm flipV="1">
            <a:off x="10854162" y="139065"/>
            <a:ext cx="129657" cy="33366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Connector 226"/>
          <p:cNvCxnSpPr/>
          <p:nvPr/>
        </p:nvCxnSpPr>
        <p:spPr>
          <a:xfrm flipV="1">
            <a:off x="10983819" y="110300"/>
            <a:ext cx="129657" cy="28765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" name="Connector 227"/>
          <p:cNvCxnSpPr/>
          <p:nvPr/>
        </p:nvCxnSpPr>
        <p:spPr>
          <a:xfrm flipV="1">
            <a:off x="11113476" y="86291"/>
            <a:ext cx="129658" cy="24009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Connector 228"/>
          <p:cNvCxnSpPr/>
          <p:nvPr/>
        </p:nvCxnSpPr>
        <p:spPr>
          <a:xfrm flipV="1">
            <a:off x="11243134" y="67032"/>
            <a:ext cx="129657" cy="19259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Connector 229"/>
          <p:cNvCxnSpPr/>
          <p:nvPr/>
        </p:nvCxnSpPr>
        <p:spPr>
          <a:xfrm flipV="1">
            <a:off x="11372791" y="52391"/>
            <a:ext cx="129657" cy="14641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Connector 230"/>
          <p:cNvCxnSpPr/>
          <p:nvPr/>
        </p:nvCxnSpPr>
        <p:spPr>
          <a:xfrm flipV="1">
            <a:off x="11502448" y="42135"/>
            <a:ext cx="129657" cy="10256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Connector 231"/>
          <p:cNvCxnSpPr/>
          <p:nvPr/>
        </p:nvCxnSpPr>
        <p:spPr>
          <a:xfrm flipV="1">
            <a:off x="11632105" y="35959"/>
            <a:ext cx="129658" cy="6176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Connector 232"/>
          <p:cNvCxnSpPr/>
          <p:nvPr/>
        </p:nvCxnSpPr>
        <p:spPr>
          <a:xfrm flipV="1">
            <a:off x="11761763" y="33510"/>
            <a:ext cx="129657" cy="2449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Connector 233"/>
          <p:cNvCxnSpPr/>
          <p:nvPr/>
        </p:nvCxnSpPr>
        <p:spPr>
          <a:xfrm>
            <a:off x="11891420" y="33510"/>
            <a:ext cx="129657" cy="896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Connector 234"/>
          <p:cNvCxnSpPr/>
          <p:nvPr/>
        </p:nvCxnSpPr>
        <p:spPr>
          <a:xfrm>
            <a:off x="12021077" y="34406"/>
            <a:ext cx="129657" cy="3847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Connector 235"/>
          <p:cNvCxnSpPr/>
          <p:nvPr/>
        </p:nvCxnSpPr>
        <p:spPr>
          <a:xfrm>
            <a:off x="12150734" y="38253"/>
            <a:ext cx="129658" cy="6405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" name="Connector 236"/>
          <p:cNvCxnSpPr/>
          <p:nvPr/>
        </p:nvCxnSpPr>
        <p:spPr>
          <a:xfrm>
            <a:off x="7223760" y="249062"/>
            <a:ext cx="129657" cy="31785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Connector 237"/>
          <p:cNvCxnSpPr/>
          <p:nvPr/>
        </p:nvCxnSpPr>
        <p:spPr>
          <a:xfrm>
            <a:off x="7353417" y="280847"/>
            <a:ext cx="129657" cy="33741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9" name="Connector 238"/>
          <p:cNvCxnSpPr/>
          <p:nvPr/>
        </p:nvCxnSpPr>
        <p:spPr>
          <a:xfrm>
            <a:off x="7483074" y="314588"/>
            <a:ext cx="129657" cy="35461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0" name="Connector 239"/>
          <p:cNvCxnSpPr/>
          <p:nvPr/>
        </p:nvCxnSpPr>
        <p:spPr>
          <a:xfrm>
            <a:off x="7612731" y="350049"/>
            <a:ext cx="129657" cy="36814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1" name="Connector 240"/>
          <p:cNvCxnSpPr/>
          <p:nvPr/>
        </p:nvCxnSpPr>
        <p:spPr>
          <a:xfrm>
            <a:off x="7742388" y="386863"/>
            <a:ext cx="129658" cy="37653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2" name="Connector 241"/>
          <p:cNvCxnSpPr/>
          <p:nvPr/>
        </p:nvCxnSpPr>
        <p:spPr>
          <a:xfrm>
            <a:off x="7872046" y="424516"/>
            <a:ext cx="129657" cy="37824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3" name="Connector 242"/>
          <p:cNvCxnSpPr/>
          <p:nvPr/>
        </p:nvCxnSpPr>
        <p:spPr>
          <a:xfrm>
            <a:off x="8001703" y="462340"/>
            <a:ext cx="129657" cy="37177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4" name="Connector 243"/>
          <p:cNvCxnSpPr/>
          <p:nvPr/>
        </p:nvCxnSpPr>
        <p:spPr>
          <a:xfrm>
            <a:off x="8131360" y="499517"/>
            <a:ext cx="129657" cy="35579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5" name="Connector 244"/>
          <p:cNvCxnSpPr/>
          <p:nvPr/>
        </p:nvCxnSpPr>
        <p:spPr>
          <a:xfrm>
            <a:off x="8261017" y="535096"/>
            <a:ext cx="129658" cy="32934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Connector 245"/>
          <p:cNvCxnSpPr/>
          <p:nvPr/>
        </p:nvCxnSpPr>
        <p:spPr>
          <a:xfrm>
            <a:off x="8390675" y="568030"/>
            <a:ext cx="129657" cy="29189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Connector 246"/>
          <p:cNvCxnSpPr/>
          <p:nvPr/>
        </p:nvCxnSpPr>
        <p:spPr>
          <a:xfrm>
            <a:off x="8520332" y="597219"/>
            <a:ext cx="129657" cy="24352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" name="Connector 247"/>
          <p:cNvCxnSpPr/>
          <p:nvPr/>
        </p:nvCxnSpPr>
        <p:spPr>
          <a:xfrm>
            <a:off x="8649989" y="621571"/>
            <a:ext cx="129657" cy="18497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9" name="Connector 248"/>
          <p:cNvCxnSpPr/>
          <p:nvPr/>
        </p:nvCxnSpPr>
        <p:spPr>
          <a:xfrm>
            <a:off x="8779646" y="640068"/>
            <a:ext cx="129658" cy="11765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Connector 249"/>
          <p:cNvCxnSpPr/>
          <p:nvPr/>
        </p:nvCxnSpPr>
        <p:spPr>
          <a:xfrm>
            <a:off x="8909304" y="651833"/>
            <a:ext cx="129657" cy="4359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" name="Connector 250"/>
          <p:cNvCxnSpPr/>
          <p:nvPr/>
        </p:nvCxnSpPr>
        <p:spPr>
          <a:xfrm flipV="1">
            <a:off x="9038961" y="652730"/>
            <a:ext cx="129657" cy="3462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" name="Connector 251"/>
          <p:cNvCxnSpPr/>
          <p:nvPr/>
        </p:nvCxnSpPr>
        <p:spPr>
          <a:xfrm flipV="1">
            <a:off x="9168618" y="641328"/>
            <a:ext cx="129657" cy="11402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3" name="Connector 252"/>
          <p:cNvCxnSpPr/>
          <p:nvPr/>
        </p:nvCxnSpPr>
        <p:spPr>
          <a:xfrm flipV="1">
            <a:off x="9298275" y="622182"/>
            <a:ext cx="129657" cy="19146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4" name="Connector 253"/>
          <p:cNvCxnSpPr/>
          <p:nvPr/>
        </p:nvCxnSpPr>
        <p:spPr>
          <a:xfrm flipV="1">
            <a:off x="9427932" y="595797"/>
            <a:ext cx="129658" cy="26385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5" name="Connector 254"/>
          <p:cNvCxnSpPr/>
          <p:nvPr/>
        </p:nvCxnSpPr>
        <p:spPr>
          <a:xfrm flipV="1">
            <a:off x="9557590" y="562967"/>
            <a:ext cx="129657" cy="32830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Connector 255"/>
          <p:cNvCxnSpPr/>
          <p:nvPr/>
        </p:nvCxnSpPr>
        <p:spPr>
          <a:xfrm flipV="1">
            <a:off x="9687247" y="524727"/>
            <a:ext cx="129657" cy="38240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7" name="Connector 256"/>
          <p:cNvCxnSpPr/>
          <p:nvPr/>
        </p:nvCxnSpPr>
        <p:spPr>
          <a:xfrm flipV="1">
            <a:off x="9816904" y="482296"/>
            <a:ext cx="129657" cy="42431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" name="Connector 257"/>
          <p:cNvCxnSpPr/>
          <p:nvPr/>
        </p:nvCxnSpPr>
        <p:spPr>
          <a:xfrm flipV="1">
            <a:off x="9946561" y="437006"/>
            <a:ext cx="129658" cy="45290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" name="Connector 258"/>
          <p:cNvCxnSpPr/>
          <p:nvPr/>
        </p:nvCxnSpPr>
        <p:spPr>
          <a:xfrm flipV="1">
            <a:off x="10076219" y="390229"/>
            <a:ext cx="129657" cy="46777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0" name="Connector 259"/>
          <p:cNvCxnSpPr/>
          <p:nvPr/>
        </p:nvCxnSpPr>
        <p:spPr>
          <a:xfrm flipV="1">
            <a:off x="10205876" y="343306"/>
            <a:ext cx="129657" cy="46923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" name="Connector 260"/>
          <p:cNvCxnSpPr/>
          <p:nvPr/>
        </p:nvCxnSpPr>
        <p:spPr>
          <a:xfrm flipV="1">
            <a:off x="10335533" y="297487"/>
            <a:ext cx="129657" cy="45819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Connector 261"/>
          <p:cNvCxnSpPr/>
          <p:nvPr/>
        </p:nvCxnSpPr>
        <p:spPr>
          <a:xfrm flipV="1">
            <a:off x="10465190" y="253876"/>
            <a:ext cx="129658" cy="43611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Connector 262"/>
          <p:cNvCxnSpPr/>
          <p:nvPr/>
        </p:nvCxnSpPr>
        <p:spPr>
          <a:xfrm flipV="1">
            <a:off x="10594848" y="213396"/>
            <a:ext cx="129657" cy="40480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" name="Connector 263"/>
          <p:cNvCxnSpPr/>
          <p:nvPr/>
        </p:nvCxnSpPr>
        <p:spPr>
          <a:xfrm flipV="1">
            <a:off x="10724505" y="176769"/>
            <a:ext cx="129657" cy="36627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5" name="Connector 264"/>
          <p:cNvCxnSpPr/>
          <p:nvPr/>
        </p:nvCxnSpPr>
        <p:spPr>
          <a:xfrm flipV="1">
            <a:off x="10854162" y="144510"/>
            <a:ext cx="129657" cy="32259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6" name="Connector 265"/>
          <p:cNvCxnSpPr/>
          <p:nvPr/>
        </p:nvCxnSpPr>
        <p:spPr>
          <a:xfrm flipV="1">
            <a:off x="10983819" y="116934"/>
            <a:ext cx="129657" cy="27576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7" name="Connector 266"/>
          <p:cNvCxnSpPr/>
          <p:nvPr/>
        </p:nvCxnSpPr>
        <p:spPr>
          <a:xfrm flipV="1">
            <a:off x="11113476" y="94171"/>
            <a:ext cx="129658" cy="22763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8" name="Connector 267"/>
          <p:cNvCxnSpPr/>
          <p:nvPr/>
        </p:nvCxnSpPr>
        <p:spPr>
          <a:xfrm flipV="1">
            <a:off x="11243134" y="76198"/>
            <a:ext cx="129657" cy="17973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9" name="Connector 268"/>
          <p:cNvCxnSpPr/>
          <p:nvPr/>
        </p:nvCxnSpPr>
        <p:spPr>
          <a:xfrm flipV="1">
            <a:off x="11372791" y="62857"/>
            <a:ext cx="129657" cy="13341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0" name="Connector 269"/>
          <p:cNvCxnSpPr/>
          <p:nvPr/>
        </p:nvCxnSpPr>
        <p:spPr>
          <a:xfrm flipV="1">
            <a:off x="11502448" y="53895"/>
            <a:ext cx="129657" cy="8962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1" name="Connector 270"/>
          <p:cNvCxnSpPr/>
          <p:nvPr/>
        </p:nvCxnSpPr>
        <p:spPr>
          <a:xfrm flipV="1">
            <a:off x="11632105" y="48982"/>
            <a:ext cx="129658" cy="4913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2" name="Connector 271"/>
          <p:cNvCxnSpPr/>
          <p:nvPr/>
        </p:nvCxnSpPr>
        <p:spPr>
          <a:xfrm flipV="1">
            <a:off x="11761763" y="47745"/>
            <a:ext cx="129657" cy="1237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3" name="Connector 272"/>
          <p:cNvCxnSpPr/>
          <p:nvPr/>
        </p:nvCxnSpPr>
        <p:spPr>
          <a:xfrm>
            <a:off x="11891420" y="47745"/>
            <a:ext cx="129657" cy="2036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4" name="Connector 273"/>
          <p:cNvCxnSpPr/>
          <p:nvPr/>
        </p:nvCxnSpPr>
        <p:spPr>
          <a:xfrm>
            <a:off x="12021077" y="49781"/>
            <a:ext cx="129657" cy="4895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5" name="Connector 274"/>
          <p:cNvCxnSpPr/>
          <p:nvPr/>
        </p:nvCxnSpPr>
        <p:spPr>
          <a:xfrm>
            <a:off x="12150734" y="54676"/>
            <a:ext cx="129658" cy="7342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8" name="TextBox 277"/>
          <p:cNvSpPr txBox="1"/>
          <p:nvPr/>
        </p:nvSpPr>
        <p:spPr>
          <a:xfrm>
            <a:off x="11228832" y="73152"/>
            <a:ext cx="713232" cy="310896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/>
            <a:r>
              <a:rPr sz="1300" b="1">
                <a:solidFill>
                  <a:srgbClr val="0556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09</a:t>
            </a:r>
            <a:r>
              <a:rPr sz="1300" b="0">
                <a:solidFill>
                  <a:srgbClr val="526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16</a:t>
            </a:r>
            <a:endParaRPr sz="1300" b="0">
              <a:solidFill>
                <a:srgbClr val="5265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0" name="TextBox 279"/>
          <p:cNvSpPr txBox="1"/>
          <p:nvPr/>
        </p:nvSpPr>
        <p:spPr>
          <a:xfrm>
            <a:off x="512064" y="493776"/>
            <a:ext cx="10515600" cy="502920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C20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数据清洗规则</a:t>
            </a:r>
            <a:endParaRPr sz="3000" b="1">
              <a:solidFill>
                <a:srgbClr val="0C205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1" name="TextBox 280"/>
          <p:cNvSpPr txBox="1"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B4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把来源记录转为可比较、可展示、可追溯的数据</a:t>
            </a:r>
            <a:endParaRPr sz="1800" b="0">
              <a:solidFill>
                <a:srgbClr val="2B40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2" name="Rounded Rectangle 281"/>
          <p:cNvSpPr/>
          <p:nvPr/>
        </p:nvSpPr>
        <p:spPr>
          <a:xfrm>
            <a:off x="347472" y="1417320"/>
            <a:ext cx="4023360" cy="475488"/>
          </a:xfrm>
          <a:prstGeom prst="roundRect">
            <a:avLst>
              <a:gd name="adj" fmla="val 14000"/>
            </a:avLst>
          </a:prstGeom>
          <a:solidFill>
            <a:srgbClr val="CFDA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TextBox 282"/>
          <p:cNvSpPr txBox="1"/>
          <p:nvPr/>
        </p:nvSpPr>
        <p:spPr>
          <a:xfrm>
            <a:off x="374904" y="1499616"/>
            <a:ext cx="3968496" cy="283464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C20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原始情况</a:t>
            </a:r>
            <a:endParaRPr sz="1600" b="1">
              <a:solidFill>
                <a:srgbClr val="0C205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4" name="Rounded Rectangle 283"/>
          <p:cNvSpPr/>
          <p:nvPr/>
        </p:nvSpPr>
        <p:spPr>
          <a:xfrm>
            <a:off x="4498848" y="1417320"/>
            <a:ext cx="3145536" cy="475488"/>
          </a:xfrm>
          <a:prstGeom prst="roundRect">
            <a:avLst>
              <a:gd name="adj" fmla="val 14000"/>
            </a:avLst>
          </a:prstGeom>
          <a:solidFill>
            <a:srgbClr val="DBE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TextBox 284"/>
          <p:cNvSpPr txBox="1"/>
          <p:nvPr/>
        </p:nvSpPr>
        <p:spPr>
          <a:xfrm>
            <a:off x="4526280" y="1499616"/>
            <a:ext cx="3090672" cy="283464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C20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清洗动作</a:t>
            </a:r>
            <a:endParaRPr sz="1600" b="1">
              <a:solidFill>
                <a:srgbClr val="0C205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6" name="Rounded Rectangle 285"/>
          <p:cNvSpPr/>
          <p:nvPr/>
        </p:nvSpPr>
        <p:spPr>
          <a:xfrm>
            <a:off x="7772400" y="1417320"/>
            <a:ext cx="4087368" cy="475488"/>
          </a:xfrm>
          <a:prstGeom prst="roundRect">
            <a:avLst>
              <a:gd name="adj" fmla="val 14000"/>
            </a:avLst>
          </a:prstGeom>
          <a:solidFill>
            <a:srgbClr val="9B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TextBox 286"/>
          <p:cNvSpPr txBox="1"/>
          <p:nvPr/>
        </p:nvSpPr>
        <p:spPr>
          <a:xfrm>
            <a:off x="7799831" y="1499616"/>
            <a:ext cx="4032504" cy="283464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556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规范结果与保留信息</a:t>
            </a:r>
            <a:endParaRPr sz="1600" b="1">
              <a:solidFill>
                <a:srgbClr val="0556C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8" name="Rounded Rectangle 287"/>
          <p:cNvSpPr/>
          <p:nvPr/>
        </p:nvSpPr>
        <p:spPr>
          <a:xfrm>
            <a:off x="438912" y="1975104"/>
            <a:ext cx="3886200" cy="713232"/>
          </a:xfrm>
          <a:prstGeom prst="roundRect">
            <a:avLst>
              <a:gd name="adj" fmla="val 14000"/>
            </a:avLst>
          </a:prstGeom>
          <a:solidFill>
            <a:srgbClr val="F3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Rounded Rectangle 288"/>
          <p:cNvSpPr/>
          <p:nvPr/>
        </p:nvSpPr>
        <p:spPr>
          <a:xfrm>
            <a:off x="4617720" y="1975104"/>
            <a:ext cx="3008376" cy="713232"/>
          </a:xfrm>
          <a:prstGeom prst="roundRect">
            <a:avLst>
              <a:gd name="adj" fmla="val 14000"/>
            </a:avLst>
          </a:prstGeom>
          <a:solidFill>
            <a:srgbClr val="F5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Rounded Rectangle 289"/>
          <p:cNvSpPr/>
          <p:nvPr/>
        </p:nvSpPr>
        <p:spPr>
          <a:xfrm>
            <a:off x="8257031" y="1975104"/>
            <a:ext cx="3575304" cy="713232"/>
          </a:xfrm>
          <a:prstGeom prst="roundRect">
            <a:avLst>
              <a:gd name="adj" fmla="val 14000"/>
            </a:avLst>
          </a:prstGeom>
          <a:solidFill>
            <a:srgbClr val="EA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Oval 290"/>
          <p:cNvSpPr/>
          <p:nvPr/>
        </p:nvSpPr>
        <p:spPr>
          <a:xfrm>
            <a:off x="594359" y="2057400"/>
            <a:ext cx="548640" cy="548640"/>
          </a:xfrm>
          <a:prstGeom prst="ellipse">
            <a:avLst/>
          </a:prstGeom>
          <a:solidFill>
            <a:srgbClr val="D9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Oval 291"/>
          <p:cNvSpPr/>
          <p:nvPr/>
        </p:nvSpPr>
        <p:spPr>
          <a:xfrm>
            <a:off x="708257" y="2167566"/>
            <a:ext cx="231306" cy="231306"/>
          </a:xfrm>
          <a:prstGeom prst="ellipse">
            <a:avLst/>
          </a:prstGeom>
          <a:noFill/>
          <a:ln w="26670">
            <a:solidFill>
              <a:srgbClr val="055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3" name="Connector 292"/>
          <p:cNvCxnSpPr/>
          <p:nvPr/>
        </p:nvCxnSpPr>
        <p:spPr>
          <a:xfrm>
            <a:off x="917179" y="2376489"/>
            <a:ext cx="130577" cy="134307"/>
          </a:xfrm>
          <a:prstGeom prst="line">
            <a:avLst/>
          </a:prstGeom>
          <a:ln w="31750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4" name="TextBox 293"/>
          <p:cNvSpPr txBox="1"/>
          <p:nvPr/>
        </p:nvSpPr>
        <p:spPr>
          <a:xfrm>
            <a:off x="1481328" y="2048256"/>
            <a:ext cx="2770632" cy="265176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C20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DOI 含 URL 前缀</a:t>
            </a:r>
            <a:endParaRPr sz="1700" b="1">
              <a:solidFill>
                <a:srgbClr val="0C205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5" name="TextBox 294"/>
          <p:cNvSpPr txBox="1"/>
          <p:nvPr/>
        </p:nvSpPr>
        <p:spPr>
          <a:xfrm>
            <a:off x="1481328" y="2331720"/>
            <a:ext cx="2770632" cy="246888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40" b="1">
                <a:solidFill>
                  <a:srgbClr val="2B4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https://doi.org/10.1234/ABC</a:t>
            </a:r>
            <a:endParaRPr sz="1340" b="1">
              <a:solidFill>
                <a:srgbClr val="2B40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6" name="TextBox 295"/>
          <p:cNvSpPr txBox="1"/>
          <p:nvPr/>
        </p:nvSpPr>
        <p:spPr>
          <a:xfrm>
            <a:off x="4846320" y="2066544"/>
            <a:ext cx="2660904" cy="256032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60" b="1">
                <a:solidFill>
                  <a:srgbClr val="0556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移除前缀</a:t>
            </a:r>
            <a:endParaRPr sz="1660" b="1">
              <a:solidFill>
                <a:srgbClr val="0556C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7" name="TextBox 296"/>
          <p:cNvSpPr txBox="1"/>
          <p:nvPr/>
        </p:nvSpPr>
        <p:spPr>
          <a:xfrm>
            <a:off x="4846320" y="2368296"/>
            <a:ext cx="2660904" cy="210312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30" b="1">
                <a:solidFill>
                  <a:srgbClr val="2B4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小写、trim</a:t>
            </a:r>
            <a:endParaRPr sz="1330" b="1">
              <a:solidFill>
                <a:srgbClr val="2B40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8" name="TextBox 297"/>
          <p:cNvSpPr txBox="1"/>
          <p:nvPr/>
        </p:nvSpPr>
        <p:spPr>
          <a:xfrm>
            <a:off x="8540496" y="2066544"/>
            <a:ext cx="3063240" cy="283464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40" b="1">
                <a:solidFill>
                  <a:srgbClr val="0556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10.1234/abc</a:t>
            </a:r>
            <a:endParaRPr sz="1640" b="1">
              <a:solidFill>
                <a:srgbClr val="0556C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9" name="TextBox 298"/>
          <p:cNvSpPr txBox="1"/>
          <p:nvPr/>
        </p:nvSpPr>
        <p:spPr>
          <a:xfrm>
            <a:off x="8540496" y="2377440"/>
            <a:ext cx="3090672" cy="210312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0" b="1">
                <a:solidFill>
                  <a:srgbClr val="2B4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原字符串一并保留</a:t>
            </a:r>
            <a:endParaRPr sz="1310" b="1">
              <a:solidFill>
                <a:srgbClr val="2B40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00" name="Connector 299"/>
          <p:cNvCxnSpPr/>
          <p:nvPr/>
        </p:nvCxnSpPr>
        <p:spPr>
          <a:xfrm>
            <a:off x="4370832" y="2340864"/>
            <a:ext cx="182880" cy="0"/>
          </a:xfrm>
          <a:prstGeom prst="line">
            <a:avLst/>
          </a:prstGeom>
          <a:ln w="26670">
            <a:solidFill>
              <a:srgbClr val="87BAF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1" name="Connector 300"/>
          <p:cNvCxnSpPr/>
          <p:nvPr/>
        </p:nvCxnSpPr>
        <p:spPr>
          <a:xfrm>
            <a:off x="7690104" y="2340864"/>
            <a:ext cx="347471" cy="0"/>
          </a:xfrm>
          <a:prstGeom prst="line">
            <a:avLst/>
          </a:prstGeom>
          <a:ln w="26670">
            <a:solidFill>
              <a:srgbClr val="87BAF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2" name="Rounded Rectangle 301"/>
          <p:cNvSpPr/>
          <p:nvPr/>
        </p:nvSpPr>
        <p:spPr>
          <a:xfrm>
            <a:off x="438912" y="2788920"/>
            <a:ext cx="3886200" cy="713232"/>
          </a:xfrm>
          <a:prstGeom prst="roundRect">
            <a:avLst>
              <a:gd name="adj" fmla="val 14000"/>
            </a:avLst>
          </a:prstGeom>
          <a:solidFill>
            <a:srgbClr val="F3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Rounded Rectangle 302"/>
          <p:cNvSpPr/>
          <p:nvPr/>
        </p:nvSpPr>
        <p:spPr>
          <a:xfrm>
            <a:off x="4617720" y="2788920"/>
            <a:ext cx="3008376" cy="713232"/>
          </a:xfrm>
          <a:prstGeom prst="roundRect">
            <a:avLst>
              <a:gd name="adj" fmla="val 14000"/>
            </a:avLst>
          </a:prstGeom>
          <a:solidFill>
            <a:srgbClr val="F5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Rounded Rectangle 303"/>
          <p:cNvSpPr/>
          <p:nvPr/>
        </p:nvSpPr>
        <p:spPr>
          <a:xfrm>
            <a:off x="8257031" y="2788920"/>
            <a:ext cx="3575304" cy="713232"/>
          </a:xfrm>
          <a:prstGeom prst="roundRect">
            <a:avLst>
              <a:gd name="adj" fmla="val 14000"/>
            </a:avLst>
          </a:prstGeom>
          <a:solidFill>
            <a:srgbClr val="EA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Oval 304"/>
          <p:cNvSpPr/>
          <p:nvPr/>
        </p:nvSpPr>
        <p:spPr>
          <a:xfrm>
            <a:off x="594359" y="2871216"/>
            <a:ext cx="548640" cy="548640"/>
          </a:xfrm>
          <a:prstGeom prst="ellipse">
            <a:avLst/>
          </a:prstGeom>
          <a:solidFill>
            <a:srgbClr val="D9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Rectangle 305"/>
          <p:cNvSpPr/>
          <p:nvPr/>
        </p:nvSpPr>
        <p:spPr>
          <a:xfrm>
            <a:off x="756757" y="2966459"/>
            <a:ext cx="212652" cy="350690"/>
          </a:xfrm>
          <a:prstGeom prst="rect">
            <a:avLst/>
          </a:prstGeom>
          <a:noFill/>
          <a:ln w="26670">
            <a:solidFill>
              <a:srgbClr val="055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7" name="Connector 306"/>
          <p:cNvCxnSpPr/>
          <p:nvPr/>
        </p:nvCxnSpPr>
        <p:spPr>
          <a:xfrm>
            <a:off x="801526" y="3063459"/>
            <a:ext cx="119384" cy="0"/>
          </a:xfrm>
          <a:prstGeom prst="line">
            <a:avLst/>
          </a:prstGeom>
          <a:ln w="21590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8" name="Connector 307"/>
          <p:cNvCxnSpPr/>
          <p:nvPr/>
        </p:nvCxnSpPr>
        <p:spPr>
          <a:xfrm>
            <a:off x="801526" y="3156728"/>
            <a:ext cx="119384" cy="0"/>
          </a:xfrm>
          <a:prstGeom prst="line">
            <a:avLst/>
          </a:prstGeom>
          <a:ln w="21590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9" name="Connector 308"/>
          <p:cNvCxnSpPr/>
          <p:nvPr/>
        </p:nvCxnSpPr>
        <p:spPr>
          <a:xfrm>
            <a:off x="801526" y="3242535"/>
            <a:ext cx="119384" cy="0"/>
          </a:xfrm>
          <a:prstGeom prst="line">
            <a:avLst/>
          </a:prstGeom>
          <a:ln w="21590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0" name="TextBox 309"/>
          <p:cNvSpPr txBox="1"/>
          <p:nvPr/>
        </p:nvSpPr>
        <p:spPr>
          <a:xfrm>
            <a:off x="1481328" y="2862072"/>
            <a:ext cx="2770632" cy="265176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C20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HTML 标签摘要</a:t>
            </a:r>
            <a:endParaRPr sz="1700" b="1">
              <a:solidFill>
                <a:srgbClr val="0C205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1" name="TextBox 310"/>
          <p:cNvSpPr txBox="1"/>
          <p:nvPr/>
        </p:nvSpPr>
        <p:spPr>
          <a:xfrm>
            <a:off x="1481328" y="3145536"/>
            <a:ext cx="2770632" cy="246888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40" b="1">
                <a:solidFill>
                  <a:srgbClr val="2B4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源记录含标记语言</a:t>
            </a:r>
            <a:endParaRPr sz="1340" b="1">
              <a:solidFill>
                <a:srgbClr val="2B40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2" name="TextBox 311"/>
          <p:cNvSpPr txBox="1"/>
          <p:nvPr/>
        </p:nvSpPr>
        <p:spPr>
          <a:xfrm>
            <a:off x="4846320" y="2880360"/>
            <a:ext cx="2660904" cy="256032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60" b="1">
                <a:solidFill>
                  <a:srgbClr val="0556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结构解析</a:t>
            </a:r>
            <a:endParaRPr sz="1660" b="1">
              <a:solidFill>
                <a:srgbClr val="0556C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3" name="TextBox 312"/>
          <p:cNvSpPr txBox="1"/>
          <p:nvPr/>
        </p:nvSpPr>
        <p:spPr>
          <a:xfrm>
            <a:off x="4846320" y="3182112"/>
            <a:ext cx="2660904" cy="210312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30" b="1">
                <a:solidFill>
                  <a:srgbClr val="2B4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安全文本清洗</a:t>
            </a:r>
            <a:endParaRPr sz="1330" b="1">
              <a:solidFill>
                <a:srgbClr val="2B40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4" name="TextBox 313"/>
          <p:cNvSpPr txBox="1"/>
          <p:nvPr/>
        </p:nvSpPr>
        <p:spPr>
          <a:xfrm>
            <a:off x="8540496" y="2880360"/>
            <a:ext cx="3063240" cy="283464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40" b="1">
                <a:solidFill>
                  <a:srgbClr val="0556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生成可展示摘要</a:t>
            </a:r>
            <a:endParaRPr sz="1640" b="1">
              <a:solidFill>
                <a:srgbClr val="0556C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5" name="TextBox 314"/>
          <p:cNvSpPr txBox="1"/>
          <p:nvPr/>
        </p:nvSpPr>
        <p:spPr>
          <a:xfrm>
            <a:off x="8540496" y="3191256"/>
            <a:ext cx="3090672" cy="210312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0" b="1">
                <a:solidFill>
                  <a:srgbClr val="2B4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与原始快照分离</a:t>
            </a:r>
            <a:endParaRPr sz="1310" b="1">
              <a:solidFill>
                <a:srgbClr val="2B40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16" name="Connector 315"/>
          <p:cNvCxnSpPr/>
          <p:nvPr/>
        </p:nvCxnSpPr>
        <p:spPr>
          <a:xfrm>
            <a:off x="4370832" y="3154680"/>
            <a:ext cx="182880" cy="0"/>
          </a:xfrm>
          <a:prstGeom prst="line">
            <a:avLst/>
          </a:prstGeom>
          <a:ln w="26670">
            <a:solidFill>
              <a:srgbClr val="87BAF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7" name="Connector 316"/>
          <p:cNvCxnSpPr/>
          <p:nvPr/>
        </p:nvCxnSpPr>
        <p:spPr>
          <a:xfrm>
            <a:off x="7690104" y="3154680"/>
            <a:ext cx="347471" cy="0"/>
          </a:xfrm>
          <a:prstGeom prst="line">
            <a:avLst/>
          </a:prstGeom>
          <a:ln w="26670">
            <a:solidFill>
              <a:srgbClr val="87BAF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8" name="Rounded Rectangle 317"/>
          <p:cNvSpPr/>
          <p:nvPr/>
        </p:nvSpPr>
        <p:spPr>
          <a:xfrm>
            <a:off x="438912" y="3602736"/>
            <a:ext cx="3886200" cy="713232"/>
          </a:xfrm>
          <a:prstGeom prst="roundRect">
            <a:avLst>
              <a:gd name="adj" fmla="val 14000"/>
            </a:avLst>
          </a:prstGeom>
          <a:solidFill>
            <a:srgbClr val="F3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Rounded Rectangle 318"/>
          <p:cNvSpPr/>
          <p:nvPr/>
        </p:nvSpPr>
        <p:spPr>
          <a:xfrm>
            <a:off x="4617720" y="3602736"/>
            <a:ext cx="3008376" cy="713232"/>
          </a:xfrm>
          <a:prstGeom prst="roundRect">
            <a:avLst>
              <a:gd name="adj" fmla="val 14000"/>
            </a:avLst>
          </a:prstGeom>
          <a:solidFill>
            <a:srgbClr val="F5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Rounded Rectangle 319"/>
          <p:cNvSpPr/>
          <p:nvPr/>
        </p:nvSpPr>
        <p:spPr>
          <a:xfrm>
            <a:off x="8257031" y="3602736"/>
            <a:ext cx="3575304" cy="713232"/>
          </a:xfrm>
          <a:prstGeom prst="roundRect">
            <a:avLst>
              <a:gd name="adj" fmla="val 14000"/>
            </a:avLst>
          </a:prstGeom>
          <a:solidFill>
            <a:srgbClr val="EA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Oval 320"/>
          <p:cNvSpPr/>
          <p:nvPr/>
        </p:nvSpPr>
        <p:spPr>
          <a:xfrm>
            <a:off x="594359" y="3685032"/>
            <a:ext cx="548640" cy="548640"/>
          </a:xfrm>
          <a:prstGeom prst="ellipse">
            <a:avLst/>
          </a:prstGeom>
          <a:solidFill>
            <a:srgbClr val="D9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Oval 321"/>
          <p:cNvSpPr/>
          <p:nvPr/>
        </p:nvSpPr>
        <p:spPr>
          <a:xfrm>
            <a:off x="708257" y="3798929"/>
            <a:ext cx="320844" cy="320844"/>
          </a:xfrm>
          <a:prstGeom prst="ellipse">
            <a:avLst/>
          </a:prstGeom>
          <a:noFill/>
          <a:ln w="26670">
            <a:solidFill>
              <a:srgbClr val="055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3" name="Connector 322"/>
          <p:cNvCxnSpPr/>
          <p:nvPr/>
        </p:nvCxnSpPr>
        <p:spPr>
          <a:xfrm>
            <a:off x="868680" y="3858621"/>
            <a:ext cx="0" cy="108192"/>
          </a:xfrm>
          <a:prstGeom prst="line">
            <a:avLst/>
          </a:prstGeom>
          <a:ln w="26670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4" name="Connector 323"/>
          <p:cNvCxnSpPr/>
          <p:nvPr/>
        </p:nvCxnSpPr>
        <p:spPr>
          <a:xfrm>
            <a:off x="868680" y="3966813"/>
            <a:ext cx="93268" cy="67154"/>
          </a:xfrm>
          <a:prstGeom prst="line">
            <a:avLst/>
          </a:prstGeom>
          <a:ln w="26670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5" name="TextBox 324"/>
          <p:cNvSpPr txBox="1"/>
          <p:nvPr/>
        </p:nvSpPr>
        <p:spPr>
          <a:xfrm>
            <a:off x="1481328" y="3675888"/>
            <a:ext cx="2770632" cy="265176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C20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专利仅有授权年份</a:t>
            </a:r>
            <a:endParaRPr sz="1700" b="1">
              <a:solidFill>
                <a:srgbClr val="0C205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6" name="TextBox 325"/>
          <p:cNvSpPr txBox="1"/>
          <p:nvPr/>
        </p:nvSpPr>
        <p:spPr>
          <a:xfrm>
            <a:off x="1481328" y="3959352"/>
            <a:ext cx="2770632" cy="246888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40" b="1">
                <a:solidFill>
                  <a:srgbClr val="2B4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日期精度为 year</a:t>
            </a:r>
            <a:endParaRPr sz="1340" b="1">
              <a:solidFill>
                <a:srgbClr val="2B40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7" name="TextBox 326"/>
          <p:cNvSpPr txBox="1"/>
          <p:nvPr/>
        </p:nvSpPr>
        <p:spPr>
          <a:xfrm>
            <a:off x="4846320" y="3694176"/>
            <a:ext cx="2660904" cy="256032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60" b="1">
                <a:solidFill>
                  <a:srgbClr val="0556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保留日期精度</a:t>
            </a:r>
            <a:endParaRPr sz="1660" b="1">
              <a:solidFill>
                <a:srgbClr val="0556C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8" name="TextBox 327"/>
          <p:cNvSpPr txBox="1"/>
          <p:nvPr/>
        </p:nvSpPr>
        <p:spPr>
          <a:xfrm>
            <a:off x="4846320" y="3995928"/>
            <a:ext cx="2660904" cy="210312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30" b="1">
                <a:solidFill>
                  <a:srgbClr val="2B4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不推断月和日</a:t>
            </a:r>
            <a:endParaRPr sz="1330" b="1">
              <a:solidFill>
                <a:srgbClr val="2B40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9" name="TextBox 328"/>
          <p:cNvSpPr txBox="1"/>
          <p:nvPr/>
        </p:nvSpPr>
        <p:spPr>
          <a:xfrm>
            <a:off x="8540496" y="3694176"/>
            <a:ext cx="3063240" cy="283464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40" b="1">
                <a:solidFill>
                  <a:srgbClr val="0556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date_precision = year</a:t>
            </a:r>
            <a:endParaRPr sz="1640" b="1">
              <a:solidFill>
                <a:srgbClr val="0556C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0" name="TextBox 329"/>
          <p:cNvSpPr txBox="1"/>
          <p:nvPr/>
        </p:nvSpPr>
        <p:spPr>
          <a:xfrm>
            <a:off x="8540496" y="4005072"/>
            <a:ext cx="3090672" cy="210312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0" b="1">
                <a:solidFill>
                  <a:srgbClr val="2B4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禁止补成 1 月 1 日</a:t>
            </a:r>
            <a:endParaRPr sz="1310" b="1">
              <a:solidFill>
                <a:srgbClr val="2B40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31" name="Connector 330"/>
          <p:cNvCxnSpPr/>
          <p:nvPr/>
        </p:nvCxnSpPr>
        <p:spPr>
          <a:xfrm>
            <a:off x="4370832" y="3968496"/>
            <a:ext cx="182880" cy="0"/>
          </a:xfrm>
          <a:prstGeom prst="line">
            <a:avLst/>
          </a:prstGeom>
          <a:ln w="26670">
            <a:solidFill>
              <a:srgbClr val="87BAF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2" name="Connector 331"/>
          <p:cNvCxnSpPr/>
          <p:nvPr/>
        </p:nvCxnSpPr>
        <p:spPr>
          <a:xfrm>
            <a:off x="7690104" y="3968496"/>
            <a:ext cx="347471" cy="0"/>
          </a:xfrm>
          <a:prstGeom prst="line">
            <a:avLst/>
          </a:prstGeom>
          <a:ln w="26670">
            <a:solidFill>
              <a:srgbClr val="87BAF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3" name="Rounded Rectangle 332"/>
          <p:cNvSpPr/>
          <p:nvPr/>
        </p:nvSpPr>
        <p:spPr>
          <a:xfrm>
            <a:off x="438912" y="4416552"/>
            <a:ext cx="3886200" cy="713232"/>
          </a:xfrm>
          <a:prstGeom prst="roundRect">
            <a:avLst>
              <a:gd name="adj" fmla="val 14000"/>
            </a:avLst>
          </a:prstGeom>
          <a:solidFill>
            <a:srgbClr val="F3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Rounded Rectangle 333"/>
          <p:cNvSpPr/>
          <p:nvPr/>
        </p:nvSpPr>
        <p:spPr>
          <a:xfrm>
            <a:off x="4617720" y="4416552"/>
            <a:ext cx="3008376" cy="713232"/>
          </a:xfrm>
          <a:prstGeom prst="roundRect">
            <a:avLst>
              <a:gd name="adj" fmla="val 14000"/>
            </a:avLst>
          </a:prstGeom>
          <a:solidFill>
            <a:srgbClr val="F5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Rounded Rectangle 334"/>
          <p:cNvSpPr/>
          <p:nvPr/>
        </p:nvSpPr>
        <p:spPr>
          <a:xfrm>
            <a:off x="8257031" y="4416552"/>
            <a:ext cx="3575304" cy="713232"/>
          </a:xfrm>
          <a:prstGeom prst="roundRect">
            <a:avLst>
              <a:gd name="adj" fmla="val 14000"/>
            </a:avLst>
          </a:prstGeom>
          <a:solidFill>
            <a:srgbClr val="EA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Oval 335"/>
          <p:cNvSpPr/>
          <p:nvPr/>
        </p:nvSpPr>
        <p:spPr>
          <a:xfrm>
            <a:off x="594359" y="4498848"/>
            <a:ext cx="548640" cy="548640"/>
          </a:xfrm>
          <a:prstGeom prst="ellipse">
            <a:avLst/>
          </a:prstGeom>
          <a:solidFill>
            <a:srgbClr val="D9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7" name="Connector 336"/>
          <p:cNvCxnSpPr/>
          <p:nvPr/>
        </p:nvCxnSpPr>
        <p:spPr>
          <a:xfrm flipV="1">
            <a:off x="700796" y="4616476"/>
            <a:ext cx="149230" cy="126845"/>
          </a:xfrm>
          <a:prstGeom prst="line">
            <a:avLst/>
          </a:prstGeom>
          <a:ln w="26670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8" name="Connector 337"/>
          <p:cNvCxnSpPr/>
          <p:nvPr/>
        </p:nvCxnSpPr>
        <p:spPr>
          <a:xfrm>
            <a:off x="850026" y="4616476"/>
            <a:ext cx="167884" cy="0"/>
          </a:xfrm>
          <a:prstGeom prst="line">
            <a:avLst/>
          </a:prstGeom>
          <a:ln w="26670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9" name="Connector 338"/>
          <p:cNvCxnSpPr/>
          <p:nvPr/>
        </p:nvCxnSpPr>
        <p:spPr>
          <a:xfrm>
            <a:off x="1017910" y="4616476"/>
            <a:ext cx="0" cy="175345"/>
          </a:xfrm>
          <a:prstGeom prst="line">
            <a:avLst/>
          </a:prstGeom>
          <a:ln w="26670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0" name="Connector 339"/>
          <p:cNvCxnSpPr/>
          <p:nvPr/>
        </p:nvCxnSpPr>
        <p:spPr>
          <a:xfrm flipH="1">
            <a:off x="887333" y="4791821"/>
            <a:ext cx="130577" cy="134307"/>
          </a:xfrm>
          <a:prstGeom prst="line">
            <a:avLst/>
          </a:prstGeom>
          <a:ln w="26670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1" name="Connector 340"/>
          <p:cNvCxnSpPr/>
          <p:nvPr/>
        </p:nvCxnSpPr>
        <p:spPr>
          <a:xfrm flipH="1" flipV="1">
            <a:off x="700796" y="4743321"/>
            <a:ext cx="186537" cy="182807"/>
          </a:xfrm>
          <a:prstGeom prst="line">
            <a:avLst/>
          </a:prstGeom>
          <a:ln w="26670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2" name="Oval 341"/>
          <p:cNvSpPr/>
          <p:nvPr/>
        </p:nvSpPr>
        <p:spPr>
          <a:xfrm>
            <a:off x="928372" y="4664976"/>
            <a:ext cx="37307" cy="37307"/>
          </a:xfrm>
          <a:prstGeom prst="ellipse">
            <a:avLst/>
          </a:prstGeom>
          <a:noFill/>
          <a:ln w="26670">
            <a:solidFill>
              <a:srgbClr val="055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TextBox 342"/>
          <p:cNvSpPr txBox="1"/>
          <p:nvPr/>
        </p:nvSpPr>
        <p:spPr>
          <a:xfrm>
            <a:off x="1481328" y="4489704"/>
            <a:ext cx="2770632" cy="265176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C20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Crossref 缺少 subject</a:t>
            </a:r>
            <a:endParaRPr sz="1700" b="1">
              <a:solidFill>
                <a:srgbClr val="0C205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4" name="TextBox 343"/>
          <p:cNvSpPr txBox="1"/>
          <p:nvPr/>
        </p:nvSpPr>
        <p:spPr>
          <a:xfrm>
            <a:off x="1481328" y="4773168"/>
            <a:ext cx="2770632" cy="246888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40" b="1">
                <a:solidFill>
                  <a:srgbClr val="2B4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学科分类缺失</a:t>
            </a:r>
            <a:endParaRPr sz="1340" b="1">
              <a:solidFill>
                <a:srgbClr val="2B40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5" name="TextBox 344"/>
          <p:cNvSpPr txBox="1"/>
          <p:nvPr/>
        </p:nvSpPr>
        <p:spPr>
          <a:xfrm>
            <a:off x="4846320" y="4507992"/>
            <a:ext cx="2660904" cy="256032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60" b="1">
                <a:solidFill>
                  <a:srgbClr val="0556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记录缺失状态</a:t>
            </a:r>
            <a:endParaRPr sz="1660" b="1">
              <a:solidFill>
                <a:srgbClr val="0556C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6" name="TextBox 345"/>
          <p:cNvSpPr txBox="1"/>
          <p:nvPr/>
        </p:nvSpPr>
        <p:spPr>
          <a:xfrm>
            <a:off x="4846320" y="4809744"/>
            <a:ext cx="2660904" cy="210312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30" b="1">
                <a:solidFill>
                  <a:srgbClr val="2B4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待后续可信来源补充</a:t>
            </a:r>
            <a:endParaRPr sz="1330" b="1">
              <a:solidFill>
                <a:srgbClr val="2B40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7" name="TextBox 346"/>
          <p:cNvSpPr txBox="1"/>
          <p:nvPr/>
        </p:nvSpPr>
        <p:spPr>
          <a:xfrm>
            <a:off x="8540496" y="4507992"/>
            <a:ext cx="3063240" cy="283464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40" b="1">
                <a:solidFill>
                  <a:srgbClr val="0556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保持未分类</a:t>
            </a:r>
            <a:endParaRPr sz="1640" b="1">
              <a:solidFill>
                <a:srgbClr val="0556C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8" name="TextBox 347"/>
          <p:cNvSpPr txBox="1"/>
          <p:nvPr/>
        </p:nvSpPr>
        <p:spPr>
          <a:xfrm>
            <a:off x="8540496" y="4818888"/>
            <a:ext cx="3090672" cy="210312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0" b="1">
                <a:solidFill>
                  <a:srgbClr val="2B4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不自动伪造已确认学科</a:t>
            </a:r>
            <a:endParaRPr sz="1310" b="1">
              <a:solidFill>
                <a:srgbClr val="2B40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49" name="Connector 348"/>
          <p:cNvCxnSpPr/>
          <p:nvPr/>
        </p:nvCxnSpPr>
        <p:spPr>
          <a:xfrm>
            <a:off x="4370832" y="4782312"/>
            <a:ext cx="182880" cy="0"/>
          </a:xfrm>
          <a:prstGeom prst="line">
            <a:avLst/>
          </a:prstGeom>
          <a:ln w="26670">
            <a:solidFill>
              <a:srgbClr val="87BAF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0" name="Connector 349"/>
          <p:cNvCxnSpPr/>
          <p:nvPr/>
        </p:nvCxnSpPr>
        <p:spPr>
          <a:xfrm>
            <a:off x="7690104" y="4782312"/>
            <a:ext cx="347471" cy="0"/>
          </a:xfrm>
          <a:prstGeom prst="line">
            <a:avLst/>
          </a:prstGeom>
          <a:ln w="26670">
            <a:solidFill>
              <a:srgbClr val="87BAF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1" name="Rounded Rectangle 350"/>
          <p:cNvSpPr/>
          <p:nvPr/>
        </p:nvSpPr>
        <p:spPr>
          <a:xfrm>
            <a:off x="438912" y="5230368"/>
            <a:ext cx="3886200" cy="713232"/>
          </a:xfrm>
          <a:prstGeom prst="roundRect">
            <a:avLst>
              <a:gd name="adj" fmla="val 14000"/>
            </a:avLst>
          </a:prstGeom>
          <a:solidFill>
            <a:srgbClr val="F3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" name="Rounded Rectangle 351"/>
          <p:cNvSpPr/>
          <p:nvPr/>
        </p:nvSpPr>
        <p:spPr>
          <a:xfrm>
            <a:off x="4617720" y="5230368"/>
            <a:ext cx="3008376" cy="713232"/>
          </a:xfrm>
          <a:prstGeom prst="roundRect">
            <a:avLst>
              <a:gd name="adj" fmla="val 14000"/>
            </a:avLst>
          </a:prstGeom>
          <a:solidFill>
            <a:srgbClr val="F5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" name="Rounded Rectangle 352"/>
          <p:cNvSpPr/>
          <p:nvPr/>
        </p:nvSpPr>
        <p:spPr>
          <a:xfrm>
            <a:off x="8257031" y="5230368"/>
            <a:ext cx="3575304" cy="713232"/>
          </a:xfrm>
          <a:prstGeom prst="roundRect">
            <a:avLst>
              <a:gd name="adj" fmla="val 14000"/>
            </a:avLst>
          </a:prstGeom>
          <a:solidFill>
            <a:srgbClr val="EA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" name="Oval 353"/>
          <p:cNvSpPr/>
          <p:nvPr/>
        </p:nvSpPr>
        <p:spPr>
          <a:xfrm>
            <a:off x="594359" y="5312664"/>
            <a:ext cx="548640" cy="548640"/>
          </a:xfrm>
          <a:prstGeom prst="ellipse">
            <a:avLst/>
          </a:prstGeom>
          <a:solidFill>
            <a:srgbClr val="D9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" name="Rectangle 354"/>
          <p:cNvSpPr/>
          <p:nvPr/>
        </p:nvSpPr>
        <p:spPr>
          <a:xfrm>
            <a:off x="719449" y="5620560"/>
            <a:ext cx="52230" cy="108191"/>
          </a:xfrm>
          <a:prstGeom prst="rect">
            <a:avLst/>
          </a:prstGeom>
          <a:noFill/>
          <a:ln w="26670">
            <a:solidFill>
              <a:srgbClr val="055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" name="Rectangle 355"/>
          <p:cNvSpPr/>
          <p:nvPr/>
        </p:nvSpPr>
        <p:spPr>
          <a:xfrm>
            <a:off x="831372" y="5560868"/>
            <a:ext cx="52230" cy="167883"/>
          </a:xfrm>
          <a:prstGeom prst="rect">
            <a:avLst/>
          </a:prstGeom>
          <a:noFill/>
          <a:ln w="26670">
            <a:solidFill>
              <a:srgbClr val="055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" name="Rectangle 356"/>
          <p:cNvSpPr/>
          <p:nvPr/>
        </p:nvSpPr>
        <p:spPr>
          <a:xfrm>
            <a:off x="943295" y="5478792"/>
            <a:ext cx="52230" cy="249960"/>
          </a:xfrm>
          <a:prstGeom prst="rect">
            <a:avLst/>
          </a:prstGeom>
          <a:noFill/>
          <a:ln w="26670">
            <a:solidFill>
              <a:srgbClr val="055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" name="TextBox 357"/>
          <p:cNvSpPr txBox="1"/>
          <p:nvPr/>
        </p:nvSpPr>
        <p:spPr>
          <a:xfrm>
            <a:off x="1481328" y="5303520"/>
            <a:ext cx="2770632" cy="265176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C20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引用次数字段缺失</a:t>
            </a:r>
            <a:endParaRPr sz="1700" b="1">
              <a:solidFill>
                <a:srgbClr val="0C205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9" name="TextBox 358"/>
          <p:cNvSpPr txBox="1"/>
          <p:nvPr/>
        </p:nvSpPr>
        <p:spPr>
          <a:xfrm>
            <a:off x="1481328" y="5586984"/>
            <a:ext cx="2770632" cy="246888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40" b="1">
                <a:solidFill>
                  <a:srgbClr val="2B4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无有效引用数据</a:t>
            </a:r>
            <a:endParaRPr sz="1340" b="1">
              <a:solidFill>
                <a:srgbClr val="2B40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0" name="TextBox 359"/>
          <p:cNvSpPr txBox="1"/>
          <p:nvPr/>
        </p:nvSpPr>
        <p:spPr>
          <a:xfrm>
            <a:off x="4846320" y="5321808"/>
            <a:ext cx="2660904" cy="256032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60" b="1">
                <a:solidFill>
                  <a:srgbClr val="0556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保留未知状态</a:t>
            </a:r>
            <a:endParaRPr sz="1660" b="1">
              <a:solidFill>
                <a:srgbClr val="0556C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1" name="TextBox 360"/>
          <p:cNvSpPr txBox="1"/>
          <p:nvPr/>
        </p:nvSpPr>
        <p:spPr>
          <a:xfrm>
            <a:off x="4846320" y="5623560"/>
            <a:ext cx="2660904" cy="210312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30" b="1">
                <a:solidFill>
                  <a:srgbClr val="2B4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区分缺失与零</a:t>
            </a:r>
            <a:endParaRPr sz="1330" b="1">
              <a:solidFill>
                <a:srgbClr val="2B40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2" name="TextBox 361"/>
          <p:cNvSpPr txBox="1"/>
          <p:nvPr/>
        </p:nvSpPr>
        <p:spPr>
          <a:xfrm>
            <a:off x="8540496" y="5321808"/>
            <a:ext cx="3063240" cy="283464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40" b="1">
                <a:solidFill>
                  <a:srgbClr val="0556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NULL / unknown</a:t>
            </a:r>
            <a:endParaRPr sz="1640" b="1">
              <a:solidFill>
                <a:srgbClr val="0556C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3" name="TextBox 362"/>
          <p:cNvSpPr txBox="1"/>
          <p:nvPr/>
        </p:nvSpPr>
        <p:spPr>
          <a:xfrm>
            <a:off x="8540496" y="5632704"/>
            <a:ext cx="3090672" cy="210312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0" b="1">
                <a:solidFill>
                  <a:srgbClr val="2B4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不得直接记作 0</a:t>
            </a:r>
            <a:endParaRPr sz="1310" b="1">
              <a:solidFill>
                <a:srgbClr val="2B40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64" name="Connector 363"/>
          <p:cNvCxnSpPr/>
          <p:nvPr/>
        </p:nvCxnSpPr>
        <p:spPr>
          <a:xfrm>
            <a:off x="4370832" y="5596128"/>
            <a:ext cx="182880" cy="0"/>
          </a:xfrm>
          <a:prstGeom prst="line">
            <a:avLst/>
          </a:prstGeom>
          <a:ln w="26670">
            <a:solidFill>
              <a:srgbClr val="87BAF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5" name="Connector 364"/>
          <p:cNvCxnSpPr/>
          <p:nvPr/>
        </p:nvCxnSpPr>
        <p:spPr>
          <a:xfrm>
            <a:off x="7690104" y="5596128"/>
            <a:ext cx="347471" cy="0"/>
          </a:xfrm>
          <a:prstGeom prst="line">
            <a:avLst/>
          </a:prstGeom>
          <a:ln w="26670">
            <a:solidFill>
              <a:srgbClr val="87BAF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6" name="Rounded Rectangle 365"/>
          <p:cNvSpPr/>
          <p:nvPr/>
        </p:nvSpPr>
        <p:spPr>
          <a:xfrm>
            <a:off x="338328" y="6181344"/>
            <a:ext cx="11521440" cy="576072"/>
          </a:xfrm>
          <a:prstGeom prst="roundRect">
            <a:avLst>
              <a:gd name="adj" fmla="val 14000"/>
            </a:avLst>
          </a:prstGeom>
          <a:solidFill>
            <a:srgbClr val="FFF4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" name="Rounded Rectangle 366"/>
          <p:cNvSpPr/>
          <p:nvPr/>
        </p:nvSpPr>
        <p:spPr>
          <a:xfrm>
            <a:off x="338328" y="6181344"/>
            <a:ext cx="50292" cy="576072"/>
          </a:xfrm>
          <a:prstGeom prst="roundRect">
            <a:avLst>
              <a:gd name="adj" fmla="val 14000"/>
            </a:avLst>
          </a:prstGeom>
          <a:solidFill>
            <a:srgbClr val="F47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" name="Oval 367"/>
          <p:cNvSpPr/>
          <p:nvPr/>
        </p:nvSpPr>
        <p:spPr>
          <a:xfrm>
            <a:off x="749808" y="6272784"/>
            <a:ext cx="402336" cy="402336"/>
          </a:xfrm>
          <a:prstGeom prst="ellipse">
            <a:avLst/>
          </a:prstGeom>
          <a:solidFill>
            <a:srgbClr val="FFE3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" name="Oval 368"/>
          <p:cNvSpPr/>
          <p:nvPr/>
        </p:nvSpPr>
        <p:spPr>
          <a:xfrm>
            <a:off x="879842" y="6402818"/>
            <a:ext cx="142266" cy="142266"/>
          </a:xfrm>
          <a:prstGeom prst="ellipse">
            <a:avLst/>
          </a:prstGeom>
          <a:noFill/>
          <a:ln w="26670">
            <a:solidFill>
              <a:srgbClr val="F47B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0" name="Connector 369"/>
          <p:cNvCxnSpPr/>
          <p:nvPr/>
        </p:nvCxnSpPr>
        <p:spPr>
          <a:xfrm>
            <a:off x="1030316" y="6473952"/>
            <a:ext cx="57454" cy="0"/>
          </a:xfrm>
          <a:prstGeom prst="line">
            <a:avLst/>
          </a:prstGeom>
          <a:ln w="39370">
            <a:solidFill>
              <a:srgbClr val="F47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1" name="Connector 370"/>
          <p:cNvCxnSpPr/>
          <p:nvPr/>
        </p:nvCxnSpPr>
        <p:spPr>
          <a:xfrm>
            <a:off x="1007078" y="6530054"/>
            <a:ext cx="40626" cy="40626"/>
          </a:xfrm>
          <a:prstGeom prst="line">
            <a:avLst/>
          </a:prstGeom>
          <a:ln w="39370">
            <a:solidFill>
              <a:srgbClr val="F47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2" name="Connector 371"/>
          <p:cNvCxnSpPr/>
          <p:nvPr/>
        </p:nvCxnSpPr>
        <p:spPr>
          <a:xfrm>
            <a:off x="950976" y="6553292"/>
            <a:ext cx="0" cy="57454"/>
          </a:xfrm>
          <a:prstGeom prst="line">
            <a:avLst/>
          </a:prstGeom>
          <a:ln w="39370">
            <a:solidFill>
              <a:srgbClr val="F47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3" name="Connector 372"/>
          <p:cNvCxnSpPr/>
          <p:nvPr/>
        </p:nvCxnSpPr>
        <p:spPr>
          <a:xfrm flipH="1">
            <a:off x="854247" y="6530054"/>
            <a:ext cx="40626" cy="40626"/>
          </a:xfrm>
          <a:prstGeom prst="line">
            <a:avLst/>
          </a:prstGeom>
          <a:ln w="39370">
            <a:solidFill>
              <a:srgbClr val="F47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4" name="Connector 373"/>
          <p:cNvCxnSpPr/>
          <p:nvPr/>
        </p:nvCxnSpPr>
        <p:spPr>
          <a:xfrm flipH="1">
            <a:off x="814181" y="6473952"/>
            <a:ext cx="57454" cy="0"/>
          </a:xfrm>
          <a:prstGeom prst="line">
            <a:avLst/>
          </a:prstGeom>
          <a:ln w="39370">
            <a:solidFill>
              <a:srgbClr val="F47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5" name="Connector 374"/>
          <p:cNvCxnSpPr/>
          <p:nvPr/>
        </p:nvCxnSpPr>
        <p:spPr>
          <a:xfrm flipH="1" flipV="1">
            <a:off x="854247" y="6377223"/>
            <a:ext cx="40626" cy="40626"/>
          </a:xfrm>
          <a:prstGeom prst="line">
            <a:avLst/>
          </a:prstGeom>
          <a:ln w="39370">
            <a:solidFill>
              <a:srgbClr val="F47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6" name="Connector 375"/>
          <p:cNvCxnSpPr/>
          <p:nvPr/>
        </p:nvCxnSpPr>
        <p:spPr>
          <a:xfrm flipV="1">
            <a:off x="950976" y="6337157"/>
            <a:ext cx="0" cy="57454"/>
          </a:xfrm>
          <a:prstGeom prst="line">
            <a:avLst/>
          </a:prstGeom>
          <a:ln w="39370">
            <a:solidFill>
              <a:srgbClr val="F47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7" name="Connector 376"/>
          <p:cNvCxnSpPr/>
          <p:nvPr/>
        </p:nvCxnSpPr>
        <p:spPr>
          <a:xfrm flipV="1">
            <a:off x="1007078" y="6377223"/>
            <a:ext cx="40626" cy="40626"/>
          </a:xfrm>
          <a:prstGeom prst="line">
            <a:avLst/>
          </a:prstGeom>
          <a:ln w="39370">
            <a:solidFill>
              <a:srgbClr val="F47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8" name="TextBox 377"/>
          <p:cNvSpPr txBox="1"/>
          <p:nvPr/>
        </p:nvSpPr>
        <p:spPr>
          <a:xfrm>
            <a:off x="1325880" y="6281928"/>
            <a:ext cx="1325880" cy="374904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47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统一规则：</a:t>
            </a:r>
            <a:endParaRPr sz="1700" b="1">
              <a:solidFill>
                <a:srgbClr val="F47B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9" name="TextBox 378"/>
          <p:cNvSpPr txBox="1"/>
          <p:nvPr/>
        </p:nvSpPr>
        <p:spPr>
          <a:xfrm>
            <a:off x="2651760" y="6272783"/>
            <a:ext cx="8732520" cy="393192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40" b="1">
                <a:solidFill>
                  <a:srgbClr val="0C20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字段规范化必须保留原值、来源标识、采集时间与规则版本。</a:t>
            </a:r>
            <a:endParaRPr sz="1540" b="1">
              <a:solidFill>
                <a:srgbClr val="0C205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7223760" y="131090"/>
            <a:ext cx="129657" cy="33641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353417" y="164731"/>
            <a:ext cx="129657" cy="36565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483074" y="201296"/>
            <a:ext cx="129657" cy="39204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7612731" y="240500"/>
            <a:ext cx="129657" cy="41411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7742388" y="281911"/>
            <a:ext cx="129658" cy="43025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872046" y="324936"/>
            <a:ext cx="129657" cy="43877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001703" y="368813"/>
            <a:ext cx="129657" cy="43806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131360" y="412619"/>
            <a:ext cx="129657" cy="42670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261017" y="455289"/>
            <a:ext cx="129658" cy="40361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390675" y="495650"/>
            <a:ext cx="129657" cy="36826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520332" y="532476"/>
            <a:ext cx="129657" cy="32066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649989" y="564542"/>
            <a:ext cx="129657" cy="26152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779646" y="590694"/>
            <a:ext cx="129658" cy="19230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909304" y="609924"/>
            <a:ext cx="129657" cy="11504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038961" y="621428"/>
            <a:ext cx="129657" cy="3238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9168618" y="619404"/>
            <a:ext cx="129657" cy="5262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9298275" y="605730"/>
            <a:ext cx="129657" cy="13674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9427932" y="584056"/>
            <a:ext cx="129658" cy="21674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9557590" y="555092"/>
            <a:ext cx="129657" cy="28964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9687247" y="519807"/>
            <a:ext cx="129657" cy="35285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9816904" y="479369"/>
            <a:ext cx="129657" cy="40438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9946561" y="435074"/>
            <a:ext cx="129658" cy="44295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10076219" y="388277"/>
            <a:ext cx="129657" cy="46797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10205876" y="340322"/>
            <a:ext cx="129657" cy="47955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10335533" y="292473"/>
            <a:ext cx="129657" cy="47849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10465190" y="245872"/>
            <a:ext cx="129658" cy="46601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10594848" y="201493"/>
            <a:ext cx="129657" cy="44379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10724505" y="160126"/>
            <a:ext cx="129657" cy="41367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10854162" y="122368"/>
            <a:ext cx="129657" cy="37758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10983819" y="88629"/>
            <a:ext cx="129657" cy="33739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11113476" y="59147"/>
            <a:ext cx="129658" cy="29482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11243134" y="34015"/>
            <a:ext cx="129657" cy="25132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11372791" y="13200"/>
            <a:ext cx="129657" cy="20815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11502448" y="-3422"/>
            <a:ext cx="129657" cy="16622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11632105" y="-16047"/>
            <a:ext cx="129658" cy="12625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11761763" y="-24915"/>
            <a:ext cx="129657" cy="8868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11891420" y="-30297"/>
            <a:ext cx="129657" cy="5382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12021077" y="-32477"/>
            <a:ext cx="129657" cy="2180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12150734" y="-32477"/>
            <a:ext cx="129658" cy="732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7223760" y="151010"/>
            <a:ext cx="129657" cy="33617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7353417" y="184627"/>
            <a:ext cx="129657" cy="36370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7483074" y="220997"/>
            <a:ext cx="129657" cy="38843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7612731" y="259840"/>
            <a:ext cx="129657" cy="40888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7742388" y="300728"/>
            <a:ext cx="129658" cy="42351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7872046" y="343079"/>
            <a:ext cx="129657" cy="43062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8001703" y="386141"/>
            <a:ext cx="129657" cy="42864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8131360" y="429005"/>
            <a:ext cx="129657" cy="41618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8261017" y="470623"/>
            <a:ext cx="129658" cy="39219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8390675" y="509842"/>
            <a:ext cx="129657" cy="35611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8520332" y="545453"/>
            <a:ext cx="129657" cy="30800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8649989" y="576253"/>
            <a:ext cx="129657" cy="24859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8779646" y="601112"/>
            <a:ext cx="129658" cy="17929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8909304" y="619041"/>
            <a:ext cx="129657" cy="10220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9038961" y="629261"/>
            <a:ext cx="129657" cy="1993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9168618" y="624807"/>
            <a:ext cx="129657" cy="6447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9298275" y="610029"/>
            <a:ext cx="129657" cy="14778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9427932" y="587350"/>
            <a:ext cx="129658" cy="22679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9557590" y="557499"/>
            <a:ext cx="129657" cy="29851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9687247" y="521461"/>
            <a:ext cx="129657" cy="36038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9816904" y="480414"/>
            <a:ext cx="129657" cy="41047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9946561" y="435668"/>
            <a:ext cx="129658" cy="44746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10076219" y="388584"/>
            <a:ext cx="129657" cy="47084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10205876" y="340511"/>
            <a:ext cx="129657" cy="48073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10335533" y="292716"/>
            <a:ext cx="129657" cy="47795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10465190" y="246339"/>
            <a:ext cx="129658" cy="46377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10594848" y="202351"/>
            <a:ext cx="129657" cy="43988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10724505" y="161534"/>
            <a:ext cx="129657" cy="40817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10854162" y="124476"/>
            <a:ext cx="129657" cy="37058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10983819" y="91576"/>
            <a:ext cx="129657" cy="32900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11113476" y="63056"/>
            <a:ext cx="129658" cy="28520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11243134" y="38992"/>
            <a:ext cx="129657" cy="24064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11372791" y="19335"/>
            <a:ext cx="129657" cy="19657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11502448" y="3937"/>
            <a:ext cx="129657" cy="15398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11632105" y="-7415"/>
            <a:ext cx="129658" cy="11352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11761763" y="-14986"/>
            <a:ext cx="129657" cy="7571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11891420" y="-19069"/>
            <a:ext cx="129657" cy="4083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12021077" y="-19970"/>
            <a:ext cx="129657" cy="901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12150734" y="-19970"/>
            <a:ext cx="129658" cy="1968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7223760" y="170931"/>
            <a:ext cx="129657" cy="33477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7353417" y="204408"/>
            <a:ext cx="129657" cy="36062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7483074" y="240470"/>
            <a:ext cx="129657" cy="38370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7612731" y="278840"/>
            <a:ext cx="129657" cy="40261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7742388" y="319101"/>
            <a:ext cx="129658" cy="41578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7872046" y="360679"/>
            <a:ext cx="129657" cy="42159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8001703" y="402838"/>
            <a:ext cx="129657" cy="41846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8131360" y="444684"/>
            <a:ext cx="129657" cy="40502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8261017" y="485186"/>
            <a:ext cx="129658" cy="38025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8390675" y="523211"/>
            <a:ext cx="129657" cy="34359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8520332" y="557570"/>
            <a:ext cx="129657" cy="29513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8649989" y="587083"/>
            <a:ext cx="129657" cy="23558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8779646" y="610641"/>
            <a:ext cx="129658" cy="16638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8909304" y="627279"/>
            <a:ext cx="129657" cy="8959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9038961" y="636238"/>
            <a:ext cx="129657" cy="787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9168618" y="629446"/>
            <a:ext cx="129657" cy="7579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9298275" y="613630"/>
            <a:ext cx="129657" cy="15816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9427932" y="590025"/>
            <a:ext cx="129658" cy="23605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9557590" y="559377"/>
            <a:ext cx="129657" cy="30648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9687247" y="522683"/>
            <a:ext cx="129657" cy="36694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9816904" y="481134"/>
            <a:ext cx="129657" cy="41549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9946561" y="436048"/>
            <a:ext cx="129658" cy="45086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10076219" y="388792"/>
            <a:ext cx="129657" cy="47256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10205876" y="340718"/>
            <a:ext cx="129657" cy="48074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10335533" y="293094"/>
            <a:ext cx="129657" cy="47624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10465190" y="247055"/>
            <a:ext cx="129658" cy="46039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10594848" y="203567"/>
            <a:ext cx="129657" cy="43488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10724505" y="163404"/>
            <a:ext cx="129657" cy="40163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10854162" y="127143"/>
            <a:ext cx="129657" cy="36261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V="1">
            <a:off x="10983819" y="95167"/>
            <a:ext cx="129657" cy="31976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V="1">
            <a:off x="11113476" y="67684"/>
            <a:ext cx="129658" cy="27483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 flipV="1">
            <a:off x="11243134" y="44752"/>
            <a:ext cx="129657" cy="22932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 flipV="1">
            <a:off x="11372791" y="26300"/>
            <a:ext cx="129657" cy="18452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 flipV="1">
            <a:off x="11502448" y="12162"/>
            <a:ext cx="129657" cy="14138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 flipV="1">
            <a:off x="11632105" y="2100"/>
            <a:ext cx="129658" cy="10062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V="1">
            <a:off x="11761763" y="-4170"/>
            <a:ext cx="129657" cy="6270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V="1">
            <a:off x="11891420" y="-6965"/>
            <a:ext cx="129657" cy="2795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>
            <a:off x="12021077" y="-6965"/>
            <a:ext cx="129657" cy="351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12150734" y="-6614"/>
            <a:ext cx="129658" cy="3164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7223760" y="190776"/>
            <a:ext cx="129657" cy="33221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>
            <a:off x="7353417" y="223997"/>
            <a:ext cx="129657" cy="35641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7483074" y="259638"/>
            <a:ext cx="129657" cy="37790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7612731" y="297428"/>
            <a:ext cx="129657" cy="39533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7742388" y="336961"/>
            <a:ext cx="129658" cy="40716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7872046" y="377677"/>
            <a:ext cx="129657" cy="41175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>
            <a:off x="8001703" y="418852"/>
            <a:ext cx="129657" cy="40759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8131360" y="459611"/>
            <a:ext cx="129657" cy="39331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>
            <a:off x="8261017" y="498942"/>
            <a:ext cx="129658" cy="36789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>
            <a:off x="8390675" y="535731"/>
            <a:ext cx="129657" cy="33081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8520332" y="568812"/>
            <a:ext cx="129657" cy="28213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8649989" y="597025"/>
            <a:ext cx="129657" cy="22261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8779646" y="619286"/>
            <a:ext cx="129658" cy="15365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8909304" y="634651"/>
            <a:ext cx="129657" cy="7734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 flipV="1">
            <a:off x="9038961" y="642014"/>
            <a:ext cx="129657" cy="371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 flipV="1">
            <a:off x="9168618" y="633365"/>
            <a:ext cx="129657" cy="8649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V="1">
            <a:off x="9298275" y="616586"/>
            <a:ext cx="129657" cy="16779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 flipV="1">
            <a:off x="9427932" y="592141"/>
            <a:ext cx="129658" cy="24445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 flipV="1">
            <a:off x="9557590" y="560791"/>
            <a:ext cx="129657" cy="31350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 flipV="1">
            <a:off x="9687247" y="523545"/>
            <a:ext cx="129657" cy="37246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 flipV="1">
            <a:off x="9816904" y="481604"/>
            <a:ext cx="129657" cy="41941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 flipV="1">
            <a:off x="9946561" y="436292"/>
            <a:ext cx="129658" cy="45312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 flipV="1">
            <a:off x="10076219" y="388981"/>
            <a:ext cx="129657" cy="47311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 flipV="1">
            <a:off x="10205876" y="341023"/>
            <a:ext cx="129657" cy="47958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 flipV="1">
            <a:off x="10335533" y="293684"/>
            <a:ext cx="129657" cy="47339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 flipV="1">
            <a:off x="10465190" y="248095"/>
            <a:ext cx="129658" cy="45589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 flipV="1">
            <a:off x="10594848" y="205214"/>
            <a:ext cx="129657" cy="42881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 flipV="1">
            <a:off x="10724505" y="165803"/>
            <a:ext cx="129657" cy="39411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 flipV="1">
            <a:off x="10854162" y="130427"/>
            <a:ext cx="129657" cy="35376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 flipV="1">
            <a:off x="10983819" y="99454"/>
            <a:ext cx="129657" cy="30973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 flipV="1">
            <a:off x="11113476" y="73075"/>
            <a:ext cx="129658" cy="26379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 flipV="1">
            <a:off x="11243134" y="51327"/>
            <a:ext cx="129657" cy="21748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 flipV="1">
            <a:off x="11372791" y="34120"/>
            <a:ext cx="129657" cy="17207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 flipV="1">
            <a:off x="11502448" y="21266"/>
            <a:ext cx="129657" cy="12854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 flipV="1">
            <a:off x="11632105" y="12505"/>
            <a:ext cx="129658" cy="8761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 flipV="1">
            <a:off x="11761763" y="7528"/>
            <a:ext cx="129657" cy="4977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 flipV="1">
            <a:off x="11891420" y="5999"/>
            <a:ext cx="129657" cy="1529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>
            <a:off x="12021077" y="5999"/>
            <a:ext cx="129657" cy="1566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>
            <a:off x="12150734" y="7565"/>
            <a:ext cx="129658" cy="4307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>
            <a:off x="7223760" y="210465"/>
            <a:ext cx="129657" cy="32851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>
            <a:off x="7353417" y="243316"/>
            <a:ext cx="129657" cy="35110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>
            <a:off x="7483074" y="278426"/>
            <a:ext cx="129657" cy="37109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>
            <a:off x="7612731" y="315535"/>
            <a:ext cx="129657" cy="38712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>
            <a:off x="7742388" y="354247"/>
            <a:ext cx="129658" cy="39768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>
            <a:off x="7872046" y="394015"/>
            <a:ext cx="129657" cy="40119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>
            <a:off x="8001703" y="434134"/>
            <a:ext cx="129657" cy="39613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>
            <a:off x="8131360" y="473747"/>
            <a:ext cx="129657" cy="38113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>
            <a:off x="8261017" y="511860"/>
            <a:ext cx="129658" cy="35521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>
            <a:off x="8390675" y="547381"/>
            <a:ext cx="129657" cy="31786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>
            <a:off x="8520332" y="579167"/>
            <a:ext cx="129657" cy="26914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>
            <a:off x="8649989" y="606081"/>
            <a:ext cx="129657" cy="20978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>
            <a:off x="8779646" y="627059"/>
            <a:ext cx="129658" cy="14122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>
            <a:off x="8909304" y="641181"/>
            <a:ext cx="129657" cy="6553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 flipV="1">
            <a:off x="9038961" y="646263"/>
            <a:ext cx="129657" cy="1471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 flipV="1">
            <a:off x="9168618" y="636615"/>
            <a:ext cx="129657" cy="9648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 flipV="1">
            <a:off x="9298275" y="618954"/>
            <a:ext cx="129657" cy="17661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 flipV="1">
            <a:off x="9427932" y="593763"/>
            <a:ext cx="129658" cy="25191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 flipV="1">
            <a:off x="9557590" y="561812"/>
            <a:ext cx="129657" cy="31951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 flipV="1">
            <a:off x="9687247" y="524122"/>
            <a:ext cx="129657" cy="37690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 flipV="1">
            <a:off x="9816904" y="481902"/>
            <a:ext cx="129657" cy="42220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 flipV="1">
            <a:off x="9946561" y="436480"/>
            <a:ext cx="129658" cy="45422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 flipV="1">
            <a:off x="10076219" y="389231"/>
            <a:ext cx="129657" cy="47249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 flipV="1">
            <a:off x="10205876" y="341505"/>
            <a:ext cx="129657" cy="47726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 182"/>
          <p:cNvCxnSpPr/>
          <p:nvPr/>
        </p:nvCxnSpPr>
        <p:spPr>
          <a:xfrm flipV="1">
            <a:off x="10335533" y="294564"/>
            <a:ext cx="129657" cy="46941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 flipV="1">
            <a:off x="10465190" y="249533"/>
            <a:ext cx="129658" cy="45031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 184"/>
          <p:cNvCxnSpPr/>
          <p:nvPr/>
        </p:nvCxnSpPr>
        <p:spPr>
          <a:xfrm flipV="1">
            <a:off x="10594848" y="207359"/>
            <a:ext cx="129657" cy="42174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 flipV="1">
            <a:off x="10724505" y="168793"/>
            <a:ext cx="129657" cy="38566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 flipV="1">
            <a:off x="10854162" y="134385"/>
            <a:ext cx="129657" cy="34408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 flipV="1">
            <a:off x="10983819" y="104485"/>
            <a:ext cx="129657" cy="29900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 188"/>
          <p:cNvCxnSpPr/>
          <p:nvPr/>
        </p:nvCxnSpPr>
        <p:spPr>
          <a:xfrm flipV="1">
            <a:off x="11113476" y="79267"/>
            <a:ext cx="129658" cy="25218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 189"/>
          <p:cNvCxnSpPr/>
          <p:nvPr/>
        </p:nvCxnSpPr>
        <p:spPr>
          <a:xfrm flipV="1">
            <a:off x="11243134" y="58747"/>
            <a:ext cx="129657" cy="20520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 190"/>
          <p:cNvCxnSpPr/>
          <p:nvPr/>
        </p:nvCxnSpPr>
        <p:spPr>
          <a:xfrm flipV="1">
            <a:off x="11372791" y="42813"/>
            <a:ext cx="129657" cy="15934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 191"/>
          <p:cNvCxnSpPr/>
          <p:nvPr/>
        </p:nvCxnSpPr>
        <p:spPr>
          <a:xfrm flipV="1">
            <a:off x="11502448" y="31257"/>
            <a:ext cx="129657" cy="11556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 flipV="1">
            <a:off x="11632105" y="23794"/>
            <a:ext cx="129658" cy="7463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 flipV="1">
            <a:off x="11761763" y="20095"/>
            <a:ext cx="129657" cy="3699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 flipV="1">
            <a:off x="11891420" y="19799"/>
            <a:ext cx="129657" cy="296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>
            <a:off x="12021077" y="19799"/>
            <a:ext cx="129657" cy="2735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>
            <a:off x="12150734" y="22534"/>
            <a:ext cx="129658" cy="5391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>
            <a:off x="7223760" y="229918"/>
            <a:ext cx="129657" cy="32372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>
            <a:off x="7353417" y="262290"/>
            <a:ext cx="129657" cy="34476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 199"/>
          <p:cNvCxnSpPr/>
          <p:nvPr/>
        </p:nvCxnSpPr>
        <p:spPr>
          <a:xfrm>
            <a:off x="7483074" y="296766"/>
            <a:ext cx="129657" cy="36329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 200"/>
          <p:cNvCxnSpPr/>
          <p:nvPr/>
        </p:nvCxnSpPr>
        <p:spPr>
          <a:xfrm>
            <a:off x="7612731" y="333095"/>
            <a:ext cx="129657" cy="37803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Connector 201"/>
          <p:cNvCxnSpPr/>
          <p:nvPr/>
        </p:nvCxnSpPr>
        <p:spPr>
          <a:xfrm>
            <a:off x="7742388" y="370898"/>
            <a:ext cx="129658" cy="38745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Connector 202"/>
          <p:cNvCxnSpPr/>
          <p:nvPr/>
        </p:nvCxnSpPr>
        <p:spPr>
          <a:xfrm>
            <a:off x="7872046" y="409643"/>
            <a:ext cx="129657" cy="38999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Connector 203"/>
          <p:cNvCxnSpPr/>
          <p:nvPr/>
        </p:nvCxnSpPr>
        <p:spPr>
          <a:xfrm>
            <a:off x="8001703" y="448642"/>
            <a:ext cx="129657" cy="38415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Connector 204"/>
          <p:cNvCxnSpPr/>
          <p:nvPr/>
        </p:nvCxnSpPr>
        <p:spPr>
          <a:xfrm>
            <a:off x="8131360" y="487057"/>
            <a:ext cx="129657" cy="36859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Connector 205"/>
          <p:cNvCxnSpPr/>
          <p:nvPr/>
        </p:nvCxnSpPr>
        <p:spPr>
          <a:xfrm>
            <a:off x="8261017" y="523916"/>
            <a:ext cx="129658" cy="34233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Connector 206"/>
          <p:cNvCxnSpPr/>
          <p:nvPr/>
        </p:nvCxnSpPr>
        <p:spPr>
          <a:xfrm>
            <a:off x="8390675" y="558149"/>
            <a:ext cx="129657" cy="30486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Connector 207"/>
          <p:cNvCxnSpPr/>
          <p:nvPr/>
        </p:nvCxnSpPr>
        <p:spPr>
          <a:xfrm>
            <a:off x="8520332" y="588635"/>
            <a:ext cx="129657" cy="25623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 208"/>
          <p:cNvCxnSpPr/>
          <p:nvPr/>
        </p:nvCxnSpPr>
        <p:spPr>
          <a:xfrm>
            <a:off x="8649989" y="614258"/>
            <a:ext cx="129657" cy="19720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Connector 209"/>
          <p:cNvCxnSpPr/>
          <p:nvPr/>
        </p:nvCxnSpPr>
        <p:spPr>
          <a:xfrm>
            <a:off x="8779646" y="633978"/>
            <a:ext cx="129658" cy="12919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Connector 210"/>
          <p:cNvCxnSpPr/>
          <p:nvPr/>
        </p:nvCxnSpPr>
        <p:spPr>
          <a:xfrm>
            <a:off x="8909304" y="646897"/>
            <a:ext cx="129657" cy="5424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Connector 211"/>
          <p:cNvCxnSpPr/>
          <p:nvPr/>
        </p:nvCxnSpPr>
        <p:spPr>
          <a:xfrm flipV="1">
            <a:off x="9038961" y="649817"/>
            <a:ext cx="129657" cy="2504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Connector 212"/>
          <p:cNvCxnSpPr/>
          <p:nvPr/>
        </p:nvCxnSpPr>
        <p:spPr>
          <a:xfrm flipV="1">
            <a:off x="9168618" y="639249"/>
            <a:ext cx="129657" cy="10568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Connector 213"/>
          <p:cNvCxnSpPr/>
          <p:nvPr/>
        </p:nvCxnSpPr>
        <p:spPr>
          <a:xfrm flipV="1">
            <a:off x="9298275" y="620798"/>
            <a:ext cx="129657" cy="18451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Connector 214"/>
          <p:cNvCxnSpPr/>
          <p:nvPr/>
        </p:nvCxnSpPr>
        <p:spPr>
          <a:xfrm flipV="1">
            <a:off x="9427932" y="594957"/>
            <a:ext cx="129658" cy="25841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Connector 215"/>
          <p:cNvCxnSpPr/>
          <p:nvPr/>
        </p:nvCxnSpPr>
        <p:spPr>
          <a:xfrm flipV="1">
            <a:off x="9557590" y="562512"/>
            <a:ext cx="129657" cy="32445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" name="Connector 216"/>
          <p:cNvCxnSpPr/>
          <p:nvPr/>
        </p:nvCxnSpPr>
        <p:spPr>
          <a:xfrm flipV="1">
            <a:off x="9687247" y="524490"/>
            <a:ext cx="129657" cy="38022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Connector 217"/>
          <p:cNvCxnSpPr/>
          <p:nvPr/>
        </p:nvCxnSpPr>
        <p:spPr>
          <a:xfrm flipV="1">
            <a:off x="9816904" y="482106"/>
            <a:ext cx="129657" cy="42384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Connector 218"/>
          <p:cNvCxnSpPr/>
          <p:nvPr/>
        </p:nvCxnSpPr>
        <p:spPr>
          <a:xfrm flipV="1">
            <a:off x="9946561" y="436691"/>
            <a:ext cx="129658" cy="45415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Connector 219"/>
          <p:cNvCxnSpPr/>
          <p:nvPr/>
        </p:nvCxnSpPr>
        <p:spPr>
          <a:xfrm flipV="1">
            <a:off x="10076219" y="389620"/>
            <a:ext cx="129657" cy="47071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Connector 220"/>
          <p:cNvCxnSpPr/>
          <p:nvPr/>
        </p:nvCxnSpPr>
        <p:spPr>
          <a:xfrm flipV="1">
            <a:off x="10205876" y="342241"/>
            <a:ext cx="129657" cy="47379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Connector 221"/>
          <p:cNvCxnSpPr/>
          <p:nvPr/>
        </p:nvCxnSpPr>
        <p:spPr>
          <a:xfrm flipV="1">
            <a:off x="10335533" y="295808"/>
            <a:ext cx="129657" cy="46433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Connector 222"/>
          <p:cNvCxnSpPr/>
          <p:nvPr/>
        </p:nvCxnSpPr>
        <p:spPr>
          <a:xfrm flipV="1">
            <a:off x="10465190" y="251438"/>
            <a:ext cx="129658" cy="44370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Connector 223"/>
          <p:cNvCxnSpPr/>
          <p:nvPr/>
        </p:nvCxnSpPr>
        <p:spPr>
          <a:xfrm flipV="1">
            <a:off x="10594848" y="210066"/>
            <a:ext cx="129657" cy="41372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Connector 224"/>
          <p:cNvCxnSpPr/>
          <p:nvPr/>
        </p:nvCxnSpPr>
        <p:spPr>
          <a:xfrm flipV="1">
            <a:off x="10724505" y="172431"/>
            <a:ext cx="129657" cy="37635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Connector 225"/>
          <p:cNvCxnSpPr/>
          <p:nvPr/>
        </p:nvCxnSpPr>
        <p:spPr>
          <a:xfrm flipV="1">
            <a:off x="10854162" y="139065"/>
            <a:ext cx="129657" cy="33366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Connector 226"/>
          <p:cNvCxnSpPr/>
          <p:nvPr/>
        </p:nvCxnSpPr>
        <p:spPr>
          <a:xfrm flipV="1">
            <a:off x="10983819" y="110300"/>
            <a:ext cx="129657" cy="28765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" name="Connector 227"/>
          <p:cNvCxnSpPr/>
          <p:nvPr/>
        </p:nvCxnSpPr>
        <p:spPr>
          <a:xfrm flipV="1">
            <a:off x="11113476" y="86291"/>
            <a:ext cx="129658" cy="24009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Connector 228"/>
          <p:cNvCxnSpPr/>
          <p:nvPr/>
        </p:nvCxnSpPr>
        <p:spPr>
          <a:xfrm flipV="1">
            <a:off x="11243134" y="67032"/>
            <a:ext cx="129657" cy="19259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Connector 229"/>
          <p:cNvCxnSpPr/>
          <p:nvPr/>
        </p:nvCxnSpPr>
        <p:spPr>
          <a:xfrm flipV="1">
            <a:off x="11372791" y="52391"/>
            <a:ext cx="129657" cy="14641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Connector 230"/>
          <p:cNvCxnSpPr/>
          <p:nvPr/>
        </p:nvCxnSpPr>
        <p:spPr>
          <a:xfrm flipV="1">
            <a:off x="11502448" y="42135"/>
            <a:ext cx="129657" cy="10256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Connector 231"/>
          <p:cNvCxnSpPr/>
          <p:nvPr/>
        </p:nvCxnSpPr>
        <p:spPr>
          <a:xfrm flipV="1">
            <a:off x="11632105" y="35959"/>
            <a:ext cx="129658" cy="6176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Connector 232"/>
          <p:cNvCxnSpPr/>
          <p:nvPr/>
        </p:nvCxnSpPr>
        <p:spPr>
          <a:xfrm flipV="1">
            <a:off x="11761763" y="33510"/>
            <a:ext cx="129657" cy="2449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Connector 233"/>
          <p:cNvCxnSpPr/>
          <p:nvPr/>
        </p:nvCxnSpPr>
        <p:spPr>
          <a:xfrm>
            <a:off x="11891420" y="33510"/>
            <a:ext cx="129657" cy="896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Connector 234"/>
          <p:cNvCxnSpPr/>
          <p:nvPr/>
        </p:nvCxnSpPr>
        <p:spPr>
          <a:xfrm>
            <a:off x="12021077" y="34406"/>
            <a:ext cx="129657" cy="3847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Connector 235"/>
          <p:cNvCxnSpPr/>
          <p:nvPr/>
        </p:nvCxnSpPr>
        <p:spPr>
          <a:xfrm>
            <a:off x="12150734" y="38253"/>
            <a:ext cx="129658" cy="6405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" name="Connector 236"/>
          <p:cNvCxnSpPr/>
          <p:nvPr/>
        </p:nvCxnSpPr>
        <p:spPr>
          <a:xfrm>
            <a:off x="7223760" y="249062"/>
            <a:ext cx="129657" cy="31785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Connector 237"/>
          <p:cNvCxnSpPr/>
          <p:nvPr/>
        </p:nvCxnSpPr>
        <p:spPr>
          <a:xfrm>
            <a:off x="7353417" y="280847"/>
            <a:ext cx="129657" cy="33741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9" name="Connector 238"/>
          <p:cNvCxnSpPr/>
          <p:nvPr/>
        </p:nvCxnSpPr>
        <p:spPr>
          <a:xfrm>
            <a:off x="7483074" y="314588"/>
            <a:ext cx="129657" cy="35461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0" name="Connector 239"/>
          <p:cNvCxnSpPr/>
          <p:nvPr/>
        </p:nvCxnSpPr>
        <p:spPr>
          <a:xfrm>
            <a:off x="7612731" y="350049"/>
            <a:ext cx="129657" cy="36814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1" name="Connector 240"/>
          <p:cNvCxnSpPr/>
          <p:nvPr/>
        </p:nvCxnSpPr>
        <p:spPr>
          <a:xfrm>
            <a:off x="7742388" y="386863"/>
            <a:ext cx="129658" cy="37653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2" name="Connector 241"/>
          <p:cNvCxnSpPr/>
          <p:nvPr/>
        </p:nvCxnSpPr>
        <p:spPr>
          <a:xfrm>
            <a:off x="7872046" y="424516"/>
            <a:ext cx="129657" cy="37824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3" name="Connector 242"/>
          <p:cNvCxnSpPr/>
          <p:nvPr/>
        </p:nvCxnSpPr>
        <p:spPr>
          <a:xfrm>
            <a:off x="8001703" y="462340"/>
            <a:ext cx="129657" cy="37177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4" name="Connector 243"/>
          <p:cNvCxnSpPr/>
          <p:nvPr/>
        </p:nvCxnSpPr>
        <p:spPr>
          <a:xfrm>
            <a:off x="8131360" y="499517"/>
            <a:ext cx="129657" cy="35579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5" name="Connector 244"/>
          <p:cNvCxnSpPr/>
          <p:nvPr/>
        </p:nvCxnSpPr>
        <p:spPr>
          <a:xfrm>
            <a:off x="8261017" y="535096"/>
            <a:ext cx="129658" cy="32934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Connector 245"/>
          <p:cNvCxnSpPr/>
          <p:nvPr/>
        </p:nvCxnSpPr>
        <p:spPr>
          <a:xfrm>
            <a:off x="8390675" y="568030"/>
            <a:ext cx="129657" cy="29189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Connector 246"/>
          <p:cNvCxnSpPr/>
          <p:nvPr/>
        </p:nvCxnSpPr>
        <p:spPr>
          <a:xfrm>
            <a:off x="8520332" y="597219"/>
            <a:ext cx="129657" cy="24352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" name="Connector 247"/>
          <p:cNvCxnSpPr/>
          <p:nvPr/>
        </p:nvCxnSpPr>
        <p:spPr>
          <a:xfrm>
            <a:off x="8649989" y="621571"/>
            <a:ext cx="129657" cy="18497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9" name="Connector 248"/>
          <p:cNvCxnSpPr/>
          <p:nvPr/>
        </p:nvCxnSpPr>
        <p:spPr>
          <a:xfrm>
            <a:off x="8779646" y="640068"/>
            <a:ext cx="129658" cy="11765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Connector 249"/>
          <p:cNvCxnSpPr/>
          <p:nvPr/>
        </p:nvCxnSpPr>
        <p:spPr>
          <a:xfrm>
            <a:off x="8909304" y="651833"/>
            <a:ext cx="129657" cy="4359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" name="Connector 250"/>
          <p:cNvCxnSpPr/>
          <p:nvPr/>
        </p:nvCxnSpPr>
        <p:spPr>
          <a:xfrm flipV="1">
            <a:off x="9038961" y="652730"/>
            <a:ext cx="129657" cy="3462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" name="Connector 251"/>
          <p:cNvCxnSpPr/>
          <p:nvPr/>
        </p:nvCxnSpPr>
        <p:spPr>
          <a:xfrm flipV="1">
            <a:off x="9168618" y="641328"/>
            <a:ext cx="129657" cy="11402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3" name="Connector 252"/>
          <p:cNvCxnSpPr/>
          <p:nvPr/>
        </p:nvCxnSpPr>
        <p:spPr>
          <a:xfrm flipV="1">
            <a:off x="9298275" y="622182"/>
            <a:ext cx="129657" cy="19146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4" name="Connector 253"/>
          <p:cNvCxnSpPr/>
          <p:nvPr/>
        </p:nvCxnSpPr>
        <p:spPr>
          <a:xfrm flipV="1">
            <a:off x="9427932" y="595797"/>
            <a:ext cx="129658" cy="26385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5" name="Connector 254"/>
          <p:cNvCxnSpPr/>
          <p:nvPr/>
        </p:nvCxnSpPr>
        <p:spPr>
          <a:xfrm flipV="1">
            <a:off x="9557590" y="562967"/>
            <a:ext cx="129657" cy="32830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Connector 255"/>
          <p:cNvCxnSpPr/>
          <p:nvPr/>
        </p:nvCxnSpPr>
        <p:spPr>
          <a:xfrm flipV="1">
            <a:off x="9687247" y="524727"/>
            <a:ext cx="129657" cy="38240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7" name="Connector 256"/>
          <p:cNvCxnSpPr/>
          <p:nvPr/>
        </p:nvCxnSpPr>
        <p:spPr>
          <a:xfrm flipV="1">
            <a:off x="9816904" y="482296"/>
            <a:ext cx="129657" cy="42431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" name="Connector 257"/>
          <p:cNvCxnSpPr/>
          <p:nvPr/>
        </p:nvCxnSpPr>
        <p:spPr>
          <a:xfrm flipV="1">
            <a:off x="9946561" y="437006"/>
            <a:ext cx="129658" cy="45290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" name="Connector 258"/>
          <p:cNvCxnSpPr/>
          <p:nvPr/>
        </p:nvCxnSpPr>
        <p:spPr>
          <a:xfrm flipV="1">
            <a:off x="10076219" y="390229"/>
            <a:ext cx="129657" cy="46777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0" name="Connector 259"/>
          <p:cNvCxnSpPr/>
          <p:nvPr/>
        </p:nvCxnSpPr>
        <p:spPr>
          <a:xfrm flipV="1">
            <a:off x="10205876" y="343306"/>
            <a:ext cx="129657" cy="46923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" name="Connector 260"/>
          <p:cNvCxnSpPr/>
          <p:nvPr/>
        </p:nvCxnSpPr>
        <p:spPr>
          <a:xfrm flipV="1">
            <a:off x="10335533" y="297487"/>
            <a:ext cx="129657" cy="45819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Connector 261"/>
          <p:cNvCxnSpPr/>
          <p:nvPr/>
        </p:nvCxnSpPr>
        <p:spPr>
          <a:xfrm flipV="1">
            <a:off x="10465190" y="253876"/>
            <a:ext cx="129658" cy="43611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Connector 262"/>
          <p:cNvCxnSpPr/>
          <p:nvPr/>
        </p:nvCxnSpPr>
        <p:spPr>
          <a:xfrm flipV="1">
            <a:off x="10594848" y="213396"/>
            <a:ext cx="129657" cy="40480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" name="Connector 263"/>
          <p:cNvCxnSpPr/>
          <p:nvPr/>
        </p:nvCxnSpPr>
        <p:spPr>
          <a:xfrm flipV="1">
            <a:off x="10724505" y="176769"/>
            <a:ext cx="129657" cy="36627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5" name="Connector 264"/>
          <p:cNvCxnSpPr/>
          <p:nvPr/>
        </p:nvCxnSpPr>
        <p:spPr>
          <a:xfrm flipV="1">
            <a:off x="10854162" y="144510"/>
            <a:ext cx="129657" cy="32259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6" name="Connector 265"/>
          <p:cNvCxnSpPr/>
          <p:nvPr/>
        </p:nvCxnSpPr>
        <p:spPr>
          <a:xfrm flipV="1">
            <a:off x="10983819" y="116934"/>
            <a:ext cx="129657" cy="27576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7" name="Connector 266"/>
          <p:cNvCxnSpPr/>
          <p:nvPr/>
        </p:nvCxnSpPr>
        <p:spPr>
          <a:xfrm flipV="1">
            <a:off x="11113476" y="94171"/>
            <a:ext cx="129658" cy="22763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8" name="Connector 267"/>
          <p:cNvCxnSpPr/>
          <p:nvPr/>
        </p:nvCxnSpPr>
        <p:spPr>
          <a:xfrm flipV="1">
            <a:off x="11243134" y="76198"/>
            <a:ext cx="129657" cy="17973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9" name="Connector 268"/>
          <p:cNvCxnSpPr/>
          <p:nvPr/>
        </p:nvCxnSpPr>
        <p:spPr>
          <a:xfrm flipV="1">
            <a:off x="11372791" y="62857"/>
            <a:ext cx="129657" cy="13341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0" name="Connector 269"/>
          <p:cNvCxnSpPr/>
          <p:nvPr/>
        </p:nvCxnSpPr>
        <p:spPr>
          <a:xfrm flipV="1">
            <a:off x="11502448" y="53895"/>
            <a:ext cx="129657" cy="8962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1" name="Connector 270"/>
          <p:cNvCxnSpPr/>
          <p:nvPr/>
        </p:nvCxnSpPr>
        <p:spPr>
          <a:xfrm flipV="1">
            <a:off x="11632105" y="48982"/>
            <a:ext cx="129658" cy="4913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2" name="Connector 271"/>
          <p:cNvCxnSpPr/>
          <p:nvPr/>
        </p:nvCxnSpPr>
        <p:spPr>
          <a:xfrm flipV="1">
            <a:off x="11761763" y="47745"/>
            <a:ext cx="129657" cy="1237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3" name="Connector 272"/>
          <p:cNvCxnSpPr/>
          <p:nvPr/>
        </p:nvCxnSpPr>
        <p:spPr>
          <a:xfrm>
            <a:off x="11891420" y="47745"/>
            <a:ext cx="129657" cy="2036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4" name="Connector 273"/>
          <p:cNvCxnSpPr/>
          <p:nvPr/>
        </p:nvCxnSpPr>
        <p:spPr>
          <a:xfrm>
            <a:off x="12021077" y="49781"/>
            <a:ext cx="129657" cy="4895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5" name="Connector 274"/>
          <p:cNvCxnSpPr/>
          <p:nvPr/>
        </p:nvCxnSpPr>
        <p:spPr>
          <a:xfrm>
            <a:off x="12150734" y="54676"/>
            <a:ext cx="129658" cy="7342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8" name="TextBox 277"/>
          <p:cNvSpPr txBox="1"/>
          <p:nvPr/>
        </p:nvSpPr>
        <p:spPr>
          <a:xfrm>
            <a:off x="11228832" y="73152"/>
            <a:ext cx="713232" cy="310896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/>
            <a:r>
              <a:rPr sz="1300" b="1">
                <a:solidFill>
                  <a:srgbClr val="0556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</a:t>
            </a:r>
            <a:r>
              <a:rPr sz="1300" b="0">
                <a:solidFill>
                  <a:srgbClr val="526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16</a:t>
            </a:r>
            <a:endParaRPr sz="1300" b="0">
              <a:solidFill>
                <a:srgbClr val="5265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0" name="TextBox 279"/>
          <p:cNvSpPr txBox="1"/>
          <p:nvPr/>
        </p:nvSpPr>
        <p:spPr>
          <a:xfrm>
            <a:off x="512064" y="493776"/>
            <a:ext cx="10515600" cy="502920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C20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成果去重与实体合并</a:t>
            </a:r>
            <a:endParaRPr sz="3000" b="1">
              <a:solidFill>
                <a:srgbClr val="0C205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1" name="TextBox 280"/>
          <p:cNvSpPr txBox="1"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B4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强标识优先、模糊规则后置，疑似重复进入人工确认</a:t>
            </a:r>
            <a:endParaRPr sz="1800" b="0">
              <a:solidFill>
                <a:srgbClr val="2B40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82" name="Connector 281"/>
          <p:cNvCxnSpPr/>
          <p:nvPr/>
        </p:nvCxnSpPr>
        <p:spPr>
          <a:xfrm>
            <a:off x="5193792" y="2002536"/>
            <a:ext cx="310896" cy="0"/>
          </a:xfrm>
          <a:prstGeom prst="line">
            <a:avLst/>
          </a:prstGeom>
          <a:ln w="25400">
            <a:solidFill>
              <a:srgbClr val="88BA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3" name="Connector 282"/>
          <p:cNvCxnSpPr/>
          <p:nvPr/>
        </p:nvCxnSpPr>
        <p:spPr>
          <a:xfrm>
            <a:off x="5193792" y="3182112"/>
            <a:ext cx="310896" cy="0"/>
          </a:xfrm>
          <a:prstGeom prst="line">
            <a:avLst/>
          </a:prstGeom>
          <a:ln w="25400">
            <a:solidFill>
              <a:srgbClr val="88BA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4" name="Connector 283"/>
          <p:cNvCxnSpPr/>
          <p:nvPr/>
        </p:nvCxnSpPr>
        <p:spPr>
          <a:xfrm>
            <a:off x="5193792" y="4361688"/>
            <a:ext cx="310896" cy="0"/>
          </a:xfrm>
          <a:prstGeom prst="line">
            <a:avLst/>
          </a:prstGeom>
          <a:ln w="25400">
            <a:solidFill>
              <a:srgbClr val="88BA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5" name="Connector 284"/>
          <p:cNvCxnSpPr/>
          <p:nvPr/>
        </p:nvCxnSpPr>
        <p:spPr>
          <a:xfrm>
            <a:off x="5193792" y="5541264"/>
            <a:ext cx="310896" cy="0"/>
          </a:xfrm>
          <a:prstGeom prst="line">
            <a:avLst/>
          </a:prstGeom>
          <a:ln w="25400">
            <a:solidFill>
              <a:srgbClr val="88BA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6" name="Connector 285"/>
          <p:cNvCxnSpPr/>
          <p:nvPr/>
        </p:nvCxnSpPr>
        <p:spPr>
          <a:xfrm>
            <a:off x="5504688" y="2002536"/>
            <a:ext cx="0" cy="3538728"/>
          </a:xfrm>
          <a:prstGeom prst="line">
            <a:avLst/>
          </a:prstGeom>
          <a:ln w="20955">
            <a:solidFill>
              <a:srgbClr val="88BA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7" name="Connector 286"/>
          <p:cNvCxnSpPr/>
          <p:nvPr/>
        </p:nvCxnSpPr>
        <p:spPr>
          <a:xfrm>
            <a:off x="5504688" y="3703320"/>
            <a:ext cx="365760" cy="0"/>
          </a:xfrm>
          <a:prstGeom prst="line">
            <a:avLst/>
          </a:prstGeom>
          <a:ln w="27940">
            <a:solidFill>
              <a:srgbClr val="0556C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8" name="Connector 287"/>
          <p:cNvCxnSpPr/>
          <p:nvPr/>
        </p:nvCxnSpPr>
        <p:spPr>
          <a:xfrm>
            <a:off x="8485632" y="3703320"/>
            <a:ext cx="301752" cy="0"/>
          </a:xfrm>
          <a:prstGeom prst="line">
            <a:avLst/>
          </a:prstGeom>
          <a:ln w="27940">
            <a:solidFill>
              <a:srgbClr val="0556C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9" name="Rounded Rectangle 288"/>
          <p:cNvSpPr/>
          <p:nvPr/>
        </p:nvSpPr>
        <p:spPr>
          <a:xfrm>
            <a:off x="356616" y="1472184"/>
            <a:ext cx="4882896" cy="1051560"/>
          </a:xfrm>
          <a:prstGeom prst="roundRect">
            <a:avLst>
              <a:gd name="adj" fmla="val 14000"/>
            </a:avLst>
          </a:prstGeom>
          <a:solidFill>
            <a:srgbClr val="E9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Oval 289"/>
          <p:cNvSpPr/>
          <p:nvPr/>
        </p:nvSpPr>
        <p:spPr>
          <a:xfrm>
            <a:off x="521207" y="1636776"/>
            <a:ext cx="676656" cy="676656"/>
          </a:xfrm>
          <a:prstGeom prst="ellipse">
            <a:avLst/>
          </a:prstGeom>
          <a:solidFill>
            <a:srgbClr val="EA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Rectangle 290"/>
          <p:cNvSpPr/>
          <p:nvPr/>
        </p:nvSpPr>
        <p:spPr>
          <a:xfrm>
            <a:off x="721498" y="1754243"/>
            <a:ext cx="262271" cy="432518"/>
          </a:xfrm>
          <a:prstGeom prst="rect">
            <a:avLst/>
          </a:prstGeom>
          <a:noFill/>
          <a:ln w="26670">
            <a:solidFill>
              <a:srgbClr val="055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2" name="Connector 291"/>
          <p:cNvCxnSpPr/>
          <p:nvPr/>
        </p:nvCxnSpPr>
        <p:spPr>
          <a:xfrm>
            <a:off x="776713" y="1873876"/>
            <a:ext cx="147240" cy="0"/>
          </a:xfrm>
          <a:prstGeom prst="line">
            <a:avLst/>
          </a:prstGeom>
          <a:ln w="21590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3" name="Connector 292"/>
          <p:cNvCxnSpPr/>
          <p:nvPr/>
        </p:nvCxnSpPr>
        <p:spPr>
          <a:xfrm>
            <a:off x="776713" y="1988907"/>
            <a:ext cx="147240" cy="0"/>
          </a:xfrm>
          <a:prstGeom prst="line">
            <a:avLst/>
          </a:prstGeom>
          <a:ln w="21590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4" name="Connector 293"/>
          <p:cNvCxnSpPr/>
          <p:nvPr/>
        </p:nvCxnSpPr>
        <p:spPr>
          <a:xfrm>
            <a:off x="776713" y="2094736"/>
            <a:ext cx="147240" cy="0"/>
          </a:xfrm>
          <a:prstGeom prst="line">
            <a:avLst/>
          </a:prstGeom>
          <a:ln w="21590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5" name="TextBox 294"/>
          <p:cNvSpPr txBox="1"/>
          <p:nvPr/>
        </p:nvSpPr>
        <p:spPr>
          <a:xfrm>
            <a:off x="1444752" y="1545336"/>
            <a:ext cx="3474720" cy="356616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556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论文</a:t>
            </a:r>
            <a:endParaRPr sz="2200" b="1">
              <a:solidFill>
                <a:srgbClr val="0556C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6" name="TextBox 295"/>
          <p:cNvSpPr txBox="1"/>
          <p:nvPr/>
        </p:nvSpPr>
        <p:spPr>
          <a:xfrm>
            <a:off x="1444752" y="1901952"/>
            <a:ext cx="3566160" cy="310896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30" b="1">
                <a:solidFill>
                  <a:srgbClr val="0C20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 DOI：规范化后精确匹配</a:t>
            </a:r>
            <a:endParaRPr sz="1630" b="1">
              <a:solidFill>
                <a:srgbClr val="0C205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7" name="TextBox 296"/>
          <p:cNvSpPr txBox="1"/>
          <p:nvPr/>
        </p:nvSpPr>
        <p:spPr>
          <a:xfrm>
            <a:off x="1444752" y="2212848"/>
            <a:ext cx="3566160" cy="228600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10" b="1">
                <a:solidFill>
                  <a:srgbClr val="2B4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无 DOI：标题 + 作者 + 年份 + 期刊</a:t>
            </a:r>
            <a:endParaRPr sz="1410" b="1">
              <a:solidFill>
                <a:srgbClr val="2B40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8" name="Rounded Rectangle 297"/>
          <p:cNvSpPr/>
          <p:nvPr/>
        </p:nvSpPr>
        <p:spPr>
          <a:xfrm>
            <a:off x="356616" y="2633472"/>
            <a:ext cx="4882896" cy="1051560"/>
          </a:xfrm>
          <a:prstGeom prst="roundRect">
            <a:avLst>
              <a:gd name="adj" fmla="val 14000"/>
            </a:avLst>
          </a:prstGeom>
          <a:solidFill>
            <a:srgbClr val="FFF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Oval 298"/>
          <p:cNvSpPr/>
          <p:nvPr/>
        </p:nvSpPr>
        <p:spPr>
          <a:xfrm>
            <a:off x="521207" y="2798063"/>
            <a:ext cx="676656" cy="676656"/>
          </a:xfrm>
          <a:prstGeom prst="ellipse">
            <a:avLst/>
          </a:prstGeom>
          <a:solidFill>
            <a:srgbClr val="FFF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Oval 299"/>
          <p:cNvSpPr/>
          <p:nvPr/>
        </p:nvSpPr>
        <p:spPr>
          <a:xfrm>
            <a:off x="675485" y="2823506"/>
            <a:ext cx="368100" cy="368100"/>
          </a:xfrm>
          <a:prstGeom prst="ellipse">
            <a:avLst/>
          </a:prstGeom>
          <a:noFill/>
          <a:ln w="26670">
            <a:solidFill>
              <a:srgbClr val="F47B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Oval 300"/>
          <p:cNvSpPr/>
          <p:nvPr/>
        </p:nvSpPr>
        <p:spPr>
          <a:xfrm>
            <a:off x="675485" y="3090379"/>
            <a:ext cx="368100" cy="368100"/>
          </a:xfrm>
          <a:prstGeom prst="ellipse">
            <a:avLst/>
          </a:prstGeom>
          <a:noFill/>
          <a:ln w="26670">
            <a:solidFill>
              <a:srgbClr val="F47B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2" name="Connector 301"/>
          <p:cNvCxnSpPr/>
          <p:nvPr/>
        </p:nvCxnSpPr>
        <p:spPr>
          <a:xfrm>
            <a:off x="675485" y="3007556"/>
            <a:ext cx="0" cy="266873"/>
          </a:xfrm>
          <a:prstGeom prst="line">
            <a:avLst/>
          </a:prstGeom>
          <a:ln w="26670">
            <a:solidFill>
              <a:srgbClr val="F47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3" name="Connector 302"/>
          <p:cNvCxnSpPr/>
          <p:nvPr/>
        </p:nvCxnSpPr>
        <p:spPr>
          <a:xfrm>
            <a:off x="1043586" y="3007556"/>
            <a:ext cx="0" cy="266873"/>
          </a:xfrm>
          <a:prstGeom prst="line">
            <a:avLst/>
          </a:prstGeom>
          <a:ln w="26670">
            <a:solidFill>
              <a:srgbClr val="F47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4" name="Oval 303"/>
          <p:cNvSpPr/>
          <p:nvPr/>
        </p:nvSpPr>
        <p:spPr>
          <a:xfrm>
            <a:off x="675485" y="2966145"/>
            <a:ext cx="368100" cy="368100"/>
          </a:xfrm>
          <a:prstGeom prst="ellipse">
            <a:avLst/>
          </a:prstGeom>
          <a:noFill/>
          <a:ln w="26670">
            <a:solidFill>
              <a:srgbClr val="F47B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TextBox 304"/>
          <p:cNvSpPr txBox="1"/>
          <p:nvPr/>
        </p:nvSpPr>
        <p:spPr>
          <a:xfrm>
            <a:off x="1444752" y="2706624"/>
            <a:ext cx="3474720" cy="356616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47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专利</a:t>
            </a:r>
            <a:endParaRPr sz="2200" b="1">
              <a:solidFill>
                <a:srgbClr val="F47B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6" name="TextBox 305"/>
          <p:cNvSpPr txBox="1"/>
          <p:nvPr/>
        </p:nvSpPr>
        <p:spPr>
          <a:xfrm>
            <a:off x="1444752" y="3063239"/>
            <a:ext cx="3566160" cy="310896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30" b="1">
                <a:solidFill>
                  <a:srgbClr val="0C20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国家 / 地区 + 申请号</a:t>
            </a:r>
            <a:endParaRPr sz="1630" b="1">
              <a:solidFill>
                <a:srgbClr val="0C205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7" name="TextBox 306"/>
          <p:cNvSpPr txBox="1"/>
          <p:nvPr/>
        </p:nvSpPr>
        <p:spPr>
          <a:xfrm>
            <a:off x="1444752" y="3374136"/>
            <a:ext cx="3566160" cy="228600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10" b="1">
                <a:solidFill>
                  <a:srgbClr val="2B4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区分申请号、公开号、授权公告号</a:t>
            </a:r>
            <a:endParaRPr sz="1410" b="1">
              <a:solidFill>
                <a:srgbClr val="2B40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8" name="Rounded Rectangle 307"/>
          <p:cNvSpPr/>
          <p:nvPr/>
        </p:nvSpPr>
        <p:spPr>
          <a:xfrm>
            <a:off x="356616" y="3794760"/>
            <a:ext cx="4882896" cy="1051560"/>
          </a:xfrm>
          <a:prstGeom prst="roundRect">
            <a:avLst>
              <a:gd name="adj" fmla="val 14000"/>
            </a:avLst>
          </a:prstGeom>
          <a:solidFill>
            <a:srgbClr val="EAF9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Oval 308"/>
          <p:cNvSpPr/>
          <p:nvPr/>
        </p:nvSpPr>
        <p:spPr>
          <a:xfrm>
            <a:off x="521207" y="3959352"/>
            <a:ext cx="676656" cy="676656"/>
          </a:xfrm>
          <a:prstGeom prst="ellipse">
            <a:avLst/>
          </a:prstGeom>
          <a:solidFill>
            <a:srgbClr val="EAF9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0" name="Connector 309"/>
          <p:cNvCxnSpPr/>
          <p:nvPr/>
        </p:nvCxnSpPr>
        <p:spPr>
          <a:xfrm>
            <a:off x="647878" y="4205654"/>
            <a:ext cx="105829" cy="0"/>
          </a:xfrm>
          <a:prstGeom prst="line">
            <a:avLst/>
          </a:prstGeom>
          <a:ln w="26670">
            <a:solidFill>
              <a:srgbClr val="129A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1" name="Connector 310"/>
          <p:cNvCxnSpPr/>
          <p:nvPr/>
        </p:nvCxnSpPr>
        <p:spPr>
          <a:xfrm flipV="1">
            <a:off x="753707" y="4145838"/>
            <a:ext cx="50613" cy="59816"/>
          </a:xfrm>
          <a:prstGeom prst="line">
            <a:avLst/>
          </a:prstGeom>
          <a:ln w="26670">
            <a:solidFill>
              <a:srgbClr val="129A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2" name="Connector 311"/>
          <p:cNvCxnSpPr/>
          <p:nvPr/>
        </p:nvCxnSpPr>
        <p:spPr>
          <a:xfrm>
            <a:off x="804320" y="4145838"/>
            <a:ext cx="115032" cy="0"/>
          </a:xfrm>
          <a:prstGeom prst="line">
            <a:avLst/>
          </a:prstGeom>
          <a:ln w="26670">
            <a:solidFill>
              <a:srgbClr val="129A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3" name="Connector 312"/>
          <p:cNvCxnSpPr/>
          <p:nvPr/>
        </p:nvCxnSpPr>
        <p:spPr>
          <a:xfrm>
            <a:off x="919352" y="4145838"/>
            <a:ext cx="32209" cy="59816"/>
          </a:xfrm>
          <a:prstGeom prst="line">
            <a:avLst/>
          </a:prstGeom>
          <a:ln w="26670">
            <a:solidFill>
              <a:srgbClr val="129A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" name="Connector 313"/>
          <p:cNvCxnSpPr/>
          <p:nvPr/>
        </p:nvCxnSpPr>
        <p:spPr>
          <a:xfrm>
            <a:off x="647878" y="4205654"/>
            <a:ext cx="437119" cy="0"/>
          </a:xfrm>
          <a:prstGeom prst="line">
            <a:avLst/>
          </a:prstGeom>
          <a:ln w="26670">
            <a:solidFill>
              <a:srgbClr val="129A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5" name="Connector 314"/>
          <p:cNvCxnSpPr/>
          <p:nvPr/>
        </p:nvCxnSpPr>
        <p:spPr>
          <a:xfrm flipH="1">
            <a:off x="1048187" y="4205654"/>
            <a:ext cx="36810" cy="266873"/>
          </a:xfrm>
          <a:prstGeom prst="line">
            <a:avLst/>
          </a:prstGeom>
          <a:ln w="26670">
            <a:solidFill>
              <a:srgbClr val="129A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6" name="Connector 315"/>
          <p:cNvCxnSpPr/>
          <p:nvPr/>
        </p:nvCxnSpPr>
        <p:spPr>
          <a:xfrm flipH="1">
            <a:off x="680086" y="4472527"/>
            <a:ext cx="368101" cy="0"/>
          </a:xfrm>
          <a:prstGeom prst="line">
            <a:avLst/>
          </a:prstGeom>
          <a:ln w="26670">
            <a:solidFill>
              <a:srgbClr val="129A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7" name="Connector 316"/>
          <p:cNvCxnSpPr/>
          <p:nvPr/>
        </p:nvCxnSpPr>
        <p:spPr>
          <a:xfrm flipH="1" flipV="1">
            <a:off x="647878" y="4205654"/>
            <a:ext cx="32208" cy="266873"/>
          </a:xfrm>
          <a:prstGeom prst="line">
            <a:avLst/>
          </a:prstGeom>
          <a:ln w="26670">
            <a:solidFill>
              <a:srgbClr val="129A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8" name="TextBox 317"/>
          <p:cNvSpPr txBox="1"/>
          <p:nvPr/>
        </p:nvSpPr>
        <p:spPr>
          <a:xfrm>
            <a:off x="1444752" y="3867912"/>
            <a:ext cx="3474720" cy="356616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29A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科研项目</a:t>
            </a:r>
            <a:endParaRPr sz="2200" b="1">
              <a:solidFill>
                <a:srgbClr val="129A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9" name="TextBox 318"/>
          <p:cNvSpPr txBox="1"/>
          <p:nvPr/>
        </p:nvSpPr>
        <p:spPr>
          <a:xfrm>
            <a:off x="1444752" y="4224528"/>
            <a:ext cx="3566160" cy="310896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30" b="1">
                <a:solidFill>
                  <a:srgbClr val="0C20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资助机构 + 批准号</a:t>
            </a:r>
            <a:endParaRPr sz="1630" b="1">
              <a:solidFill>
                <a:srgbClr val="0C205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0" name="TextBox 319"/>
          <p:cNvSpPr txBox="1"/>
          <p:nvPr/>
        </p:nvSpPr>
        <p:spPr>
          <a:xfrm>
            <a:off x="1444752" y="4535424"/>
            <a:ext cx="3566160" cy="228600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10" b="1">
                <a:solidFill>
                  <a:srgbClr val="2B4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区分不同资助类别和编号体系</a:t>
            </a:r>
            <a:endParaRPr sz="1410" b="1">
              <a:solidFill>
                <a:srgbClr val="2B40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1" name="Rounded Rectangle 320"/>
          <p:cNvSpPr/>
          <p:nvPr/>
        </p:nvSpPr>
        <p:spPr>
          <a:xfrm>
            <a:off x="356616" y="4956048"/>
            <a:ext cx="4882896" cy="1051560"/>
          </a:xfrm>
          <a:prstGeom prst="roundRect">
            <a:avLst>
              <a:gd name="adj" fmla="val 14000"/>
            </a:avLst>
          </a:prstGeom>
          <a:solidFill>
            <a:srgbClr val="F4F0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Oval 321"/>
          <p:cNvSpPr/>
          <p:nvPr/>
        </p:nvSpPr>
        <p:spPr>
          <a:xfrm>
            <a:off x="521207" y="5120640"/>
            <a:ext cx="676656" cy="676656"/>
          </a:xfrm>
          <a:prstGeom prst="ellipse">
            <a:avLst/>
          </a:prstGeom>
          <a:solidFill>
            <a:srgbClr val="F4F0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3" name="Connector 322"/>
          <p:cNvCxnSpPr/>
          <p:nvPr/>
        </p:nvCxnSpPr>
        <p:spPr>
          <a:xfrm>
            <a:off x="698491" y="5274917"/>
            <a:ext cx="322089" cy="0"/>
          </a:xfrm>
          <a:prstGeom prst="line">
            <a:avLst/>
          </a:prstGeom>
          <a:ln w="26670">
            <a:solidFill>
              <a:srgbClr val="733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4" name="Connector 323"/>
          <p:cNvCxnSpPr/>
          <p:nvPr/>
        </p:nvCxnSpPr>
        <p:spPr>
          <a:xfrm flipH="1">
            <a:off x="983770" y="5274917"/>
            <a:ext cx="36810" cy="234664"/>
          </a:xfrm>
          <a:prstGeom prst="line">
            <a:avLst/>
          </a:prstGeom>
          <a:ln w="26670">
            <a:solidFill>
              <a:srgbClr val="733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5" name="Connector 324"/>
          <p:cNvCxnSpPr/>
          <p:nvPr/>
        </p:nvCxnSpPr>
        <p:spPr>
          <a:xfrm flipH="1">
            <a:off x="859536" y="5509581"/>
            <a:ext cx="124234" cy="73621"/>
          </a:xfrm>
          <a:prstGeom prst="line">
            <a:avLst/>
          </a:prstGeom>
          <a:ln w="26670">
            <a:solidFill>
              <a:srgbClr val="733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6" name="Connector 325"/>
          <p:cNvCxnSpPr/>
          <p:nvPr/>
        </p:nvCxnSpPr>
        <p:spPr>
          <a:xfrm flipH="1" flipV="1">
            <a:off x="735301" y="5509581"/>
            <a:ext cx="124235" cy="73621"/>
          </a:xfrm>
          <a:prstGeom prst="line">
            <a:avLst/>
          </a:prstGeom>
          <a:ln w="26670">
            <a:solidFill>
              <a:srgbClr val="733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7" name="Connector 326"/>
          <p:cNvCxnSpPr/>
          <p:nvPr/>
        </p:nvCxnSpPr>
        <p:spPr>
          <a:xfrm flipH="1" flipV="1">
            <a:off x="698491" y="5274917"/>
            <a:ext cx="36810" cy="234664"/>
          </a:xfrm>
          <a:prstGeom prst="line">
            <a:avLst/>
          </a:prstGeom>
          <a:ln w="26670">
            <a:solidFill>
              <a:srgbClr val="733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8" name="Connector 327"/>
          <p:cNvCxnSpPr/>
          <p:nvPr/>
        </p:nvCxnSpPr>
        <p:spPr>
          <a:xfrm flipH="1">
            <a:off x="615669" y="5330132"/>
            <a:ext cx="82822" cy="0"/>
          </a:xfrm>
          <a:prstGeom prst="line">
            <a:avLst/>
          </a:prstGeom>
          <a:ln w="26670">
            <a:solidFill>
              <a:srgbClr val="733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9" name="Connector 328"/>
          <p:cNvCxnSpPr/>
          <p:nvPr/>
        </p:nvCxnSpPr>
        <p:spPr>
          <a:xfrm>
            <a:off x="615669" y="5330132"/>
            <a:ext cx="13803" cy="184051"/>
          </a:xfrm>
          <a:prstGeom prst="line">
            <a:avLst/>
          </a:prstGeom>
          <a:ln w="26670">
            <a:solidFill>
              <a:srgbClr val="733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0" name="Connector 329"/>
          <p:cNvCxnSpPr/>
          <p:nvPr/>
        </p:nvCxnSpPr>
        <p:spPr>
          <a:xfrm>
            <a:off x="629472" y="5514183"/>
            <a:ext cx="138038" cy="55215"/>
          </a:xfrm>
          <a:prstGeom prst="line">
            <a:avLst/>
          </a:prstGeom>
          <a:ln w="26670">
            <a:solidFill>
              <a:srgbClr val="733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1" name="Connector 330"/>
          <p:cNvCxnSpPr/>
          <p:nvPr/>
        </p:nvCxnSpPr>
        <p:spPr>
          <a:xfrm>
            <a:off x="1020580" y="5330132"/>
            <a:ext cx="82822" cy="0"/>
          </a:xfrm>
          <a:prstGeom prst="line">
            <a:avLst/>
          </a:prstGeom>
          <a:ln w="26670">
            <a:solidFill>
              <a:srgbClr val="733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2" name="Connector 331"/>
          <p:cNvCxnSpPr/>
          <p:nvPr/>
        </p:nvCxnSpPr>
        <p:spPr>
          <a:xfrm flipH="1">
            <a:off x="1089599" y="5330132"/>
            <a:ext cx="13803" cy="184051"/>
          </a:xfrm>
          <a:prstGeom prst="line">
            <a:avLst/>
          </a:prstGeom>
          <a:ln w="26670">
            <a:solidFill>
              <a:srgbClr val="733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3" name="Connector 332"/>
          <p:cNvCxnSpPr/>
          <p:nvPr/>
        </p:nvCxnSpPr>
        <p:spPr>
          <a:xfrm flipH="1">
            <a:off x="951561" y="5514183"/>
            <a:ext cx="138038" cy="55215"/>
          </a:xfrm>
          <a:prstGeom prst="line">
            <a:avLst/>
          </a:prstGeom>
          <a:ln w="26670">
            <a:solidFill>
              <a:srgbClr val="733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4" name="Connector 333"/>
          <p:cNvCxnSpPr/>
          <p:nvPr/>
        </p:nvCxnSpPr>
        <p:spPr>
          <a:xfrm>
            <a:off x="859536" y="5578600"/>
            <a:ext cx="0" cy="101228"/>
          </a:xfrm>
          <a:prstGeom prst="line">
            <a:avLst/>
          </a:prstGeom>
          <a:ln w="26670">
            <a:solidFill>
              <a:srgbClr val="733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5" name="Connector 334"/>
          <p:cNvCxnSpPr/>
          <p:nvPr/>
        </p:nvCxnSpPr>
        <p:spPr>
          <a:xfrm>
            <a:off x="744504" y="5679828"/>
            <a:ext cx="230063" cy="0"/>
          </a:xfrm>
          <a:prstGeom prst="line">
            <a:avLst/>
          </a:prstGeom>
          <a:ln w="26670">
            <a:solidFill>
              <a:srgbClr val="733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6" name="TextBox 335"/>
          <p:cNvSpPr txBox="1"/>
          <p:nvPr/>
        </p:nvSpPr>
        <p:spPr>
          <a:xfrm>
            <a:off x="1444752" y="5029200"/>
            <a:ext cx="3474720" cy="356616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7339D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获奖</a:t>
            </a:r>
            <a:endParaRPr sz="2200" b="1">
              <a:solidFill>
                <a:srgbClr val="7339D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7" name="TextBox 336"/>
          <p:cNvSpPr txBox="1"/>
          <p:nvPr/>
        </p:nvSpPr>
        <p:spPr>
          <a:xfrm>
            <a:off x="1444752" y="5385816"/>
            <a:ext cx="3566160" cy="310896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30" b="1">
                <a:solidFill>
                  <a:srgbClr val="0C20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奖项名称 + 年度 + 项目编号</a:t>
            </a:r>
            <a:endParaRPr sz="1630" b="1">
              <a:solidFill>
                <a:srgbClr val="0C205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8" name="TextBox 337"/>
          <p:cNvSpPr txBox="1"/>
          <p:nvPr/>
        </p:nvSpPr>
        <p:spPr>
          <a:xfrm>
            <a:off x="1444752" y="5696712"/>
            <a:ext cx="3566160" cy="228600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10" b="1">
                <a:solidFill>
                  <a:srgbClr val="2B4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按公开名单核验申报项目</a:t>
            </a:r>
            <a:endParaRPr sz="1410" b="1">
              <a:solidFill>
                <a:srgbClr val="2B40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9" name="Rounded Rectangle 338"/>
          <p:cNvSpPr/>
          <p:nvPr/>
        </p:nvSpPr>
        <p:spPr>
          <a:xfrm>
            <a:off x="5925312" y="1728216"/>
            <a:ext cx="2596896" cy="3758184"/>
          </a:xfrm>
          <a:prstGeom prst="roundRect">
            <a:avLst>
              <a:gd name="adj" fmla="val 14000"/>
            </a:avLst>
          </a:prstGeom>
          <a:solidFill>
            <a:srgbClr val="F7FBFF"/>
          </a:solidFill>
          <a:ln w="10795">
            <a:solidFill>
              <a:srgbClr val="C9E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Oval 339"/>
          <p:cNvSpPr/>
          <p:nvPr/>
        </p:nvSpPr>
        <p:spPr>
          <a:xfrm>
            <a:off x="6766560" y="2011680"/>
            <a:ext cx="914400" cy="914400"/>
          </a:xfrm>
          <a:prstGeom prst="ellipse">
            <a:avLst/>
          </a:prstGeom>
          <a:solidFill>
            <a:srgbClr val="DD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" name="Rectangle 340"/>
          <p:cNvSpPr/>
          <p:nvPr/>
        </p:nvSpPr>
        <p:spPr>
          <a:xfrm>
            <a:off x="7037222" y="2170419"/>
            <a:ext cx="354421" cy="584484"/>
          </a:xfrm>
          <a:prstGeom prst="rect">
            <a:avLst/>
          </a:prstGeom>
          <a:noFill/>
          <a:ln w="26670">
            <a:solidFill>
              <a:srgbClr val="055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2" name="Connector 341"/>
          <p:cNvCxnSpPr/>
          <p:nvPr/>
        </p:nvCxnSpPr>
        <p:spPr>
          <a:xfrm>
            <a:off x="7111837" y="2332085"/>
            <a:ext cx="198973" cy="0"/>
          </a:xfrm>
          <a:prstGeom prst="line">
            <a:avLst/>
          </a:prstGeom>
          <a:ln w="21590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3" name="Connector 342"/>
          <p:cNvCxnSpPr/>
          <p:nvPr/>
        </p:nvCxnSpPr>
        <p:spPr>
          <a:xfrm>
            <a:off x="7111837" y="2487533"/>
            <a:ext cx="198973" cy="0"/>
          </a:xfrm>
          <a:prstGeom prst="line">
            <a:avLst/>
          </a:prstGeom>
          <a:ln w="21590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4" name="Connector 343"/>
          <p:cNvCxnSpPr/>
          <p:nvPr/>
        </p:nvCxnSpPr>
        <p:spPr>
          <a:xfrm>
            <a:off x="7111837" y="2630545"/>
            <a:ext cx="198973" cy="0"/>
          </a:xfrm>
          <a:prstGeom prst="line">
            <a:avLst/>
          </a:prstGeom>
          <a:ln w="21590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5" name="TextBox 344"/>
          <p:cNvSpPr txBox="1"/>
          <p:nvPr/>
        </p:nvSpPr>
        <p:spPr>
          <a:xfrm>
            <a:off x="6035040" y="2962656"/>
            <a:ext cx="2377439" cy="429768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0C20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候选匹配</a:t>
            </a:r>
            <a:endParaRPr sz="2300" b="1">
              <a:solidFill>
                <a:srgbClr val="0C205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6" name="Rounded Rectangle 345"/>
          <p:cNvSpPr/>
          <p:nvPr/>
        </p:nvSpPr>
        <p:spPr>
          <a:xfrm>
            <a:off x="6071616" y="3557016"/>
            <a:ext cx="2304288" cy="429768"/>
          </a:xfrm>
          <a:prstGeom prst="roundRect">
            <a:avLst>
              <a:gd name="adj" fmla="val 14000"/>
            </a:avLst>
          </a:prstGeom>
          <a:solidFill>
            <a:srgbClr val="E8F1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" name="TextBox 346"/>
          <p:cNvSpPr txBox="1"/>
          <p:nvPr/>
        </p:nvSpPr>
        <p:spPr>
          <a:xfrm>
            <a:off x="6126480" y="3616452"/>
            <a:ext cx="2194560" cy="292608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30" b="1">
                <a:solidFill>
                  <a:srgbClr val="0C20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强标识匹配</a:t>
            </a:r>
            <a:endParaRPr sz="1430" b="1">
              <a:solidFill>
                <a:srgbClr val="0C205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8" name="Rounded Rectangle 347"/>
          <p:cNvSpPr/>
          <p:nvPr/>
        </p:nvSpPr>
        <p:spPr>
          <a:xfrm>
            <a:off x="6071616" y="4096512"/>
            <a:ext cx="2304288" cy="429768"/>
          </a:xfrm>
          <a:prstGeom prst="roundRect">
            <a:avLst>
              <a:gd name="adj" fmla="val 14000"/>
            </a:avLst>
          </a:prstGeom>
          <a:solidFill>
            <a:srgbClr val="E8F1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" name="TextBox 348"/>
          <p:cNvSpPr txBox="1"/>
          <p:nvPr/>
        </p:nvSpPr>
        <p:spPr>
          <a:xfrm>
            <a:off x="6126480" y="4155948"/>
            <a:ext cx="2194560" cy="292608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30" b="1">
                <a:solidFill>
                  <a:srgbClr val="0C20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模糊规则匹配</a:t>
            </a:r>
            <a:endParaRPr sz="1430" b="1">
              <a:solidFill>
                <a:srgbClr val="0C205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0" name="Rounded Rectangle 349"/>
          <p:cNvSpPr/>
          <p:nvPr/>
        </p:nvSpPr>
        <p:spPr>
          <a:xfrm>
            <a:off x="6071616" y="4636008"/>
            <a:ext cx="2304288" cy="429768"/>
          </a:xfrm>
          <a:prstGeom prst="roundRect">
            <a:avLst>
              <a:gd name="adj" fmla="val 14000"/>
            </a:avLst>
          </a:prstGeom>
          <a:solidFill>
            <a:srgbClr val="E8F1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" name="TextBox 350"/>
          <p:cNvSpPr txBox="1"/>
          <p:nvPr/>
        </p:nvSpPr>
        <p:spPr>
          <a:xfrm>
            <a:off x="6126480" y="4695444"/>
            <a:ext cx="2194560" cy="292608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30" b="1">
                <a:solidFill>
                  <a:srgbClr val="0C20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计算相似度生成候选</a:t>
            </a:r>
            <a:endParaRPr sz="1430" b="1">
              <a:solidFill>
                <a:srgbClr val="0C205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2" name="Rounded Rectangle 351"/>
          <p:cNvSpPr/>
          <p:nvPr/>
        </p:nvSpPr>
        <p:spPr>
          <a:xfrm>
            <a:off x="8769096" y="1728216"/>
            <a:ext cx="3035808" cy="3758184"/>
          </a:xfrm>
          <a:prstGeom prst="roundRect">
            <a:avLst>
              <a:gd name="adj" fmla="val 14000"/>
            </a:avLst>
          </a:prstGeom>
          <a:solidFill>
            <a:srgbClr val="F7FBFF"/>
          </a:solidFill>
          <a:ln w="10795">
            <a:solidFill>
              <a:srgbClr val="C9E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" name="Oval 352"/>
          <p:cNvSpPr/>
          <p:nvPr/>
        </p:nvSpPr>
        <p:spPr>
          <a:xfrm>
            <a:off x="9829800" y="2011680"/>
            <a:ext cx="914400" cy="914400"/>
          </a:xfrm>
          <a:prstGeom prst="ellipse">
            <a:avLst/>
          </a:prstGeom>
          <a:solidFill>
            <a:srgbClr val="DD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" name="Oval 353"/>
          <p:cNvSpPr/>
          <p:nvPr/>
        </p:nvSpPr>
        <p:spPr>
          <a:xfrm>
            <a:off x="10038283" y="2046061"/>
            <a:ext cx="497433" cy="497433"/>
          </a:xfrm>
          <a:prstGeom prst="ellipse">
            <a:avLst/>
          </a:prstGeom>
          <a:noFill/>
          <a:ln w="26670">
            <a:solidFill>
              <a:srgbClr val="055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" name="Oval 354"/>
          <p:cNvSpPr/>
          <p:nvPr/>
        </p:nvSpPr>
        <p:spPr>
          <a:xfrm>
            <a:off x="10038283" y="2406700"/>
            <a:ext cx="497433" cy="497433"/>
          </a:xfrm>
          <a:prstGeom prst="ellipse">
            <a:avLst/>
          </a:prstGeom>
          <a:noFill/>
          <a:ln w="26670">
            <a:solidFill>
              <a:srgbClr val="055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6" name="Connector 355"/>
          <p:cNvCxnSpPr/>
          <p:nvPr/>
        </p:nvCxnSpPr>
        <p:spPr>
          <a:xfrm>
            <a:off x="10038283" y="2294778"/>
            <a:ext cx="0" cy="360639"/>
          </a:xfrm>
          <a:prstGeom prst="line">
            <a:avLst/>
          </a:prstGeom>
          <a:ln w="26670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7" name="Connector 356"/>
          <p:cNvCxnSpPr/>
          <p:nvPr/>
        </p:nvCxnSpPr>
        <p:spPr>
          <a:xfrm>
            <a:off x="10535716" y="2294778"/>
            <a:ext cx="0" cy="360639"/>
          </a:xfrm>
          <a:prstGeom prst="line">
            <a:avLst/>
          </a:prstGeom>
          <a:ln w="26670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8" name="Oval 357"/>
          <p:cNvSpPr/>
          <p:nvPr/>
        </p:nvSpPr>
        <p:spPr>
          <a:xfrm>
            <a:off x="10038283" y="2238816"/>
            <a:ext cx="497433" cy="497433"/>
          </a:xfrm>
          <a:prstGeom prst="ellipse">
            <a:avLst/>
          </a:prstGeom>
          <a:noFill/>
          <a:ln w="26670">
            <a:solidFill>
              <a:srgbClr val="055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" name="TextBox 358"/>
          <p:cNvSpPr txBox="1"/>
          <p:nvPr/>
        </p:nvSpPr>
        <p:spPr>
          <a:xfrm>
            <a:off x="8878824" y="2962656"/>
            <a:ext cx="2816352" cy="429768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0C20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合并映射 / 人工复核</a:t>
            </a:r>
            <a:endParaRPr sz="2300" b="1">
              <a:solidFill>
                <a:srgbClr val="0C205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0" name="Rounded Rectangle 359"/>
          <p:cNvSpPr/>
          <p:nvPr/>
        </p:nvSpPr>
        <p:spPr>
          <a:xfrm>
            <a:off x="8915400" y="3557016"/>
            <a:ext cx="2743200" cy="429768"/>
          </a:xfrm>
          <a:prstGeom prst="roundRect">
            <a:avLst>
              <a:gd name="adj" fmla="val 14000"/>
            </a:avLst>
          </a:prstGeom>
          <a:solidFill>
            <a:srgbClr val="E8F1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" name="TextBox 360"/>
          <p:cNvSpPr txBox="1"/>
          <p:nvPr/>
        </p:nvSpPr>
        <p:spPr>
          <a:xfrm>
            <a:off x="8970264" y="3616452"/>
            <a:ext cx="2633472" cy="292608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30" b="1">
                <a:solidFill>
                  <a:srgbClr val="0C20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同一成果合并为一个 Work</a:t>
            </a:r>
            <a:endParaRPr sz="1430" b="1">
              <a:solidFill>
                <a:srgbClr val="0C205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2" name="Rounded Rectangle 361"/>
          <p:cNvSpPr/>
          <p:nvPr/>
        </p:nvSpPr>
        <p:spPr>
          <a:xfrm>
            <a:off x="8915400" y="4096512"/>
            <a:ext cx="2743200" cy="429768"/>
          </a:xfrm>
          <a:prstGeom prst="roundRect">
            <a:avLst>
              <a:gd name="adj" fmla="val 14000"/>
            </a:avLst>
          </a:prstGeom>
          <a:solidFill>
            <a:srgbClr val="E8F1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" name="TextBox 362"/>
          <p:cNvSpPr txBox="1"/>
          <p:nvPr/>
        </p:nvSpPr>
        <p:spPr>
          <a:xfrm>
            <a:off x="8970264" y="4155948"/>
            <a:ext cx="2633472" cy="292608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30" b="1">
                <a:solidFill>
                  <a:srgbClr val="0C20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保留全部来源记录</a:t>
            </a:r>
            <a:endParaRPr sz="1430" b="1">
              <a:solidFill>
                <a:srgbClr val="0C205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4" name="Rounded Rectangle 363"/>
          <p:cNvSpPr/>
          <p:nvPr/>
        </p:nvSpPr>
        <p:spPr>
          <a:xfrm>
            <a:off x="8915400" y="4636008"/>
            <a:ext cx="2743200" cy="429768"/>
          </a:xfrm>
          <a:prstGeom prst="roundRect">
            <a:avLst>
              <a:gd name="adj" fmla="val 14000"/>
            </a:avLst>
          </a:prstGeom>
          <a:solidFill>
            <a:srgbClr val="E8F1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" name="TextBox 364"/>
          <p:cNvSpPr txBox="1"/>
          <p:nvPr/>
        </p:nvSpPr>
        <p:spPr>
          <a:xfrm>
            <a:off x="8970264" y="4695444"/>
            <a:ext cx="2633472" cy="292608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30" b="1">
                <a:solidFill>
                  <a:srgbClr val="0C20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记录匹配与审核过程</a:t>
            </a:r>
            <a:endParaRPr sz="1430" b="1">
              <a:solidFill>
                <a:srgbClr val="0C205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6" name="Rounded Rectangle 365"/>
          <p:cNvSpPr/>
          <p:nvPr/>
        </p:nvSpPr>
        <p:spPr>
          <a:xfrm>
            <a:off x="338328" y="6181344"/>
            <a:ext cx="11521440" cy="576072"/>
          </a:xfrm>
          <a:prstGeom prst="roundRect">
            <a:avLst>
              <a:gd name="adj" fmla="val 14000"/>
            </a:avLst>
          </a:prstGeom>
          <a:solidFill>
            <a:srgbClr val="FFF4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" name="Rounded Rectangle 366"/>
          <p:cNvSpPr/>
          <p:nvPr/>
        </p:nvSpPr>
        <p:spPr>
          <a:xfrm>
            <a:off x="338328" y="6181344"/>
            <a:ext cx="50292" cy="576072"/>
          </a:xfrm>
          <a:prstGeom prst="roundRect">
            <a:avLst>
              <a:gd name="adj" fmla="val 14000"/>
            </a:avLst>
          </a:prstGeom>
          <a:solidFill>
            <a:srgbClr val="F47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" name="Oval 367"/>
          <p:cNvSpPr/>
          <p:nvPr/>
        </p:nvSpPr>
        <p:spPr>
          <a:xfrm>
            <a:off x="749808" y="6272784"/>
            <a:ext cx="402336" cy="402336"/>
          </a:xfrm>
          <a:prstGeom prst="ellipse">
            <a:avLst/>
          </a:prstGeom>
          <a:solidFill>
            <a:srgbClr val="FFE3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" name="Oval 368"/>
          <p:cNvSpPr/>
          <p:nvPr/>
        </p:nvSpPr>
        <p:spPr>
          <a:xfrm>
            <a:off x="879842" y="6402818"/>
            <a:ext cx="142266" cy="142266"/>
          </a:xfrm>
          <a:prstGeom prst="ellipse">
            <a:avLst/>
          </a:prstGeom>
          <a:noFill/>
          <a:ln w="26670">
            <a:solidFill>
              <a:srgbClr val="F47B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0" name="Connector 369"/>
          <p:cNvCxnSpPr/>
          <p:nvPr/>
        </p:nvCxnSpPr>
        <p:spPr>
          <a:xfrm>
            <a:off x="1030316" y="6473952"/>
            <a:ext cx="57454" cy="0"/>
          </a:xfrm>
          <a:prstGeom prst="line">
            <a:avLst/>
          </a:prstGeom>
          <a:ln w="39370">
            <a:solidFill>
              <a:srgbClr val="F47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1" name="Connector 370"/>
          <p:cNvCxnSpPr/>
          <p:nvPr/>
        </p:nvCxnSpPr>
        <p:spPr>
          <a:xfrm>
            <a:off x="1007078" y="6530054"/>
            <a:ext cx="40626" cy="40626"/>
          </a:xfrm>
          <a:prstGeom prst="line">
            <a:avLst/>
          </a:prstGeom>
          <a:ln w="39370">
            <a:solidFill>
              <a:srgbClr val="F47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2" name="Connector 371"/>
          <p:cNvCxnSpPr/>
          <p:nvPr/>
        </p:nvCxnSpPr>
        <p:spPr>
          <a:xfrm>
            <a:off x="950976" y="6553292"/>
            <a:ext cx="0" cy="57454"/>
          </a:xfrm>
          <a:prstGeom prst="line">
            <a:avLst/>
          </a:prstGeom>
          <a:ln w="39370">
            <a:solidFill>
              <a:srgbClr val="F47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3" name="Connector 372"/>
          <p:cNvCxnSpPr/>
          <p:nvPr/>
        </p:nvCxnSpPr>
        <p:spPr>
          <a:xfrm flipH="1">
            <a:off x="854247" y="6530054"/>
            <a:ext cx="40626" cy="40626"/>
          </a:xfrm>
          <a:prstGeom prst="line">
            <a:avLst/>
          </a:prstGeom>
          <a:ln w="39370">
            <a:solidFill>
              <a:srgbClr val="F47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4" name="Connector 373"/>
          <p:cNvCxnSpPr/>
          <p:nvPr/>
        </p:nvCxnSpPr>
        <p:spPr>
          <a:xfrm flipH="1">
            <a:off x="814181" y="6473952"/>
            <a:ext cx="57454" cy="0"/>
          </a:xfrm>
          <a:prstGeom prst="line">
            <a:avLst/>
          </a:prstGeom>
          <a:ln w="39370">
            <a:solidFill>
              <a:srgbClr val="F47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5" name="Connector 374"/>
          <p:cNvCxnSpPr/>
          <p:nvPr/>
        </p:nvCxnSpPr>
        <p:spPr>
          <a:xfrm flipH="1" flipV="1">
            <a:off x="854247" y="6377223"/>
            <a:ext cx="40626" cy="40626"/>
          </a:xfrm>
          <a:prstGeom prst="line">
            <a:avLst/>
          </a:prstGeom>
          <a:ln w="39370">
            <a:solidFill>
              <a:srgbClr val="F47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6" name="Connector 375"/>
          <p:cNvCxnSpPr/>
          <p:nvPr/>
        </p:nvCxnSpPr>
        <p:spPr>
          <a:xfrm flipV="1">
            <a:off x="950976" y="6337157"/>
            <a:ext cx="0" cy="57454"/>
          </a:xfrm>
          <a:prstGeom prst="line">
            <a:avLst/>
          </a:prstGeom>
          <a:ln w="39370">
            <a:solidFill>
              <a:srgbClr val="F47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7" name="Connector 376"/>
          <p:cNvCxnSpPr/>
          <p:nvPr/>
        </p:nvCxnSpPr>
        <p:spPr>
          <a:xfrm flipV="1">
            <a:off x="1007078" y="6377223"/>
            <a:ext cx="40626" cy="40626"/>
          </a:xfrm>
          <a:prstGeom prst="line">
            <a:avLst/>
          </a:prstGeom>
          <a:ln w="39370">
            <a:solidFill>
              <a:srgbClr val="F47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8" name="TextBox 377"/>
          <p:cNvSpPr txBox="1"/>
          <p:nvPr/>
        </p:nvSpPr>
        <p:spPr>
          <a:xfrm>
            <a:off x="1325880" y="6281928"/>
            <a:ext cx="1325880" cy="374904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47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合并约束：</a:t>
            </a:r>
            <a:endParaRPr sz="1700" b="1">
              <a:solidFill>
                <a:srgbClr val="F47B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9" name="TextBox 378"/>
          <p:cNvSpPr txBox="1"/>
          <p:nvPr/>
        </p:nvSpPr>
        <p:spPr>
          <a:xfrm>
            <a:off x="2651760" y="6272783"/>
            <a:ext cx="8732520" cy="393192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40" b="0">
                <a:solidFill>
                  <a:srgbClr val="0C20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同一成果只建立一个 Work；保留全部来源 SourceRecord 和匹配审核记录。</a:t>
            </a:r>
            <a:endParaRPr sz="1540" b="0">
              <a:solidFill>
                <a:srgbClr val="0C205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7223760" y="131090"/>
            <a:ext cx="129657" cy="33641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353417" y="164731"/>
            <a:ext cx="129657" cy="36565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483074" y="201296"/>
            <a:ext cx="129657" cy="39204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7612731" y="240500"/>
            <a:ext cx="129657" cy="41411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7742388" y="281911"/>
            <a:ext cx="129658" cy="43025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872046" y="324936"/>
            <a:ext cx="129657" cy="43877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001703" y="368813"/>
            <a:ext cx="129657" cy="43806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131360" y="412619"/>
            <a:ext cx="129657" cy="42670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261017" y="455289"/>
            <a:ext cx="129658" cy="40361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390675" y="495650"/>
            <a:ext cx="129657" cy="36826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520332" y="532476"/>
            <a:ext cx="129657" cy="32066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649989" y="564542"/>
            <a:ext cx="129657" cy="26152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779646" y="590694"/>
            <a:ext cx="129658" cy="19230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909304" y="609924"/>
            <a:ext cx="129657" cy="11504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038961" y="621428"/>
            <a:ext cx="129657" cy="3238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9168618" y="619404"/>
            <a:ext cx="129657" cy="5262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9298275" y="605730"/>
            <a:ext cx="129657" cy="13674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9427932" y="584056"/>
            <a:ext cx="129658" cy="21674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9557590" y="555092"/>
            <a:ext cx="129657" cy="28964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9687247" y="519807"/>
            <a:ext cx="129657" cy="35285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9816904" y="479369"/>
            <a:ext cx="129657" cy="40438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9946561" y="435074"/>
            <a:ext cx="129658" cy="44295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10076219" y="388277"/>
            <a:ext cx="129657" cy="46797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10205876" y="340322"/>
            <a:ext cx="129657" cy="47955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10335533" y="292473"/>
            <a:ext cx="129657" cy="47849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10465190" y="245872"/>
            <a:ext cx="129658" cy="46601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10594848" y="201493"/>
            <a:ext cx="129657" cy="44379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10724505" y="160126"/>
            <a:ext cx="129657" cy="41367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10854162" y="122368"/>
            <a:ext cx="129657" cy="37758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10983819" y="88629"/>
            <a:ext cx="129657" cy="33739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11113476" y="59147"/>
            <a:ext cx="129658" cy="29482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11243134" y="34015"/>
            <a:ext cx="129657" cy="25132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11372791" y="13200"/>
            <a:ext cx="129657" cy="20815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11502448" y="-3422"/>
            <a:ext cx="129657" cy="16622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11632105" y="-16047"/>
            <a:ext cx="129658" cy="12625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11761763" y="-24915"/>
            <a:ext cx="129657" cy="8868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11891420" y="-30297"/>
            <a:ext cx="129657" cy="5382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12021077" y="-32477"/>
            <a:ext cx="129657" cy="2180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12150734" y="-32477"/>
            <a:ext cx="129658" cy="732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7223760" y="151010"/>
            <a:ext cx="129657" cy="33617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7353417" y="184627"/>
            <a:ext cx="129657" cy="36370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7483074" y="220997"/>
            <a:ext cx="129657" cy="38843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7612731" y="259840"/>
            <a:ext cx="129657" cy="40888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7742388" y="300728"/>
            <a:ext cx="129658" cy="42351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7872046" y="343079"/>
            <a:ext cx="129657" cy="43062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8001703" y="386141"/>
            <a:ext cx="129657" cy="42864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8131360" y="429005"/>
            <a:ext cx="129657" cy="41618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8261017" y="470623"/>
            <a:ext cx="129658" cy="39219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8390675" y="509842"/>
            <a:ext cx="129657" cy="35611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8520332" y="545453"/>
            <a:ext cx="129657" cy="30800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8649989" y="576253"/>
            <a:ext cx="129657" cy="24859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8779646" y="601112"/>
            <a:ext cx="129658" cy="17929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8909304" y="619041"/>
            <a:ext cx="129657" cy="10220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9038961" y="629261"/>
            <a:ext cx="129657" cy="1993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9168618" y="624807"/>
            <a:ext cx="129657" cy="6447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9298275" y="610029"/>
            <a:ext cx="129657" cy="14778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9427932" y="587350"/>
            <a:ext cx="129658" cy="22679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9557590" y="557499"/>
            <a:ext cx="129657" cy="29851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9687247" y="521461"/>
            <a:ext cx="129657" cy="36038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9816904" y="480414"/>
            <a:ext cx="129657" cy="41047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9946561" y="435668"/>
            <a:ext cx="129658" cy="44746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10076219" y="388584"/>
            <a:ext cx="129657" cy="47084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10205876" y="340511"/>
            <a:ext cx="129657" cy="48073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10335533" y="292716"/>
            <a:ext cx="129657" cy="47795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10465190" y="246339"/>
            <a:ext cx="129658" cy="46377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10594848" y="202351"/>
            <a:ext cx="129657" cy="43988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10724505" y="161534"/>
            <a:ext cx="129657" cy="40817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10854162" y="124476"/>
            <a:ext cx="129657" cy="37058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10983819" y="91576"/>
            <a:ext cx="129657" cy="32900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11113476" y="63056"/>
            <a:ext cx="129658" cy="28520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11243134" y="38992"/>
            <a:ext cx="129657" cy="24064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11372791" y="19335"/>
            <a:ext cx="129657" cy="19657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11502448" y="3937"/>
            <a:ext cx="129657" cy="15398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11632105" y="-7415"/>
            <a:ext cx="129658" cy="11352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11761763" y="-14986"/>
            <a:ext cx="129657" cy="7571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11891420" y="-19069"/>
            <a:ext cx="129657" cy="4083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12021077" y="-19970"/>
            <a:ext cx="129657" cy="901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12150734" y="-19970"/>
            <a:ext cx="129658" cy="1968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7223760" y="170931"/>
            <a:ext cx="129657" cy="33477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7353417" y="204408"/>
            <a:ext cx="129657" cy="36062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7483074" y="240470"/>
            <a:ext cx="129657" cy="38370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7612731" y="278840"/>
            <a:ext cx="129657" cy="40261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7742388" y="319101"/>
            <a:ext cx="129658" cy="41578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7872046" y="360679"/>
            <a:ext cx="129657" cy="42159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8001703" y="402838"/>
            <a:ext cx="129657" cy="41846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8131360" y="444684"/>
            <a:ext cx="129657" cy="40502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8261017" y="485186"/>
            <a:ext cx="129658" cy="38025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8390675" y="523211"/>
            <a:ext cx="129657" cy="34359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8520332" y="557570"/>
            <a:ext cx="129657" cy="29513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8649989" y="587083"/>
            <a:ext cx="129657" cy="23558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8779646" y="610641"/>
            <a:ext cx="129658" cy="16638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8909304" y="627279"/>
            <a:ext cx="129657" cy="8959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9038961" y="636238"/>
            <a:ext cx="129657" cy="787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9168618" y="629446"/>
            <a:ext cx="129657" cy="7579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9298275" y="613630"/>
            <a:ext cx="129657" cy="15816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9427932" y="590025"/>
            <a:ext cx="129658" cy="23605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9557590" y="559377"/>
            <a:ext cx="129657" cy="30648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9687247" y="522683"/>
            <a:ext cx="129657" cy="36694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9816904" y="481134"/>
            <a:ext cx="129657" cy="41549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9946561" y="436048"/>
            <a:ext cx="129658" cy="45086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10076219" y="388792"/>
            <a:ext cx="129657" cy="47256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10205876" y="340718"/>
            <a:ext cx="129657" cy="48074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10335533" y="293094"/>
            <a:ext cx="129657" cy="47624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10465190" y="247055"/>
            <a:ext cx="129658" cy="46039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10594848" y="203567"/>
            <a:ext cx="129657" cy="43488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10724505" y="163404"/>
            <a:ext cx="129657" cy="40163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10854162" y="127143"/>
            <a:ext cx="129657" cy="36261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V="1">
            <a:off x="10983819" y="95167"/>
            <a:ext cx="129657" cy="31976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V="1">
            <a:off x="11113476" y="67684"/>
            <a:ext cx="129658" cy="27483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 flipV="1">
            <a:off x="11243134" y="44752"/>
            <a:ext cx="129657" cy="22932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 flipV="1">
            <a:off x="11372791" y="26300"/>
            <a:ext cx="129657" cy="18452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 flipV="1">
            <a:off x="11502448" y="12162"/>
            <a:ext cx="129657" cy="14138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 flipV="1">
            <a:off x="11632105" y="2100"/>
            <a:ext cx="129658" cy="10062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V="1">
            <a:off x="11761763" y="-4170"/>
            <a:ext cx="129657" cy="6270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V="1">
            <a:off x="11891420" y="-6965"/>
            <a:ext cx="129657" cy="2795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>
            <a:off x="12021077" y="-6965"/>
            <a:ext cx="129657" cy="351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12150734" y="-6614"/>
            <a:ext cx="129658" cy="3164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7223760" y="190776"/>
            <a:ext cx="129657" cy="33221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>
            <a:off x="7353417" y="223997"/>
            <a:ext cx="129657" cy="35641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7483074" y="259638"/>
            <a:ext cx="129657" cy="37790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7612731" y="297428"/>
            <a:ext cx="129657" cy="39533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7742388" y="336961"/>
            <a:ext cx="129658" cy="40716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7872046" y="377677"/>
            <a:ext cx="129657" cy="41175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>
            <a:off x="8001703" y="418852"/>
            <a:ext cx="129657" cy="40759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8131360" y="459611"/>
            <a:ext cx="129657" cy="39331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>
            <a:off x="8261017" y="498942"/>
            <a:ext cx="129658" cy="36789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>
            <a:off x="8390675" y="535731"/>
            <a:ext cx="129657" cy="33081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8520332" y="568812"/>
            <a:ext cx="129657" cy="28213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8649989" y="597025"/>
            <a:ext cx="129657" cy="22261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8779646" y="619286"/>
            <a:ext cx="129658" cy="15365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8909304" y="634651"/>
            <a:ext cx="129657" cy="7734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 flipV="1">
            <a:off x="9038961" y="642014"/>
            <a:ext cx="129657" cy="371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 flipV="1">
            <a:off x="9168618" y="633365"/>
            <a:ext cx="129657" cy="8649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V="1">
            <a:off x="9298275" y="616586"/>
            <a:ext cx="129657" cy="16779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 flipV="1">
            <a:off x="9427932" y="592141"/>
            <a:ext cx="129658" cy="24445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 flipV="1">
            <a:off x="9557590" y="560791"/>
            <a:ext cx="129657" cy="31350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 flipV="1">
            <a:off x="9687247" y="523545"/>
            <a:ext cx="129657" cy="37246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 flipV="1">
            <a:off x="9816904" y="481604"/>
            <a:ext cx="129657" cy="41941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 flipV="1">
            <a:off x="9946561" y="436292"/>
            <a:ext cx="129658" cy="45312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 flipV="1">
            <a:off x="10076219" y="388981"/>
            <a:ext cx="129657" cy="47311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 flipV="1">
            <a:off x="10205876" y="341023"/>
            <a:ext cx="129657" cy="47958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 flipV="1">
            <a:off x="10335533" y="293684"/>
            <a:ext cx="129657" cy="47339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 flipV="1">
            <a:off x="10465190" y="248095"/>
            <a:ext cx="129658" cy="45589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 flipV="1">
            <a:off x="10594848" y="205214"/>
            <a:ext cx="129657" cy="42881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 flipV="1">
            <a:off x="10724505" y="165803"/>
            <a:ext cx="129657" cy="39411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 flipV="1">
            <a:off x="10854162" y="130427"/>
            <a:ext cx="129657" cy="35376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 flipV="1">
            <a:off x="10983819" y="99454"/>
            <a:ext cx="129657" cy="30973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 flipV="1">
            <a:off x="11113476" y="73075"/>
            <a:ext cx="129658" cy="26379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 flipV="1">
            <a:off x="11243134" y="51327"/>
            <a:ext cx="129657" cy="21748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 flipV="1">
            <a:off x="11372791" y="34120"/>
            <a:ext cx="129657" cy="17207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 flipV="1">
            <a:off x="11502448" y="21266"/>
            <a:ext cx="129657" cy="12854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 flipV="1">
            <a:off x="11632105" y="12505"/>
            <a:ext cx="129658" cy="8761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 flipV="1">
            <a:off x="11761763" y="7528"/>
            <a:ext cx="129657" cy="4977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 flipV="1">
            <a:off x="11891420" y="5999"/>
            <a:ext cx="129657" cy="1529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>
            <a:off x="12021077" y="5999"/>
            <a:ext cx="129657" cy="1566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>
            <a:off x="12150734" y="7565"/>
            <a:ext cx="129658" cy="4307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>
            <a:off x="7223760" y="210465"/>
            <a:ext cx="129657" cy="32851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>
            <a:off x="7353417" y="243316"/>
            <a:ext cx="129657" cy="35110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>
            <a:off x="7483074" y="278426"/>
            <a:ext cx="129657" cy="37109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>
            <a:off x="7612731" y="315535"/>
            <a:ext cx="129657" cy="38712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>
            <a:off x="7742388" y="354247"/>
            <a:ext cx="129658" cy="39768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>
            <a:off x="7872046" y="394015"/>
            <a:ext cx="129657" cy="40119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>
            <a:off x="8001703" y="434134"/>
            <a:ext cx="129657" cy="39613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>
            <a:off x="8131360" y="473747"/>
            <a:ext cx="129657" cy="38113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>
            <a:off x="8261017" y="511860"/>
            <a:ext cx="129658" cy="35521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>
            <a:off x="8390675" y="547381"/>
            <a:ext cx="129657" cy="31786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>
            <a:off x="8520332" y="579167"/>
            <a:ext cx="129657" cy="26914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>
            <a:off x="8649989" y="606081"/>
            <a:ext cx="129657" cy="20978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>
            <a:off x="8779646" y="627059"/>
            <a:ext cx="129658" cy="14122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>
            <a:off x="8909304" y="641181"/>
            <a:ext cx="129657" cy="6553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 flipV="1">
            <a:off x="9038961" y="646263"/>
            <a:ext cx="129657" cy="1471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 flipV="1">
            <a:off x="9168618" y="636615"/>
            <a:ext cx="129657" cy="9648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 flipV="1">
            <a:off x="9298275" y="618954"/>
            <a:ext cx="129657" cy="17661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 flipV="1">
            <a:off x="9427932" y="593763"/>
            <a:ext cx="129658" cy="25191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 flipV="1">
            <a:off x="9557590" y="561812"/>
            <a:ext cx="129657" cy="31951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 flipV="1">
            <a:off x="9687247" y="524122"/>
            <a:ext cx="129657" cy="37690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 flipV="1">
            <a:off x="9816904" y="481902"/>
            <a:ext cx="129657" cy="42220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 flipV="1">
            <a:off x="9946561" y="436480"/>
            <a:ext cx="129658" cy="45422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 flipV="1">
            <a:off x="10076219" y="389231"/>
            <a:ext cx="129657" cy="47249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 flipV="1">
            <a:off x="10205876" y="341505"/>
            <a:ext cx="129657" cy="47726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 182"/>
          <p:cNvCxnSpPr/>
          <p:nvPr/>
        </p:nvCxnSpPr>
        <p:spPr>
          <a:xfrm flipV="1">
            <a:off x="10335533" y="294564"/>
            <a:ext cx="129657" cy="46941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 flipV="1">
            <a:off x="10465190" y="249533"/>
            <a:ext cx="129658" cy="45031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 184"/>
          <p:cNvCxnSpPr/>
          <p:nvPr/>
        </p:nvCxnSpPr>
        <p:spPr>
          <a:xfrm flipV="1">
            <a:off x="10594848" y="207359"/>
            <a:ext cx="129657" cy="42174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 flipV="1">
            <a:off x="10724505" y="168793"/>
            <a:ext cx="129657" cy="38566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 flipV="1">
            <a:off x="10854162" y="134385"/>
            <a:ext cx="129657" cy="34408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 flipV="1">
            <a:off x="10983819" y="104485"/>
            <a:ext cx="129657" cy="29900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 188"/>
          <p:cNvCxnSpPr/>
          <p:nvPr/>
        </p:nvCxnSpPr>
        <p:spPr>
          <a:xfrm flipV="1">
            <a:off x="11113476" y="79267"/>
            <a:ext cx="129658" cy="25218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 189"/>
          <p:cNvCxnSpPr/>
          <p:nvPr/>
        </p:nvCxnSpPr>
        <p:spPr>
          <a:xfrm flipV="1">
            <a:off x="11243134" y="58747"/>
            <a:ext cx="129657" cy="20520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 190"/>
          <p:cNvCxnSpPr/>
          <p:nvPr/>
        </p:nvCxnSpPr>
        <p:spPr>
          <a:xfrm flipV="1">
            <a:off x="11372791" y="42813"/>
            <a:ext cx="129657" cy="15934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 191"/>
          <p:cNvCxnSpPr/>
          <p:nvPr/>
        </p:nvCxnSpPr>
        <p:spPr>
          <a:xfrm flipV="1">
            <a:off x="11502448" y="31257"/>
            <a:ext cx="129657" cy="11556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 flipV="1">
            <a:off x="11632105" y="23794"/>
            <a:ext cx="129658" cy="7463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 flipV="1">
            <a:off x="11761763" y="20095"/>
            <a:ext cx="129657" cy="3699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 flipV="1">
            <a:off x="11891420" y="19799"/>
            <a:ext cx="129657" cy="296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>
            <a:off x="12021077" y="19799"/>
            <a:ext cx="129657" cy="2735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>
            <a:off x="12150734" y="22534"/>
            <a:ext cx="129658" cy="5391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>
            <a:off x="7223760" y="229918"/>
            <a:ext cx="129657" cy="32372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>
            <a:off x="7353417" y="262290"/>
            <a:ext cx="129657" cy="34476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 199"/>
          <p:cNvCxnSpPr/>
          <p:nvPr/>
        </p:nvCxnSpPr>
        <p:spPr>
          <a:xfrm>
            <a:off x="7483074" y="296766"/>
            <a:ext cx="129657" cy="36329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 200"/>
          <p:cNvCxnSpPr/>
          <p:nvPr/>
        </p:nvCxnSpPr>
        <p:spPr>
          <a:xfrm>
            <a:off x="7612731" y="333095"/>
            <a:ext cx="129657" cy="37803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Connector 201"/>
          <p:cNvCxnSpPr/>
          <p:nvPr/>
        </p:nvCxnSpPr>
        <p:spPr>
          <a:xfrm>
            <a:off x="7742388" y="370898"/>
            <a:ext cx="129658" cy="38745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Connector 202"/>
          <p:cNvCxnSpPr/>
          <p:nvPr/>
        </p:nvCxnSpPr>
        <p:spPr>
          <a:xfrm>
            <a:off x="7872046" y="409643"/>
            <a:ext cx="129657" cy="38999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Connector 203"/>
          <p:cNvCxnSpPr/>
          <p:nvPr/>
        </p:nvCxnSpPr>
        <p:spPr>
          <a:xfrm>
            <a:off x="8001703" y="448642"/>
            <a:ext cx="129657" cy="38415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Connector 204"/>
          <p:cNvCxnSpPr/>
          <p:nvPr/>
        </p:nvCxnSpPr>
        <p:spPr>
          <a:xfrm>
            <a:off x="8131360" y="487057"/>
            <a:ext cx="129657" cy="36859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Connector 205"/>
          <p:cNvCxnSpPr/>
          <p:nvPr/>
        </p:nvCxnSpPr>
        <p:spPr>
          <a:xfrm>
            <a:off x="8261017" y="523916"/>
            <a:ext cx="129658" cy="34233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Connector 206"/>
          <p:cNvCxnSpPr/>
          <p:nvPr/>
        </p:nvCxnSpPr>
        <p:spPr>
          <a:xfrm>
            <a:off x="8390675" y="558149"/>
            <a:ext cx="129657" cy="30486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Connector 207"/>
          <p:cNvCxnSpPr/>
          <p:nvPr/>
        </p:nvCxnSpPr>
        <p:spPr>
          <a:xfrm>
            <a:off x="8520332" y="588635"/>
            <a:ext cx="129657" cy="25623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 208"/>
          <p:cNvCxnSpPr/>
          <p:nvPr/>
        </p:nvCxnSpPr>
        <p:spPr>
          <a:xfrm>
            <a:off x="8649989" y="614258"/>
            <a:ext cx="129657" cy="19720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Connector 209"/>
          <p:cNvCxnSpPr/>
          <p:nvPr/>
        </p:nvCxnSpPr>
        <p:spPr>
          <a:xfrm>
            <a:off x="8779646" y="633978"/>
            <a:ext cx="129658" cy="12919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Connector 210"/>
          <p:cNvCxnSpPr/>
          <p:nvPr/>
        </p:nvCxnSpPr>
        <p:spPr>
          <a:xfrm>
            <a:off x="8909304" y="646897"/>
            <a:ext cx="129657" cy="5424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Connector 211"/>
          <p:cNvCxnSpPr/>
          <p:nvPr/>
        </p:nvCxnSpPr>
        <p:spPr>
          <a:xfrm flipV="1">
            <a:off x="9038961" y="649817"/>
            <a:ext cx="129657" cy="2504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Connector 212"/>
          <p:cNvCxnSpPr/>
          <p:nvPr/>
        </p:nvCxnSpPr>
        <p:spPr>
          <a:xfrm flipV="1">
            <a:off x="9168618" y="639249"/>
            <a:ext cx="129657" cy="10568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Connector 213"/>
          <p:cNvCxnSpPr/>
          <p:nvPr/>
        </p:nvCxnSpPr>
        <p:spPr>
          <a:xfrm flipV="1">
            <a:off x="9298275" y="620798"/>
            <a:ext cx="129657" cy="18451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Connector 214"/>
          <p:cNvCxnSpPr/>
          <p:nvPr/>
        </p:nvCxnSpPr>
        <p:spPr>
          <a:xfrm flipV="1">
            <a:off x="9427932" y="594957"/>
            <a:ext cx="129658" cy="25841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Connector 215"/>
          <p:cNvCxnSpPr/>
          <p:nvPr/>
        </p:nvCxnSpPr>
        <p:spPr>
          <a:xfrm flipV="1">
            <a:off x="9557590" y="562512"/>
            <a:ext cx="129657" cy="32445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" name="Connector 216"/>
          <p:cNvCxnSpPr/>
          <p:nvPr/>
        </p:nvCxnSpPr>
        <p:spPr>
          <a:xfrm flipV="1">
            <a:off x="9687247" y="524490"/>
            <a:ext cx="129657" cy="38022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Connector 217"/>
          <p:cNvCxnSpPr/>
          <p:nvPr/>
        </p:nvCxnSpPr>
        <p:spPr>
          <a:xfrm flipV="1">
            <a:off x="9816904" y="482106"/>
            <a:ext cx="129657" cy="42384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Connector 218"/>
          <p:cNvCxnSpPr/>
          <p:nvPr/>
        </p:nvCxnSpPr>
        <p:spPr>
          <a:xfrm flipV="1">
            <a:off x="9946561" y="436691"/>
            <a:ext cx="129658" cy="45415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Connector 219"/>
          <p:cNvCxnSpPr/>
          <p:nvPr/>
        </p:nvCxnSpPr>
        <p:spPr>
          <a:xfrm flipV="1">
            <a:off x="10076219" y="389620"/>
            <a:ext cx="129657" cy="47071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Connector 220"/>
          <p:cNvCxnSpPr/>
          <p:nvPr/>
        </p:nvCxnSpPr>
        <p:spPr>
          <a:xfrm flipV="1">
            <a:off x="10205876" y="342241"/>
            <a:ext cx="129657" cy="47379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Connector 221"/>
          <p:cNvCxnSpPr/>
          <p:nvPr/>
        </p:nvCxnSpPr>
        <p:spPr>
          <a:xfrm flipV="1">
            <a:off x="10335533" y="295808"/>
            <a:ext cx="129657" cy="46433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Connector 222"/>
          <p:cNvCxnSpPr/>
          <p:nvPr/>
        </p:nvCxnSpPr>
        <p:spPr>
          <a:xfrm flipV="1">
            <a:off x="10465190" y="251438"/>
            <a:ext cx="129658" cy="44370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Connector 223"/>
          <p:cNvCxnSpPr/>
          <p:nvPr/>
        </p:nvCxnSpPr>
        <p:spPr>
          <a:xfrm flipV="1">
            <a:off x="10594848" y="210066"/>
            <a:ext cx="129657" cy="41372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Connector 224"/>
          <p:cNvCxnSpPr/>
          <p:nvPr/>
        </p:nvCxnSpPr>
        <p:spPr>
          <a:xfrm flipV="1">
            <a:off x="10724505" y="172431"/>
            <a:ext cx="129657" cy="37635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Connector 225"/>
          <p:cNvCxnSpPr/>
          <p:nvPr/>
        </p:nvCxnSpPr>
        <p:spPr>
          <a:xfrm flipV="1">
            <a:off x="10854162" y="139065"/>
            <a:ext cx="129657" cy="33366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Connector 226"/>
          <p:cNvCxnSpPr/>
          <p:nvPr/>
        </p:nvCxnSpPr>
        <p:spPr>
          <a:xfrm flipV="1">
            <a:off x="10983819" y="110300"/>
            <a:ext cx="129657" cy="28765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" name="Connector 227"/>
          <p:cNvCxnSpPr/>
          <p:nvPr/>
        </p:nvCxnSpPr>
        <p:spPr>
          <a:xfrm flipV="1">
            <a:off x="11113476" y="86291"/>
            <a:ext cx="129658" cy="24009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Connector 228"/>
          <p:cNvCxnSpPr/>
          <p:nvPr/>
        </p:nvCxnSpPr>
        <p:spPr>
          <a:xfrm flipV="1">
            <a:off x="11243134" y="67032"/>
            <a:ext cx="129657" cy="19259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Connector 229"/>
          <p:cNvCxnSpPr/>
          <p:nvPr/>
        </p:nvCxnSpPr>
        <p:spPr>
          <a:xfrm flipV="1">
            <a:off x="11372791" y="52391"/>
            <a:ext cx="129657" cy="14641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Connector 230"/>
          <p:cNvCxnSpPr/>
          <p:nvPr/>
        </p:nvCxnSpPr>
        <p:spPr>
          <a:xfrm flipV="1">
            <a:off x="11502448" y="42135"/>
            <a:ext cx="129657" cy="10256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Connector 231"/>
          <p:cNvCxnSpPr/>
          <p:nvPr/>
        </p:nvCxnSpPr>
        <p:spPr>
          <a:xfrm flipV="1">
            <a:off x="11632105" y="35959"/>
            <a:ext cx="129658" cy="6176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Connector 232"/>
          <p:cNvCxnSpPr/>
          <p:nvPr/>
        </p:nvCxnSpPr>
        <p:spPr>
          <a:xfrm flipV="1">
            <a:off x="11761763" y="33510"/>
            <a:ext cx="129657" cy="2449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Connector 233"/>
          <p:cNvCxnSpPr/>
          <p:nvPr/>
        </p:nvCxnSpPr>
        <p:spPr>
          <a:xfrm>
            <a:off x="11891420" y="33510"/>
            <a:ext cx="129657" cy="896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Connector 234"/>
          <p:cNvCxnSpPr/>
          <p:nvPr/>
        </p:nvCxnSpPr>
        <p:spPr>
          <a:xfrm>
            <a:off x="12021077" y="34406"/>
            <a:ext cx="129657" cy="3847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Connector 235"/>
          <p:cNvCxnSpPr/>
          <p:nvPr/>
        </p:nvCxnSpPr>
        <p:spPr>
          <a:xfrm>
            <a:off x="12150734" y="38253"/>
            <a:ext cx="129658" cy="6405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" name="Connector 236"/>
          <p:cNvCxnSpPr/>
          <p:nvPr/>
        </p:nvCxnSpPr>
        <p:spPr>
          <a:xfrm>
            <a:off x="7223760" y="249062"/>
            <a:ext cx="129657" cy="31785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Connector 237"/>
          <p:cNvCxnSpPr/>
          <p:nvPr/>
        </p:nvCxnSpPr>
        <p:spPr>
          <a:xfrm>
            <a:off x="7353417" y="280847"/>
            <a:ext cx="129657" cy="33741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9" name="Connector 238"/>
          <p:cNvCxnSpPr/>
          <p:nvPr/>
        </p:nvCxnSpPr>
        <p:spPr>
          <a:xfrm>
            <a:off x="7483074" y="314588"/>
            <a:ext cx="129657" cy="35461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0" name="Connector 239"/>
          <p:cNvCxnSpPr/>
          <p:nvPr/>
        </p:nvCxnSpPr>
        <p:spPr>
          <a:xfrm>
            <a:off x="7612731" y="350049"/>
            <a:ext cx="129657" cy="36814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1" name="Connector 240"/>
          <p:cNvCxnSpPr/>
          <p:nvPr/>
        </p:nvCxnSpPr>
        <p:spPr>
          <a:xfrm>
            <a:off x="7742388" y="386863"/>
            <a:ext cx="129658" cy="37653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2" name="Connector 241"/>
          <p:cNvCxnSpPr/>
          <p:nvPr/>
        </p:nvCxnSpPr>
        <p:spPr>
          <a:xfrm>
            <a:off x="7872046" y="424516"/>
            <a:ext cx="129657" cy="37824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3" name="Connector 242"/>
          <p:cNvCxnSpPr/>
          <p:nvPr/>
        </p:nvCxnSpPr>
        <p:spPr>
          <a:xfrm>
            <a:off x="8001703" y="462340"/>
            <a:ext cx="129657" cy="37177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4" name="Connector 243"/>
          <p:cNvCxnSpPr/>
          <p:nvPr/>
        </p:nvCxnSpPr>
        <p:spPr>
          <a:xfrm>
            <a:off x="8131360" y="499517"/>
            <a:ext cx="129657" cy="35579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5" name="Connector 244"/>
          <p:cNvCxnSpPr/>
          <p:nvPr/>
        </p:nvCxnSpPr>
        <p:spPr>
          <a:xfrm>
            <a:off x="8261017" y="535096"/>
            <a:ext cx="129658" cy="32934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Connector 245"/>
          <p:cNvCxnSpPr/>
          <p:nvPr/>
        </p:nvCxnSpPr>
        <p:spPr>
          <a:xfrm>
            <a:off x="8390675" y="568030"/>
            <a:ext cx="129657" cy="29189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Connector 246"/>
          <p:cNvCxnSpPr/>
          <p:nvPr/>
        </p:nvCxnSpPr>
        <p:spPr>
          <a:xfrm>
            <a:off x="8520332" y="597219"/>
            <a:ext cx="129657" cy="24352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" name="Connector 247"/>
          <p:cNvCxnSpPr/>
          <p:nvPr/>
        </p:nvCxnSpPr>
        <p:spPr>
          <a:xfrm>
            <a:off x="8649989" y="621571"/>
            <a:ext cx="129657" cy="18497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9" name="Connector 248"/>
          <p:cNvCxnSpPr/>
          <p:nvPr/>
        </p:nvCxnSpPr>
        <p:spPr>
          <a:xfrm>
            <a:off x="8779646" y="640068"/>
            <a:ext cx="129658" cy="11765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Connector 249"/>
          <p:cNvCxnSpPr/>
          <p:nvPr/>
        </p:nvCxnSpPr>
        <p:spPr>
          <a:xfrm>
            <a:off x="8909304" y="651833"/>
            <a:ext cx="129657" cy="4359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" name="Connector 250"/>
          <p:cNvCxnSpPr/>
          <p:nvPr/>
        </p:nvCxnSpPr>
        <p:spPr>
          <a:xfrm flipV="1">
            <a:off x="9038961" y="652730"/>
            <a:ext cx="129657" cy="3462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" name="Connector 251"/>
          <p:cNvCxnSpPr/>
          <p:nvPr/>
        </p:nvCxnSpPr>
        <p:spPr>
          <a:xfrm flipV="1">
            <a:off x="9168618" y="641328"/>
            <a:ext cx="129657" cy="11402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3" name="Connector 252"/>
          <p:cNvCxnSpPr/>
          <p:nvPr/>
        </p:nvCxnSpPr>
        <p:spPr>
          <a:xfrm flipV="1">
            <a:off x="9298275" y="622182"/>
            <a:ext cx="129657" cy="19146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4" name="Connector 253"/>
          <p:cNvCxnSpPr/>
          <p:nvPr/>
        </p:nvCxnSpPr>
        <p:spPr>
          <a:xfrm flipV="1">
            <a:off x="9427932" y="595797"/>
            <a:ext cx="129658" cy="26385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5" name="Connector 254"/>
          <p:cNvCxnSpPr/>
          <p:nvPr/>
        </p:nvCxnSpPr>
        <p:spPr>
          <a:xfrm flipV="1">
            <a:off x="9557590" y="562967"/>
            <a:ext cx="129657" cy="32830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Connector 255"/>
          <p:cNvCxnSpPr/>
          <p:nvPr/>
        </p:nvCxnSpPr>
        <p:spPr>
          <a:xfrm flipV="1">
            <a:off x="9687247" y="524727"/>
            <a:ext cx="129657" cy="38240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7" name="Connector 256"/>
          <p:cNvCxnSpPr/>
          <p:nvPr/>
        </p:nvCxnSpPr>
        <p:spPr>
          <a:xfrm flipV="1">
            <a:off x="9816904" y="482296"/>
            <a:ext cx="129657" cy="42431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" name="Connector 257"/>
          <p:cNvCxnSpPr/>
          <p:nvPr/>
        </p:nvCxnSpPr>
        <p:spPr>
          <a:xfrm flipV="1">
            <a:off x="9946561" y="437006"/>
            <a:ext cx="129658" cy="45290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" name="Connector 258"/>
          <p:cNvCxnSpPr/>
          <p:nvPr/>
        </p:nvCxnSpPr>
        <p:spPr>
          <a:xfrm flipV="1">
            <a:off x="10076219" y="390229"/>
            <a:ext cx="129657" cy="46777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0" name="Connector 259"/>
          <p:cNvCxnSpPr/>
          <p:nvPr/>
        </p:nvCxnSpPr>
        <p:spPr>
          <a:xfrm flipV="1">
            <a:off x="10205876" y="343306"/>
            <a:ext cx="129657" cy="46923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" name="Connector 260"/>
          <p:cNvCxnSpPr/>
          <p:nvPr/>
        </p:nvCxnSpPr>
        <p:spPr>
          <a:xfrm flipV="1">
            <a:off x="10335533" y="297487"/>
            <a:ext cx="129657" cy="45819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Connector 261"/>
          <p:cNvCxnSpPr/>
          <p:nvPr/>
        </p:nvCxnSpPr>
        <p:spPr>
          <a:xfrm flipV="1">
            <a:off x="10465190" y="253876"/>
            <a:ext cx="129658" cy="43611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Connector 262"/>
          <p:cNvCxnSpPr/>
          <p:nvPr/>
        </p:nvCxnSpPr>
        <p:spPr>
          <a:xfrm flipV="1">
            <a:off x="10594848" y="213396"/>
            <a:ext cx="129657" cy="40480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" name="Connector 263"/>
          <p:cNvCxnSpPr/>
          <p:nvPr/>
        </p:nvCxnSpPr>
        <p:spPr>
          <a:xfrm flipV="1">
            <a:off x="10724505" y="176769"/>
            <a:ext cx="129657" cy="36627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5" name="Connector 264"/>
          <p:cNvCxnSpPr/>
          <p:nvPr/>
        </p:nvCxnSpPr>
        <p:spPr>
          <a:xfrm flipV="1">
            <a:off x="10854162" y="144510"/>
            <a:ext cx="129657" cy="32259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6" name="Connector 265"/>
          <p:cNvCxnSpPr/>
          <p:nvPr/>
        </p:nvCxnSpPr>
        <p:spPr>
          <a:xfrm flipV="1">
            <a:off x="10983819" y="116934"/>
            <a:ext cx="129657" cy="27576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7" name="Connector 266"/>
          <p:cNvCxnSpPr/>
          <p:nvPr/>
        </p:nvCxnSpPr>
        <p:spPr>
          <a:xfrm flipV="1">
            <a:off x="11113476" y="94171"/>
            <a:ext cx="129658" cy="22763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8" name="Connector 267"/>
          <p:cNvCxnSpPr/>
          <p:nvPr/>
        </p:nvCxnSpPr>
        <p:spPr>
          <a:xfrm flipV="1">
            <a:off x="11243134" y="76198"/>
            <a:ext cx="129657" cy="17973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9" name="Connector 268"/>
          <p:cNvCxnSpPr/>
          <p:nvPr/>
        </p:nvCxnSpPr>
        <p:spPr>
          <a:xfrm flipV="1">
            <a:off x="11372791" y="62857"/>
            <a:ext cx="129657" cy="13341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0" name="Connector 269"/>
          <p:cNvCxnSpPr/>
          <p:nvPr/>
        </p:nvCxnSpPr>
        <p:spPr>
          <a:xfrm flipV="1">
            <a:off x="11502448" y="53895"/>
            <a:ext cx="129657" cy="8962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1" name="Connector 270"/>
          <p:cNvCxnSpPr/>
          <p:nvPr/>
        </p:nvCxnSpPr>
        <p:spPr>
          <a:xfrm flipV="1">
            <a:off x="11632105" y="48982"/>
            <a:ext cx="129658" cy="4913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2" name="Connector 271"/>
          <p:cNvCxnSpPr/>
          <p:nvPr/>
        </p:nvCxnSpPr>
        <p:spPr>
          <a:xfrm flipV="1">
            <a:off x="11761763" y="47745"/>
            <a:ext cx="129657" cy="1237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3" name="Connector 272"/>
          <p:cNvCxnSpPr/>
          <p:nvPr/>
        </p:nvCxnSpPr>
        <p:spPr>
          <a:xfrm>
            <a:off x="11891420" y="47745"/>
            <a:ext cx="129657" cy="2036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4" name="Connector 273"/>
          <p:cNvCxnSpPr/>
          <p:nvPr/>
        </p:nvCxnSpPr>
        <p:spPr>
          <a:xfrm>
            <a:off x="12021077" y="49781"/>
            <a:ext cx="129657" cy="4895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5" name="Connector 274"/>
          <p:cNvCxnSpPr/>
          <p:nvPr/>
        </p:nvCxnSpPr>
        <p:spPr>
          <a:xfrm>
            <a:off x="12150734" y="54676"/>
            <a:ext cx="129658" cy="7342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8" name="TextBox 277"/>
          <p:cNvSpPr txBox="1"/>
          <p:nvPr/>
        </p:nvSpPr>
        <p:spPr>
          <a:xfrm>
            <a:off x="11228832" y="73152"/>
            <a:ext cx="713232" cy="310896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/>
            <a:r>
              <a:rPr sz="1300" b="1">
                <a:solidFill>
                  <a:srgbClr val="0556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</a:t>
            </a:r>
            <a:r>
              <a:rPr sz="1300" b="0">
                <a:solidFill>
                  <a:srgbClr val="526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16</a:t>
            </a:r>
            <a:endParaRPr sz="1300" b="0">
              <a:solidFill>
                <a:srgbClr val="5265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0" name="TextBox 279"/>
          <p:cNvSpPr txBox="1"/>
          <p:nvPr/>
        </p:nvSpPr>
        <p:spPr>
          <a:xfrm>
            <a:off x="512064" y="493776"/>
            <a:ext cx="10515600" cy="502920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C20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作者与机构身份消歧</a:t>
            </a:r>
            <a:endParaRPr sz="3000" b="1">
              <a:solidFill>
                <a:srgbClr val="0C205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1" name="TextBox 280"/>
          <p:cNvSpPr txBox="1"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B4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统一身份标识、上下文辅助判断，保留历史任职和署名信息</a:t>
            </a:r>
            <a:endParaRPr sz="1800" b="0">
              <a:solidFill>
                <a:srgbClr val="2B40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2" name="Rounded Rectangle 281"/>
          <p:cNvSpPr/>
          <p:nvPr/>
        </p:nvSpPr>
        <p:spPr>
          <a:xfrm>
            <a:off x="356616" y="1609344"/>
            <a:ext cx="5632704" cy="307238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0160">
            <a:solidFill>
              <a:srgbClr val="C9E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Rounded Rectangle 282"/>
          <p:cNvSpPr/>
          <p:nvPr/>
        </p:nvSpPr>
        <p:spPr>
          <a:xfrm>
            <a:off x="6208776" y="1609344"/>
            <a:ext cx="5623560" cy="307238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0160">
            <a:solidFill>
              <a:srgbClr val="C9E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Oval 283"/>
          <p:cNvSpPr/>
          <p:nvPr/>
        </p:nvSpPr>
        <p:spPr>
          <a:xfrm>
            <a:off x="630936" y="1755648"/>
            <a:ext cx="841248" cy="841248"/>
          </a:xfrm>
          <a:prstGeom prst="ellipse">
            <a:avLst/>
          </a:prstGeom>
          <a:solidFill>
            <a:srgbClr val="EA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Oval 284"/>
          <p:cNvSpPr/>
          <p:nvPr/>
        </p:nvSpPr>
        <p:spPr>
          <a:xfrm>
            <a:off x="925709" y="1913129"/>
            <a:ext cx="251701" cy="251701"/>
          </a:xfrm>
          <a:prstGeom prst="ellipse">
            <a:avLst/>
          </a:prstGeom>
          <a:noFill/>
          <a:ln w="26670">
            <a:solidFill>
              <a:srgbClr val="055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6" name="Connector 285"/>
          <p:cNvCxnSpPr/>
          <p:nvPr/>
        </p:nvCxnSpPr>
        <p:spPr>
          <a:xfrm flipV="1">
            <a:off x="776976" y="2319284"/>
            <a:ext cx="17162" cy="120130"/>
          </a:xfrm>
          <a:prstGeom prst="line">
            <a:avLst/>
          </a:prstGeom>
          <a:ln w="26670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7" name="Connector 286"/>
          <p:cNvCxnSpPr/>
          <p:nvPr/>
        </p:nvCxnSpPr>
        <p:spPr>
          <a:xfrm flipV="1">
            <a:off x="794138" y="2233476"/>
            <a:ext cx="91527" cy="85808"/>
          </a:xfrm>
          <a:prstGeom prst="line">
            <a:avLst/>
          </a:prstGeom>
          <a:ln w="26670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8" name="Connector 287"/>
          <p:cNvCxnSpPr/>
          <p:nvPr/>
        </p:nvCxnSpPr>
        <p:spPr>
          <a:xfrm>
            <a:off x="885665" y="2233476"/>
            <a:ext cx="331789" cy="0"/>
          </a:xfrm>
          <a:prstGeom prst="line">
            <a:avLst/>
          </a:prstGeom>
          <a:ln w="26670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9" name="Connector 288"/>
          <p:cNvCxnSpPr/>
          <p:nvPr/>
        </p:nvCxnSpPr>
        <p:spPr>
          <a:xfrm>
            <a:off x="1217454" y="2233476"/>
            <a:ext cx="91527" cy="85808"/>
          </a:xfrm>
          <a:prstGeom prst="line">
            <a:avLst/>
          </a:prstGeom>
          <a:ln w="26670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0" name="Connector 289"/>
          <p:cNvCxnSpPr/>
          <p:nvPr/>
        </p:nvCxnSpPr>
        <p:spPr>
          <a:xfrm>
            <a:off x="1308981" y="2319284"/>
            <a:ext cx="17162" cy="120130"/>
          </a:xfrm>
          <a:prstGeom prst="line">
            <a:avLst/>
          </a:prstGeom>
          <a:ln w="26670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1" name="Oval 290"/>
          <p:cNvSpPr/>
          <p:nvPr/>
        </p:nvSpPr>
        <p:spPr>
          <a:xfrm>
            <a:off x="6483096" y="1755648"/>
            <a:ext cx="841248" cy="841248"/>
          </a:xfrm>
          <a:prstGeom prst="ellipse">
            <a:avLst/>
          </a:prstGeom>
          <a:solidFill>
            <a:srgbClr val="FF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2" name="Connector 291"/>
          <p:cNvCxnSpPr/>
          <p:nvPr/>
        </p:nvCxnSpPr>
        <p:spPr>
          <a:xfrm flipV="1">
            <a:off x="6629136" y="1890247"/>
            <a:ext cx="274584" cy="177335"/>
          </a:xfrm>
          <a:prstGeom prst="line">
            <a:avLst/>
          </a:prstGeom>
          <a:ln w="26670">
            <a:solidFill>
              <a:srgbClr val="F47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3" name="Connector 292"/>
          <p:cNvCxnSpPr/>
          <p:nvPr/>
        </p:nvCxnSpPr>
        <p:spPr>
          <a:xfrm>
            <a:off x="6903720" y="1890247"/>
            <a:ext cx="274583" cy="177335"/>
          </a:xfrm>
          <a:prstGeom prst="line">
            <a:avLst/>
          </a:prstGeom>
          <a:ln w="26670">
            <a:solidFill>
              <a:srgbClr val="F47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4" name="Connector 293"/>
          <p:cNvCxnSpPr/>
          <p:nvPr/>
        </p:nvCxnSpPr>
        <p:spPr>
          <a:xfrm>
            <a:off x="6692062" y="2090464"/>
            <a:ext cx="0" cy="286025"/>
          </a:xfrm>
          <a:prstGeom prst="line">
            <a:avLst/>
          </a:prstGeom>
          <a:ln w="26670">
            <a:solidFill>
              <a:srgbClr val="F47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5" name="Connector 294"/>
          <p:cNvCxnSpPr/>
          <p:nvPr/>
        </p:nvCxnSpPr>
        <p:spPr>
          <a:xfrm>
            <a:off x="6829353" y="2090464"/>
            <a:ext cx="0" cy="286025"/>
          </a:xfrm>
          <a:prstGeom prst="line">
            <a:avLst/>
          </a:prstGeom>
          <a:ln w="26670">
            <a:solidFill>
              <a:srgbClr val="F47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6" name="Connector 295"/>
          <p:cNvCxnSpPr/>
          <p:nvPr/>
        </p:nvCxnSpPr>
        <p:spPr>
          <a:xfrm>
            <a:off x="6978086" y="2090464"/>
            <a:ext cx="0" cy="286025"/>
          </a:xfrm>
          <a:prstGeom prst="line">
            <a:avLst/>
          </a:prstGeom>
          <a:ln w="26670">
            <a:solidFill>
              <a:srgbClr val="F47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7" name="Connector 296"/>
          <p:cNvCxnSpPr/>
          <p:nvPr/>
        </p:nvCxnSpPr>
        <p:spPr>
          <a:xfrm>
            <a:off x="7115377" y="2090464"/>
            <a:ext cx="0" cy="286025"/>
          </a:xfrm>
          <a:prstGeom prst="line">
            <a:avLst/>
          </a:prstGeom>
          <a:ln w="26670">
            <a:solidFill>
              <a:srgbClr val="F47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8" name="Connector 297"/>
          <p:cNvCxnSpPr/>
          <p:nvPr/>
        </p:nvCxnSpPr>
        <p:spPr>
          <a:xfrm>
            <a:off x="6600534" y="2405091"/>
            <a:ext cx="606371" cy="0"/>
          </a:xfrm>
          <a:prstGeom prst="line">
            <a:avLst/>
          </a:prstGeom>
          <a:ln w="27940">
            <a:solidFill>
              <a:srgbClr val="F47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9" name="TextBox 298"/>
          <p:cNvSpPr txBox="1"/>
          <p:nvPr/>
        </p:nvSpPr>
        <p:spPr>
          <a:xfrm>
            <a:off x="1801368" y="1993392"/>
            <a:ext cx="3941063" cy="438912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C20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学者身份消歧</a:t>
            </a:r>
            <a:endParaRPr sz="2400" b="1">
              <a:solidFill>
                <a:srgbClr val="0C205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0" name="TextBox 299"/>
          <p:cNvSpPr txBox="1"/>
          <p:nvPr/>
        </p:nvSpPr>
        <p:spPr>
          <a:xfrm>
            <a:off x="7662672" y="1993392"/>
            <a:ext cx="3822191" cy="438912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C20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机构身份消歧</a:t>
            </a:r>
            <a:endParaRPr sz="2400" b="1">
              <a:solidFill>
                <a:srgbClr val="0C205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1" name="Oval 300"/>
          <p:cNvSpPr/>
          <p:nvPr/>
        </p:nvSpPr>
        <p:spPr>
          <a:xfrm>
            <a:off x="704088" y="2852928"/>
            <a:ext cx="153619" cy="153619"/>
          </a:xfrm>
          <a:prstGeom prst="ellipse">
            <a:avLst/>
          </a:prstGeom>
          <a:solidFill>
            <a:srgbClr val="88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TextBox 301"/>
          <p:cNvSpPr txBox="1"/>
          <p:nvPr/>
        </p:nvSpPr>
        <p:spPr>
          <a:xfrm>
            <a:off x="1024128" y="2715768"/>
            <a:ext cx="4572000" cy="374904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/>
            <a:r>
              <a:rPr sz="1810" b="1">
                <a:solidFill>
                  <a:srgbClr val="0556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可信 ORCID</a:t>
            </a:r>
            <a:r>
              <a:rPr sz="1810" b="0">
                <a:solidFill>
                  <a:srgbClr val="0C20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优先</a:t>
            </a:r>
            <a:endParaRPr sz="1810" b="0">
              <a:solidFill>
                <a:srgbClr val="0C205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3" name="Oval 302"/>
          <p:cNvSpPr/>
          <p:nvPr/>
        </p:nvSpPr>
        <p:spPr>
          <a:xfrm>
            <a:off x="704088" y="3291840"/>
            <a:ext cx="153619" cy="153619"/>
          </a:xfrm>
          <a:prstGeom prst="ellipse">
            <a:avLst/>
          </a:prstGeom>
          <a:solidFill>
            <a:srgbClr val="88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TextBox 303"/>
          <p:cNvSpPr txBox="1"/>
          <p:nvPr/>
        </p:nvSpPr>
        <p:spPr>
          <a:xfrm>
            <a:off x="1024128" y="3154680"/>
            <a:ext cx="4572000" cy="374904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/>
            <a:r>
              <a:rPr sz="1810" b="1">
                <a:solidFill>
                  <a:srgbClr val="0556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核实</a:t>
            </a:r>
            <a:r>
              <a:rPr sz="1810" b="0">
                <a:solidFill>
                  <a:srgbClr val="0C20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ORCID 与本人身份关联</a:t>
            </a:r>
            <a:endParaRPr sz="1810" b="0">
              <a:solidFill>
                <a:srgbClr val="0C205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5" name="Oval 304"/>
          <p:cNvSpPr/>
          <p:nvPr/>
        </p:nvSpPr>
        <p:spPr>
          <a:xfrm>
            <a:off x="704088" y="3730752"/>
            <a:ext cx="153619" cy="153619"/>
          </a:xfrm>
          <a:prstGeom prst="ellipse">
            <a:avLst/>
          </a:prstGeom>
          <a:solidFill>
            <a:srgbClr val="88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TextBox 305"/>
          <p:cNvSpPr txBox="1"/>
          <p:nvPr/>
        </p:nvSpPr>
        <p:spPr>
          <a:xfrm>
            <a:off x="1024128" y="3593592"/>
            <a:ext cx="4572000" cy="374904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/>
            <a:r>
              <a:rPr sz="1810" b="1">
                <a:solidFill>
                  <a:srgbClr val="0556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结合</a:t>
            </a:r>
            <a:r>
              <a:rPr sz="1810" b="0">
                <a:solidFill>
                  <a:srgbClr val="0C20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姓名、机构、共同作者、研究方向</a:t>
            </a:r>
            <a:endParaRPr sz="1810" b="0">
              <a:solidFill>
                <a:srgbClr val="0C205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7" name="Oval 306"/>
          <p:cNvSpPr/>
          <p:nvPr/>
        </p:nvSpPr>
        <p:spPr>
          <a:xfrm>
            <a:off x="704088" y="4169664"/>
            <a:ext cx="153619" cy="153619"/>
          </a:xfrm>
          <a:prstGeom prst="ellipse">
            <a:avLst/>
          </a:prstGeom>
          <a:solidFill>
            <a:srgbClr val="88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TextBox 307"/>
          <p:cNvSpPr txBox="1"/>
          <p:nvPr/>
        </p:nvSpPr>
        <p:spPr>
          <a:xfrm>
            <a:off x="1024128" y="4032504"/>
            <a:ext cx="4572000" cy="374904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/>
            <a:r>
              <a:rPr sz="1810" b="1">
                <a:solidFill>
                  <a:srgbClr val="0556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同名疑似样本</a:t>
            </a:r>
            <a:r>
              <a:rPr sz="1810" b="0">
                <a:solidFill>
                  <a:srgbClr val="0C20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进入人工复核</a:t>
            </a:r>
            <a:endParaRPr sz="1810" b="0">
              <a:solidFill>
                <a:srgbClr val="0C205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9" name="Oval 308"/>
          <p:cNvSpPr/>
          <p:nvPr/>
        </p:nvSpPr>
        <p:spPr>
          <a:xfrm>
            <a:off x="6556248" y="2852928"/>
            <a:ext cx="153619" cy="153619"/>
          </a:xfrm>
          <a:prstGeom prst="ellipse">
            <a:avLst/>
          </a:prstGeom>
          <a:solidFill>
            <a:srgbClr val="FFC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TextBox 309"/>
          <p:cNvSpPr txBox="1"/>
          <p:nvPr/>
        </p:nvSpPr>
        <p:spPr>
          <a:xfrm>
            <a:off x="6876288" y="2715768"/>
            <a:ext cx="4572000" cy="374904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/>
            <a:r>
              <a:rPr sz="1810" b="1">
                <a:solidFill>
                  <a:srgbClr val="F47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可信 ROR</a:t>
            </a:r>
            <a:r>
              <a:rPr sz="1810" b="0">
                <a:solidFill>
                  <a:srgbClr val="0C20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优先</a:t>
            </a:r>
            <a:endParaRPr sz="1810" b="0">
              <a:solidFill>
                <a:srgbClr val="0C205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1" name="Oval 310"/>
          <p:cNvSpPr/>
          <p:nvPr/>
        </p:nvSpPr>
        <p:spPr>
          <a:xfrm>
            <a:off x="6556248" y="3291840"/>
            <a:ext cx="153619" cy="153619"/>
          </a:xfrm>
          <a:prstGeom prst="ellipse">
            <a:avLst/>
          </a:prstGeom>
          <a:solidFill>
            <a:srgbClr val="FFC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TextBox 311"/>
          <p:cNvSpPr txBox="1"/>
          <p:nvPr/>
        </p:nvSpPr>
        <p:spPr>
          <a:xfrm>
            <a:off x="6876288" y="3154680"/>
            <a:ext cx="4572000" cy="374904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/>
            <a:r>
              <a:rPr sz="1810" b="1">
                <a:solidFill>
                  <a:srgbClr val="F47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综合</a:t>
            </a:r>
            <a:r>
              <a:rPr sz="1810" b="0">
                <a:solidFill>
                  <a:srgbClr val="0C20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机构名称与官方网站</a:t>
            </a:r>
            <a:endParaRPr sz="1810" b="0">
              <a:solidFill>
                <a:srgbClr val="0C205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3" name="Oval 312"/>
          <p:cNvSpPr/>
          <p:nvPr/>
        </p:nvSpPr>
        <p:spPr>
          <a:xfrm>
            <a:off x="6556248" y="3730752"/>
            <a:ext cx="153619" cy="153619"/>
          </a:xfrm>
          <a:prstGeom prst="ellipse">
            <a:avLst/>
          </a:prstGeom>
          <a:solidFill>
            <a:srgbClr val="FFC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TextBox 313"/>
          <p:cNvSpPr txBox="1"/>
          <p:nvPr/>
        </p:nvSpPr>
        <p:spPr>
          <a:xfrm>
            <a:off x="6876288" y="3593592"/>
            <a:ext cx="4572000" cy="374904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/>
            <a:r>
              <a:rPr sz="1810" b="1">
                <a:solidFill>
                  <a:srgbClr val="F47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处理</a:t>
            </a:r>
            <a:r>
              <a:rPr sz="1810" b="0">
                <a:solidFill>
                  <a:srgbClr val="0C20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别名、机构变更与合并</a:t>
            </a:r>
            <a:endParaRPr sz="1810" b="0">
              <a:solidFill>
                <a:srgbClr val="0C205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5" name="Oval 314"/>
          <p:cNvSpPr/>
          <p:nvPr/>
        </p:nvSpPr>
        <p:spPr>
          <a:xfrm>
            <a:off x="6556248" y="4169664"/>
            <a:ext cx="153619" cy="153619"/>
          </a:xfrm>
          <a:prstGeom prst="ellipse">
            <a:avLst/>
          </a:prstGeom>
          <a:solidFill>
            <a:srgbClr val="FFC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TextBox 315"/>
          <p:cNvSpPr txBox="1"/>
          <p:nvPr/>
        </p:nvSpPr>
        <p:spPr>
          <a:xfrm>
            <a:off x="6876288" y="4032504"/>
            <a:ext cx="4572000" cy="374904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/>
            <a:r>
              <a:rPr sz="1810" b="1">
                <a:solidFill>
                  <a:srgbClr val="F47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保留</a:t>
            </a:r>
            <a:r>
              <a:rPr sz="1810" b="0">
                <a:solidFill>
                  <a:srgbClr val="0C20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曾用名与机构来源</a:t>
            </a:r>
            <a:endParaRPr sz="1810" b="0">
              <a:solidFill>
                <a:srgbClr val="0C205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7" name="Rounded Rectangle 316"/>
          <p:cNvSpPr/>
          <p:nvPr/>
        </p:nvSpPr>
        <p:spPr>
          <a:xfrm>
            <a:off x="365760" y="4837176"/>
            <a:ext cx="11475720" cy="1078992"/>
          </a:xfrm>
          <a:prstGeom prst="roundRect">
            <a:avLst>
              <a:gd name="adj" fmla="val 14000"/>
            </a:avLst>
          </a:prstGeom>
          <a:solidFill>
            <a:srgbClr val="F4F9FE"/>
          </a:solidFill>
          <a:ln w="10160">
            <a:solidFill>
              <a:srgbClr val="C9E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Oval 317"/>
          <p:cNvSpPr/>
          <p:nvPr/>
        </p:nvSpPr>
        <p:spPr>
          <a:xfrm>
            <a:off x="685799" y="5020056"/>
            <a:ext cx="713232" cy="713232"/>
          </a:xfrm>
          <a:prstGeom prst="ellipse">
            <a:avLst/>
          </a:prstGeom>
          <a:solidFill>
            <a:srgbClr val="DF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9" name="Connector 318"/>
          <p:cNvCxnSpPr/>
          <p:nvPr/>
        </p:nvCxnSpPr>
        <p:spPr>
          <a:xfrm>
            <a:off x="1042415" y="5153573"/>
            <a:ext cx="179450" cy="72749"/>
          </a:xfrm>
          <a:prstGeom prst="line">
            <a:avLst/>
          </a:prstGeom>
          <a:ln w="26670">
            <a:solidFill>
              <a:srgbClr val="1BAF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0" name="Connector 319"/>
          <p:cNvCxnSpPr/>
          <p:nvPr/>
        </p:nvCxnSpPr>
        <p:spPr>
          <a:xfrm flipH="1">
            <a:off x="1207315" y="5226322"/>
            <a:ext cx="14550" cy="252199"/>
          </a:xfrm>
          <a:prstGeom prst="line">
            <a:avLst/>
          </a:prstGeom>
          <a:ln w="26670">
            <a:solidFill>
              <a:srgbClr val="1BAF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1" name="Connector 320"/>
          <p:cNvCxnSpPr/>
          <p:nvPr/>
        </p:nvCxnSpPr>
        <p:spPr>
          <a:xfrm flipH="1">
            <a:off x="1042415" y="5478521"/>
            <a:ext cx="164900" cy="126099"/>
          </a:xfrm>
          <a:prstGeom prst="line">
            <a:avLst/>
          </a:prstGeom>
          <a:ln w="26670">
            <a:solidFill>
              <a:srgbClr val="1BAF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2" name="Connector 321"/>
          <p:cNvCxnSpPr/>
          <p:nvPr/>
        </p:nvCxnSpPr>
        <p:spPr>
          <a:xfrm flipH="1" flipV="1">
            <a:off x="877516" y="5478521"/>
            <a:ext cx="164899" cy="126099"/>
          </a:xfrm>
          <a:prstGeom prst="line">
            <a:avLst/>
          </a:prstGeom>
          <a:ln w="26670">
            <a:solidFill>
              <a:srgbClr val="1BAF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3" name="Connector 322"/>
          <p:cNvCxnSpPr/>
          <p:nvPr/>
        </p:nvCxnSpPr>
        <p:spPr>
          <a:xfrm flipH="1" flipV="1">
            <a:off x="862966" y="5226322"/>
            <a:ext cx="14550" cy="252199"/>
          </a:xfrm>
          <a:prstGeom prst="line">
            <a:avLst/>
          </a:prstGeom>
          <a:ln w="26670">
            <a:solidFill>
              <a:srgbClr val="1BAF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4" name="Connector 323"/>
          <p:cNvCxnSpPr/>
          <p:nvPr/>
        </p:nvCxnSpPr>
        <p:spPr>
          <a:xfrm flipV="1">
            <a:off x="862966" y="5153573"/>
            <a:ext cx="179449" cy="72749"/>
          </a:xfrm>
          <a:prstGeom prst="line">
            <a:avLst/>
          </a:prstGeom>
          <a:ln w="26670">
            <a:solidFill>
              <a:srgbClr val="1BAF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5" name="TextBox 324"/>
          <p:cNvSpPr txBox="1"/>
          <p:nvPr/>
        </p:nvSpPr>
        <p:spPr>
          <a:xfrm>
            <a:off x="1792224" y="5175504"/>
            <a:ext cx="3081528" cy="448056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0C20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历史关系与信息保护</a:t>
            </a:r>
            <a:endParaRPr sz="2300" b="1">
              <a:solidFill>
                <a:srgbClr val="0C205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26" name="Connector 325"/>
          <p:cNvCxnSpPr/>
          <p:nvPr/>
        </p:nvCxnSpPr>
        <p:spPr>
          <a:xfrm>
            <a:off x="4782312" y="5120640"/>
            <a:ext cx="0" cy="566928"/>
          </a:xfrm>
          <a:prstGeom prst="line">
            <a:avLst/>
          </a:prstGeom>
          <a:ln w="13970">
            <a:solidFill>
              <a:srgbClr val="BED7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7" name="Oval 326"/>
          <p:cNvSpPr/>
          <p:nvPr/>
        </p:nvSpPr>
        <p:spPr>
          <a:xfrm>
            <a:off x="5111496" y="5239512"/>
            <a:ext cx="128016" cy="128016"/>
          </a:xfrm>
          <a:prstGeom prst="ellipse">
            <a:avLst/>
          </a:prstGeom>
          <a:solidFill>
            <a:srgbClr val="1BA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Oval 327"/>
          <p:cNvSpPr/>
          <p:nvPr/>
        </p:nvSpPr>
        <p:spPr>
          <a:xfrm>
            <a:off x="5111496" y="5623560"/>
            <a:ext cx="128016" cy="128016"/>
          </a:xfrm>
          <a:prstGeom prst="ellipse">
            <a:avLst/>
          </a:prstGeom>
          <a:solidFill>
            <a:srgbClr val="1BA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TextBox 328"/>
          <p:cNvSpPr txBox="1"/>
          <p:nvPr/>
        </p:nvSpPr>
        <p:spPr>
          <a:xfrm>
            <a:off x="5330952" y="5120640"/>
            <a:ext cx="6035040" cy="301752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/>
            <a:r>
              <a:rPr sz="1700" b="0">
                <a:solidFill>
                  <a:srgbClr val="0C20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当前所属机构与成果发表时机构</a:t>
            </a:r>
            <a:r>
              <a:rPr sz="1700" b="1">
                <a:solidFill>
                  <a:srgbClr val="0556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分别存储</a:t>
            </a:r>
            <a:endParaRPr sz="1700" b="1">
              <a:solidFill>
                <a:srgbClr val="0556C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0" name="TextBox 329"/>
          <p:cNvSpPr txBox="1"/>
          <p:nvPr/>
        </p:nvSpPr>
        <p:spPr>
          <a:xfrm>
            <a:off x="5330952" y="5495544"/>
            <a:ext cx="6190488" cy="301752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/>
            <a:r>
              <a:rPr sz="1680" b="0">
                <a:solidFill>
                  <a:srgbClr val="0C20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判断缺少可靠证据时，</a:t>
            </a:r>
            <a:r>
              <a:rPr sz="1680" b="1">
                <a:solidFill>
                  <a:srgbClr val="0556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记录候选关系并提交人工复核</a:t>
            </a:r>
            <a:endParaRPr sz="1680" b="1">
              <a:solidFill>
                <a:srgbClr val="0556C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1" name="Rounded Rectangle 330"/>
          <p:cNvSpPr/>
          <p:nvPr/>
        </p:nvSpPr>
        <p:spPr>
          <a:xfrm>
            <a:off x="338328" y="6181344"/>
            <a:ext cx="11521440" cy="576072"/>
          </a:xfrm>
          <a:prstGeom prst="roundRect">
            <a:avLst>
              <a:gd name="adj" fmla="val 14000"/>
            </a:avLst>
          </a:prstGeom>
          <a:solidFill>
            <a:srgbClr val="FFF4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Rounded Rectangle 331"/>
          <p:cNvSpPr/>
          <p:nvPr/>
        </p:nvSpPr>
        <p:spPr>
          <a:xfrm>
            <a:off x="338328" y="6181344"/>
            <a:ext cx="50292" cy="576072"/>
          </a:xfrm>
          <a:prstGeom prst="roundRect">
            <a:avLst>
              <a:gd name="adj" fmla="val 14000"/>
            </a:avLst>
          </a:prstGeom>
          <a:solidFill>
            <a:srgbClr val="F47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Oval 332"/>
          <p:cNvSpPr/>
          <p:nvPr/>
        </p:nvSpPr>
        <p:spPr>
          <a:xfrm>
            <a:off x="749808" y="6272784"/>
            <a:ext cx="402336" cy="402336"/>
          </a:xfrm>
          <a:prstGeom prst="ellipse">
            <a:avLst/>
          </a:prstGeom>
          <a:solidFill>
            <a:srgbClr val="FFE3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Oval 333"/>
          <p:cNvSpPr/>
          <p:nvPr/>
        </p:nvSpPr>
        <p:spPr>
          <a:xfrm>
            <a:off x="879842" y="6402818"/>
            <a:ext cx="142266" cy="142266"/>
          </a:xfrm>
          <a:prstGeom prst="ellipse">
            <a:avLst/>
          </a:prstGeom>
          <a:noFill/>
          <a:ln w="26670">
            <a:solidFill>
              <a:srgbClr val="F47B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5" name="Connector 334"/>
          <p:cNvCxnSpPr/>
          <p:nvPr/>
        </p:nvCxnSpPr>
        <p:spPr>
          <a:xfrm>
            <a:off x="1030316" y="6473952"/>
            <a:ext cx="57454" cy="0"/>
          </a:xfrm>
          <a:prstGeom prst="line">
            <a:avLst/>
          </a:prstGeom>
          <a:ln w="39370">
            <a:solidFill>
              <a:srgbClr val="F47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6" name="Connector 335"/>
          <p:cNvCxnSpPr/>
          <p:nvPr/>
        </p:nvCxnSpPr>
        <p:spPr>
          <a:xfrm>
            <a:off x="1007078" y="6530054"/>
            <a:ext cx="40626" cy="40626"/>
          </a:xfrm>
          <a:prstGeom prst="line">
            <a:avLst/>
          </a:prstGeom>
          <a:ln w="39370">
            <a:solidFill>
              <a:srgbClr val="F47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7" name="Connector 336"/>
          <p:cNvCxnSpPr/>
          <p:nvPr/>
        </p:nvCxnSpPr>
        <p:spPr>
          <a:xfrm>
            <a:off x="950976" y="6553292"/>
            <a:ext cx="0" cy="57454"/>
          </a:xfrm>
          <a:prstGeom prst="line">
            <a:avLst/>
          </a:prstGeom>
          <a:ln w="39370">
            <a:solidFill>
              <a:srgbClr val="F47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8" name="Connector 337"/>
          <p:cNvCxnSpPr/>
          <p:nvPr/>
        </p:nvCxnSpPr>
        <p:spPr>
          <a:xfrm flipH="1">
            <a:off x="854247" y="6530054"/>
            <a:ext cx="40626" cy="40626"/>
          </a:xfrm>
          <a:prstGeom prst="line">
            <a:avLst/>
          </a:prstGeom>
          <a:ln w="39370">
            <a:solidFill>
              <a:srgbClr val="F47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9" name="Connector 338"/>
          <p:cNvCxnSpPr/>
          <p:nvPr/>
        </p:nvCxnSpPr>
        <p:spPr>
          <a:xfrm flipH="1">
            <a:off x="814181" y="6473952"/>
            <a:ext cx="57454" cy="0"/>
          </a:xfrm>
          <a:prstGeom prst="line">
            <a:avLst/>
          </a:prstGeom>
          <a:ln w="39370">
            <a:solidFill>
              <a:srgbClr val="F47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0" name="Connector 339"/>
          <p:cNvCxnSpPr/>
          <p:nvPr/>
        </p:nvCxnSpPr>
        <p:spPr>
          <a:xfrm flipH="1" flipV="1">
            <a:off x="854247" y="6377223"/>
            <a:ext cx="40626" cy="40626"/>
          </a:xfrm>
          <a:prstGeom prst="line">
            <a:avLst/>
          </a:prstGeom>
          <a:ln w="39370">
            <a:solidFill>
              <a:srgbClr val="F47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1" name="Connector 340"/>
          <p:cNvCxnSpPr/>
          <p:nvPr/>
        </p:nvCxnSpPr>
        <p:spPr>
          <a:xfrm flipV="1">
            <a:off x="950976" y="6337157"/>
            <a:ext cx="0" cy="57454"/>
          </a:xfrm>
          <a:prstGeom prst="line">
            <a:avLst/>
          </a:prstGeom>
          <a:ln w="39370">
            <a:solidFill>
              <a:srgbClr val="F47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2" name="Connector 341"/>
          <p:cNvCxnSpPr/>
          <p:nvPr/>
        </p:nvCxnSpPr>
        <p:spPr>
          <a:xfrm flipV="1">
            <a:off x="1007078" y="6377223"/>
            <a:ext cx="40626" cy="40626"/>
          </a:xfrm>
          <a:prstGeom prst="line">
            <a:avLst/>
          </a:prstGeom>
          <a:ln w="39370">
            <a:solidFill>
              <a:srgbClr val="F47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3" name="TextBox 342"/>
          <p:cNvSpPr txBox="1"/>
          <p:nvPr/>
        </p:nvSpPr>
        <p:spPr>
          <a:xfrm>
            <a:off x="1325880" y="6281928"/>
            <a:ext cx="1325880" cy="374904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47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消歧原则：</a:t>
            </a:r>
            <a:endParaRPr sz="1700" b="1">
              <a:solidFill>
                <a:srgbClr val="F47B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4" name="TextBox 343"/>
          <p:cNvSpPr txBox="1"/>
          <p:nvPr/>
        </p:nvSpPr>
        <p:spPr>
          <a:xfrm>
            <a:off x="2651760" y="6272783"/>
            <a:ext cx="8732520" cy="393192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40" b="1">
                <a:solidFill>
                  <a:srgbClr val="0C20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高置信度自动合并，低置信度人工审核，保留依据与历史信息。</a:t>
            </a:r>
            <a:endParaRPr sz="1540" b="1">
              <a:solidFill>
                <a:srgbClr val="0C205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7818438" y="45720"/>
            <a:ext cx="4370832" cy="256032"/>
          </a:xfrm>
          <a:prstGeom prst="line">
            <a:avLst/>
          </a:prstGeom>
          <a:ln w="12700">
            <a:solidFill>
              <a:srgbClr val="E4E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7818438" y="86868"/>
            <a:ext cx="4370832" cy="259689"/>
          </a:xfrm>
          <a:prstGeom prst="line">
            <a:avLst/>
          </a:prstGeom>
          <a:ln w="12700">
            <a:solidFill>
              <a:srgbClr val="E2E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818438" y="128016"/>
            <a:ext cx="4370832" cy="263347"/>
          </a:xfrm>
          <a:prstGeom prst="line">
            <a:avLst/>
          </a:prstGeom>
          <a:ln w="12700">
            <a:solidFill>
              <a:srgbClr val="E0E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818438" y="169164"/>
            <a:ext cx="4370832" cy="267004"/>
          </a:xfrm>
          <a:prstGeom prst="line">
            <a:avLst/>
          </a:prstGeom>
          <a:ln w="12700">
            <a:solidFill>
              <a:srgbClr val="DEE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7818438" y="210311"/>
            <a:ext cx="4370832" cy="270663"/>
          </a:xfrm>
          <a:prstGeom prst="line">
            <a:avLst/>
          </a:prstGeom>
          <a:ln w="12700">
            <a:solidFill>
              <a:srgbClr val="DC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7818438" y="251459"/>
            <a:ext cx="4370832" cy="274321"/>
          </a:xfrm>
          <a:prstGeom prst="line">
            <a:avLst/>
          </a:prstGeom>
          <a:ln w="12700">
            <a:solidFill>
              <a:srgbClr val="DAEA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818438" y="292608"/>
            <a:ext cx="4370832" cy="277977"/>
          </a:xfrm>
          <a:prstGeom prst="line">
            <a:avLst/>
          </a:prstGeom>
          <a:ln w="12700">
            <a:solidFill>
              <a:srgbClr val="D8E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1284014" y="98108"/>
            <a:ext cx="566928" cy="2152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400" b="1">
                <a:solidFill>
                  <a:srgbClr val="0354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</a:t>
            </a:r>
            <a:endParaRPr sz="1400" b="1">
              <a:solidFill>
                <a:srgbClr val="0354D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1832654" y="105728"/>
            <a:ext cx="274320" cy="2000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>
                <a:solidFill>
                  <a:srgbClr val="4F67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/16</a:t>
            </a:r>
            <a:endParaRPr sz="1300" b="0">
              <a:solidFill>
                <a:srgbClr val="4F679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85534" y="515937"/>
            <a:ext cx="9326880" cy="5226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400" b="1">
                <a:solidFill>
                  <a:srgbClr val="0A25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多来源字段冲突处理</a:t>
            </a:r>
            <a:endParaRPr sz="3400" b="1">
              <a:solidFill>
                <a:srgbClr val="0A255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85534" y="1105154"/>
            <a:ext cx="10881360" cy="2768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0">
                <a:solidFill>
                  <a:srgbClr val="2B4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保留候选字段值与来源证据，按审核规则确定公共展示值</a:t>
            </a:r>
            <a:endParaRPr sz="1800" b="0">
              <a:solidFill>
                <a:srgbClr val="4F679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393510" y="1664208"/>
            <a:ext cx="5321808" cy="130759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C6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48958" y="1847088"/>
            <a:ext cx="749808" cy="749808"/>
          </a:xfrm>
          <a:prstGeom prst="roundRect">
            <a:avLst>
              <a:gd name="adj" fmla="val 16000"/>
            </a:avLst>
          </a:prstGeom>
          <a:solidFill>
            <a:srgbClr val="E1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958" y="2014347"/>
            <a:ext cx="749808" cy="41529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700" b="1">
                <a:solidFill>
                  <a:srgbClr val="0354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</a:t>
            </a:r>
            <a:endParaRPr sz="2700" b="1">
              <a:solidFill>
                <a:srgbClr val="0354D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490790" y="1815021"/>
            <a:ext cx="4023360" cy="338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>
                <a:solidFill>
                  <a:srgbClr val="0A25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 A · Crossref</a:t>
            </a:r>
            <a:endParaRPr sz="2200" b="1">
              <a:solidFill>
                <a:srgbClr val="0A255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490790" y="2252726"/>
            <a:ext cx="3931920" cy="2768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0">
                <a:solidFill>
                  <a:srgbClr val="253F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论文标题：版本 A</a:t>
            </a:r>
            <a:endParaRPr sz="1800" b="0">
              <a:solidFill>
                <a:srgbClr val="253F6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490790" y="2549906"/>
            <a:ext cx="3931920" cy="2768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0">
                <a:solidFill>
                  <a:srgbClr val="253F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日期字段：2025</a:t>
            </a:r>
            <a:endParaRPr sz="1800" b="0">
              <a:solidFill>
                <a:srgbClr val="253F6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6474270" y="1664208"/>
            <a:ext cx="5321808" cy="130759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C6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629718" y="1847088"/>
            <a:ext cx="749808" cy="749808"/>
          </a:xfrm>
          <a:prstGeom prst="roundRect">
            <a:avLst>
              <a:gd name="adj" fmla="val 16000"/>
            </a:avLst>
          </a:prstGeom>
          <a:solidFill>
            <a:srgbClr val="E7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29718" y="2014347"/>
            <a:ext cx="749808" cy="41529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700" b="1">
                <a:solidFill>
                  <a:srgbClr val="109F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</a:t>
            </a:r>
            <a:endParaRPr sz="2700" b="1">
              <a:solidFill>
                <a:srgbClr val="109F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571549" y="1815021"/>
            <a:ext cx="4023360" cy="338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>
                <a:solidFill>
                  <a:srgbClr val="0A25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 B · 补充来源</a:t>
            </a:r>
            <a:endParaRPr sz="2200" b="1">
              <a:solidFill>
                <a:srgbClr val="0A255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571549" y="2252726"/>
            <a:ext cx="3931920" cy="2768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0">
                <a:solidFill>
                  <a:srgbClr val="253F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论文标题：版本 B</a:t>
            </a:r>
            <a:endParaRPr sz="1800" b="0">
              <a:solidFill>
                <a:srgbClr val="253F6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571549" y="2549906"/>
            <a:ext cx="3931920" cy="2768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0">
                <a:solidFill>
                  <a:srgbClr val="253F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日期字段：2026</a:t>
            </a:r>
            <a:endParaRPr sz="1800" b="0">
              <a:solidFill>
                <a:srgbClr val="253F6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8" name="Connector 27"/>
          <p:cNvCxnSpPr/>
          <p:nvPr/>
        </p:nvCxnSpPr>
        <p:spPr>
          <a:xfrm>
            <a:off x="3054414" y="2971800"/>
            <a:ext cx="0" cy="192024"/>
          </a:xfrm>
          <a:prstGeom prst="line">
            <a:avLst/>
          </a:prstGeom>
          <a:ln w="34290">
            <a:solidFill>
              <a:srgbClr val="80C0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3054414" y="3163824"/>
            <a:ext cx="3040380" cy="0"/>
          </a:xfrm>
          <a:prstGeom prst="line">
            <a:avLst/>
          </a:prstGeom>
          <a:ln w="34290">
            <a:solidFill>
              <a:srgbClr val="80C0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9144318" y="2971800"/>
            <a:ext cx="0" cy="192024"/>
          </a:xfrm>
          <a:prstGeom prst="line">
            <a:avLst/>
          </a:prstGeom>
          <a:ln w="34290">
            <a:solidFill>
              <a:srgbClr val="80C0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>
            <a:off x="6094794" y="3163824"/>
            <a:ext cx="3049524" cy="0"/>
          </a:xfrm>
          <a:prstGeom prst="line">
            <a:avLst/>
          </a:prstGeom>
          <a:ln w="34290">
            <a:solidFill>
              <a:srgbClr val="80C0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6094794" y="3163824"/>
            <a:ext cx="0" cy="164592"/>
          </a:xfrm>
          <a:prstGeom prst="line">
            <a:avLst/>
          </a:prstGeom>
          <a:ln w="34290">
            <a:solidFill>
              <a:srgbClr val="80C0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Isosceles Triangle 32"/>
          <p:cNvSpPr/>
          <p:nvPr/>
        </p:nvSpPr>
        <p:spPr>
          <a:xfrm rot="10800000">
            <a:off x="6021642" y="3310128"/>
            <a:ext cx="146304" cy="118872"/>
          </a:xfrm>
          <a:prstGeom prst="triangle">
            <a:avLst/>
          </a:prstGeom>
          <a:solidFill>
            <a:srgbClr val="035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270566" y="3383280"/>
            <a:ext cx="3648456" cy="713232"/>
          </a:xfrm>
          <a:prstGeom prst="roundRect">
            <a:avLst>
              <a:gd name="adj" fmla="val 16000"/>
            </a:avLst>
          </a:prstGeom>
          <a:solidFill>
            <a:srgbClr val="E1F0FF"/>
          </a:solidFill>
          <a:ln w="12700">
            <a:solidFill>
              <a:srgbClr val="C6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62590" y="3428937"/>
            <a:ext cx="3264408" cy="3841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500" b="1">
                <a:solidFill>
                  <a:srgbClr val="0A25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 Work</a:t>
            </a:r>
            <a:endParaRPr sz="2500" b="1">
              <a:solidFill>
                <a:srgbClr val="0A255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4462590" y="3787711"/>
            <a:ext cx="3264408" cy="2152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253F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关联多个 SourceRecord</a:t>
            </a:r>
            <a:endParaRPr sz="1400" b="0">
              <a:solidFill>
                <a:srgbClr val="253F6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7" name="Connector 36"/>
          <p:cNvCxnSpPr/>
          <p:nvPr/>
        </p:nvCxnSpPr>
        <p:spPr>
          <a:xfrm>
            <a:off x="6094794" y="4105656"/>
            <a:ext cx="0" cy="265176"/>
          </a:xfrm>
          <a:prstGeom prst="line">
            <a:avLst/>
          </a:prstGeom>
          <a:ln w="35560">
            <a:solidFill>
              <a:srgbClr val="80C0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Isosceles Triangle 37"/>
          <p:cNvSpPr/>
          <p:nvPr/>
        </p:nvSpPr>
        <p:spPr>
          <a:xfrm rot="10800000">
            <a:off x="6021642" y="4361688"/>
            <a:ext cx="146304" cy="118872"/>
          </a:xfrm>
          <a:prstGeom prst="triangle">
            <a:avLst/>
          </a:prstGeom>
          <a:solidFill>
            <a:srgbClr val="035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393510" y="4507992"/>
            <a:ext cx="3639312" cy="109728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C6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548958" y="4672584"/>
            <a:ext cx="640080" cy="640080"/>
          </a:xfrm>
          <a:prstGeom prst="roundRect">
            <a:avLst>
              <a:gd name="adj" fmla="val 16000"/>
            </a:avLst>
          </a:prstGeom>
          <a:solidFill>
            <a:srgbClr val="ED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8958" y="4826762"/>
            <a:ext cx="640080" cy="3225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100" b="1">
                <a:solidFill>
                  <a:srgbClr val="0354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2100" b="1">
              <a:solidFill>
                <a:srgbClr val="0354D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335342" y="4643882"/>
            <a:ext cx="2514600" cy="3225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100" b="1">
                <a:solidFill>
                  <a:srgbClr val="0A25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字段级保留</a:t>
            </a:r>
            <a:endParaRPr sz="2100" b="1">
              <a:solidFill>
                <a:srgbClr val="0A255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1335342" y="5110543"/>
            <a:ext cx="2514600" cy="2305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2B4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原值 / 规范值 / 修订值</a:t>
            </a:r>
            <a:endParaRPr sz="1500" b="0">
              <a:solidFill>
                <a:srgbClr val="4F679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4279710" y="4507992"/>
            <a:ext cx="3639312" cy="109728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C6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4435158" y="4672584"/>
            <a:ext cx="640080" cy="640080"/>
          </a:xfrm>
          <a:prstGeom prst="roundRect">
            <a:avLst>
              <a:gd name="adj" fmla="val 16000"/>
            </a:avLst>
          </a:prstGeom>
          <a:solidFill>
            <a:srgbClr val="FFF1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435158" y="4826762"/>
            <a:ext cx="640080" cy="3225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100" b="1">
                <a:solidFill>
                  <a:srgbClr val="F883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2100" b="1">
              <a:solidFill>
                <a:srgbClr val="F8830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5221542" y="4643882"/>
            <a:ext cx="2514600" cy="3225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100" b="1">
                <a:solidFill>
                  <a:srgbClr val="0A25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冲突判定</a:t>
            </a:r>
            <a:endParaRPr sz="2100" b="1">
              <a:solidFill>
                <a:srgbClr val="0A255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5221542" y="5110543"/>
            <a:ext cx="2514600" cy="2305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2B4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 / 采集时间 / 规则版本</a:t>
            </a:r>
            <a:endParaRPr sz="1500" b="0">
              <a:solidFill>
                <a:srgbClr val="4F679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Rounded Rectangle 48"/>
          <p:cNvSpPr/>
          <p:nvPr/>
        </p:nvSpPr>
        <p:spPr>
          <a:xfrm>
            <a:off x="8165910" y="4507992"/>
            <a:ext cx="3639312" cy="109728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C6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8321358" y="4672584"/>
            <a:ext cx="640080" cy="640080"/>
          </a:xfrm>
          <a:prstGeom prst="roundRect">
            <a:avLst>
              <a:gd name="adj" fmla="val 16000"/>
            </a:avLst>
          </a:prstGeom>
          <a:solidFill>
            <a:srgbClr val="E7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321358" y="4826762"/>
            <a:ext cx="640080" cy="3225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100" b="1">
                <a:solidFill>
                  <a:srgbClr val="109F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2100" b="1">
              <a:solidFill>
                <a:srgbClr val="109F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9107742" y="4643882"/>
            <a:ext cx="2514600" cy="3225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100" b="1">
                <a:solidFill>
                  <a:srgbClr val="0A25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人工审核</a:t>
            </a:r>
            <a:endParaRPr sz="2100" b="1">
              <a:solidFill>
                <a:srgbClr val="0A255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9107742" y="5110543"/>
            <a:ext cx="2514600" cy="2305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2B4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依据 / 操作者 / 审计记录</a:t>
            </a:r>
            <a:endParaRPr sz="1500" b="0">
              <a:solidFill>
                <a:srgbClr val="4F679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4" name="Rounded Rectangle 53"/>
          <p:cNvSpPr/>
          <p:nvPr/>
        </p:nvSpPr>
        <p:spPr>
          <a:xfrm>
            <a:off x="402654" y="5833872"/>
            <a:ext cx="11384280" cy="630936"/>
          </a:xfrm>
          <a:prstGeom prst="roundRect">
            <a:avLst>
              <a:gd name="adj" fmla="val 16000"/>
            </a:avLst>
          </a:prstGeom>
          <a:solidFill>
            <a:srgbClr val="FFF1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31254" y="5974334"/>
            <a:ext cx="1975104" cy="3225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100" b="1">
                <a:solidFill>
                  <a:srgbClr val="F883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处理原则：</a:t>
            </a:r>
            <a:endParaRPr sz="2100" b="1">
              <a:solidFill>
                <a:srgbClr val="F8830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2487485" y="5988050"/>
            <a:ext cx="8961120" cy="2768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0">
                <a:solidFill>
                  <a:srgbClr val="0A25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保留全部候选值与来源，公共展示值由规则或人工审核确定。</a:t>
            </a:r>
            <a:endParaRPr sz="1800" b="0">
              <a:solidFill>
                <a:srgbClr val="0A255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7223760" y="131090"/>
            <a:ext cx="129657" cy="33641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353417" y="164731"/>
            <a:ext cx="129657" cy="36565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483074" y="201296"/>
            <a:ext cx="129657" cy="39204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7612731" y="240500"/>
            <a:ext cx="129657" cy="41411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7742388" y="281911"/>
            <a:ext cx="129658" cy="43025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872046" y="324936"/>
            <a:ext cx="129657" cy="43877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001703" y="368813"/>
            <a:ext cx="129657" cy="43806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131360" y="412619"/>
            <a:ext cx="129657" cy="42670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261017" y="455289"/>
            <a:ext cx="129658" cy="40361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390675" y="495650"/>
            <a:ext cx="129657" cy="36826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520332" y="532476"/>
            <a:ext cx="129657" cy="32066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649989" y="564542"/>
            <a:ext cx="129657" cy="26152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779646" y="590694"/>
            <a:ext cx="129658" cy="19230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909304" y="609924"/>
            <a:ext cx="129657" cy="11504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038961" y="621428"/>
            <a:ext cx="129657" cy="3238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9168618" y="619404"/>
            <a:ext cx="129657" cy="5262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9298275" y="605730"/>
            <a:ext cx="129657" cy="13674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9427932" y="584056"/>
            <a:ext cx="129658" cy="21674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9557590" y="555092"/>
            <a:ext cx="129657" cy="28964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9687247" y="519807"/>
            <a:ext cx="129657" cy="35285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9816904" y="479369"/>
            <a:ext cx="129657" cy="40438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9946561" y="435074"/>
            <a:ext cx="129658" cy="44295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10076219" y="388277"/>
            <a:ext cx="129657" cy="46797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10205876" y="340322"/>
            <a:ext cx="129657" cy="47955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10335533" y="292473"/>
            <a:ext cx="129657" cy="47849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10465190" y="245872"/>
            <a:ext cx="129658" cy="46601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10594848" y="201493"/>
            <a:ext cx="129657" cy="44379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10724505" y="160126"/>
            <a:ext cx="129657" cy="41367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10854162" y="122368"/>
            <a:ext cx="129657" cy="37758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10983819" y="88629"/>
            <a:ext cx="129657" cy="33739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11113476" y="59147"/>
            <a:ext cx="129658" cy="29482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11243134" y="34015"/>
            <a:ext cx="129657" cy="25132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11372791" y="13200"/>
            <a:ext cx="129657" cy="20815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11502448" y="-3422"/>
            <a:ext cx="129657" cy="16622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11632105" y="-16047"/>
            <a:ext cx="129658" cy="12625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11761763" y="-24915"/>
            <a:ext cx="129657" cy="8868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11891420" y="-30297"/>
            <a:ext cx="129657" cy="5382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12021077" y="-32477"/>
            <a:ext cx="129657" cy="2180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12150734" y="-32477"/>
            <a:ext cx="129658" cy="732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7223760" y="151010"/>
            <a:ext cx="129657" cy="33617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7353417" y="184627"/>
            <a:ext cx="129657" cy="36370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7483074" y="220997"/>
            <a:ext cx="129657" cy="38843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7612731" y="259840"/>
            <a:ext cx="129657" cy="40888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7742388" y="300728"/>
            <a:ext cx="129658" cy="42351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7872046" y="343079"/>
            <a:ext cx="129657" cy="43062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8001703" y="386141"/>
            <a:ext cx="129657" cy="42864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8131360" y="429005"/>
            <a:ext cx="129657" cy="41618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8261017" y="470623"/>
            <a:ext cx="129658" cy="39219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8390675" y="509842"/>
            <a:ext cx="129657" cy="35611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8520332" y="545453"/>
            <a:ext cx="129657" cy="30800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8649989" y="576253"/>
            <a:ext cx="129657" cy="24859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8779646" y="601112"/>
            <a:ext cx="129658" cy="17929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8909304" y="619041"/>
            <a:ext cx="129657" cy="10220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9038961" y="629261"/>
            <a:ext cx="129657" cy="1993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9168618" y="624807"/>
            <a:ext cx="129657" cy="6447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9298275" y="610029"/>
            <a:ext cx="129657" cy="14778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9427932" y="587350"/>
            <a:ext cx="129658" cy="22679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9557590" y="557499"/>
            <a:ext cx="129657" cy="29851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9687247" y="521461"/>
            <a:ext cx="129657" cy="36038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9816904" y="480414"/>
            <a:ext cx="129657" cy="41047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9946561" y="435668"/>
            <a:ext cx="129658" cy="44746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10076219" y="388584"/>
            <a:ext cx="129657" cy="47084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10205876" y="340511"/>
            <a:ext cx="129657" cy="48073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10335533" y="292716"/>
            <a:ext cx="129657" cy="47795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10465190" y="246339"/>
            <a:ext cx="129658" cy="46377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10594848" y="202351"/>
            <a:ext cx="129657" cy="43988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10724505" y="161534"/>
            <a:ext cx="129657" cy="40817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10854162" y="124476"/>
            <a:ext cx="129657" cy="37058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10983819" y="91576"/>
            <a:ext cx="129657" cy="32900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11113476" y="63056"/>
            <a:ext cx="129658" cy="28520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11243134" y="38992"/>
            <a:ext cx="129657" cy="24064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11372791" y="19335"/>
            <a:ext cx="129657" cy="19657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11502448" y="3937"/>
            <a:ext cx="129657" cy="15398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11632105" y="-7415"/>
            <a:ext cx="129658" cy="11352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11761763" y="-14986"/>
            <a:ext cx="129657" cy="7571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11891420" y="-19069"/>
            <a:ext cx="129657" cy="4083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12021077" y="-19970"/>
            <a:ext cx="129657" cy="901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12150734" y="-19970"/>
            <a:ext cx="129658" cy="1968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7223760" y="170931"/>
            <a:ext cx="129657" cy="33477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7353417" y="204408"/>
            <a:ext cx="129657" cy="36062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7483074" y="240470"/>
            <a:ext cx="129657" cy="38370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7612731" y="278840"/>
            <a:ext cx="129657" cy="40261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7742388" y="319101"/>
            <a:ext cx="129658" cy="41578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7872046" y="360679"/>
            <a:ext cx="129657" cy="42159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8001703" y="402838"/>
            <a:ext cx="129657" cy="41846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8131360" y="444684"/>
            <a:ext cx="129657" cy="40502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8261017" y="485186"/>
            <a:ext cx="129658" cy="38025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8390675" y="523211"/>
            <a:ext cx="129657" cy="34359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8520332" y="557570"/>
            <a:ext cx="129657" cy="29513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8649989" y="587083"/>
            <a:ext cx="129657" cy="23558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8779646" y="610641"/>
            <a:ext cx="129658" cy="16638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8909304" y="627279"/>
            <a:ext cx="129657" cy="8959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9038961" y="636238"/>
            <a:ext cx="129657" cy="787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9168618" y="629446"/>
            <a:ext cx="129657" cy="7579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9298275" y="613630"/>
            <a:ext cx="129657" cy="15816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9427932" y="590025"/>
            <a:ext cx="129658" cy="23605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9557590" y="559377"/>
            <a:ext cx="129657" cy="30648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9687247" y="522683"/>
            <a:ext cx="129657" cy="36694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9816904" y="481134"/>
            <a:ext cx="129657" cy="41549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9946561" y="436048"/>
            <a:ext cx="129658" cy="45086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10076219" y="388792"/>
            <a:ext cx="129657" cy="47256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10205876" y="340718"/>
            <a:ext cx="129657" cy="48074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10335533" y="293094"/>
            <a:ext cx="129657" cy="47624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10465190" y="247055"/>
            <a:ext cx="129658" cy="46039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10594848" y="203567"/>
            <a:ext cx="129657" cy="43488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10724505" y="163404"/>
            <a:ext cx="129657" cy="40163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10854162" y="127143"/>
            <a:ext cx="129657" cy="36261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V="1">
            <a:off x="10983819" y="95167"/>
            <a:ext cx="129657" cy="31976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V="1">
            <a:off x="11113476" y="67684"/>
            <a:ext cx="129658" cy="27483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 flipV="1">
            <a:off x="11243134" y="44752"/>
            <a:ext cx="129657" cy="22932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 flipV="1">
            <a:off x="11372791" y="26300"/>
            <a:ext cx="129657" cy="18452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 flipV="1">
            <a:off x="11502448" y="12162"/>
            <a:ext cx="129657" cy="14138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 flipV="1">
            <a:off x="11632105" y="2100"/>
            <a:ext cx="129658" cy="10062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V="1">
            <a:off x="11761763" y="-4170"/>
            <a:ext cx="129657" cy="6270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V="1">
            <a:off x="11891420" y="-6965"/>
            <a:ext cx="129657" cy="2795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>
            <a:off x="12021077" y="-6965"/>
            <a:ext cx="129657" cy="351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12150734" y="-6614"/>
            <a:ext cx="129658" cy="3164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7223760" y="190776"/>
            <a:ext cx="129657" cy="33221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>
            <a:off x="7353417" y="223997"/>
            <a:ext cx="129657" cy="35641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7483074" y="259638"/>
            <a:ext cx="129657" cy="37790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7612731" y="297428"/>
            <a:ext cx="129657" cy="39533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7742388" y="336961"/>
            <a:ext cx="129658" cy="40716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7872046" y="377677"/>
            <a:ext cx="129657" cy="41175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>
            <a:off x="8001703" y="418852"/>
            <a:ext cx="129657" cy="40759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8131360" y="459611"/>
            <a:ext cx="129657" cy="39331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>
            <a:off x="8261017" y="498942"/>
            <a:ext cx="129658" cy="36789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>
            <a:off x="8390675" y="535731"/>
            <a:ext cx="129657" cy="33081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8520332" y="568812"/>
            <a:ext cx="129657" cy="28213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8649989" y="597025"/>
            <a:ext cx="129657" cy="22261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8779646" y="619286"/>
            <a:ext cx="129658" cy="15365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8909304" y="634651"/>
            <a:ext cx="129657" cy="7734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 flipV="1">
            <a:off x="9038961" y="642014"/>
            <a:ext cx="129657" cy="371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 flipV="1">
            <a:off x="9168618" y="633365"/>
            <a:ext cx="129657" cy="8649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V="1">
            <a:off x="9298275" y="616586"/>
            <a:ext cx="129657" cy="16779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 flipV="1">
            <a:off x="9427932" y="592141"/>
            <a:ext cx="129658" cy="24445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 flipV="1">
            <a:off x="9557590" y="560791"/>
            <a:ext cx="129657" cy="31350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 flipV="1">
            <a:off x="9687247" y="523545"/>
            <a:ext cx="129657" cy="37246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 flipV="1">
            <a:off x="9816904" y="481604"/>
            <a:ext cx="129657" cy="41941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 flipV="1">
            <a:off x="9946561" y="436292"/>
            <a:ext cx="129658" cy="45312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 flipV="1">
            <a:off x="10076219" y="388981"/>
            <a:ext cx="129657" cy="47311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 flipV="1">
            <a:off x="10205876" y="341023"/>
            <a:ext cx="129657" cy="47958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 flipV="1">
            <a:off x="10335533" y="293684"/>
            <a:ext cx="129657" cy="47339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 flipV="1">
            <a:off x="10465190" y="248095"/>
            <a:ext cx="129658" cy="45589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 flipV="1">
            <a:off x="10594848" y="205214"/>
            <a:ext cx="129657" cy="42881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 flipV="1">
            <a:off x="10724505" y="165803"/>
            <a:ext cx="129657" cy="39411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 flipV="1">
            <a:off x="10854162" y="130427"/>
            <a:ext cx="129657" cy="35376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 flipV="1">
            <a:off x="10983819" y="99454"/>
            <a:ext cx="129657" cy="30973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 flipV="1">
            <a:off x="11113476" y="73075"/>
            <a:ext cx="129658" cy="26379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 flipV="1">
            <a:off x="11243134" y="51327"/>
            <a:ext cx="129657" cy="21748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 flipV="1">
            <a:off x="11372791" y="34120"/>
            <a:ext cx="129657" cy="17207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 flipV="1">
            <a:off x="11502448" y="21266"/>
            <a:ext cx="129657" cy="12854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 flipV="1">
            <a:off x="11632105" y="12505"/>
            <a:ext cx="129658" cy="8761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 flipV="1">
            <a:off x="11761763" y="7528"/>
            <a:ext cx="129657" cy="4977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 flipV="1">
            <a:off x="11891420" y="5999"/>
            <a:ext cx="129657" cy="1529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>
            <a:off x="12021077" y="5999"/>
            <a:ext cx="129657" cy="1566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>
            <a:off x="12150734" y="7565"/>
            <a:ext cx="129658" cy="4307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>
            <a:off x="7223760" y="210465"/>
            <a:ext cx="129657" cy="32851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>
            <a:off x="7353417" y="243316"/>
            <a:ext cx="129657" cy="35110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>
            <a:off x="7483074" y="278426"/>
            <a:ext cx="129657" cy="37109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>
            <a:off x="7612731" y="315535"/>
            <a:ext cx="129657" cy="38712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>
            <a:off x="7742388" y="354247"/>
            <a:ext cx="129658" cy="39768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>
            <a:off x="7872046" y="394015"/>
            <a:ext cx="129657" cy="40119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>
            <a:off x="8001703" y="434134"/>
            <a:ext cx="129657" cy="39613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>
            <a:off x="8131360" y="473747"/>
            <a:ext cx="129657" cy="38113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>
            <a:off x="8261017" y="511860"/>
            <a:ext cx="129658" cy="35521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>
            <a:off x="8390675" y="547381"/>
            <a:ext cx="129657" cy="31786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>
            <a:off x="8520332" y="579167"/>
            <a:ext cx="129657" cy="26914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>
            <a:off x="8649989" y="606081"/>
            <a:ext cx="129657" cy="20978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>
            <a:off x="8779646" y="627059"/>
            <a:ext cx="129658" cy="14122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>
            <a:off x="8909304" y="641181"/>
            <a:ext cx="129657" cy="6553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 flipV="1">
            <a:off x="9038961" y="646263"/>
            <a:ext cx="129657" cy="1471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 flipV="1">
            <a:off x="9168618" y="636615"/>
            <a:ext cx="129657" cy="9648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 flipV="1">
            <a:off x="9298275" y="618954"/>
            <a:ext cx="129657" cy="17661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 flipV="1">
            <a:off x="9427932" y="593763"/>
            <a:ext cx="129658" cy="25191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 flipV="1">
            <a:off x="9557590" y="561812"/>
            <a:ext cx="129657" cy="31951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 flipV="1">
            <a:off x="9687247" y="524122"/>
            <a:ext cx="129657" cy="37690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 flipV="1">
            <a:off x="9816904" y="481902"/>
            <a:ext cx="129657" cy="42220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 flipV="1">
            <a:off x="9946561" y="436480"/>
            <a:ext cx="129658" cy="45422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 flipV="1">
            <a:off x="10076219" y="389231"/>
            <a:ext cx="129657" cy="47249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 flipV="1">
            <a:off x="10205876" y="341505"/>
            <a:ext cx="129657" cy="47726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 182"/>
          <p:cNvCxnSpPr/>
          <p:nvPr/>
        </p:nvCxnSpPr>
        <p:spPr>
          <a:xfrm flipV="1">
            <a:off x="10335533" y="294564"/>
            <a:ext cx="129657" cy="46941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 flipV="1">
            <a:off x="10465190" y="249533"/>
            <a:ext cx="129658" cy="45031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 184"/>
          <p:cNvCxnSpPr/>
          <p:nvPr/>
        </p:nvCxnSpPr>
        <p:spPr>
          <a:xfrm flipV="1">
            <a:off x="10594848" y="207359"/>
            <a:ext cx="129657" cy="42174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 flipV="1">
            <a:off x="10724505" y="168793"/>
            <a:ext cx="129657" cy="38566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 flipV="1">
            <a:off x="10854162" y="134385"/>
            <a:ext cx="129657" cy="34408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 flipV="1">
            <a:off x="10983819" y="104485"/>
            <a:ext cx="129657" cy="29900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 188"/>
          <p:cNvCxnSpPr/>
          <p:nvPr/>
        </p:nvCxnSpPr>
        <p:spPr>
          <a:xfrm flipV="1">
            <a:off x="11113476" y="79267"/>
            <a:ext cx="129658" cy="25218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 189"/>
          <p:cNvCxnSpPr/>
          <p:nvPr/>
        </p:nvCxnSpPr>
        <p:spPr>
          <a:xfrm flipV="1">
            <a:off x="11243134" y="58747"/>
            <a:ext cx="129657" cy="20520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 190"/>
          <p:cNvCxnSpPr/>
          <p:nvPr/>
        </p:nvCxnSpPr>
        <p:spPr>
          <a:xfrm flipV="1">
            <a:off x="11372791" y="42813"/>
            <a:ext cx="129657" cy="15934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 191"/>
          <p:cNvCxnSpPr/>
          <p:nvPr/>
        </p:nvCxnSpPr>
        <p:spPr>
          <a:xfrm flipV="1">
            <a:off x="11502448" y="31257"/>
            <a:ext cx="129657" cy="11556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 flipV="1">
            <a:off x="11632105" y="23794"/>
            <a:ext cx="129658" cy="7463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 flipV="1">
            <a:off x="11761763" y="20095"/>
            <a:ext cx="129657" cy="3699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 flipV="1">
            <a:off x="11891420" y="19799"/>
            <a:ext cx="129657" cy="296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>
            <a:off x="12021077" y="19799"/>
            <a:ext cx="129657" cy="2735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>
            <a:off x="12150734" y="22534"/>
            <a:ext cx="129658" cy="5391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>
            <a:off x="7223760" y="229918"/>
            <a:ext cx="129657" cy="32372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>
            <a:off x="7353417" y="262290"/>
            <a:ext cx="129657" cy="34476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 199"/>
          <p:cNvCxnSpPr/>
          <p:nvPr/>
        </p:nvCxnSpPr>
        <p:spPr>
          <a:xfrm>
            <a:off x="7483074" y="296766"/>
            <a:ext cx="129657" cy="36329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 200"/>
          <p:cNvCxnSpPr/>
          <p:nvPr/>
        </p:nvCxnSpPr>
        <p:spPr>
          <a:xfrm>
            <a:off x="7612731" y="333095"/>
            <a:ext cx="129657" cy="37803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Connector 201"/>
          <p:cNvCxnSpPr/>
          <p:nvPr/>
        </p:nvCxnSpPr>
        <p:spPr>
          <a:xfrm>
            <a:off x="7742388" y="370898"/>
            <a:ext cx="129658" cy="38745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Connector 202"/>
          <p:cNvCxnSpPr/>
          <p:nvPr/>
        </p:nvCxnSpPr>
        <p:spPr>
          <a:xfrm>
            <a:off x="7872046" y="409643"/>
            <a:ext cx="129657" cy="38999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Connector 203"/>
          <p:cNvCxnSpPr/>
          <p:nvPr/>
        </p:nvCxnSpPr>
        <p:spPr>
          <a:xfrm>
            <a:off x="8001703" y="448642"/>
            <a:ext cx="129657" cy="38415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Connector 204"/>
          <p:cNvCxnSpPr/>
          <p:nvPr/>
        </p:nvCxnSpPr>
        <p:spPr>
          <a:xfrm>
            <a:off x="8131360" y="487057"/>
            <a:ext cx="129657" cy="36859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Connector 205"/>
          <p:cNvCxnSpPr/>
          <p:nvPr/>
        </p:nvCxnSpPr>
        <p:spPr>
          <a:xfrm>
            <a:off x="8261017" y="523916"/>
            <a:ext cx="129658" cy="34233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Connector 206"/>
          <p:cNvCxnSpPr/>
          <p:nvPr/>
        </p:nvCxnSpPr>
        <p:spPr>
          <a:xfrm>
            <a:off x="8390675" y="558149"/>
            <a:ext cx="129657" cy="30486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Connector 207"/>
          <p:cNvCxnSpPr/>
          <p:nvPr/>
        </p:nvCxnSpPr>
        <p:spPr>
          <a:xfrm>
            <a:off x="8520332" y="588635"/>
            <a:ext cx="129657" cy="25623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 208"/>
          <p:cNvCxnSpPr/>
          <p:nvPr/>
        </p:nvCxnSpPr>
        <p:spPr>
          <a:xfrm>
            <a:off x="8649989" y="614258"/>
            <a:ext cx="129657" cy="19720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Connector 209"/>
          <p:cNvCxnSpPr/>
          <p:nvPr/>
        </p:nvCxnSpPr>
        <p:spPr>
          <a:xfrm>
            <a:off x="8779646" y="633978"/>
            <a:ext cx="129658" cy="12919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Connector 210"/>
          <p:cNvCxnSpPr/>
          <p:nvPr/>
        </p:nvCxnSpPr>
        <p:spPr>
          <a:xfrm>
            <a:off x="8909304" y="646897"/>
            <a:ext cx="129657" cy="5424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Connector 211"/>
          <p:cNvCxnSpPr/>
          <p:nvPr/>
        </p:nvCxnSpPr>
        <p:spPr>
          <a:xfrm flipV="1">
            <a:off x="9038961" y="649817"/>
            <a:ext cx="129657" cy="2504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Connector 212"/>
          <p:cNvCxnSpPr/>
          <p:nvPr/>
        </p:nvCxnSpPr>
        <p:spPr>
          <a:xfrm flipV="1">
            <a:off x="9168618" y="639249"/>
            <a:ext cx="129657" cy="10568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Connector 213"/>
          <p:cNvCxnSpPr/>
          <p:nvPr/>
        </p:nvCxnSpPr>
        <p:spPr>
          <a:xfrm flipV="1">
            <a:off x="9298275" y="620798"/>
            <a:ext cx="129657" cy="18451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Connector 214"/>
          <p:cNvCxnSpPr/>
          <p:nvPr/>
        </p:nvCxnSpPr>
        <p:spPr>
          <a:xfrm flipV="1">
            <a:off x="9427932" y="594957"/>
            <a:ext cx="129658" cy="25841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Connector 215"/>
          <p:cNvCxnSpPr/>
          <p:nvPr/>
        </p:nvCxnSpPr>
        <p:spPr>
          <a:xfrm flipV="1">
            <a:off x="9557590" y="562512"/>
            <a:ext cx="129657" cy="32445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" name="Connector 216"/>
          <p:cNvCxnSpPr/>
          <p:nvPr/>
        </p:nvCxnSpPr>
        <p:spPr>
          <a:xfrm flipV="1">
            <a:off x="9687247" y="524490"/>
            <a:ext cx="129657" cy="38022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Connector 217"/>
          <p:cNvCxnSpPr/>
          <p:nvPr/>
        </p:nvCxnSpPr>
        <p:spPr>
          <a:xfrm flipV="1">
            <a:off x="9816904" y="482106"/>
            <a:ext cx="129657" cy="42384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Connector 218"/>
          <p:cNvCxnSpPr/>
          <p:nvPr/>
        </p:nvCxnSpPr>
        <p:spPr>
          <a:xfrm flipV="1">
            <a:off x="9946561" y="436691"/>
            <a:ext cx="129658" cy="45415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Connector 219"/>
          <p:cNvCxnSpPr/>
          <p:nvPr/>
        </p:nvCxnSpPr>
        <p:spPr>
          <a:xfrm flipV="1">
            <a:off x="10076219" y="389620"/>
            <a:ext cx="129657" cy="47071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Connector 220"/>
          <p:cNvCxnSpPr/>
          <p:nvPr/>
        </p:nvCxnSpPr>
        <p:spPr>
          <a:xfrm flipV="1">
            <a:off x="10205876" y="342241"/>
            <a:ext cx="129657" cy="47379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Connector 221"/>
          <p:cNvCxnSpPr/>
          <p:nvPr/>
        </p:nvCxnSpPr>
        <p:spPr>
          <a:xfrm flipV="1">
            <a:off x="10335533" y="295808"/>
            <a:ext cx="129657" cy="46433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Connector 222"/>
          <p:cNvCxnSpPr/>
          <p:nvPr/>
        </p:nvCxnSpPr>
        <p:spPr>
          <a:xfrm flipV="1">
            <a:off x="10465190" y="251438"/>
            <a:ext cx="129658" cy="44370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Connector 223"/>
          <p:cNvCxnSpPr/>
          <p:nvPr/>
        </p:nvCxnSpPr>
        <p:spPr>
          <a:xfrm flipV="1">
            <a:off x="10594848" y="210066"/>
            <a:ext cx="129657" cy="41372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Connector 224"/>
          <p:cNvCxnSpPr/>
          <p:nvPr/>
        </p:nvCxnSpPr>
        <p:spPr>
          <a:xfrm flipV="1">
            <a:off x="10724505" y="172431"/>
            <a:ext cx="129657" cy="37635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Connector 225"/>
          <p:cNvCxnSpPr/>
          <p:nvPr/>
        </p:nvCxnSpPr>
        <p:spPr>
          <a:xfrm flipV="1">
            <a:off x="10854162" y="139065"/>
            <a:ext cx="129657" cy="33366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Connector 226"/>
          <p:cNvCxnSpPr/>
          <p:nvPr/>
        </p:nvCxnSpPr>
        <p:spPr>
          <a:xfrm flipV="1">
            <a:off x="10983819" y="110300"/>
            <a:ext cx="129657" cy="28765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" name="Connector 227"/>
          <p:cNvCxnSpPr/>
          <p:nvPr/>
        </p:nvCxnSpPr>
        <p:spPr>
          <a:xfrm flipV="1">
            <a:off x="11113476" y="86291"/>
            <a:ext cx="129658" cy="24009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Connector 228"/>
          <p:cNvCxnSpPr/>
          <p:nvPr/>
        </p:nvCxnSpPr>
        <p:spPr>
          <a:xfrm flipV="1">
            <a:off x="11243134" y="67032"/>
            <a:ext cx="129657" cy="19259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Connector 229"/>
          <p:cNvCxnSpPr/>
          <p:nvPr/>
        </p:nvCxnSpPr>
        <p:spPr>
          <a:xfrm flipV="1">
            <a:off x="11372791" y="52391"/>
            <a:ext cx="129657" cy="14641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Connector 230"/>
          <p:cNvCxnSpPr/>
          <p:nvPr/>
        </p:nvCxnSpPr>
        <p:spPr>
          <a:xfrm flipV="1">
            <a:off x="11502448" y="42135"/>
            <a:ext cx="129657" cy="10256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Connector 231"/>
          <p:cNvCxnSpPr/>
          <p:nvPr/>
        </p:nvCxnSpPr>
        <p:spPr>
          <a:xfrm flipV="1">
            <a:off x="11632105" y="35959"/>
            <a:ext cx="129658" cy="6176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Connector 232"/>
          <p:cNvCxnSpPr/>
          <p:nvPr/>
        </p:nvCxnSpPr>
        <p:spPr>
          <a:xfrm flipV="1">
            <a:off x="11761763" y="33510"/>
            <a:ext cx="129657" cy="2449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Connector 233"/>
          <p:cNvCxnSpPr/>
          <p:nvPr/>
        </p:nvCxnSpPr>
        <p:spPr>
          <a:xfrm>
            <a:off x="11891420" y="33510"/>
            <a:ext cx="129657" cy="896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Connector 234"/>
          <p:cNvCxnSpPr/>
          <p:nvPr/>
        </p:nvCxnSpPr>
        <p:spPr>
          <a:xfrm>
            <a:off x="12021077" y="34406"/>
            <a:ext cx="129657" cy="3847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Connector 235"/>
          <p:cNvCxnSpPr/>
          <p:nvPr/>
        </p:nvCxnSpPr>
        <p:spPr>
          <a:xfrm>
            <a:off x="12150734" y="38253"/>
            <a:ext cx="129658" cy="6405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" name="Connector 236"/>
          <p:cNvCxnSpPr/>
          <p:nvPr/>
        </p:nvCxnSpPr>
        <p:spPr>
          <a:xfrm>
            <a:off x="7223760" y="249062"/>
            <a:ext cx="129657" cy="31785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Connector 237"/>
          <p:cNvCxnSpPr/>
          <p:nvPr/>
        </p:nvCxnSpPr>
        <p:spPr>
          <a:xfrm>
            <a:off x="7353417" y="280847"/>
            <a:ext cx="129657" cy="33741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9" name="Connector 238"/>
          <p:cNvCxnSpPr/>
          <p:nvPr/>
        </p:nvCxnSpPr>
        <p:spPr>
          <a:xfrm>
            <a:off x="7483074" y="314588"/>
            <a:ext cx="129657" cy="35461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0" name="Connector 239"/>
          <p:cNvCxnSpPr/>
          <p:nvPr/>
        </p:nvCxnSpPr>
        <p:spPr>
          <a:xfrm>
            <a:off x="7612731" y="350049"/>
            <a:ext cx="129657" cy="36814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1" name="Connector 240"/>
          <p:cNvCxnSpPr/>
          <p:nvPr/>
        </p:nvCxnSpPr>
        <p:spPr>
          <a:xfrm>
            <a:off x="7742388" y="386863"/>
            <a:ext cx="129658" cy="37653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2" name="Connector 241"/>
          <p:cNvCxnSpPr/>
          <p:nvPr/>
        </p:nvCxnSpPr>
        <p:spPr>
          <a:xfrm>
            <a:off x="7872046" y="424516"/>
            <a:ext cx="129657" cy="37824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3" name="Connector 242"/>
          <p:cNvCxnSpPr/>
          <p:nvPr/>
        </p:nvCxnSpPr>
        <p:spPr>
          <a:xfrm>
            <a:off x="8001703" y="462340"/>
            <a:ext cx="129657" cy="37177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4" name="Connector 243"/>
          <p:cNvCxnSpPr/>
          <p:nvPr/>
        </p:nvCxnSpPr>
        <p:spPr>
          <a:xfrm>
            <a:off x="8131360" y="499517"/>
            <a:ext cx="129657" cy="35579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5" name="Connector 244"/>
          <p:cNvCxnSpPr/>
          <p:nvPr/>
        </p:nvCxnSpPr>
        <p:spPr>
          <a:xfrm>
            <a:off x="8261017" y="535096"/>
            <a:ext cx="129658" cy="32934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Connector 245"/>
          <p:cNvCxnSpPr/>
          <p:nvPr/>
        </p:nvCxnSpPr>
        <p:spPr>
          <a:xfrm>
            <a:off x="8390675" y="568030"/>
            <a:ext cx="129657" cy="29189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Connector 246"/>
          <p:cNvCxnSpPr/>
          <p:nvPr/>
        </p:nvCxnSpPr>
        <p:spPr>
          <a:xfrm>
            <a:off x="8520332" y="597219"/>
            <a:ext cx="129657" cy="24352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" name="Connector 247"/>
          <p:cNvCxnSpPr/>
          <p:nvPr/>
        </p:nvCxnSpPr>
        <p:spPr>
          <a:xfrm>
            <a:off x="8649989" y="621571"/>
            <a:ext cx="129657" cy="18497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9" name="Connector 248"/>
          <p:cNvCxnSpPr/>
          <p:nvPr/>
        </p:nvCxnSpPr>
        <p:spPr>
          <a:xfrm>
            <a:off x="8779646" y="640068"/>
            <a:ext cx="129658" cy="11765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Connector 249"/>
          <p:cNvCxnSpPr/>
          <p:nvPr/>
        </p:nvCxnSpPr>
        <p:spPr>
          <a:xfrm>
            <a:off x="8909304" y="651833"/>
            <a:ext cx="129657" cy="4359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" name="Connector 250"/>
          <p:cNvCxnSpPr/>
          <p:nvPr/>
        </p:nvCxnSpPr>
        <p:spPr>
          <a:xfrm flipV="1">
            <a:off x="9038961" y="652730"/>
            <a:ext cx="129657" cy="3462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" name="Connector 251"/>
          <p:cNvCxnSpPr/>
          <p:nvPr/>
        </p:nvCxnSpPr>
        <p:spPr>
          <a:xfrm flipV="1">
            <a:off x="9168618" y="641328"/>
            <a:ext cx="129657" cy="11402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3" name="Connector 252"/>
          <p:cNvCxnSpPr/>
          <p:nvPr/>
        </p:nvCxnSpPr>
        <p:spPr>
          <a:xfrm flipV="1">
            <a:off x="9298275" y="622182"/>
            <a:ext cx="129657" cy="19146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4" name="Connector 253"/>
          <p:cNvCxnSpPr/>
          <p:nvPr/>
        </p:nvCxnSpPr>
        <p:spPr>
          <a:xfrm flipV="1">
            <a:off x="9427932" y="595797"/>
            <a:ext cx="129658" cy="26385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5" name="Connector 254"/>
          <p:cNvCxnSpPr/>
          <p:nvPr/>
        </p:nvCxnSpPr>
        <p:spPr>
          <a:xfrm flipV="1">
            <a:off x="9557590" y="562967"/>
            <a:ext cx="129657" cy="32830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Connector 255"/>
          <p:cNvCxnSpPr/>
          <p:nvPr/>
        </p:nvCxnSpPr>
        <p:spPr>
          <a:xfrm flipV="1">
            <a:off x="9687247" y="524727"/>
            <a:ext cx="129657" cy="38240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7" name="Connector 256"/>
          <p:cNvCxnSpPr/>
          <p:nvPr/>
        </p:nvCxnSpPr>
        <p:spPr>
          <a:xfrm flipV="1">
            <a:off x="9816904" y="482296"/>
            <a:ext cx="129657" cy="42431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" name="Connector 257"/>
          <p:cNvCxnSpPr/>
          <p:nvPr/>
        </p:nvCxnSpPr>
        <p:spPr>
          <a:xfrm flipV="1">
            <a:off x="9946561" y="437006"/>
            <a:ext cx="129658" cy="45290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" name="Connector 258"/>
          <p:cNvCxnSpPr/>
          <p:nvPr/>
        </p:nvCxnSpPr>
        <p:spPr>
          <a:xfrm flipV="1">
            <a:off x="10076219" y="390229"/>
            <a:ext cx="129657" cy="46777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0" name="Connector 259"/>
          <p:cNvCxnSpPr/>
          <p:nvPr/>
        </p:nvCxnSpPr>
        <p:spPr>
          <a:xfrm flipV="1">
            <a:off x="10205876" y="343306"/>
            <a:ext cx="129657" cy="46923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" name="Connector 260"/>
          <p:cNvCxnSpPr/>
          <p:nvPr/>
        </p:nvCxnSpPr>
        <p:spPr>
          <a:xfrm flipV="1">
            <a:off x="10335533" y="297487"/>
            <a:ext cx="129657" cy="45819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Connector 261"/>
          <p:cNvCxnSpPr/>
          <p:nvPr/>
        </p:nvCxnSpPr>
        <p:spPr>
          <a:xfrm flipV="1">
            <a:off x="10465190" y="253876"/>
            <a:ext cx="129658" cy="43611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Connector 262"/>
          <p:cNvCxnSpPr/>
          <p:nvPr/>
        </p:nvCxnSpPr>
        <p:spPr>
          <a:xfrm flipV="1">
            <a:off x="10594848" y="213396"/>
            <a:ext cx="129657" cy="40480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" name="Connector 263"/>
          <p:cNvCxnSpPr/>
          <p:nvPr/>
        </p:nvCxnSpPr>
        <p:spPr>
          <a:xfrm flipV="1">
            <a:off x="10724505" y="176769"/>
            <a:ext cx="129657" cy="36627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5" name="Connector 264"/>
          <p:cNvCxnSpPr/>
          <p:nvPr/>
        </p:nvCxnSpPr>
        <p:spPr>
          <a:xfrm flipV="1">
            <a:off x="10854162" y="144510"/>
            <a:ext cx="129657" cy="32259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6" name="Connector 265"/>
          <p:cNvCxnSpPr/>
          <p:nvPr/>
        </p:nvCxnSpPr>
        <p:spPr>
          <a:xfrm flipV="1">
            <a:off x="10983819" y="116934"/>
            <a:ext cx="129657" cy="27576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7" name="Connector 266"/>
          <p:cNvCxnSpPr/>
          <p:nvPr/>
        </p:nvCxnSpPr>
        <p:spPr>
          <a:xfrm flipV="1">
            <a:off x="11113476" y="94171"/>
            <a:ext cx="129658" cy="22763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8" name="Connector 267"/>
          <p:cNvCxnSpPr/>
          <p:nvPr/>
        </p:nvCxnSpPr>
        <p:spPr>
          <a:xfrm flipV="1">
            <a:off x="11243134" y="76198"/>
            <a:ext cx="129657" cy="17973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9" name="Connector 268"/>
          <p:cNvCxnSpPr/>
          <p:nvPr/>
        </p:nvCxnSpPr>
        <p:spPr>
          <a:xfrm flipV="1">
            <a:off x="11372791" y="62857"/>
            <a:ext cx="129657" cy="13341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0" name="Connector 269"/>
          <p:cNvCxnSpPr/>
          <p:nvPr/>
        </p:nvCxnSpPr>
        <p:spPr>
          <a:xfrm flipV="1">
            <a:off x="11502448" y="53895"/>
            <a:ext cx="129657" cy="8962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1" name="Connector 270"/>
          <p:cNvCxnSpPr/>
          <p:nvPr/>
        </p:nvCxnSpPr>
        <p:spPr>
          <a:xfrm flipV="1">
            <a:off x="11632105" y="48982"/>
            <a:ext cx="129658" cy="4913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2" name="Connector 271"/>
          <p:cNvCxnSpPr/>
          <p:nvPr/>
        </p:nvCxnSpPr>
        <p:spPr>
          <a:xfrm flipV="1">
            <a:off x="11761763" y="47745"/>
            <a:ext cx="129657" cy="1237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3" name="Connector 272"/>
          <p:cNvCxnSpPr/>
          <p:nvPr/>
        </p:nvCxnSpPr>
        <p:spPr>
          <a:xfrm>
            <a:off x="11891420" y="47745"/>
            <a:ext cx="129657" cy="2036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4" name="Connector 273"/>
          <p:cNvCxnSpPr/>
          <p:nvPr/>
        </p:nvCxnSpPr>
        <p:spPr>
          <a:xfrm>
            <a:off x="12021077" y="49781"/>
            <a:ext cx="129657" cy="4895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5" name="Connector 274"/>
          <p:cNvCxnSpPr/>
          <p:nvPr/>
        </p:nvCxnSpPr>
        <p:spPr>
          <a:xfrm>
            <a:off x="12150734" y="54676"/>
            <a:ext cx="129658" cy="7342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0" name="TextBox 279"/>
          <p:cNvSpPr txBox="1"/>
          <p:nvPr/>
        </p:nvSpPr>
        <p:spPr>
          <a:xfrm>
            <a:off x="512064" y="493776"/>
            <a:ext cx="10515600" cy="502920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C20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成果检索与相关推荐</a:t>
            </a:r>
            <a:endParaRPr sz="3000" b="1">
              <a:solidFill>
                <a:srgbClr val="0C205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1" name="TextBox 280"/>
          <p:cNvSpPr txBox="1"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B4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支持多条件查询、过滤排序与可解释的相关推荐</a:t>
            </a:r>
            <a:endParaRPr sz="1800" b="0">
              <a:solidFill>
                <a:srgbClr val="2B40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82" name="Connector 281"/>
          <p:cNvCxnSpPr/>
          <p:nvPr/>
        </p:nvCxnSpPr>
        <p:spPr>
          <a:xfrm>
            <a:off x="640080" y="6483096"/>
            <a:ext cx="11109960" cy="0"/>
          </a:xfrm>
          <a:prstGeom prst="line">
            <a:avLst/>
          </a:prstGeom>
          <a:ln w="8255">
            <a:solidFill>
              <a:srgbClr val="CFE5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3" name="TextBox 282"/>
          <p:cNvSpPr txBox="1"/>
          <p:nvPr/>
        </p:nvSpPr>
        <p:spPr>
          <a:xfrm>
            <a:off x="640080" y="6501384"/>
            <a:ext cx="7315200" cy="228600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0" b="0">
                <a:solidFill>
                  <a:srgbClr val="0E18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学术成果分享平台   /   系统分析与设计</a:t>
            </a:r>
            <a:endParaRPr sz="1070" b="0">
              <a:solidFill>
                <a:srgbClr val="0E18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6" name="Rounded Rectangle 285"/>
          <p:cNvSpPr/>
          <p:nvPr/>
        </p:nvSpPr>
        <p:spPr>
          <a:xfrm>
            <a:off x="384048" y="1719072"/>
            <a:ext cx="7589520" cy="40233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0795">
            <a:solidFill>
              <a:srgbClr val="C9E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Rounded Rectangle 286"/>
          <p:cNvSpPr/>
          <p:nvPr/>
        </p:nvSpPr>
        <p:spPr>
          <a:xfrm>
            <a:off x="8129016" y="1719072"/>
            <a:ext cx="3694176" cy="40233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0795">
            <a:solidFill>
              <a:srgbClr val="C9E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Oval 287"/>
          <p:cNvSpPr/>
          <p:nvPr/>
        </p:nvSpPr>
        <p:spPr>
          <a:xfrm>
            <a:off x="557784" y="1828800"/>
            <a:ext cx="566928" cy="566928"/>
          </a:xfrm>
          <a:prstGeom prst="ellipse">
            <a:avLst/>
          </a:prstGeom>
          <a:solidFill>
            <a:srgbClr val="EA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Oval 288"/>
          <p:cNvSpPr/>
          <p:nvPr/>
        </p:nvSpPr>
        <p:spPr>
          <a:xfrm>
            <a:off x="675478" y="1942639"/>
            <a:ext cx="239016" cy="239016"/>
          </a:xfrm>
          <a:prstGeom prst="ellipse">
            <a:avLst/>
          </a:prstGeom>
          <a:noFill/>
          <a:ln w="26670">
            <a:solidFill>
              <a:srgbClr val="055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0" name="Connector 289"/>
          <p:cNvCxnSpPr/>
          <p:nvPr/>
        </p:nvCxnSpPr>
        <p:spPr>
          <a:xfrm>
            <a:off x="891364" y="2158525"/>
            <a:ext cx="134929" cy="138784"/>
          </a:xfrm>
          <a:prstGeom prst="line">
            <a:avLst/>
          </a:prstGeom>
          <a:ln w="31750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1" name="TextBox 290"/>
          <p:cNvSpPr txBox="1"/>
          <p:nvPr/>
        </p:nvSpPr>
        <p:spPr>
          <a:xfrm>
            <a:off x="1271016" y="1938528"/>
            <a:ext cx="4937760" cy="411480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30" b="1">
                <a:solidFill>
                  <a:srgbClr val="0C20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多字段检索</a:t>
            </a:r>
            <a:endParaRPr sz="2230" b="1">
              <a:solidFill>
                <a:srgbClr val="0C205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2" name="Rounded Rectangle 291"/>
          <p:cNvSpPr/>
          <p:nvPr/>
        </p:nvSpPr>
        <p:spPr>
          <a:xfrm>
            <a:off x="640080" y="2423160"/>
            <a:ext cx="7077456" cy="512064"/>
          </a:xfrm>
          <a:prstGeom prst="roundRect">
            <a:avLst>
              <a:gd name="adj" fmla="val 14000"/>
            </a:avLst>
          </a:prstGeom>
          <a:solidFill>
            <a:srgbClr val="F0F8FF"/>
          </a:solidFill>
          <a:ln w="8890">
            <a:solidFill>
              <a:srgbClr val="C9E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Oval 292"/>
          <p:cNvSpPr/>
          <p:nvPr/>
        </p:nvSpPr>
        <p:spPr>
          <a:xfrm>
            <a:off x="777240" y="2532888"/>
            <a:ext cx="292608" cy="292608"/>
          </a:xfrm>
          <a:prstGeom prst="ellipse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Oval 293"/>
          <p:cNvSpPr/>
          <p:nvPr/>
        </p:nvSpPr>
        <p:spPr>
          <a:xfrm>
            <a:off x="837985" y="2591643"/>
            <a:ext cx="123363" cy="123363"/>
          </a:xfrm>
          <a:prstGeom prst="ellipse">
            <a:avLst/>
          </a:prstGeom>
          <a:noFill/>
          <a:ln w="19050">
            <a:solidFill>
              <a:srgbClr val="055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5" name="Connector 294"/>
          <p:cNvCxnSpPr/>
          <p:nvPr/>
        </p:nvCxnSpPr>
        <p:spPr>
          <a:xfrm>
            <a:off x="949410" y="2703068"/>
            <a:ext cx="69641" cy="71631"/>
          </a:xfrm>
          <a:prstGeom prst="line">
            <a:avLst/>
          </a:prstGeom>
          <a:ln w="31750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6" name="TextBox 295"/>
          <p:cNvSpPr txBox="1"/>
          <p:nvPr/>
        </p:nvSpPr>
        <p:spPr>
          <a:xfrm>
            <a:off x="1307592" y="2514600"/>
            <a:ext cx="6089904" cy="320040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90" b="1">
                <a:solidFill>
                  <a:srgbClr val="2B4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标题 / DOI / 作者 / 关键词 / 研究领域</a:t>
            </a:r>
            <a:endParaRPr sz="1590" b="1">
              <a:solidFill>
                <a:srgbClr val="2B40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7" name="Rounded Rectangle 296"/>
          <p:cNvSpPr/>
          <p:nvPr/>
        </p:nvSpPr>
        <p:spPr>
          <a:xfrm>
            <a:off x="649224" y="3099816"/>
            <a:ext cx="1124712" cy="338328"/>
          </a:xfrm>
          <a:prstGeom prst="roundRect">
            <a:avLst>
              <a:gd name="adj" fmla="val 14000"/>
            </a:avLst>
          </a:prstGeom>
          <a:solidFill>
            <a:srgbClr val="E8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TextBox 297"/>
          <p:cNvSpPr txBox="1"/>
          <p:nvPr/>
        </p:nvSpPr>
        <p:spPr>
          <a:xfrm>
            <a:off x="649224" y="3136392"/>
            <a:ext cx="1124712" cy="256032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30" b="1">
                <a:solidFill>
                  <a:srgbClr val="0C20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年份</a:t>
            </a:r>
            <a:endParaRPr sz="1430" b="1">
              <a:solidFill>
                <a:srgbClr val="0C205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9" name="Rounded Rectangle 298"/>
          <p:cNvSpPr/>
          <p:nvPr/>
        </p:nvSpPr>
        <p:spPr>
          <a:xfrm>
            <a:off x="1929384" y="3099816"/>
            <a:ext cx="1362456" cy="338328"/>
          </a:xfrm>
          <a:prstGeom prst="roundRect">
            <a:avLst>
              <a:gd name="adj" fmla="val 14000"/>
            </a:avLst>
          </a:prstGeom>
          <a:solidFill>
            <a:srgbClr val="E8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TextBox 299"/>
          <p:cNvSpPr txBox="1"/>
          <p:nvPr/>
        </p:nvSpPr>
        <p:spPr>
          <a:xfrm>
            <a:off x="1929384" y="3136392"/>
            <a:ext cx="1362456" cy="256032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30" b="1">
                <a:solidFill>
                  <a:srgbClr val="0C20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成果类型</a:t>
            </a:r>
            <a:endParaRPr sz="1430" b="1">
              <a:solidFill>
                <a:srgbClr val="0C205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1" name="Rounded Rectangle 300"/>
          <p:cNvSpPr/>
          <p:nvPr/>
        </p:nvSpPr>
        <p:spPr>
          <a:xfrm>
            <a:off x="3438144" y="3099816"/>
            <a:ext cx="1143000" cy="338328"/>
          </a:xfrm>
          <a:prstGeom prst="roundRect">
            <a:avLst>
              <a:gd name="adj" fmla="val 14000"/>
            </a:avLst>
          </a:prstGeom>
          <a:solidFill>
            <a:srgbClr val="E8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TextBox 301"/>
          <p:cNvSpPr txBox="1"/>
          <p:nvPr/>
        </p:nvSpPr>
        <p:spPr>
          <a:xfrm>
            <a:off x="3438144" y="3136392"/>
            <a:ext cx="1143000" cy="256032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30" b="1">
                <a:solidFill>
                  <a:srgbClr val="0C20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学科</a:t>
            </a:r>
            <a:endParaRPr sz="1430" b="1">
              <a:solidFill>
                <a:srgbClr val="0C205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3" name="Rounded Rectangle 302"/>
          <p:cNvSpPr/>
          <p:nvPr/>
        </p:nvSpPr>
        <p:spPr>
          <a:xfrm>
            <a:off x="4736592" y="3099816"/>
            <a:ext cx="1280160" cy="338328"/>
          </a:xfrm>
          <a:prstGeom prst="roundRect">
            <a:avLst>
              <a:gd name="adj" fmla="val 14000"/>
            </a:avLst>
          </a:prstGeom>
          <a:solidFill>
            <a:srgbClr val="E8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TextBox 303"/>
          <p:cNvSpPr txBox="1"/>
          <p:nvPr/>
        </p:nvSpPr>
        <p:spPr>
          <a:xfrm>
            <a:off x="4736592" y="3136392"/>
            <a:ext cx="1280160" cy="256032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30" b="1">
                <a:solidFill>
                  <a:srgbClr val="0C20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期刊</a:t>
            </a:r>
            <a:endParaRPr sz="1430" b="1">
              <a:solidFill>
                <a:srgbClr val="0C205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05" name="Connector 304"/>
          <p:cNvCxnSpPr/>
          <p:nvPr/>
        </p:nvCxnSpPr>
        <p:spPr>
          <a:xfrm>
            <a:off x="630936" y="3666744"/>
            <a:ext cx="7086600" cy="0"/>
          </a:xfrm>
          <a:prstGeom prst="line">
            <a:avLst/>
          </a:prstGeom>
          <a:ln w="10160">
            <a:solidFill>
              <a:srgbClr val="D3E8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6" name="Oval 305"/>
          <p:cNvSpPr/>
          <p:nvPr/>
        </p:nvSpPr>
        <p:spPr>
          <a:xfrm>
            <a:off x="621792" y="3813048"/>
            <a:ext cx="457200" cy="457200"/>
          </a:xfrm>
          <a:prstGeom prst="ellipse">
            <a:avLst/>
          </a:prstGeom>
          <a:solidFill>
            <a:srgbClr val="EA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Oval 306"/>
          <p:cNvSpPr/>
          <p:nvPr/>
        </p:nvSpPr>
        <p:spPr>
          <a:xfrm>
            <a:off x="716706" y="3907962"/>
            <a:ext cx="267370" cy="267370"/>
          </a:xfrm>
          <a:prstGeom prst="ellipse">
            <a:avLst/>
          </a:prstGeom>
          <a:noFill/>
          <a:ln w="26670">
            <a:solidFill>
              <a:srgbClr val="055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8" name="Connector 307"/>
          <p:cNvCxnSpPr/>
          <p:nvPr/>
        </p:nvCxnSpPr>
        <p:spPr>
          <a:xfrm flipV="1">
            <a:off x="977859" y="3898635"/>
            <a:ext cx="0" cy="83942"/>
          </a:xfrm>
          <a:prstGeom prst="line">
            <a:avLst/>
          </a:prstGeom>
          <a:ln w="26670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9" name="Connector 308"/>
          <p:cNvCxnSpPr/>
          <p:nvPr/>
        </p:nvCxnSpPr>
        <p:spPr>
          <a:xfrm flipH="1" flipV="1">
            <a:off x="893917" y="3967032"/>
            <a:ext cx="83942" cy="15545"/>
          </a:xfrm>
          <a:prstGeom prst="line">
            <a:avLst/>
          </a:prstGeom>
          <a:ln w="26670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0" name="Connector 309"/>
          <p:cNvCxnSpPr/>
          <p:nvPr/>
        </p:nvCxnSpPr>
        <p:spPr>
          <a:xfrm>
            <a:off x="722924" y="4100718"/>
            <a:ext cx="0" cy="83942"/>
          </a:xfrm>
          <a:prstGeom prst="line">
            <a:avLst/>
          </a:prstGeom>
          <a:ln w="26670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1" name="Connector 310"/>
          <p:cNvCxnSpPr/>
          <p:nvPr/>
        </p:nvCxnSpPr>
        <p:spPr>
          <a:xfrm>
            <a:off x="722924" y="4100718"/>
            <a:ext cx="83942" cy="15545"/>
          </a:xfrm>
          <a:prstGeom prst="line">
            <a:avLst/>
          </a:prstGeom>
          <a:ln w="26670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2" name="TextBox 311"/>
          <p:cNvSpPr txBox="1"/>
          <p:nvPr/>
        </p:nvSpPr>
        <p:spPr>
          <a:xfrm>
            <a:off x="1188720" y="3867912"/>
            <a:ext cx="4572000" cy="374904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0C20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排序选项</a:t>
            </a:r>
            <a:endParaRPr sz="1950" b="1">
              <a:solidFill>
                <a:srgbClr val="0C205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3" name="Rounded Rectangle 312"/>
          <p:cNvSpPr/>
          <p:nvPr/>
        </p:nvSpPr>
        <p:spPr>
          <a:xfrm>
            <a:off x="914400" y="4279392"/>
            <a:ext cx="1746504" cy="374904"/>
          </a:xfrm>
          <a:prstGeom prst="roundRect">
            <a:avLst>
              <a:gd name="adj" fmla="val 14000"/>
            </a:avLst>
          </a:prstGeom>
          <a:solidFill>
            <a:srgbClr val="EA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TextBox 313"/>
          <p:cNvSpPr txBox="1"/>
          <p:nvPr/>
        </p:nvSpPr>
        <p:spPr>
          <a:xfrm>
            <a:off x="914400" y="4343400"/>
            <a:ext cx="1746504" cy="228600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20" b="1">
                <a:solidFill>
                  <a:srgbClr val="0C20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BM25 相关度</a:t>
            </a:r>
            <a:endParaRPr sz="1420" b="1">
              <a:solidFill>
                <a:srgbClr val="0C205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5" name="Rounded Rectangle 314"/>
          <p:cNvSpPr/>
          <p:nvPr/>
        </p:nvSpPr>
        <p:spPr>
          <a:xfrm>
            <a:off x="2916936" y="4279392"/>
            <a:ext cx="1673352" cy="374904"/>
          </a:xfrm>
          <a:prstGeom prst="roundRect">
            <a:avLst>
              <a:gd name="adj" fmla="val 14000"/>
            </a:avLst>
          </a:prstGeom>
          <a:solidFill>
            <a:srgbClr val="EA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TextBox 315"/>
          <p:cNvSpPr txBox="1"/>
          <p:nvPr/>
        </p:nvSpPr>
        <p:spPr>
          <a:xfrm>
            <a:off x="2916936" y="4343400"/>
            <a:ext cx="1673352" cy="228600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20" b="1">
                <a:solidFill>
                  <a:srgbClr val="0C20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发表时间</a:t>
            </a:r>
            <a:endParaRPr sz="1420" b="1">
              <a:solidFill>
                <a:srgbClr val="0C205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7" name="Rounded Rectangle 316"/>
          <p:cNvSpPr/>
          <p:nvPr/>
        </p:nvSpPr>
        <p:spPr>
          <a:xfrm>
            <a:off x="4846320" y="4279392"/>
            <a:ext cx="1691640" cy="374904"/>
          </a:xfrm>
          <a:prstGeom prst="roundRect">
            <a:avLst>
              <a:gd name="adj" fmla="val 14000"/>
            </a:avLst>
          </a:prstGeom>
          <a:solidFill>
            <a:srgbClr val="EA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TextBox 317"/>
          <p:cNvSpPr txBox="1"/>
          <p:nvPr/>
        </p:nvSpPr>
        <p:spPr>
          <a:xfrm>
            <a:off x="4846320" y="4343400"/>
            <a:ext cx="1691640" cy="228600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20" b="1">
                <a:solidFill>
                  <a:srgbClr val="0C20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引用次数</a:t>
            </a:r>
            <a:endParaRPr sz="1420" b="1">
              <a:solidFill>
                <a:srgbClr val="0C205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19" name="Connector 318"/>
          <p:cNvCxnSpPr/>
          <p:nvPr/>
        </p:nvCxnSpPr>
        <p:spPr>
          <a:xfrm>
            <a:off x="630936" y="4800600"/>
            <a:ext cx="7086600" cy="0"/>
          </a:xfrm>
          <a:prstGeom prst="line">
            <a:avLst/>
          </a:prstGeom>
          <a:ln w="10160">
            <a:solidFill>
              <a:srgbClr val="D3E8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0" name="Oval 319"/>
          <p:cNvSpPr/>
          <p:nvPr/>
        </p:nvSpPr>
        <p:spPr>
          <a:xfrm>
            <a:off x="640080" y="4837175"/>
            <a:ext cx="420624" cy="420624"/>
          </a:xfrm>
          <a:prstGeom prst="ellipse">
            <a:avLst/>
          </a:prstGeom>
          <a:solidFill>
            <a:srgbClr val="EA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Rectangle 320"/>
          <p:cNvSpPr/>
          <p:nvPr/>
        </p:nvSpPr>
        <p:spPr>
          <a:xfrm>
            <a:off x="764584" y="4910196"/>
            <a:ext cx="163033" cy="268862"/>
          </a:xfrm>
          <a:prstGeom prst="rect">
            <a:avLst/>
          </a:prstGeom>
          <a:noFill/>
          <a:ln w="26670">
            <a:solidFill>
              <a:srgbClr val="055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2" name="Connector 321"/>
          <p:cNvCxnSpPr/>
          <p:nvPr/>
        </p:nvCxnSpPr>
        <p:spPr>
          <a:xfrm>
            <a:off x="798907" y="4984562"/>
            <a:ext cx="91528" cy="0"/>
          </a:xfrm>
          <a:prstGeom prst="line">
            <a:avLst/>
          </a:prstGeom>
          <a:ln w="21590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3" name="Connector 322"/>
          <p:cNvCxnSpPr/>
          <p:nvPr/>
        </p:nvCxnSpPr>
        <p:spPr>
          <a:xfrm>
            <a:off x="798907" y="5056068"/>
            <a:ext cx="91528" cy="0"/>
          </a:xfrm>
          <a:prstGeom prst="line">
            <a:avLst/>
          </a:prstGeom>
          <a:ln w="21590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4" name="Connector 323"/>
          <p:cNvCxnSpPr/>
          <p:nvPr/>
        </p:nvCxnSpPr>
        <p:spPr>
          <a:xfrm>
            <a:off x="798907" y="5121854"/>
            <a:ext cx="91528" cy="0"/>
          </a:xfrm>
          <a:prstGeom prst="line">
            <a:avLst/>
          </a:prstGeom>
          <a:ln w="21590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5" name="TextBox 324"/>
          <p:cNvSpPr txBox="1"/>
          <p:nvPr/>
        </p:nvSpPr>
        <p:spPr>
          <a:xfrm>
            <a:off x="1170432" y="4928616"/>
            <a:ext cx="1463040" cy="310896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0C20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推荐依据</a:t>
            </a:r>
            <a:endParaRPr sz="1900" b="1">
              <a:solidFill>
                <a:srgbClr val="0C205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6" name="TextBox 325"/>
          <p:cNvSpPr txBox="1"/>
          <p:nvPr/>
        </p:nvSpPr>
        <p:spPr>
          <a:xfrm>
            <a:off x="2487168" y="4946904"/>
            <a:ext cx="5084064" cy="283464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10" b="1">
                <a:solidFill>
                  <a:srgbClr val="0C20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题名相似   ·   同一期刊   ·   同一研究主题</a:t>
            </a:r>
            <a:endParaRPr sz="1510" b="1">
              <a:solidFill>
                <a:srgbClr val="0C205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7" name="TextBox 326"/>
          <p:cNvSpPr txBox="1"/>
          <p:nvPr/>
        </p:nvSpPr>
        <p:spPr>
          <a:xfrm>
            <a:off x="1170432" y="5358384"/>
            <a:ext cx="6355080" cy="256032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2B4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推荐结果展示相应原因，便于用户判断相关性。</a:t>
            </a:r>
            <a:endParaRPr sz="1450" b="1">
              <a:solidFill>
                <a:srgbClr val="2B40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8" name="Oval 327"/>
          <p:cNvSpPr/>
          <p:nvPr/>
        </p:nvSpPr>
        <p:spPr>
          <a:xfrm>
            <a:off x="8275319" y="1892808"/>
            <a:ext cx="585216" cy="585216"/>
          </a:xfrm>
          <a:prstGeom prst="ellipse">
            <a:avLst/>
          </a:prstGeom>
          <a:solidFill>
            <a:srgbClr val="FF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Rectangle 328"/>
          <p:cNvSpPr/>
          <p:nvPr/>
        </p:nvSpPr>
        <p:spPr>
          <a:xfrm>
            <a:off x="8408749" y="2221231"/>
            <a:ext cx="55712" cy="115404"/>
          </a:xfrm>
          <a:prstGeom prst="rect">
            <a:avLst/>
          </a:prstGeom>
          <a:noFill/>
          <a:ln w="26670">
            <a:solidFill>
              <a:srgbClr val="F47B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Rectangle 329"/>
          <p:cNvSpPr/>
          <p:nvPr/>
        </p:nvSpPr>
        <p:spPr>
          <a:xfrm>
            <a:off x="8528133" y="2157559"/>
            <a:ext cx="55712" cy="179076"/>
          </a:xfrm>
          <a:prstGeom prst="rect">
            <a:avLst/>
          </a:prstGeom>
          <a:noFill/>
          <a:ln w="26670">
            <a:solidFill>
              <a:srgbClr val="F47B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Rectangle 330"/>
          <p:cNvSpPr/>
          <p:nvPr/>
        </p:nvSpPr>
        <p:spPr>
          <a:xfrm>
            <a:off x="8647517" y="2070011"/>
            <a:ext cx="55712" cy="266624"/>
          </a:xfrm>
          <a:prstGeom prst="rect">
            <a:avLst/>
          </a:prstGeom>
          <a:noFill/>
          <a:ln w="26670">
            <a:solidFill>
              <a:srgbClr val="F47B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TextBox 331"/>
          <p:cNvSpPr txBox="1"/>
          <p:nvPr/>
        </p:nvSpPr>
        <p:spPr>
          <a:xfrm>
            <a:off x="9006840" y="2020824"/>
            <a:ext cx="2651760" cy="384048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C20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检索排序</a:t>
            </a:r>
            <a:endParaRPr sz="2100" b="1">
              <a:solidFill>
                <a:srgbClr val="0C205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33" name="Connector 332"/>
          <p:cNvCxnSpPr/>
          <p:nvPr/>
        </p:nvCxnSpPr>
        <p:spPr>
          <a:xfrm>
            <a:off x="8375904" y="2523744"/>
            <a:ext cx="3209544" cy="0"/>
          </a:xfrm>
          <a:prstGeom prst="line">
            <a:avLst/>
          </a:prstGeom>
          <a:ln w="12700">
            <a:solidFill>
              <a:srgbClr val="C9E2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4" name="TextBox 333"/>
          <p:cNvSpPr txBox="1"/>
          <p:nvPr/>
        </p:nvSpPr>
        <p:spPr>
          <a:xfrm>
            <a:off x="8385048" y="2752344"/>
            <a:ext cx="2907792" cy="521207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0556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BM25</a:t>
            </a:r>
            <a:endParaRPr sz="2900" b="1">
              <a:solidFill>
                <a:srgbClr val="0556C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5" name="Oval 334"/>
          <p:cNvSpPr/>
          <p:nvPr/>
        </p:nvSpPr>
        <p:spPr>
          <a:xfrm>
            <a:off x="8449056" y="3383280"/>
            <a:ext cx="118872" cy="118872"/>
          </a:xfrm>
          <a:prstGeom prst="ellipse">
            <a:avLst/>
          </a:prstGeom>
          <a:solidFill>
            <a:srgbClr val="77B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TextBox 335"/>
          <p:cNvSpPr txBox="1"/>
          <p:nvPr/>
        </p:nvSpPr>
        <p:spPr>
          <a:xfrm>
            <a:off x="8714232" y="3255264"/>
            <a:ext cx="2743200" cy="320040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C20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关键词匹配计算相关度</a:t>
            </a:r>
            <a:endParaRPr sz="1500" b="1">
              <a:solidFill>
                <a:srgbClr val="0C205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7" name="Oval 336"/>
          <p:cNvSpPr/>
          <p:nvPr/>
        </p:nvSpPr>
        <p:spPr>
          <a:xfrm>
            <a:off x="8449056" y="3785616"/>
            <a:ext cx="118872" cy="118872"/>
          </a:xfrm>
          <a:prstGeom prst="ellipse">
            <a:avLst/>
          </a:prstGeom>
          <a:solidFill>
            <a:srgbClr val="77B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" name="TextBox 337"/>
          <p:cNvSpPr txBox="1"/>
          <p:nvPr/>
        </p:nvSpPr>
        <p:spPr>
          <a:xfrm>
            <a:off x="8714232" y="3657600"/>
            <a:ext cx="2743200" cy="320040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C20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结合业务过滤与分页</a:t>
            </a:r>
            <a:endParaRPr sz="1500" b="1">
              <a:solidFill>
                <a:srgbClr val="0C205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9" name="Oval 338"/>
          <p:cNvSpPr/>
          <p:nvPr/>
        </p:nvSpPr>
        <p:spPr>
          <a:xfrm>
            <a:off x="8449056" y="4187952"/>
            <a:ext cx="118872" cy="118872"/>
          </a:xfrm>
          <a:prstGeom prst="ellipse">
            <a:avLst/>
          </a:prstGeom>
          <a:solidFill>
            <a:srgbClr val="77B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TextBox 339"/>
          <p:cNvSpPr txBox="1"/>
          <p:nvPr/>
        </p:nvSpPr>
        <p:spPr>
          <a:xfrm>
            <a:off x="8714232" y="4059936"/>
            <a:ext cx="2743200" cy="320040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C20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可切换时间或引用排序</a:t>
            </a:r>
            <a:endParaRPr sz="1500" b="1">
              <a:solidFill>
                <a:srgbClr val="0C205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1" name="Rounded Rectangle 340"/>
          <p:cNvSpPr/>
          <p:nvPr/>
        </p:nvSpPr>
        <p:spPr>
          <a:xfrm>
            <a:off x="8330183" y="4718304"/>
            <a:ext cx="3273552" cy="795528"/>
          </a:xfrm>
          <a:prstGeom prst="roundRect">
            <a:avLst>
              <a:gd name="adj" fmla="val 14000"/>
            </a:avLst>
          </a:prstGeom>
          <a:solidFill>
            <a:srgbClr val="FFF3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" name="Oval 341"/>
          <p:cNvSpPr/>
          <p:nvPr/>
        </p:nvSpPr>
        <p:spPr>
          <a:xfrm>
            <a:off x="8458200" y="4901183"/>
            <a:ext cx="438912" cy="438912"/>
          </a:xfrm>
          <a:prstGeom prst="ellipse">
            <a:avLst/>
          </a:prstGeom>
          <a:solidFill>
            <a:srgbClr val="FF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3" name="Connector 342"/>
          <p:cNvCxnSpPr/>
          <p:nvPr/>
        </p:nvCxnSpPr>
        <p:spPr>
          <a:xfrm flipV="1">
            <a:off x="8540364" y="4983348"/>
            <a:ext cx="137292" cy="62676"/>
          </a:xfrm>
          <a:prstGeom prst="line">
            <a:avLst/>
          </a:prstGeom>
          <a:ln w="26670">
            <a:solidFill>
              <a:srgbClr val="F47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4" name="Connector 343"/>
          <p:cNvCxnSpPr/>
          <p:nvPr/>
        </p:nvCxnSpPr>
        <p:spPr>
          <a:xfrm>
            <a:off x="8677656" y="4983348"/>
            <a:ext cx="137291" cy="62676"/>
          </a:xfrm>
          <a:prstGeom prst="line">
            <a:avLst/>
          </a:prstGeom>
          <a:ln w="26670">
            <a:solidFill>
              <a:srgbClr val="F47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5" name="Connector 344"/>
          <p:cNvCxnSpPr/>
          <p:nvPr/>
        </p:nvCxnSpPr>
        <p:spPr>
          <a:xfrm flipH="1">
            <a:off x="8677656" y="5046024"/>
            <a:ext cx="137291" cy="62677"/>
          </a:xfrm>
          <a:prstGeom prst="line">
            <a:avLst/>
          </a:prstGeom>
          <a:ln w="26670">
            <a:solidFill>
              <a:srgbClr val="F47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6" name="Connector 345"/>
          <p:cNvCxnSpPr/>
          <p:nvPr/>
        </p:nvCxnSpPr>
        <p:spPr>
          <a:xfrm flipH="1" flipV="1">
            <a:off x="8540364" y="5046024"/>
            <a:ext cx="137292" cy="62677"/>
          </a:xfrm>
          <a:prstGeom prst="line">
            <a:avLst/>
          </a:prstGeom>
          <a:ln w="26670">
            <a:solidFill>
              <a:srgbClr val="F47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7" name="Connector 346"/>
          <p:cNvCxnSpPr/>
          <p:nvPr/>
        </p:nvCxnSpPr>
        <p:spPr>
          <a:xfrm flipV="1">
            <a:off x="8540364" y="5057963"/>
            <a:ext cx="137292" cy="62677"/>
          </a:xfrm>
          <a:prstGeom prst="line">
            <a:avLst/>
          </a:prstGeom>
          <a:ln w="26670">
            <a:solidFill>
              <a:srgbClr val="F47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8" name="Connector 347"/>
          <p:cNvCxnSpPr/>
          <p:nvPr/>
        </p:nvCxnSpPr>
        <p:spPr>
          <a:xfrm>
            <a:off x="8677656" y="5057963"/>
            <a:ext cx="137291" cy="62677"/>
          </a:xfrm>
          <a:prstGeom prst="line">
            <a:avLst/>
          </a:prstGeom>
          <a:ln w="26670">
            <a:solidFill>
              <a:srgbClr val="F47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9" name="Connector 348"/>
          <p:cNvCxnSpPr/>
          <p:nvPr/>
        </p:nvCxnSpPr>
        <p:spPr>
          <a:xfrm flipH="1">
            <a:off x="8677656" y="5120640"/>
            <a:ext cx="137291" cy="62676"/>
          </a:xfrm>
          <a:prstGeom prst="line">
            <a:avLst/>
          </a:prstGeom>
          <a:ln w="26670">
            <a:solidFill>
              <a:srgbClr val="F47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0" name="Connector 349"/>
          <p:cNvCxnSpPr/>
          <p:nvPr/>
        </p:nvCxnSpPr>
        <p:spPr>
          <a:xfrm flipH="1" flipV="1">
            <a:off x="8540364" y="5120640"/>
            <a:ext cx="137292" cy="62676"/>
          </a:xfrm>
          <a:prstGeom prst="line">
            <a:avLst/>
          </a:prstGeom>
          <a:ln w="26670">
            <a:solidFill>
              <a:srgbClr val="F47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1" name="Connector 350"/>
          <p:cNvCxnSpPr/>
          <p:nvPr/>
        </p:nvCxnSpPr>
        <p:spPr>
          <a:xfrm flipV="1">
            <a:off x="8540364" y="5132578"/>
            <a:ext cx="137292" cy="62677"/>
          </a:xfrm>
          <a:prstGeom prst="line">
            <a:avLst/>
          </a:prstGeom>
          <a:ln w="26670">
            <a:solidFill>
              <a:srgbClr val="F47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2" name="Connector 351"/>
          <p:cNvCxnSpPr/>
          <p:nvPr/>
        </p:nvCxnSpPr>
        <p:spPr>
          <a:xfrm>
            <a:off x="8677656" y="5132578"/>
            <a:ext cx="137291" cy="62677"/>
          </a:xfrm>
          <a:prstGeom prst="line">
            <a:avLst/>
          </a:prstGeom>
          <a:ln w="26670">
            <a:solidFill>
              <a:srgbClr val="F47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3" name="Connector 352"/>
          <p:cNvCxnSpPr/>
          <p:nvPr/>
        </p:nvCxnSpPr>
        <p:spPr>
          <a:xfrm flipH="1">
            <a:off x="8677656" y="5195255"/>
            <a:ext cx="137291" cy="62676"/>
          </a:xfrm>
          <a:prstGeom prst="line">
            <a:avLst/>
          </a:prstGeom>
          <a:ln w="26670">
            <a:solidFill>
              <a:srgbClr val="F47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4" name="Connector 353"/>
          <p:cNvCxnSpPr/>
          <p:nvPr/>
        </p:nvCxnSpPr>
        <p:spPr>
          <a:xfrm flipH="1" flipV="1">
            <a:off x="8540364" y="5195255"/>
            <a:ext cx="137292" cy="62676"/>
          </a:xfrm>
          <a:prstGeom prst="line">
            <a:avLst/>
          </a:prstGeom>
          <a:ln w="26670">
            <a:solidFill>
              <a:srgbClr val="F47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5" name="TextBox 354"/>
          <p:cNvSpPr txBox="1"/>
          <p:nvPr/>
        </p:nvSpPr>
        <p:spPr>
          <a:xfrm>
            <a:off x="9034272" y="4809744"/>
            <a:ext cx="2404872" cy="274320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90" b="1">
                <a:solidFill>
                  <a:srgbClr val="0C20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分类约束</a:t>
            </a:r>
            <a:endParaRPr sz="1690" b="1">
              <a:solidFill>
                <a:srgbClr val="0C205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6" name="TextBox 355"/>
          <p:cNvSpPr txBox="1"/>
          <p:nvPr/>
        </p:nvSpPr>
        <p:spPr>
          <a:xfrm>
            <a:off x="9025128" y="5138928"/>
            <a:ext cx="2560320" cy="219456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90" b="1">
                <a:solidFill>
                  <a:srgbClr val="0C20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学科字段须有可靠来源依据</a:t>
            </a:r>
            <a:endParaRPr sz="1290" b="1">
              <a:solidFill>
                <a:srgbClr val="0C205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7" name="Rounded Rectangle 356"/>
          <p:cNvSpPr/>
          <p:nvPr/>
        </p:nvSpPr>
        <p:spPr>
          <a:xfrm>
            <a:off x="365760" y="5980176"/>
            <a:ext cx="11457432" cy="347472"/>
          </a:xfrm>
          <a:prstGeom prst="roundRect">
            <a:avLst>
              <a:gd name="adj" fmla="val 14000"/>
            </a:avLst>
          </a:prstGeom>
          <a:solidFill>
            <a:srgbClr val="EA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" name="TextBox 357"/>
          <p:cNvSpPr txBox="1"/>
          <p:nvPr/>
        </p:nvSpPr>
        <p:spPr>
          <a:xfrm>
            <a:off x="722376" y="6016752"/>
            <a:ext cx="10789920" cy="274320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/>
            <a:r>
              <a:rPr sz="1430" b="1">
                <a:solidFill>
                  <a:srgbClr val="0556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检索实现：</a:t>
            </a:r>
            <a:r>
              <a:rPr sz="1430" b="0">
                <a:solidFill>
                  <a:srgbClr val="0C20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多条件查询 → 类型 / 年份 / 领域过滤 → BM25 排序 → 结果详情与相关推荐</a:t>
            </a:r>
            <a:endParaRPr sz="1430" b="0">
              <a:solidFill>
                <a:srgbClr val="0C205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7223760" y="131090"/>
            <a:ext cx="129657" cy="33641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353417" y="164731"/>
            <a:ext cx="129657" cy="36565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483074" y="201296"/>
            <a:ext cx="129657" cy="39204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7612731" y="240500"/>
            <a:ext cx="129657" cy="41411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7742388" y="281911"/>
            <a:ext cx="129658" cy="43025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872046" y="324936"/>
            <a:ext cx="129657" cy="43877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001703" y="368813"/>
            <a:ext cx="129657" cy="43806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131360" y="412619"/>
            <a:ext cx="129657" cy="42670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261017" y="455289"/>
            <a:ext cx="129658" cy="40361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390675" y="495650"/>
            <a:ext cx="129657" cy="36826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520332" y="532476"/>
            <a:ext cx="129657" cy="32066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649989" y="564542"/>
            <a:ext cx="129657" cy="26152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779646" y="590694"/>
            <a:ext cx="129658" cy="19230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909304" y="609924"/>
            <a:ext cx="129657" cy="11504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038961" y="621428"/>
            <a:ext cx="129657" cy="3238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9168618" y="619404"/>
            <a:ext cx="129657" cy="5262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9298275" y="605730"/>
            <a:ext cx="129657" cy="13674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9427932" y="584056"/>
            <a:ext cx="129658" cy="21674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9557590" y="555092"/>
            <a:ext cx="129657" cy="28964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9687247" y="519807"/>
            <a:ext cx="129657" cy="35285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9816904" y="479369"/>
            <a:ext cx="129657" cy="40438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9946561" y="435074"/>
            <a:ext cx="129658" cy="44295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10076219" y="388277"/>
            <a:ext cx="129657" cy="46797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10205876" y="340322"/>
            <a:ext cx="129657" cy="47955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10335533" y="292473"/>
            <a:ext cx="129657" cy="47849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10465190" y="245872"/>
            <a:ext cx="129658" cy="46601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10594848" y="201493"/>
            <a:ext cx="129657" cy="44379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10724505" y="160126"/>
            <a:ext cx="129657" cy="41367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10854162" y="122368"/>
            <a:ext cx="129657" cy="37758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10983819" y="88629"/>
            <a:ext cx="129657" cy="33739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11113476" y="59147"/>
            <a:ext cx="129658" cy="29482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11243134" y="34015"/>
            <a:ext cx="129657" cy="25132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11372791" y="13200"/>
            <a:ext cx="129657" cy="20815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11502448" y="-3422"/>
            <a:ext cx="129657" cy="16622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11632105" y="-16047"/>
            <a:ext cx="129658" cy="12625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11761763" y="-24915"/>
            <a:ext cx="129657" cy="8868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11891420" y="-30297"/>
            <a:ext cx="129657" cy="5382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12021077" y="-32477"/>
            <a:ext cx="129657" cy="2180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12150734" y="-32477"/>
            <a:ext cx="129658" cy="732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7223760" y="151010"/>
            <a:ext cx="129657" cy="33617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7353417" y="184627"/>
            <a:ext cx="129657" cy="36370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7483074" y="220997"/>
            <a:ext cx="129657" cy="38843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7612731" y="259840"/>
            <a:ext cx="129657" cy="40888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7742388" y="300728"/>
            <a:ext cx="129658" cy="42351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7872046" y="343079"/>
            <a:ext cx="129657" cy="43062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8001703" y="386141"/>
            <a:ext cx="129657" cy="42864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8131360" y="429005"/>
            <a:ext cx="129657" cy="41618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8261017" y="470623"/>
            <a:ext cx="129658" cy="39219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8390675" y="509842"/>
            <a:ext cx="129657" cy="35611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8520332" y="545453"/>
            <a:ext cx="129657" cy="30800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8649989" y="576253"/>
            <a:ext cx="129657" cy="24859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8779646" y="601112"/>
            <a:ext cx="129658" cy="17929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8909304" y="619041"/>
            <a:ext cx="129657" cy="10220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9038961" y="629261"/>
            <a:ext cx="129657" cy="1993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9168618" y="624807"/>
            <a:ext cx="129657" cy="6447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9298275" y="610029"/>
            <a:ext cx="129657" cy="14778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9427932" y="587350"/>
            <a:ext cx="129658" cy="22679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9557590" y="557499"/>
            <a:ext cx="129657" cy="29851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9687247" y="521461"/>
            <a:ext cx="129657" cy="36038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9816904" y="480414"/>
            <a:ext cx="129657" cy="41047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9946561" y="435668"/>
            <a:ext cx="129658" cy="44746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10076219" y="388584"/>
            <a:ext cx="129657" cy="47084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10205876" y="340511"/>
            <a:ext cx="129657" cy="48073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10335533" y="292716"/>
            <a:ext cx="129657" cy="47795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10465190" y="246339"/>
            <a:ext cx="129658" cy="46377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10594848" y="202351"/>
            <a:ext cx="129657" cy="43988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10724505" y="161534"/>
            <a:ext cx="129657" cy="40817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10854162" y="124476"/>
            <a:ext cx="129657" cy="37058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10983819" y="91576"/>
            <a:ext cx="129657" cy="32900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11113476" y="63056"/>
            <a:ext cx="129658" cy="28520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11243134" y="38992"/>
            <a:ext cx="129657" cy="24064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11372791" y="19335"/>
            <a:ext cx="129657" cy="19657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11502448" y="3937"/>
            <a:ext cx="129657" cy="15398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11632105" y="-7415"/>
            <a:ext cx="129658" cy="11352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11761763" y="-14986"/>
            <a:ext cx="129657" cy="7571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11891420" y="-19069"/>
            <a:ext cx="129657" cy="4083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12021077" y="-19970"/>
            <a:ext cx="129657" cy="901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12150734" y="-19970"/>
            <a:ext cx="129658" cy="1968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7223760" y="170931"/>
            <a:ext cx="129657" cy="33477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7353417" y="204408"/>
            <a:ext cx="129657" cy="36062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7483074" y="240470"/>
            <a:ext cx="129657" cy="38370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7612731" y="278840"/>
            <a:ext cx="129657" cy="40261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7742388" y="319101"/>
            <a:ext cx="129658" cy="41578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7872046" y="360679"/>
            <a:ext cx="129657" cy="42159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8001703" y="402838"/>
            <a:ext cx="129657" cy="41846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8131360" y="444684"/>
            <a:ext cx="129657" cy="40502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8261017" y="485186"/>
            <a:ext cx="129658" cy="38025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8390675" y="523211"/>
            <a:ext cx="129657" cy="34359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8520332" y="557570"/>
            <a:ext cx="129657" cy="29513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8649989" y="587083"/>
            <a:ext cx="129657" cy="23558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8779646" y="610641"/>
            <a:ext cx="129658" cy="16638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8909304" y="627279"/>
            <a:ext cx="129657" cy="8959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9038961" y="636238"/>
            <a:ext cx="129657" cy="787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9168618" y="629446"/>
            <a:ext cx="129657" cy="7579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9298275" y="613630"/>
            <a:ext cx="129657" cy="15816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9427932" y="590025"/>
            <a:ext cx="129658" cy="23605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9557590" y="559377"/>
            <a:ext cx="129657" cy="30648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9687247" y="522683"/>
            <a:ext cx="129657" cy="36694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9816904" y="481134"/>
            <a:ext cx="129657" cy="41549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9946561" y="436048"/>
            <a:ext cx="129658" cy="45086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10076219" y="388792"/>
            <a:ext cx="129657" cy="47256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10205876" y="340718"/>
            <a:ext cx="129657" cy="48074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10335533" y="293094"/>
            <a:ext cx="129657" cy="47624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10465190" y="247055"/>
            <a:ext cx="129658" cy="46039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10594848" y="203567"/>
            <a:ext cx="129657" cy="43488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10724505" y="163404"/>
            <a:ext cx="129657" cy="40163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10854162" y="127143"/>
            <a:ext cx="129657" cy="36261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V="1">
            <a:off x="10983819" y="95167"/>
            <a:ext cx="129657" cy="31976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V="1">
            <a:off x="11113476" y="67684"/>
            <a:ext cx="129658" cy="27483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 flipV="1">
            <a:off x="11243134" y="44752"/>
            <a:ext cx="129657" cy="22932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 flipV="1">
            <a:off x="11372791" y="26300"/>
            <a:ext cx="129657" cy="18452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 flipV="1">
            <a:off x="11502448" y="12162"/>
            <a:ext cx="129657" cy="14138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 flipV="1">
            <a:off x="11632105" y="2100"/>
            <a:ext cx="129658" cy="10062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V="1">
            <a:off x="11761763" y="-4170"/>
            <a:ext cx="129657" cy="6270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V="1">
            <a:off x="11891420" y="-6965"/>
            <a:ext cx="129657" cy="2795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>
            <a:off x="12021077" y="-6965"/>
            <a:ext cx="129657" cy="351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12150734" y="-6614"/>
            <a:ext cx="129658" cy="3164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7223760" y="190776"/>
            <a:ext cx="129657" cy="33221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>
            <a:off x="7353417" y="223997"/>
            <a:ext cx="129657" cy="35641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7483074" y="259638"/>
            <a:ext cx="129657" cy="37790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7612731" y="297428"/>
            <a:ext cx="129657" cy="39533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7742388" y="336961"/>
            <a:ext cx="129658" cy="40716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7872046" y="377677"/>
            <a:ext cx="129657" cy="41175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>
            <a:off x="8001703" y="418852"/>
            <a:ext cx="129657" cy="40759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8131360" y="459611"/>
            <a:ext cx="129657" cy="39331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>
            <a:off x="8261017" y="498942"/>
            <a:ext cx="129658" cy="36789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>
            <a:off x="8390675" y="535731"/>
            <a:ext cx="129657" cy="33081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8520332" y="568812"/>
            <a:ext cx="129657" cy="28213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8649989" y="597025"/>
            <a:ext cx="129657" cy="22261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8779646" y="619286"/>
            <a:ext cx="129658" cy="15365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8909304" y="634651"/>
            <a:ext cx="129657" cy="7734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 flipV="1">
            <a:off x="9038961" y="642014"/>
            <a:ext cx="129657" cy="371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 flipV="1">
            <a:off x="9168618" y="633365"/>
            <a:ext cx="129657" cy="8649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V="1">
            <a:off x="9298275" y="616586"/>
            <a:ext cx="129657" cy="16779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 flipV="1">
            <a:off x="9427932" y="592141"/>
            <a:ext cx="129658" cy="24445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 flipV="1">
            <a:off x="9557590" y="560791"/>
            <a:ext cx="129657" cy="31350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 flipV="1">
            <a:off x="9687247" y="523545"/>
            <a:ext cx="129657" cy="37246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 flipV="1">
            <a:off x="9816904" y="481604"/>
            <a:ext cx="129657" cy="41941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 flipV="1">
            <a:off x="9946561" y="436292"/>
            <a:ext cx="129658" cy="45312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 flipV="1">
            <a:off x="10076219" y="388981"/>
            <a:ext cx="129657" cy="47311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 flipV="1">
            <a:off x="10205876" y="341023"/>
            <a:ext cx="129657" cy="47958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 flipV="1">
            <a:off x="10335533" y="293684"/>
            <a:ext cx="129657" cy="47339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 flipV="1">
            <a:off x="10465190" y="248095"/>
            <a:ext cx="129658" cy="45589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 flipV="1">
            <a:off x="10594848" y="205214"/>
            <a:ext cx="129657" cy="42881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 flipV="1">
            <a:off x="10724505" y="165803"/>
            <a:ext cx="129657" cy="39411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 flipV="1">
            <a:off x="10854162" y="130427"/>
            <a:ext cx="129657" cy="35376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 flipV="1">
            <a:off x="10983819" y="99454"/>
            <a:ext cx="129657" cy="30973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 flipV="1">
            <a:off x="11113476" y="73075"/>
            <a:ext cx="129658" cy="26379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 flipV="1">
            <a:off x="11243134" y="51327"/>
            <a:ext cx="129657" cy="21748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 flipV="1">
            <a:off x="11372791" y="34120"/>
            <a:ext cx="129657" cy="17207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 flipV="1">
            <a:off x="11502448" y="21266"/>
            <a:ext cx="129657" cy="12854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 flipV="1">
            <a:off x="11632105" y="12505"/>
            <a:ext cx="129658" cy="8761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 flipV="1">
            <a:off x="11761763" y="7528"/>
            <a:ext cx="129657" cy="4977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 flipV="1">
            <a:off x="11891420" y="5999"/>
            <a:ext cx="129657" cy="1529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>
            <a:off x="12021077" y="5999"/>
            <a:ext cx="129657" cy="1566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>
            <a:off x="12150734" y="7565"/>
            <a:ext cx="129658" cy="4307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>
            <a:off x="7223760" y="210465"/>
            <a:ext cx="129657" cy="32851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>
            <a:off x="7353417" y="243316"/>
            <a:ext cx="129657" cy="35110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>
            <a:off x="7483074" y="278426"/>
            <a:ext cx="129657" cy="37109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>
            <a:off x="7612731" y="315535"/>
            <a:ext cx="129657" cy="38712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>
            <a:off x="7742388" y="354247"/>
            <a:ext cx="129658" cy="39768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>
            <a:off x="7872046" y="394015"/>
            <a:ext cx="129657" cy="40119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>
            <a:off x="8001703" y="434134"/>
            <a:ext cx="129657" cy="39613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>
            <a:off x="8131360" y="473747"/>
            <a:ext cx="129657" cy="38113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>
            <a:off x="8261017" y="511860"/>
            <a:ext cx="129658" cy="35521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>
            <a:off x="8390675" y="547381"/>
            <a:ext cx="129657" cy="31786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>
            <a:off x="8520332" y="579167"/>
            <a:ext cx="129657" cy="26914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>
            <a:off x="8649989" y="606081"/>
            <a:ext cx="129657" cy="20978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>
            <a:off x="8779646" y="627059"/>
            <a:ext cx="129658" cy="14122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>
            <a:off x="8909304" y="641181"/>
            <a:ext cx="129657" cy="6553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 flipV="1">
            <a:off x="9038961" y="646263"/>
            <a:ext cx="129657" cy="1471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 flipV="1">
            <a:off x="9168618" y="636615"/>
            <a:ext cx="129657" cy="9648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 flipV="1">
            <a:off x="9298275" y="618954"/>
            <a:ext cx="129657" cy="17661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 flipV="1">
            <a:off x="9427932" y="593763"/>
            <a:ext cx="129658" cy="25191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 flipV="1">
            <a:off x="9557590" y="561812"/>
            <a:ext cx="129657" cy="31951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 flipV="1">
            <a:off x="9687247" y="524122"/>
            <a:ext cx="129657" cy="37690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 flipV="1">
            <a:off x="9816904" y="481902"/>
            <a:ext cx="129657" cy="42220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 flipV="1">
            <a:off x="9946561" y="436480"/>
            <a:ext cx="129658" cy="45422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 flipV="1">
            <a:off x="10076219" y="389231"/>
            <a:ext cx="129657" cy="47249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 flipV="1">
            <a:off x="10205876" y="341505"/>
            <a:ext cx="129657" cy="47726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 182"/>
          <p:cNvCxnSpPr/>
          <p:nvPr/>
        </p:nvCxnSpPr>
        <p:spPr>
          <a:xfrm flipV="1">
            <a:off x="10335533" y="294564"/>
            <a:ext cx="129657" cy="46941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 flipV="1">
            <a:off x="10465190" y="249533"/>
            <a:ext cx="129658" cy="45031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 184"/>
          <p:cNvCxnSpPr/>
          <p:nvPr/>
        </p:nvCxnSpPr>
        <p:spPr>
          <a:xfrm flipV="1">
            <a:off x="10594848" y="207359"/>
            <a:ext cx="129657" cy="42174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 flipV="1">
            <a:off x="10724505" y="168793"/>
            <a:ext cx="129657" cy="38566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 flipV="1">
            <a:off x="10854162" y="134385"/>
            <a:ext cx="129657" cy="34408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 flipV="1">
            <a:off x="10983819" y="104485"/>
            <a:ext cx="129657" cy="29900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 188"/>
          <p:cNvCxnSpPr/>
          <p:nvPr/>
        </p:nvCxnSpPr>
        <p:spPr>
          <a:xfrm flipV="1">
            <a:off x="11113476" y="79267"/>
            <a:ext cx="129658" cy="25218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 189"/>
          <p:cNvCxnSpPr/>
          <p:nvPr/>
        </p:nvCxnSpPr>
        <p:spPr>
          <a:xfrm flipV="1">
            <a:off x="11243134" y="58747"/>
            <a:ext cx="129657" cy="20520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 190"/>
          <p:cNvCxnSpPr/>
          <p:nvPr/>
        </p:nvCxnSpPr>
        <p:spPr>
          <a:xfrm flipV="1">
            <a:off x="11372791" y="42813"/>
            <a:ext cx="129657" cy="15934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 191"/>
          <p:cNvCxnSpPr/>
          <p:nvPr/>
        </p:nvCxnSpPr>
        <p:spPr>
          <a:xfrm flipV="1">
            <a:off x="11502448" y="31257"/>
            <a:ext cx="129657" cy="11556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 flipV="1">
            <a:off x="11632105" y="23794"/>
            <a:ext cx="129658" cy="7463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 flipV="1">
            <a:off x="11761763" y="20095"/>
            <a:ext cx="129657" cy="3699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 flipV="1">
            <a:off x="11891420" y="19799"/>
            <a:ext cx="129657" cy="296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>
            <a:off x="12021077" y="19799"/>
            <a:ext cx="129657" cy="2735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>
            <a:off x="12150734" y="22534"/>
            <a:ext cx="129658" cy="5391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>
            <a:off x="7223760" y="229918"/>
            <a:ext cx="129657" cy="32372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>
            <a:off x="7353417" y="262290"/>
            <a:ext cx="129657" cy="34476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 199"/>
          <p:cNvCxnSpPr/>
          <p:nvPr/>
        </p:nvCxnSpPr>
        <p:spPr>
          <a:xfrm>
            <a:off x="7483074" y="296766"/>
            <a:ext cx="129657" cy="36329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 200"/>
          <p:cNvCxnSpPr/>
          <p:nvPr/>
        </p:nvCxnSpPr>
        <p:spPr>
          <a:xfrm>
            <a:off x="7612731" y="333095"/>
            <a:ext cx="129657" cy="37803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Connector 201"/>
          <p:cNvCxnSpPr/>
          <p:nvPr/>
        </p:nvCxnSpPr>
        <p:spPr>
          <a:xfrm>
            <a:off x="7742388" y="370898"/>
            <a:ext cx="129658" cy="38745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Connector 202"/>
          <p:cNvCxnSpPr/>
          <p:nvPr/>
        </p:nvCxnSpPr>
        <p:spPr>
          <a:xfrm>
            <a:off x="7872046" y="409643"/>
            <a:ext cx="129657" cy="38999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Connector 203"/>
          <p:cNvCxnSpPr/>
          <p:nvPr/>
        </p:nvCxnSpPr>
        <p:spPr>
          <a:xfrm>
            <a:off x="8001703" y="448642"/>
            <a:ext cx="129657" cy="38415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Connector 204"/>
          <p:cNvCxnSpPr/>
          <p:nvPr/>
        </p:nvCxnSpPr>
        <p:spPr>
          <a:xfrm>
            <a:off x="8131360" y="487057"/>
            <a:ext cx="129657" cy="36859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Connector 205"/>
          <p:cNvCxnSpPr/>
          <p:nvPr/>
        </p:nvCxnSpPr>
        <p:spPr>
          <a:xfrm>
            <a:off x="8261017" y="523916"/>
            <a:ext cx="129658" cy="34233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Connector 206"/>
          <p:cNvCxnSpPr/>
          <p:nvPr/>
        </p:nvCxnSpPr>
        <p:spPr>
          <a:xfrm>
            <a:off x="8390675" y="558149"/>
            <a:ext cx="129657" cy="30486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Connector 207"/>
          <p:cNvCxnSpPr/>
          <p:nvPr/>
        </p:nvCxnSpPr>
        <p:spPr>
          <a:xfrm>
            <a:off x="8520332" y="588635"/>
            <a:ext cx="129657" cy="25623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 208"/>
          <p:cNvCxnSpPr/>
          <p:nvPr/>
        </p:nvCxnSpPr>
        <p:spPr>
          <a:xfrm>
            <a:off x="8649989" y="614258"/>
            <a:ext cx="129657" cy="19720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Connector 209"/>
          <p:cNvCxnSpPr/>
          <p:nvPr/>
        </p:nvCxnSpPr>
        <p:spPr>
          <a:xfrm>
            <a:off x="8779646" y="633978"/>
            <a:ext cx="129658" cy="12919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Connector 210"/>
          <p:cNvCxnSpPr/>
          <p:nvPr/>
        </p:nvCxnSpPr>
        <p:spPr>
          <a:xfrm>
            <a:off x="8909304" y="646897"/>
            <a:ext cx="129657" cy="5424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Connector 211"/>
          <p:cNvCxnSpPr/>
          <p:nvPr/>
        </p:nvCxnSpPr>
        <p:spPr>
          <a:xfrm flipV="1">
            <a:off x="9038961" y="649817"/>
            <a:ext cx="129657" cy="2504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Connector 212"/>
          <p:cNvCxnSpPr/>
          <p:nvPr/>
        </p:nvCxnSpPr>
        <p:spPr>
          <a:xfrm flipV="1">
            <a:off x="9168618" y="639249"/>
            <a:ext cx="129657" cy="10568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Connector 213"/>
          <p:cNvCxnSpPr/>
          <p:nvPr/>
        </p:nvCxnSpPr>
        <p:spPr>
          <a:xfrm flipV="1">
            <a:off x="9298275" y="620798"/>
            <a:ext cx="129657" cy="18451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Connector 214"/>
          <p:cNvCxnSpPr/>
          <p:nvPr/>
        </p:nvCxnSpPr>
        <p:spPr>
          <a:xfrm flipV="1">
            <a:off x="9427932" y="594957"/>
            <a:ext cx="129658" cy="25841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Connector 215"/>
          <p:cNvCxnSpPr/>
          <p:nvPr/>
        </p:nvCxnSpPr>
        <p:spPr>
          <a:xfrm flipV="1">
            <a:off x="9557590" y="562512"/>
            <a:ext cx="129657" cy="32445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" name="Connector 216"/>
          <p:cNvCxnSpPr/>
          <p:nvPr/>
        </p:nvCxnSpPr>
        <p:spPr>
          <a:xfrm flipV="1">
            <a:off x="9687247" y="524490"/>
            <a:ext cx="129657" cy="38022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Connector 217"/>
          <p:cNvCxnSpPr/>
          <p:nvPr/>
        </p:nvCxnSpPr>
        <p:spPr>
          <a:xfrm flipV="1">
            <a:off x="9816904" y="482106"/>
            <a:ext cx="129657" cy="42384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Connector 218"/>
          <p:cNvCxnSpPr/>
          <p:nvPr/>
        </p:nvCxnSpPr>
        <p:spPr>
          <a:xfrm flipV="1">
            <a:off x="9946561" y="436691"/>
            <a:ext cx="129658" cy="45415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Connector 219"/>
          <p:cNvCxnSpPr/>
          <p:nvPr/>
        </p:nvCxnSpPr>
        <p:spPr>
          <a:xfrm flipV="1">
            <a:off x="10076219" y="389620"/>
            <a:ext cx="129657" cy="47071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Connector 220"/>
          <p:cNvCxnSpPr/>
          <p:nvPr/>
        </p:nvCxnSpPr>
        <p:spPr>
          <a:xfrm flipV="1">
            <a:off x="10205876" y="342241"/>
            <a:ext cx="129657" cy="47379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Connector 221"/>
          <p:cNvCxnSpPr/>
          <p:nvPr/>
        </p:nvCxnSpPr>
        <p:spPr>
          <a:xfrm flipV="1">
            <a:off x="10335533" y="295808"/>
            <a:ext cx="129657" cy="46433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Connector 222"/>
          <p:cNvCxnSpPr/>
          <p:nvPr/>
        </p:nvCxnSpPr>
        <p:spPr>
          <a:xfrm flipV="1">
            <a:off x="10465190" y="251438"/>
            <a:ext cx="129658" cy="44370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Connector 223"/>
          <p:cNvCxnSpPr/>
          <p:nvPr/>
        </p:nvCxnSpPr>
        <p:spPr>
          <a:xfrm flipV="1">
            <a:off x="10594848" y="210066"/>
            <a:ext cx="129657" cy="41372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Connector 224"/>
          <p:cNvCxnSpPr/>
          <p:nvPr/>
        </p:nvCxnSpPr>
        <p:spPr>
          <a:xfrm flipV="1">
            <a:off x="10724505" y="172431"/>
            <a:ext cx="129657" cy="37635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Connector 225"/>
          <p:cNvCxnSpPr/>
          <p:nvPr/>
        </p:nvCxnSpPr>
        <p:spPr>
          <a:xfrm flipV="1">
            <a:off x="10854162" y="139065"/>
            <a:ext cx="129657" cy="33366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Connector 226"/>
          <p:cNvCxnSpPr/>
          <p:nvPr/>
        </p:nvCxnSpPr>
        <p:spPr>
          <a:xfrm flipV="1">
            <a:off x="10983819" y="110300"/>
            <a:ext cx="129657" cy="28765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" name="Connector 227"/>
          <p:cNvCxnSpPr/>
          <p:nvPr/>
        </p:nvCxnSpPr>
        <p:spPr>
          <a:xfrm flipV="1">
            <a:off x="11113476" y="86291"/>
            <a:ext cx="129658" cy="24009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Connector 228"/>
          <p:cNvCxnSpPr/>
          <p:nvPr/>
        </p:nvCxnSpPr>
        <p:spPr>
          <a:xfrm flipV="1">
            <a:off x="11243134" y="67032"/>
            <a:ext cx="129657" cy="19259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Connector 229"/>
          <p:cNvCxnSpPr/>
          <p:nvPr/>
        </p:nvCxnSpPr>
        <p:spPr>
          <a:xfrm flipV="1">
            <a:off x="11372791" y="52391"/>
            <a:ext cx="129657" cy="14641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Connector 230"/>
          <p:cNvCxnSpPr/>
          <p:nvPr/>
        </p:nvCxnSpPr>
        <p:spPr>
          <a:xfrm flipV="1">
            <a:off x="11502448" y="42135"/>
            <a:ext cx="129657" cy="10256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Connector 231"/>
          <p:cNvCxnSpPr/>
          <p:nvPr/>
        </p:nvCxnSpPr>
        <p:spPr>
          <a:xfrm flipV="1">
            <a:off x="11632105" y="35959"/>
            <a:ext cx="129658" cy="6176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Connector 232"/>
          <p:cNvCxnSpPr/>
          <p:nvPr/>
        </p:nvCxnSpPr>
        <p:spPr>
          <a:xfrm flipV="1">
            <a:off x="11761763" y="33510"/>
            <a:ext cx="129657" cy="2449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Connector 233"/>
          <p:cNvCxnSpPr/>
          <p:nvPr/>
        </p:nvCxnSpPr>
        <p:spPr>
          <a:xfrm>
            <a:off x="11891420" y="33510"/>
            <a:ext cx="129657" cy="896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Connector 234"/>
          <p:cNvCxnSpPr/>
          <p:nvPr/>
        </p:nvCxnSpPr>
        <p:spPr>
          <a:xfrm>
            <a:off x="12021077" y="34406"/>
            <a:ext cx="129657" cy="3847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Connector 235"/>
          <p:cNvCxnSpPr/>
          <p:nvPr/>
        </p:nvCxnSpPr>
        <p:spPr>
          <a:xfrm>
            <a:off x="12150734" y="38253"/>
            <a:ext cx="129658" cy="6405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" name="Connector 236"/>
          <p:cNvCxnSpPr/>
          <p:nvPr/>
        </p:nvCxnSpPr>
        <p:spPr>
          <a:xfrm>
            <a:off x="7223760" y="249062"/>
            <a:ext cx="129657" cy="31785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Connector 237"/>
          <p:cNvCxnSpPr/>
          <p:nvPr/>
        </p:nvCxnSpPr>
        <p:spPr>
          <a:xfrm>
            <a:off x="7353417" y="280847"/>
            <a:ext cx="129657" cy="33741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9" name="Connector 238"/>
          <p:cNvCxnSpPr/>
          <p:nvPr/>
        </p:nvCxnSpPr>
        <p:spPr>
          <a:xfrm>
            <a:off x="7483074" y="314588"/>
            <a:ext cx="129657" cy="35461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0" name="Connector 239"/>
          <p:cNvCxnSpPr/>
          <p:nvPr/>
        </p:nvCxnSpPr>
        <p:spPr>
          <a:xfrm>
            <a:off x="7612731" y="350049"/>
            <a:ext cx="129657" cy="36814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1" name="Connector 240"/>
          <p:cNvCxnSpPr/>
          <p:nvPr/>
        </p:nvCxnSpPr>
        <p:spPr>
          <a:xfrm>
            <a:off x="7742388" y="386863"/>
            <a:ext cx="129658" cy="37653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2" name="Connector 241"/>
          <p:cNvCxnSpPr/>
          <p:nvPr/>
        </p:nvCxnSpPr>
        <p:spPr>
          <a:xfrm>
            <a:off x="7872046" y="424516"/>
            <a:ext cx="129657" cy="37824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3" name="Connector 242"/>
          <p:cNvCxnSpPr/>
          <p:nvPr/>
        </p:nvCxnSpPr>
        <p:spPr>
          <a:xfrm>
            <a:off x="8001703" y="462340"/>
            <a:ext cx="129657" cy="37177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4" name="Connector 243"/>
          <p:cNvCxnSpPr/>
          <p:nvPr/>
        </p:nvCxnSpPr>
        <p:spPr>
          <a:xfrm>
            <a:off x="8131360" y="499517"/>
            <a:ext cx="129657" cy="35579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5" name="Connector 244"/>
          <p:cNvCxnSpPr/>
          <p:nvPr/>
        </p:nvCxnSpPr>
        <p:spPr>
          <a:xfrm>
            <a:off x="8261017" y="535096"/>
            <a:ext cx="129658" cy="32934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Connector 245"/>
          <p:cNvCxnSpPr/>
          <p:nvPr/>
        </p:nvCxnSpPr>
        <p:spPr>
          <a:xfrm>
            <a:off x="8390675" y="568030"/>
            <a:ext cx="129657" cy="29189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Connector 246"/>
          <p:cNvCxnSpPr/>
          <p:nvPr/>
        </p:nvCxnSpPr>
        <p:spPr>
          <a:xfrm>
            <a:off x="8520332" y="597219"/>
            <a:ext cx="129657" cy="24352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" name="Connector 247"/>
          <p:cNvCxnSpPr/>
          <p:nvPr/>
        </p:nvCxnSpPr>
        <p:spPr>
          <a:xfrm>
            <a:off x="8649989" y="621571"/>
            <a:ext cx="129657" cy="18497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9" name="Connector 248"/>
          <p:cNvCxnSpPr/>
          <p:nvPr/>
        </p:nvCxnSpPr>
        <p:spPr>
          <a:xfrm>
            <a:off x="8779646" y="640068"/>
            <a:ext cx="129658" cy="11765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Connector 249"/>
          <p:cNvCxnSpPr/>
          <p:nvPr/>
        </p:nvCxnSpPr>
        <p:spPr>
          <a:xfrm>
            <a:off x="8909304" y="651833"/>
            <a:ext cx="129657" cy="4359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" name="Connector 250"/>
          <p:cNvCxnSpPr/>
          <p:nvPr/>
        </p:nvCxnSpPr>
        <p:spPr>
          <a:xfrm flipV="1">
            <a:off x="9038961" y="652730"/>
            <a:ext cx="129657" cy="3462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" name="Connector 251"/>
          <p:cNvCxnSpPr/>
          <p:nvPr/>
        </p:nvCxnSpPr>
        <p:spPr>
          <a:xfrm flipV="1">
            <a:off x="9168618" y="641328"/>
            <a:ext cx="129657" cy="11402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3" name="Connector 252"/>
          <p:cNvCxnSpPr/>
          <p:nvPr/>
        </p:nvCxnSpPr>
        <p:spPr>
          <a:xfrm flipV="1">
            <a:off x="9298275" y="622182"/>
            <a:ext cx="129657" cy="19146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4" name="Connector 253"/>
          <p:cNvCxnSpPr/>
          <p:nvPr/>
        </p:nvCxnSpPr>
        <p:spPr>
          <a:xfrm flipV="1">
            <a:off x="9427932" y="595797"/>
            <a:ext cx="129658" cy="26385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5" name="Connector 254"/>
          <p:cNvCxnSpPr/>
          <p:nvPr/>
        </p:nvCxnSpPr>
        <p:spPr>
          <a:xfrm flipV="1">
            <a:off x="9557590" y="562967"/>
            <a:ext cx="129657" cy="32830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Connector 255"/>
          <p:cNvCxnSpPr/>
          <p:nvPr/>
        </p:nvCxnSpPr>
        <p:spPr>
          <a:xfrm flipV="1">
            <a:off x="9687247" y="524727"/>
            <a:ext cx="129657" cy="38240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7" name="Connector 256"/>
          <p:cNvCxnSpPr/>
          <p:nvPr/>
        </p:nvCxnSpPr>
        <p:spPr>
          <a:xfrm flipV="1">
            <a:off x="9816904" y="482296"/>
            <a:ext cx="129657" cy="42431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" name="Connector 257"/>
          <p:cNvCxnSpPr/>
          <p:nvPr/>
        </p:nvCxnSpPr>
        <p:spPr>
          <a:xfrm flipV="1">
            <a:off x="9946561" y="437006"/>
            <a:ext cx="129658" cy="45290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" name="Connector 258"/>
          <p:cNvCxnSpPr/>
          <p:nvPr/>
        </p:nvCxnSpPr>
        <p:spPr>
          <a:xfrm flipV="1">
            <a:off x="10076219" y="390229"/>
            <a:ext cx="129657" cy="46777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0" name="Connector 259"/>
          <p:cNvCxnSpPr/>
          <p:nvPr/>
        </p:nvCxnSpPr>
        <p:spPr>
          <a:xfrm flipV="1">
            <a:off x="10205876" y="343306"/>
            <a:ext cx="129657" cy="46923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" name="Connector 260"/>
          <p:cNvCxnSpPr/>
          <p:nvPr/>
        </p:nvCxnSpPr>
        <p:spPr>
          <a:xfrm flipV="1">
            <a:off x="10335533" y="297487"/>
            <a:ext cx="129657" cy="45819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Connector 261"/>
          <p:cNvCxnSpPr/>
          <p:nvPr/>
        </p:nvCxnSpPr>
        <p:spPr>
          <a:xfrm flipV="1">
            <a:off x="10465190" y="253876"/>
            <a:ext cx="129658" cy="43611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Connector 262"/>
          <p:cNvCxnSpPr/>
          <p:nvPr/>
        </p:nvCxnSpPr>
        <p:spPr>
          <a:xfrm flipV="1">
            <a:off x="10594848" y="213396"/>
            <a:ext cx="129657" cy="40480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" name="Connector 263"/>
          <p:cNvCxnSpPr/>
          <p:nvPr/>
        </p:nvCxnSpPr>
        <p:spPr>
          <a:xfrm flipV="1">
            <a:off x="10724505" y="176769"/>
            <a:ext cx="129657" cy="36627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5" name="Connector 264"/>
          <p:cNvCxnSpPr/>
          <p:nvPr/>
        </p:nvCxnSpPr>
        <p:spPr>
          <a:xfrm flipV="1">
            <a:off x="10854162" y="144510"/>
            <a:ext cx="129657" cy="32259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6" name="Connector 265"/>
          <p:cNvCxnSpPr/>
          <p:nvPr/>
        </p:nvCxnSpPr>
        <p:spPr>
          <a:xfrm flipV="1">
            <a:off x="10983819" y="116934"/>
            <a:ext cx="129657" cy="27576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7" name="Connector 266"/>
          <p:cNvCxnSpPr/>
          <p:nvPr/>
        </p:nvCxnSpPr>
        <p:spPr>
          <a:xfrm flipV="1">
            <a:off x="11113476" y="94171"/>
            <a:ext cx="129658" cy="22763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8" name="Connector 267"/>
          <p:cNvCxnSpPr/>
          <p:nvPr/>
        </p:nvCxnSpPr>
        <p:spPr>
          <a:xfrm flipV="1">
            <a:off x="11243134" y="76198"/>
            <a:ext cx="129657" cy="17973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9" name="Connector 268"/>
          <p:cNvCxnSpPr/>
          <p:nvPr/>
        </p:nvCxnSpPr>
        <p:spPr>
          <a:xfrm flipV="1">
            <a:off x="11372791" y="62857"/>
            <a:ext cx="129657" cy="13341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0" name="Connector 269"/>
          <p:cNvCxnSpPr/>
          <p:nvPr/>
        </p:nvCxnSpPr>
        <p:spPr>
          <a:xfrm flipV="1">
            <a:off x="11502448" y="53895"/>
            <a:ext cx="129657" cy="8962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1" name="Connector 270"/>
          <p:cNvCxnSpPr/>
          <p:nvPr/>
        </p:nvCxnSpPr>
        <p:spPr>
          <a:xfrm flipV="1">
            <a:off x="11632105" y="48982"/>
            <a:ext cx="129658" cy="4913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2" name="Connector 271"/>
          <p:cNvCxnSpPr/>
          <p:nvPr/>
        </p:nvCxnSpPr>
        <p:spPr>
          <a:xfrm flipV="1">
            <a:off x="11761763" y="47745"/>
            <a:ext cx="129657" cy="1237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3" name="Connector 272"/>
          <p:cNvCxnSpPr/>
          <p:nvPr/>
        </p:nvCxnSpPr>
        <p:spPr>
          <a:xfrm>
            <a:off x="11891420" y="47745"/>
            <a:ext cx="129657" cy="2036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4" name="Connector 273"/>
          <p:cNvCxnSpPr/>
          <p:nvPr/>
        </p:nvCxnSpPr>
        <p:spPr>
          <a:xfrm>
            <a:off x="12021077" y="49781"/>
            <a:ext cx="129657" cy="4895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5" name="Connector 274"/>
          <p:cNvCxnSpPr/>
          <p:nvPr/>
        </p:nvCxnSpPr>
        <p:spPr>
          <a:xfrm>
            <a:off x="12150734" y="54676"/>
            <a:ext cx="129658" cy="7342"/>
          </a:xfrm>
          <a:prstGeom prst="line">
            <a:avLst/>
          </a:prstGeom>
          <a:ln w="5334">
            <a:solidFill>
              <a:srgbClr val="DCE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0" name="TextBox 279"/>
          <p:cNvSpPr txBox="1"/>
          <p:nvPr/>
        </p:nvSpPr>
        <p:spPr>
          <a:xfrm>
            <a:off x="512064" y="493776"/>
            <a:ext cx="10515600" cy="502920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C20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系统架构与核心模块设计</a:t>
            </a:r>
            <a:endParaRPr sz="3000" b="1">
              <a:solidFill>
                <a:srgbClr val="0C205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1" name="TextBox 280"/>
          <p:cNvSpPr txBox="1"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B4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分层架构，模块职责清晰，支持扩展与维护</a:t>
            </a:r>
            <a:endParaRPr sz="1800" b="0">
              <a:solidFill>
                <a:srgbClr val="2B40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82" name="Connector 281"/>
          <p:cNvCxnSpPr/>
          <p:nvPr/>
        </p:nvCxnSpPr>
        <p:spPr>
          <a:xfrm>
            <a:off x="4160520" y="3584448"/>
            <a:ext cx="228600" cy="0"/>
          </a:xfrm>
          <a:prstGeom prst="line">
            <a:avLst/>
          </a:prstGeom>
          <a:ln w="30480">
            <a:solidFill>
              <a:srgbClr val="0556C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3" name="Connector 282"/>
          <p:cNvCxnSpPr/>
          <p:nvPr/>
        </p:nvCxnSpPr>
        <p:spPr>
          <a:xfrm>
            <a:off x="8183879" y="3584448"/>
            <a:ext cx="228601" cy="0"/>
          </a:xfrm>
          <a:prstGeom prst="line">
            <a:avLst/>
          </a:prstGeom>
          <a:ln w="30480">
            <a:solidFill>
              <a:srgbClr val="0556C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4" name="Rounded Rectangle 283"/>
          <p:cNvSpPr/>
          <p:nvPr/>
        </p:nvSpPr>
        <p:spPr>
          <a:xfrm>
            <a:off x="365760" y="1572768"/>
            <a:ext cx="3767328" cy="446227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0795">
            <a:solidFill>
              <a:srgbClr val="C9E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Rounded Rectangle 284"/>
          <p:cNvSpPr/>
          <p:nvPr/>
        </p:nvSpPr>
        <p:spPr>
          <a:xfrm>
            <a:off x="365760" y="1572768"/>
            <a:ext cx="3767328" cy="585216"/>
          </a:xfrm>
          <a:prstGeom prst="roundRect">
            <a:avLst>
              <a:gd name="adj" fmla="val 14000"/>
            </a:avLst>
          </a:prstGeom>
          <a:solidFill>
            <a:srgbClr val="E6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TextBox 285"/>
          <p:cNvSpPr txBox="1"/>
          <p:nvPr/>
        </p:nvSpPr>
        <p:spPr>
          <a:xfrm>
            <a:off x="420624" y="1664208"/>
            <a:ext cx="3657600" cy="347472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C20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前端层（展示与交互）</a:t>
            </a:r>
            <a:endParaRPr sz="1700" b="1">
              <a:solidFill>
                <a:srgbClr val="0C205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7" name="Rounded Rectangle 286"/>
          <p:cNvSpPr/>
          <p:nvPr/>
        </p:nvSpPr>
        <p:spPr>
          <a:xfrm>
            <a:off x="484632" y="2267712"/>
            <a:ext cx="3529584" cy="1005840"/>
          </a:xfrm>
          <a:prstGeom prst="roundRect">
            <a:avLst>
              <a:gd name="adj" fmla="val 14000"/>
            </a:avLst>
          </a:prstGeom>
          <a:solidFill>
            <a:srgbClr val="F7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Oval 287"/>
          <p:cNvSpPr/>
          <p:nvPr/>
        </p:nvSpPr>
        <p:spPr>
          <a:xfrm>
            <a:off x="649224" y="2487168"/>
            <a:ext cx="530352" cy="530352"/>
          </a:xfrm>
          <a:prstGeom prst="ellipse">
            <a:avLst/>
          </a:prstGeom>
          <a:solidFill>
            <a:srgbClr val="EA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Oval 288"/>
          <p:cNvSpPr/>
          <p:nvPr/>
        </p:nvSpPr>
        <p:spPr>
          <a:xfrm>
            <a:off x="784569" y="2622513"/>
            <a:ext cx="259660" cy="259660"/>
          </a:xfrm>
          <a:prstGeom prst="ellipse">
            <a:avLst/>
          </a:prstGeom>
          <a:noFill/>
          <a:ln w="26670">
            <a:solidFill>
              <a:srgbClr val="055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TextBox 289"/>
          <p:cNvSpPr txBox="1"/>
          <p:nvPr/>
        </p:nvSpPr>
        <p:spPr>
          <a:xfrm>
            <a:off x="1417319" y="2368296"/>
            <a:ext cx="2523744" cy="320040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10" b="1">
                <a:solidFill>
                  <a:srgbClr val="0556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用户界面</a:t>
            </a:r>
            <a:endParaRPr sz="1810" b="1">
              <a:solidFill>
                <a:srgbClr val="0556C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1" name="TextBox 290"/>
          <p:cNvSpPr txBox="1"/>
          <p:nvPr/>
        </p:nvSpPr>
        <p:spPr>
          <a:xfrm>
            <a:off x="1417319" y="2706624"/>
            <a:ext cx="2551176" cy="466344"/>
          </a:xfrm>
          <a:prstGeom prst="rect">
            <a:avLst/>
          </a:prstGeom>
          <a:noFill/>
        </p:spPr>
        <p:txBody>
          <a:bodyPr wrap="square" lIns="9144" tIns="0" rIns="9144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B4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检索、浏览、详情、个人中心</a:t>
            </a:r>
            <a:endParaRPr sz="1300" b="1">
              <a:solidFill>
                <a:srgbClr val="2B40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2" name="Rounded Rectangle 291"/>
          <p:cNvSpPr/>
          <p:nvPr/>
        </p:nvSpPr>
        <p:spPr>
          <a:xfrm>
            <a:off x="484632" y="3429000"/>
            <a:ext cx="3529584" cy="1005840"/>
          </a:xfrm>
          <a:prstGeom prst="roundRect">
            <a:avLst>
              <a:gd name="adj" fmla="val 14000"/>
            </a:avLst>
          </a:prstGeom>
          <a:solidFill>
            <a:srgbClr val="F7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Oval 292"/>
          <p:cNvSpPr/>
          <p:nvPr/>
        </p:nvSpPr>
        <p:spPr>
          <a:xfrm>
            <a:off x="649224" y="3648456"/>
            <a:ext cx="530352" cy="530352"/>
          </a:xfrm>
          <a:prstGeom prst="ellipse">
            <a:avLst/>
          </a:prstGeom>
          <a:solidFill>
            <a:srgbClr val="EDF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Oval 293"/>
          <p:cNvSpPr/>
          <p:nvPr/>
        </p:nvSpPr>
        <p:spPr>
          <a:xfrm>
            <a:off x="759325" y="3754950"/>
            <a:ext cx="223596" cy="223596"/>
          </a:xfrm>
          <a:prstGeom prst="ellipse">
            <a:avLst/>
          </a:prstGeom>
          <a:noFill/>
          <a:ln w="26670">
            <a:solidFill>
              <a:srgbClr val="1BAF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5" name="Connector 294"/>
          <p:cNvCxnSpPr/>
          <p:nvPr/>
        </p:nvCxnSpPr>
        <p:spPr>
          <a:xfrm>
            <a:off x="961283" y="3956908"/>
            <a:ext cx="126223" cy="129830"/>
          </a:xfrm>
          <a:prstGeom prst="line">
            <a:avLst/>
          </a:prstGeom>
          <a:ln w="31750">
            <a:solidFill>
              <a:srgbClr val="1BAF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6" name="TextBox 295"/>
          <p:cNvSpPr txBox="1"/>
          <p:nvPr/>
        </p:nvSpPr>
        <p:spPr>
          <a:xfrm>
            <a:off x="1417319" y="3529584"/>
            <a:ext cx="2523744" cy="320040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10" b="1">
                <a:solidFill>
                  <a:srgbClr val="0556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交互功能</a:t>
            </a:r>
            <a:endParaRPr sz="1810" b="1">
              <a:solidFill>
                <a:srgbClr val="0556C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7" name="TextBox 296"/>
          <p:cNvSpPr txBox="1"/>
          <p:nvPr/>
        </p:nvSpPr>
        <p:spPr>
          <a:xfrm>
            <a:off x="1417319" y="3867912"/>
            <a:ext cx="2551176" cy="466344"/>
          </a:xfrm>
          <a:prstGeom prst="rect">
            <a:avLst/>
          </a:prstGeom>
          <a:noFill/>
        </p:spPr>
        <p:txBody>
          <a:bodyPr wrap="square" lIns="9144" tIns="0" rIns="9144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B4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多条件检索、筛选排序、</a:t>
            </a:r>
            <a:endParaRPr sz="1300" b="1">
              <a:solidFill>
                <a:srgbClr val="2B40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B4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收藏、反馈</a:t>
            </a:r>
            <a:endParaRPr sz="1300" b="1">
              <a:solidFill>
                <a:srgbClr val="2B40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8" name="Rounded Rectangle 297"/>
          <p:cNvSpPr/>
          <p:nvPr/>
        </p:nvSpPr>
        <p:spPr>
          <a:xfrm>
            <a:off x="484632" y="4590288"/>
            <a:ext cx="3529584" cy="1005840"/>
          </a:xfrm>
          <a:prstGeom prst="roundRect">
            <a:avLst>
              <a:gd name="adj" fmla="val 14000"/>
            </a:avLst>
          </a:prstGeom>
          <a:solidFill>
            <a:srgbClr val="F7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Oval 298"/>
          <p:cNvSpPr/>
          <p:nvPr/>
        </p:nvSpPr>
        <p:spPr>
          <a:xfrm>
            <a:off x="649224" y="4809744"/>
            <a:ext cx="530352" cy="530352"/>
          </a:xfrm>
          <a:prstGeom prst="ellipse">
            <a:avLst/>
          </a:prstGeom>
          <a:solidFill>
            <a:srgbClr val="F2E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" name="Connector 299"/>
          <p:cNvCxnSpPr/>
          <p:nvPr/>
        </p:nvCxnSpPr>
        <p:spPr>
          <a:xfrm flipV="1">
            <a:off x="748505" y="4909025"/>
            <a:ext cx="165895" cy="75735"/>
          </a:xfrm>
          <a:prstGeom prst="line">
            <a:avLst/>
          </a:prstGeom>
          <a:ln w="26670">
            <a:solidFill>
              <a:srgbClr val="733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1" name="Connector 300"/>
          <p:cNvCxnSpPr/>
          <p:nvPr/>
        </p:nvCxnSpPr>
        <p:spPr>
          <a:xfrm>
            <a:off x="914400" y="4909025"/>
            <a:ext cx="165894" cy="75735"/>
          </a:xfrm>
          <a:prstGeom prst="line">
            <a:avLst/>
          </a:prstGeom>
          <a:ln w="26670">
            <a:solidFill>
              <a:srgbClr val="733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2" name="Connector 301"/>
          <p:cNvCxnSpPr/>
          <p:nvPr/>
        </p:nvCxnSpPr>
        <p:spPr>
          <a:xfrm flipH="1">
            <a:off x="914400" y="4984760"/>
            <a:ext cx="165894" cy="75734"/>
          </a:xfrm>
          <a:prstGeom prst="line">
            <a:avLst/>
          </a:prstGeom>
          <a:ln w="26670">
            <a:solidFill>
              <a:srgbClr val="733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3" name="Connector 302"/>
          <p:cNvCxnSpPr/>
          <p:nvPr/>
        </p:nvCxnSpPr>
        <p:spPr>
          <a:xfrm flipH="1" flipV="1">
            <a:off x="748505" y="4984760"/>
            <a:ext cx="165895" cy="75734"/>
          </a:xfrm>
          <a:prstGeom prst="line">
            <a:avLst/>
          </a:prstGeom>
          <a:ln w="26670">
            <a:solidFill>
              <a:srgbClr val="733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4" name="Connector 303"/>
          <p:cNvCxnSpPr/>
          <p:nvPr/>
        </p:nvCxnSpPr>
        <p:spPr>
          <a:xfrm flipV="1">
            <a:off x="748505" y="4999185"/>
            <a:ext cx="165895" cy="75735"/>
          </a:xfrm>
          <a:prstGeom prst="line">
            <a:avLst/>
          </a:prstGeom>
          <a:ln w="26670">
            <a:solidFill>
              <a:srgbClr val="733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5" name="Connector 304"/>
          <p:cNvCxnSpPr/>
          <p:nvPr/>
        </p:nvCxnSpPr>
        <p:spPr>
          <a:xfrm>
            <a:off x="914400" y="4999185"/>
            <a:ext cx="165894" cy="75735"/>
          </a:xfrm>
          <a:prstGeom prst="line">
            <a:avLst/>
          </a:prstGeom>
          <a:ln w="26670">
            <a:solidFill>
              <a:srgbClr val="733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6" name="Connector 305"/>
          <p:cNvCxnSpPr/>
          <p:nvPr/>
        </p:nvCxnSpPr>
        <p:spPr>
          <a:xfrm flipH="1">
            <a:off x="914400" y="5074920"/>
            <a:ext cx="165894" cy="75734"/>
          </a:xfrm>
          <a:prstGeom prst="line">
            <a:avLst/>
          </a:prstGeom>
          <a:ln w="26670">
            <a:solidFill>
              <a:srgbClr val="733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7" name="Connector 306"/>
          <p:cNvCxnSpPr/>
          <p:nvPr/>
        </p:nvCxnSpPr>
        <p:spPr>
          <a:xfrm flipH="1" flipV="1">
            <a:off x="748505" y="5074920"/>
            <a:ext cx="165895" cy="75734"/>
          </a:xfrm>
          <a:prstGeom prst="line">
            <a:avLst/>
          </a:prstGeom>
          <a:ln w="26670">
            <a:solidFill>
              <a:srgbClr val="733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8" name="Connector 307"/>
          <p:cNvCxnSpPr/>
          <p:nvPr/>
        </p:nvCxnSpPr>
        <p:spPr>
          <a:xfrm flipV="1">
            <a:off x="748505" y="5089345"/>
            <a:ext cx="165895" cy="75734"/>
          </a:xfrm>
          <a:prstGeom prst="line">
            <a:avLst/>
          </a:prstGeom>
          <a:ln w="26670">
            <a:solidFill>
              <a:srgbClr val="733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9" name="Connector 308"/>
          <p:cNvCxnSpPr/>
          <p:nvPr/>
        </p:nvCxnSpPr>
        <p:spPr>
          <a:xfrm>
            <a:off x="914400" y="5089345"/>
            <a:ext cx="165894" cy="75734"/>
          </a:xfrm>
          <a:prstGeom prst="line">
            <a:avLst/>
          </a:prstGeom>
          <a:ln w="26670">
            <a:solidFill>
              <a:srgbClr val="733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0" name="Connector 309"/>
          <p:cNvCxnSpPr/>
          <p:nvPr/>
        </p:nvCxnSpPr>
        <p:spPr>
          <a:xfrm flipH="1">
            <a:off x="914400" y="5165079"/>
            <a:ext cx="165894" cy="75735"/>
          </a:xfrm>
          <a:prstGeom prst="line">
            <a:avLst/>
          </a:prstGeom>
          <a:ln w="26670">
            <a:solidFill>
              <a:srgbClr val="733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1" name="Connector 310"/>
          <p:cNvCxnSpPr/>
          <p:nvPr/>
        </p:nvCxnSpPr>
        <p:spPr>
          <a:xfrm flipH="1" flipV="1">
            <a:off x="748505" y="5165079"/>
            <a:ext cx="165895" cy="75735"/>
          </a:xfrm>
          <a:prstGeom prst="line">
            <a:avLst/>
          </a:prstGeom>
          <a:ln w="26670">
            <a:solidFill>
              <a:srgbClr val="733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2" name="TextBox 311"/>
          <p:cNvSpPr txBox="1"/>
          <p:nvPr/>
        </p:nvSpPr>
        <p:spPr>
          <a:xfrm>
            <a:off x="1417319" y="4690872"/>
            <a:ext cx="2523744" cy="320040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10" b="1">
                <a:solidFill>
                  <a:srgbClr val="7339D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技术实现</a:t>
            </a:r>
            <a:endParaRPr sz="1810" b="1">
              <a:solidFill>
                <a:srgbClr val="7339D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3" name="TextBox 312"/>
          <p:cNvSpPr txBox="1"/>
          <p:nvPr/>
        </p:nvSpPr>
        <p:spPr>
          <a:xfrm>
            <a:off x="1417319" y="5029200"/>
            <a:ext cx="2551176" cy="466344"/>
          </a:xfrm>
          <a:prstGeom prst="rect">
            <a:avLst/>
          </a:prstGeom>
          <a:noFill/>
        </p:spPr>
        <p:txBody>
          <a:bodyPr wrap="square" lIns="9144" tIns="0" rIns="9144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B4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前端框架（如 Vue/React）</a:t>
            </a:r>
            <a:endParaRPr sz="1300" b="1">
              <a:solidFill>
                <a:srgbClr val="2B40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B4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响应式设计</a:t>
            </a:r>
            <a:endParaRPr sz="1300" b="1">
              <a:solidFill>
                <a:srgbClr val="2B40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4" name="Rounded Rectangle 313"/>
          <p:cNvSpPr/>
          <p:nvPr/>
        </p:nvSpPr>
        <p:spPr>
          <a:xfrm>
            <a:off x="4389120" y="1572768"/>
            <a:ext cx="3767328" cy="446227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0795">
            <a:solidFill>
              <a:srgbClr val="C9E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Rounded Rectangle 314"/>
          <p:cNvSpPr/>
          <p:nvPr/>
        </p:nvSpPr>
        <p:spPr>
          <a:xfrm>
            <a:off x="4389120" y="1572768"/>
            <a:ext cx="3767328" cy="585216"/>
          </a:xfrm>
          <a:prstGeom prst="roundRect">
            <a:avLst>
              <a:gd name="adj" fmla="val 14000"/>
            </a:avLst>
          </a:prstGeom>
          <a:solidFill>
            <a:srgbClr val="E6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TextBox 315"/>
          <p:cNvSpPr txBox="1"/>
          <p:nvPr/>
        </p:nvSpPr>
        <p:spPr>
          <a:xfrm>
            <a:off x="4443983" y="1664208"/>
            <a:ext cx="3657600" cy="347472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C20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后端层（业务处理）</a:t>
            </a:r>
            <a:endParaRPr sz="1700" b="1">
              <a:solidFill>
                <a:srgbClr val="0C205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7" name="Rounded Rectangle 316"/>
          <p:cNvSpPr/>
          <p:nvPr/>
        </p:nvSpPr>
        <p:spPr>
          <a:xfrm>
            <a:off x="4507992" y="2267712"/>
            <a:ext cx="3529584" cy="1005840"/>
          </a:xfrm>
          <a:prstGeom prst="roundRect">
            <a:avLst>
              <a:gd name="adj" fmla="val 14000"/>
            </a:avLst>
          </a:prstGeom>
          <a:solidFill>
            <a:srgbClr val="F7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Oval 317"/>
          <p:cNvSpPr/>
          <p:nvPr/>
        </p:nvSpPr>
        <p:spPr>
          <a:xfrm>
            <a:off x="4672583" y="2487168"/>
            <a:ext cx="530352" cy="530352"/>
          </a:xfrm>
          <a:prstGeom prst="ellipse">
            <a:avLst/>
          </a:prstGeom>
          <a:solidFill>
            <a:srgbClr val="FF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Oval 318"/>
          <p:cNvSpPr/>
          <p:nvPr/>
        </p:nvSpPr>
        <p:spPr>
          <a:xfrm>
            <a:off x="4843993" y="2658577"/>
            <a:ext cx="187532" cy="187532"/>
          </a:xfrm>
          <a:prstGeom prst="ellipse">
            <a:avLst/>
          </a:prstGeom>
          <a:noFill/>
          <a:ln w="26670">
            <a:solidFill>
              <a:srgbClr val="F47B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0" name="Connector 319"/>
          <p:cNvCxnSpPr/>
          <p:nvPr/>
        </p:nvCxnSpPr>
        <p:spPr>
          <a:xfrm>
            <a:off x="5042345" y="2752344"/>
            <a:ext cx="75734" cy="0"/>
          </a:xfrm>
          <a:prstGeom prst="line">
            <a:avLst/>
          </a:prstGeom>
          <a:ln w="39370">
            <a:solidFill>
              <a:srgbClr val="F47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1" name="Connector 320"/>
          <p:cNvCxnSpPr/>
          <p:nvPr/>
        </p:nvCxnSpPr>
        <p:spPr>
          <a:xfrm>
            <a:off x="5011713" y="2826297"/>
            <a:ext cx="53552" cy="53552"/>
          </a:xfrm>
          <a:prstGeom prst="line">
            <a:avLst/>
          </a:prstGeom>
          <a:ln w="39370">
            <a:solidFill>
              <a:srgbClr val="F47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2" name="Connector 321"/>
          <p:cNvCxnSpPr/>
          <p:nvPr/>
        </p:nvCxnSpPr>
        <p:spPr>
          <a:xfrm>
            <a:off x="4937759" y="2856929"/>
            <a:ext cx="0" cy="75734"/>
          </a:xfrm>
          <a:prstGeom prst="line">
            <a:avLst/>
          </a:prstGeom>
          <a:ln w="39370">
            <a:solidFill>
              <a:srgbClr val="F47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3" name="Connector 322"/>
          <p:cNvCxnSpPr/>
          <p:nvPr/>
        </p:nvCxnSpPr>
        <p:spPr>
          <a:xfrm flipH="1">
            <a:off x="4810254" y="2826297"/>
            <a:ext cx="53552" cy="53552"/>
          </a:xfrm>
          <a:prstGeom prst="line">
            <a:avLst/>
          </a:prstGeom>
          <a:ln w="39370">
            <a:solidFill>
              <a:srgbClr val="F47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4" name="Connector 323"/>
          <p:cNvCxnSpPr/>
          <p:nvPr/>
        </p:nvCxnSpPr>
        <p:spPr>
          <a:xfrm flipH="1">
            <a:off x="4757440" y="2752344"/>
            <a:ext cx="75734" cy="0"/>
          </a:xfrm>
          <a:prstGeom prst="line">
            <a:avLst/>
          </a:prstGeom>
          <a:ln w="39370">
            <a:solidFill>
              <a:srgbClr val="F47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5" name="Connector 324"/>
          <p:cNvCxnSpPr/>
          <p:nvPr/>
        </p:nvCxnSpPr>
        <p:spPr>
          <a:xfrm flipH="1" flipV="1">
            <a:off x="4810254" y="2624838"/>
            <a:ext cx="53552" cy="53552"/>
          </a:xfrm>
          <a:prstGeom prst="line">
            <a:avLst/>
          </a:prstGeom>
          <a:ln w="39370">
            <a:solidFill>
              <a:srgbClr val="F47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6" name="Connector 325"/>
          <p:cNvCxnSpPr/>
          <p:nvPr/>
        </p:nvCxnSpPr>
        <p:spPr>
          <a:xfrm flipV="1">
            <a:off x="4937759" y="2572024"/>
            <a:ext cx="0" cy="75734"/>
          </a:xfrm>
          <a:prstGeom prst="line">
            <a:avLst/>
          </a:prstGeom>
          <a:ln w="39370">
            <a:solidFill>
              <a:srgbClr val="F47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7" name="Connector 326"/>
          <p:cNvCxnSpPr/>
          <p:nvPr/>
        </p:nvCxnSpPr>
        <p:spPr>
          <a:xfrm flipV="1">
            <a:off x="5011713" y="2624838"/>
            <a:ext cx="53552" cy="53552"/>
          </a:xfrm>
          <a:prstGeom prst="line">
            <a:avLst/>
          </a:prstGeom>
          <a:ln w="39370">
            <a:solidFill>
              <a:srgbClr val="F47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8" name="TextBox 327"/>
          <p:cNvSpPr txBox="1"/>
          <p:nvPr/>
        </p:nvSpPr>
        <p:spPr>
          <a:xfrm>
            <a:off x="5440679" y="2368296"/>
            <a:ext cx="2523744" cy="320040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10" b="1">
                <a:solidFill>
                  <a:srgbClr val="F47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核心模块</a:t>
            </a:r>
            <a:endParaRPr sz="1810" b="1">
              <a:solidFill>
                <a:srgbClr val="F47B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9" name="TextBox 328"/>
          <p:cNvSpPr txBox="1"/>
          <p:nvPr/>
        </p:nvSpPr>
        <p:spPr>
          <a:xfrm>
            <a:off x="5440679" y="2706624"/>
            <a:ext cx="2551176" cy="466344"/>
          </a:xfrm>
          <a:prstGeom prst="rect">
            <a:avLst/>
          </a:prstGeom>
          <a:noFill/>
        </p:spPr>
        <p:txBody>
          <a:bodyPr wrap="square" lIns="9144" tIns="0" rIns="9144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B4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数据采集、清洗去重、</a:t>
            </a:r>
            <a:endParaRPr sz="1300" b="1">
              <a:solidFill>
                <a:srgbClr val="2B40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B4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检索排序、用户管理</a:t>
            </a:r>
            <a:endParaRPr sz="1300" b="1">
              <a:solidFill>
                <a:srgbClr val="2B40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0" name="Rounded Rectangle 329"/>
          <p:cNvSpPr/>
          <p:nvPr/>
        </p:nvSpPr>
        <p:spPr>
          <a:xfrm>
            <a:off x="4507992" y="3429000"/>
            <a:ext cx="3529584" cy="1005840"/>
          </a:xfrm>
          <a:prstGeom prst="roundRect">
            <a:avLst>
              <a:gd name="adj" fmla="val 14000"/>
            </a:avLst>
          </a:prstGeom>
          <a:solidFill>
            <a:srgbClr val="F7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Oval 330"/>
          <p:cNvSpPr/>
          <p:nvPr/>
        </p:nvSpPr>
        <p:spPr>
          <a:xfrm>
            <a:off x="4672583" y="3648456"/>
            <a:ext cx="530352" cy="530352"/>
          </a:xfrm>
          <a:prstGeom prst="ellipse">
            <a:avLst/>
          </a:prstGeom>
          <a:solidFill>
            <a:srgbClr val="EA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Oval 331"/>
          <p:cNvSpPr/>
          <p:nvPr/>
        </p:nvSpPr>
        <p:spPr>
          <a:xfrm>
            <a:off x="4793504" y="3668397"/>
            <a:ext cx="288511" cy="288511"/>
          </a:xfrm>
          <a:prstGeom prst="ellipse">
            <a:avLst/>
          </a:prstGeom>
          <a:noFill/>
          <a:ln w="26670">
            <a:solidFill>
              <a:srgbClr val="055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Oval 332"/>
          <p:cNvSpPr/>
          <p:nvPr/>
        </p:nvSpPr>
        <p:spPr>
          <a:xfrm>
            <a:off x="4793504" y="3877568"/>
            <a:ext cx="288511" cy="288511"/>
          </a:xfrm>
          <a:prstGeom prst="ellipse">
            <a:avLst/>
          </a:prstGeom>
          <a:noFill/>
          <a:ln w="26670">
            <a:solidFill>
              <a:srgbClr val="055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4" name="Connector 333"/>
          <p:cNvCxnSpPr/>
          <p:nvPr/>
        </p:nvCxnSpPr>
        <p:spPr>
          <a:xfrm>
            <a:off x="4793504" y="3812652"/>
            <a:ext cx="0" cy="209171"/>
          </a:xfrm>
          <a:prstGeom prst="line">
            <a:avLst/>
          </a:prstGeom>
          <a:ln w="26670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5" name="Connector 334"/>
          <p:cNvCxnSpPr/>
          <p:nvPr/>
        </p:nvCxnSpPr>
        <p:spPr>
          <a:xfrm>
            <a:off x="5082015" y="3812652"/>
            <a:ext cx="0" cy="209171"/>
          </a:xfrm>
          <a:prstGeom prst="line">
            <a:avLst/>
          </a:prstGeom>
          <a:ln w="26670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6" name="Oval 335"/>
          <p:cNvSpPr/>
          <p:nvPr/>
        </p:nvSpPr>
        <p:spPr>
          <a:xfrm>
            <a:off x="4793504" y="3780195"/>
            <a:ext cx="288511" cy="288511"/>
          </a:xfrm>
          <a:prstGeom prst="ellipse">
            <a:avLst/>
          </a:prstGeom>
          <a:noFill/>
          <a:ln w="26670">
            <a:solidFill>
              <a:srgbClr val="055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TextBox 336"/>
          <p:cNvSpPr txBox="1"/>
          <p:nvPr/>
        </p:nvSpPr>
        <p:spPr>
          <a:xfrm>
            <a:off x="5440679" y="3529584"/>
            <a:ext cx="2523744" cy="320040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10" b="1">
                <a:solidFill>
                  <a:srgbClr val="0556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接口服务</a:t>
            </a:r>
            <a:endParaRPr sz="1810" b="1">
              <a:solidFill>
                <a:srgbClr val="0556C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8" name="TextBox 337"/>
          <p:cNvSpPr txBox="1"/>
          <p:nvPr/>
        </p:nvSpPr>
        <p:spPr>
          <a:xfrm>
            <a:off x="5440679" y="3867912"/>
            <a:ext cx="2551176" cy="466344"/>
          </a:xfrm>
          <a:prstGeom prst="rect">
            <a:avLst/>
          </a:prstGeom>
          <a:noFill/>
        </p:spPr>
        <p:txBody>
          <a:bodyPr wrap="square" lIns="9144" tIns="0" rIns="9144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B4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提供 RESTful API</a:t>
            </a:r>
            <a:endParaRPr sz="1300" b="1">
              <a:solidFill>
                <a:srgbClr val="2B40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B4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支持前后端分离</a:t>
            </a:r>
            <a:endParaRPr sz="1300" b="1">
              <a:solidFill>
                <a:srgbClr val="2B40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9" name="Rounded Rectangle 338"/>
          <p:cNvSpPr/>
          <p:nvPr/>
        </p:nvSpPr>
        <p:spPr>
          <a:xfrm>
            <a:off x="4507992" y="4590288"/>
            <a:ext cx="3529584" cy="1005840"/>
          </a:xfrm>
          <a:prstGeom prst="roundRect">
            <a:avLst>
              <a:gd name="adj" fmla="val 14000"/>
            </a:avLst>
          </a:prstGeom>
          <a:solidFill>
            <a:srgbClr val="F7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Oval 339"/>
          <p:cNvSpPr/>
          <p:nvPr/>
        </p:nvSpPr>
        <p:spPr>
          <a:xfrm>
            <a:off x="4672583" y="4809744"/>
            <a:ext cx="530352" cy="530352"/>
          </a:xfrm>
          <a:prstGeom prst="ellipse">
            <a:avLst/>
          </a:prstGeom>
          <a:solidFill>
            <a:srgbClr val="F2E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" name="Oval 340"/>
          <p:cNvSpPr/>
          <p:nvPr/>
        </p:nvSpPr>
        <p:spPr>
          <a:xfrm>
            <a:off x="4771865" y="5136228"/>
            <a:ext cx="86553" cy="86553"/>
          </a:xfrm>
          <a:prstGeom prst="ellipse">
            <a:avLst/>
          </a:prstGeom>
          <a:noFill/>
          <a:ln w="26670">
            <a:solidFill>
              <a:srgbClr val="733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" name="Oval 341"/>
          <p:cNvSpPr/>
          <p:nvPr/>
        </p:nvSpPr>
        <p:spPr>
          <a:xfrm>
            <a:off x="5017100" y="5136228"/>
            <a:ext cx="86553" cy="86553"/>
          </a:xfrm>
          <a:prstGeom prst="ellipse">
            <a:avLst/>
          </a:prstGeom>
          <a:noFill/>
          <a:ln w="26670">
            <a:solidFill>
              <a:srgbClr val="733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Oval 342"/>
          <p:cNvSpPr/>
          <p:nvPr/>
        </p:nvSpPr>
        <p:spPr>
          <a:xfrm>
            <a:off x="4894483" y="4912632"/>
            <a:ext cx="86553" cy="86553"/>
          </a:xfrm>
          <a:prstGeom prst="ellipse">
            <a:avLst/>
          </a:prstGeom>
          <a:noFill/>
          <a:ln w="26670">
            <a:solidFill>
              <a:srgbClr val="733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4" name="Connector 343"/>
          <p:cNvCxnSpPr/>
          <p:nvPr/>
        </p:nvCxnSpPr>
        <p:spPr>
          <a:xfrm flipV="1">
            <a:off x="4836780" y="5002792"/>
            <a:ext cx="86554" cy="133436"/>
          </a:xfrm>
          <a:prstGeom prst="line">
            <a:avLst/>
          </a:prstGeom>
          <a:ln w="26670">
            <a:solidFill>
              <a:srgbClr val="733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5" name="Connector 344"/>
          <p:cNvCxnSpPr/>
          <p:nvPr/>
        </p:nvCxnSpPr>
        <p:spPr>
          <a:xfrm flipH="1" flipV="1">
            <a:off x="4952185" y="5002792"/>
            <a:ext cx="86554" cy="133436"/>
          </a:xfrm>
          <a:prstGeom prst="line">
            <a:avLst/>
          </a:prstGeom>
          <a:ln w="26670">
            <a:solidFill>
              <a:srgbClr val="733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6" name="Connector 345"/>
          <p:cNvCxnSpPr/>
          <p:nvPr/>
        </p:nvCxnSpPr>
        <p:spPr>
          <a:xfrm>
            <a:off x="4865632" y="5179505"/>
            <a:ext cx="144255" cy="0"/>
          </a:xfrm>
          <a:prstGeom prst="line">
            <a:avLst/>
          </a:prstGeom>
          <a:ln w="26670">
            <a:solidFill>
              <a:srgbClr val="733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7" name="TextBox 346"/>
          <p:cNvSpPr txBox="1"/>
          <p:nvPr/>
        </p:nvSpPr>
        <p:spPr>
          <a:xfrm>
            <a:off x="5440679" y="4690872"/>
            <a:ext cx="2523744" cy="320040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10" b="1">
                <a:solidFill>
                  <a:srgbClr val="7339D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技术实现</a:t>
            </a:r>
            <a:endParaRPr sz="1810" b="1">
              <a:solidFill>
                <a:srgbClr val="7339D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8" name="TextBox 347"/>
          <p:cNvSpPr txBox="1"/>
          <p:nvPr/>
        </p:nvSpPr>
        <p:spPr>
          <a:xfrm>
            <a:off x="5440679" y="5029200"/>
            <a:ext cx="2551176" cy="466344"/>
          </a:xfrm>
          <a:prstGeom prst="rect">
            <a:avLst/>
          </a:prstGeom>
          <a:noFill/>
        </p:spPr>
        <p:txBody>
          <a:bodyPr wrap="square" lIns="9144" tIns="0" rIns="9144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B4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Web 框架（如 Spring Boot）</a:t>
            </a:r>
            <a:endParaRPr sz="1300" b="1">
              <a:solidFill>
                <a:srgbClr val="2B40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B4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业务逻辑与权限控制</a:t>
            </a:r>
            <a:endParaRPr sz="1300" b="1">
              <a:solidFill>
                <a:srgbClr val="2B40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9" name="Rounded Rectangle 348"/>
          <p:cNvSpPr/>
          <p:nvPr/>
        </p:nvSpPr>
        <p:spPr>
          <a:xfrm>
            <a:off x="8412480" y="1572768"/>
            <a:ext cx="3758184" cy="446227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0795">
            <a:solidFill>
              <a:srgbClr val="C9E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" name="Rounded Rectangle 349"/>
          <p:cNvSpPr/>
          <p:nvPr/>
        </p:nvSpPr>
        <p:spPr>
          <a:xfrm>
            <a:off x="8412480" y="1572768"/>
            <a:ext cx="3758184" cy="585216"/>
          </a:xfrm>
          <a:prstGeom prst="roundRect">
            <a:avLst>
              <a:gd name="adj" fmla="val 14000"/>
            </a:avLst>
          </a:prstGeom>
          <a:solidFill>
            <a:srgbClr val="E6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" name="TextBox 350"/>
          <p:cNvSpPr txBox="1"/>
          <p:nvPr/>
        </p:nvSpPr>
        <p:spPr>
          <a:xfrm>
            <a:off x="8467344" y="1664208"/>
            <a:ext cx="3648456" cy="347472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C20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数据层（存储与索引）</a:t>
            </a:r>
            <a:endParaRPr sz="1700" b="1">
              <a:solidFill>
                <a:srgbClr val="0C205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2" name="Rounded Rectangle 351"/>
          <p:cNvSpPr/>
          <p:nvPr/>
        </p:nvSpPr>
        <p:spPr>
          <a:xfrm>
            <a:off x="8531352" y="2267712"/>
            <a:ext cx="3520440" cy="1005840"/>
          </a:xfrm>
          <a:prstGeom prst="roundRect">
            <a:avLst>
              <a:gd name="adj" fmla="val 14000"/>
            </a:avLst>
          </a:prstGeom>
          <a:solidFill>
            <a:srgbClr val="F7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" name="Oval 352"/>
          <p:cNvSpPr/>
          <p:nvPr/>
        </p:nvSpPr>
        <p:spPr>
          <a:xfrm>
            <a:off x="8695944" y="2487168"/>
            <a:ext cx="530352" cy="530352"/>
          </a:xfrm>
          <a:prstGeom prst="ellipse">
            <a:avLst/>
          </a:prstGeom>
          <a:solidFill>
            <a:srgbClr val="EA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" name="Oval 353"/>
          <p:cNvSpPr/>
          <p:nvPr/>
        </p:nvSpPr>
        <p:spPr>
          <a:xfrm>
            <a:off x="8816864" y="2507109"/>
            <a:ext cx="288511" cy="288511"/>
          </a:xfrm>
          <a:prstGeom prst="ellipse">
            <a:avLst/>
          </a:prstGeom>
          <a:noFill/>
          <a:ln w="26670">
            <a:solidFill>
              <a:srgbClr val="055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" name="Oval 354"/>
          <p:cNvSpPr/>
          <p:nvPr/>
        </p:nvSpPr>
        <p:spPr>
          <a:xfrm>
            <a:off x="8816864" y="2716280"/>
            <a:ext cx="288511" cy="288511"/>
          </a:xfrm>
          <a:prstGeom prst="ellipse">
            <a:avLst/>
          </a:prstGeom>
          <a:noFill/>
          <a:ln w="26670">
            <a:solidFill>
              <a:srgbClr val="055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6" name="Connector 355"/>
          <p:cNvCxnSpPr/>
          <p:nvPr/>
        </p:nvCxnSpPr>
        <p:spPr>
          <a:xfrm>
            <a:off x="8816864" y="2651364"/>
            <a:ext cx="0" cy="209171"/>
          </a:xfrm>
          <a:prstGeom prst="line">
            <a:avLst/>
          </a:prstGeom>
          <a:ln w="26670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7" name="Connector 356"/>
          <p:cNvCxnSpPr/>
          <p:nvPr/>
        </p:nvCxnSpPr>
        <p:spPr>
          <a:xfrm>
            <a:off x="9105375" y="2651364"/>
            <a:ext cx="0" cy="209171"/>
          </a:xfrm>
          <a:prstGeom prst="line">
            <a:avLst/>
          </a:prstGeom>
          <a:ln w="26670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8" name="Oval 357"/>
          <p:cNvSpPr/>
          <p:nvPr/>
        </p:nvSpPr>
        <p:spPr>
          <a:xfrm>
            <a:off x="8816864" y="2618907"/>
            <a:ext cx="288511" cy="288511"/>
          </a:xfrm>
          <a:prstGeom prst="ellipse">
            <a:avLst/>
          </a:prstGeom>
          <a:noFill/>
          <a:ln w="26670">
            <a:solidFill>
              <a:srgbClr val="055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" name="TextBox 358"/>
          <p:cNvSpPr txBox="1"/>
          <p:nvPr/>
        </p:nvSpPr>
        <p:spPr>
          <a:xfrm>
            <a:off x="9464040" y="2368296"/>
            <a:ext cx="2514600" cy="320040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10" b="1">
                <a:solidFill>
                  <a:srgbClr val="0556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数据存储</a:t>
            </a:r>
            <a:endParaRPr sz="1810" b="1">
              <a:solidFill>
                <a:srgbClr val="0556C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0" name="TextBox 359"/>
          <p:cNvSpPr txBox="1"/>
          <p:nvPr/>
        </p:nvSpPr>
        <p:spPr>
          <a:xfrm>
            <a:off x="9464040" y="2706624"/>
            <a:ext cx="2542032" cy="466344"/>
          </a:xfrm>
          <a:prstGeom prst="rect">
            <a:avLst/>
          </a:prstGeom>
          <a:noFill/>
        </p:spPr>
        <p:txBody>
          <a:bodyPr wrap="square" lIns="9144" tIns="0" rIns="9144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B4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结构化数据库存储标准化数据</a:t>
            </a:r>
            <a:endParaRPr sz="1300" b="1">
              <a:solidFill>
                <a:srgbClr val="2B40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B4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保留原始来源记录</a:t>
            </a:r>
            <a:endParaRPr sz="1300" b="1">
              <a:solidFill>
                <a:srgbClr val="2B40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1" name="Rounded Rectangle 360"/>
          <p:cNvSpPr/>
          <p:nvPr/>
        </p:nvSpPr>
        <p:spPr>
          <a:xfrm>
            <a:off x="8531352" y="3429000"/>
            <a:ext cx="3520440" cy="1005840"/>
          </a:xfrm>
          <a:prstGeom prst="roundRect">
            <a:avLst>
              <a:gd name="adj" fmla="val 14000"/>
            </a:avLst>
          </a:prstGeom>
          <a:solidFill>
            <a:srgbClr val="F7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" name="Oval 361"/>
          <p:cNvSpPr/>
          <p:nvPr/>
        </p:nvSpPr>
        <p:spPr>
          <a:xfrm>
            <a:off x="8695944" y="3648456"/>
            <a:ext cx="530352" cy="530352"/>
          </a:xfrm>
          <a:prstGeom prst="ellipse">
            <a:avLst/>
          </a:prstGeom>
          <a:solidFill>
            <a:srgbClr val="EDF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" name="Rectangle 362"/>
          <p:cNvSpPr/>
          <p:nvPr/>
        </p:nvSpPr>
        <p:spPr>
          <a:xfrm>
            <a:off x="8852928" y="3740525"/>
            <a:ext cx="205564" cy="339000"/>
          </a:xfrm>
          <a:prstGeom prst="rect">
            <a:avLst/>
          </a:prstGeom>
          <a:noFill/>
          <a:ln w="26670">
            <a:solidFill>
              <a:srgbClr val="1BAF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4" name="Connector 363"/>
          <p:cNvCxnSpPr/>
          <p:nvPr/>
        </p:nvCxnSpPr>
        <p:spPr>
          <a:xfrm>
            <a:off x="8896204" y="3834291"/>
            <a:ext cx="115405" cy="0"/>
          </a:xfrm>
          <a:prstGeom prst="line">
            <a:avLst/>
          </a:prstGeom>
          <a:ln w="21590">
            <a:solidFill>
              <a:srgbClr val="1BAF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5" name="Connector 364"/>
          <p:cNvCxnSpPr/>
          <p:nvPr/>
        </p:nvCxnSpPr>
        <p:spPr>
          <a:xfrm>
            <a:off x="8896204" y="3924451"/>
            <a:ext cx="115405" cy="0"/>
          </a:xfrm>
          <a:prstGeom prst="line">
            <a:avLst/>
          </a:prstGeom>
          <a:ln w="21590">
            <a:solidFill>
              <a:srgbClr val="1BAF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6" name="Connector 365"/>
          <p:cNvCxnSpPr/>
          <p:nvPr/>
        </p:nvCxnSpPr>
        <p:spPr>
          <a:xfrm>
            <a:off x="8896204" y="4007398"/>
            <a:ext cx="115405" cy="0"/>
          </a:xfrm>
          <a:prstGeom prst="line">
            <a:avLst/>
          </a:prstGeom>
          <a:ln w="21590">
            <a:solidFill>
              <a:srgbClr val="1BAF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7" name="TextBox 366"/>
          <p:cNvSpPr txBox="1"/>
          <p:nvPr/>
        </p:nvSpPr>
        <p:spPr>
          <a:xfrm>
            <a:off x="9464040" y="3529584"/>
            <a:ext cx="2514600" cy="320040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10" b="1">
                <a:solidFill>
                  <a:srgbClr val="0556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检索索引</a:t>
            </a:r>
            <a:endParaRPr sz="1810" b="1">
              <a:solidFill>
                <a:srgbClr val="0556C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8" name="TextBox 367"/>
          <p:cNvSpPr txBox="1"/>
          <p:nvPr/>
        </p:nvSpPr>
        <p:spPr>
          <a:xfrm>
            <a:off x="9464040" y="3867912"/>
            <a:ext cx="2542032" cy="466344"/>
          </a:xfrm>
          <a:prstGeom prst="rect">
            <a:avLst/>
          </a:prstGeom>
          <a:noFill/>
        </p:spPr>
        <p:txBody>
          <a:bodyPr wrap="square" lIns="9144" tIns="0" rIns="9144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B4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全文索引（如 Elasticsearch）</a:t>
            </a:r>
            <a:endParaRPr sz="1300" b="1">
              <a:solidFill>
                <a:srgbClr val="2B40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B4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支持多字段检索与排序</a:t>
            </a:r>
            <a:endParaRPr sz="1300" b="1">
              <a:solidFill>
                <a:srgbClr val="2B40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9" name="Rounded Rectangle 368"/>
          <p:cNvSpPr/>
          <p:nvPr/>
        </p:nvSpPr>
        <p:spPr>
          <a:xfrm>
            <a:off x="8531352" y="4590288"/>
            <a:ext cx="3520440" cy="1005840"/>
          </a:xfrm>
          <a:prstGeom prst="roundRect">
            <a:avLst>
              <a:gd name="adj" fmla="val 14000"/>
            </a:avLst>
          </a:prstGeom>
          <a:solidFill>
            <a:srgbClr val="F7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" name="Oval 369"/>
          <p:cNvSpPr/>
          <p:nvPr/>
        </p:nvSpPr>
        <p:spPr>
          <a:xfrm>
            <a:off x="8695944" y="4809744"/>
            <a:ext cx="530352" cy="530352"/>
          </a:xfrm>
          <a:prstGeom prst="ellipse">
            <a:avLst/>
          </a:prstGeom>
          <a:solidFill>
            <a:srgbClr val="FF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" name="Oval 370"/>
          <p:cNvSpPr/>
          <p:nvPr/>
        </p:nvSpPr>
        <p:spPr>
          <a:xfrm>
            <a:off x="8806045" y="4919845"/>
            <a:ext cx="310149" cy="310149"/>
          </a:xfrm>
          <a:prstGeom prst="ellipse">
            <a:avLst/>
          </a:prstGeom>
          <a:noFill/>
          <a:ln w="26670">
            <a:solidFill>
              <a:srgbClr val="F47B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2" name="Connector 371"/>
          <p:cNvCxnSpPr/>
          <p:nvPr/>
        </p:nvCxnSpPr>
        <p:spPr>
          <a:xfrm flipV="1">
            <a:off x="9108982" y="4909025"/>
            <a:ext cx="0" cy="97373"/>
          </a:xfrm>
          <a:prstGeom prst="line">
            <a:avLst/>
          </a:prstGeom>
          <a:ln w="26670">
            <a:solidFill>
              <a:srgbClr val="F47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3" name="Connector 372"/>
          <p:cNvCxnSpPr/>
          <p:nvPr/>
        </p:nvCxnSpPr>
        <p:spPr>
          <a:xfrm flipH="1" flipV="1">
            <a:off x="9011609" y="4988366"/>
            <a:ext cx="97373" cy="18032"/>
          </a:xfrm>
          <a:prstGeom prst="line">
            <a:avLst/>
          </a:prstGeom>
          <a:ln w="26670">
            <a:solidFill>
              <a:srgbClr val="F47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4" name="Connector 373"/>
          <p:cNvCxnSpPr/>
          <p:nvPr/>
        </p:nvCxnSpPr>
        <p:spPr>
          <a:xfrm>
            <a:off x="8813257" y="5143441"/>
            <a:ext cx="0" cy="97373"/>
          </a:xfrm>
          <a:prstGeom prst="line">
            <a:avLst/>
          </a:prstGeom>
          <a:ln w="26670">
            <a:solidFill>
              <a:srgbClr val="F47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5" name="Connector 374"/>
          <p:cNvCxnSpPr/>
          <p:nvPr/>
        </p:nvCxnSpPr>
        <p:spPr>
          <a:xfrm>
            <a:off x="8813257" y="5143441"/>
            <a:ext cx="97373" cy="18032"/>
          </a:xfrm>
          <a:prstGeom prst="line">
            <a:avLst/>
          </a:prstGeom>
          <a:ln w="26670">
            <a:solidFill>
              <a:srgbClr val="F47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6" name="TextBox 375"/>
          <p:cNvSpPr txBox="1"/>
          <p:nvPr/>
        </p:nvSpPr>
        <p:spPr>
          <a:xfrm>
            <a:off x="9464040" y="4690872"/>
            <a:ext cx="2514600" cy="320040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10" b="1">
                <a:solidFill>
                  <a:srgbClr val="F47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数据更新</a:t>
            </a:r>
            <a:endParaRPr sz="1810" b="1">
              <a:solidFill>
                <a:srgbClr val="F47B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7" name="TextBox 376"/>
          <p:cNvSpPr txBox="1"/>
          <p:nvPr/>
        </p:nvSpPr>
        <p:spPr>
          <a:xfrm>
            <a:off x="9464040" y="5029200"/>
            <a:ext cx="2542032" cy="466344"/>
          </a:xfrm>
          <a:prstGeom prst="rect">
            <a:avLst/>
          </a:prstGeom>
          <a:noFill/>
        </p:spPr>
        <p:txBody>
          <a:bodyPr wrap="square" lIns="9144" tIns="0" rIns="9144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B4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定期增量采集与同步</a:t>
            </a:r>
            <a:endParaRPr sz="1300" b="1">
              <a:solidFill>
                <a:srgbClr val="2B40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B4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保证数据时效性</a:t>
            </a:r>
            <a:endParaRPr sz="1300" b="1">
              <a:solidFill>
                <a:srgbClr val="2B40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8" name="Rounded Rectangle 377"/>
          <p:cNvSpPr/>
          <p:nvPr/>
        </p:nvSpPr>
        <p:spPr>
          <a:xfrm>
            <a:off x="338328" y="6181344"/>
            <a:ext cx="11521440" cy="576072"/>
          </a:xfrm>
          <a:prstGeom prst="roundRect">
            <a:avLst>
              <a:gd name="adj" fmla="val 14000"/>
            </a:avLst>
          </a:prstGeom>
          <a:solidFill>
            <a:srgbClr val="FFF4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" name="Rounded Rectangle 378"/>
          <p:cNvSpPr/>
          <p:nvPr/>
        </p:nvSpPr>
        <p:spPr>
          <a:xfrm>
            <a:off x="338328" y="6181344"/>
            <a:ext cx="50292" cy="576072"/>
          </a:xfrm>
          <a:prstGeom prst="roundRect">
            <a:avLst>
              <a:gd name="adj" fmla="val 14000"/>
            </a:avLst>
          </a:prstGeom>
          <a:solidFill>
            <a:srgbClr val="F47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" name="Oval 379"/>
          <p:cNvSpPr/>
          <p:nvPr/>
        </p:nvSpPr>
        <p:spPr>
          <a:xfrm>
            <a:off x="749808" y="6272784"/>
            <a:ext cx="402336" cy="402336"/>
          </a:xfrm>
          <a:prstGeom prst="ellipse">
            <a:avLst/>
          </a:prstGeom>
          <a:solidFill>
            <a:srgbClr val="FFE3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" name="Oval 380"/>
          <p:cNvSpPr/>
          <p:nvPr/>
        </p:nvSpPr>
        <p:spPr>
          <a:xfrm>
            <a:off x="879842" y="6402818"/>
            <a:ext cx="142266" cy="142266"/>
          </a:xfrm>
          <a:prstGeom prst="ellipse">
            <a:avLst/>
          </a:prstGeom>
          <a:noFill/>
          <a:ln w="26670">
            <a:solidFill>
              <a:srgbClr val="F47B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82" name="Connector 381"/>
          <p:cNvCxnSpPr/>
          <p:nvPr/>
        </p:nvCxnSpPr>
        <p:spPr>
          <a:xfrm>
            <a:off x="1030316" y="6473952"/>
            <a:ext cx="57454" cy="0"/>
          </a:xfrm>
          <a:prstGeom prst="line">
            <a:avLst/>
          </a:prstGeom>
          <a:ln w="39370">
            <a:solidFill>
              <a:srgbClr val="F47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3" name="Connector 382"/>
          <p:cNvCxnSpPr/>
          <p:nvPr/>
        </p:nvCxnSpPr>
        <p:spPr>
          <a:xfrm>
            <a:off x="1007078" y="6530054"/>
            <a:ext cx="40626" cy="40626"/>
          </a:xfrm>
          <a:prstGeom prst="line">
            <a:avLst/>
          </a:prstGeom>
          <a:ln w="39370">
            <a:solidFill>
              <a:srgbClr val="F47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4" name="Connector 383"/>
          <p:cNvCxnSpPr/>
          <p:nvPr/>
        </p:nvCxnSpPr>
        <p:spPr>
          <a:xfrm>
            <a:off x="950976" y="6553292"/>
            <a:ext cx="0" cy="57454"/>
          </a:xfrm>
          <a:prstGeom prst="line">
            <a:avLst/>
          </a:prstGeom>
          <a:ln w="39370">
            <a:solidFill>
              <a:srgbClr val="F47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5" name="Connector 384"/>
          <p:cNvCxnSpPr/>
          <p:nvPr/>
        </p:nvCxnSpPr>
        <p:spPr>
          <a:xfrm flipH="1">
            <a:off x="854247" y="6530054"/>
            <a:ext cx="40626" cy="40626"/>
          </a:xfrm>
          <a:prstGeom prst="line">
            <a:avLst/>
          </a:prstGeom>
          <a:ln w="39370">
            <a:solidFill>
              <a:srgbClr val="F47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6" name="Connector 385"/>
          <p:cNvCxnSpPr/>
          <p:nvPr/>
        </p:nvCxnSpPr>
        <p:spPr>
          <a:xfrm flipH="1">
            <a:off x="814181" y="6473952"/>
            <a:ext cx="57454" cy="0"/>
          </a:xfrm>
          <a:prstGeom prst="line">
            <a:avLst/>
          </a:prstGeom>
          <a:ln w="39370">
            <a:solidFill>
              <a:srgbClr val="F47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7" name="Connector 386"/>
          <p:cNvCxnSpPr/>
          <p:nvPr/>
        </p:nvCxnSpPr>
        <p:spPr>
          <a:xfrm flipH="1" flipV="1">
            <a:off x="854247" y="6377223"/>
            <a:ext cx="40626" cy="40626"/>
          </a:xfrm>
          <a:prstGeom prst="line">
            <a:avLst/>
          </a:prstGeom>
          <a:ln w="39370">
            <a:solidFill>
              <a:srgbClr val="F47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8" name="Connector 387"/>
          <p:cNvCxnSpPr/>
          <p:nvPr/>
        </p:nvCxnSpPr>
        <p:spPr>
          <a:xfrm flipV="1">
            <a:off x="950976" y="6337157"/>
            <a:ext cx="0" cy="57454"/>
          </a:xfrm>
          <a:prstGeom prst="line">
            <a:avLst/>
          </a:prstGeom>
          <a:ln w="39370">
            <a:solidFill>
              <a:srgbClr val="F47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9" name="Connector 388"/>
          <p:cNvCxnSpPr/>
          <p:nvPr/>
        </p:nvCxnSpPr>
        <p:spPr>
          <a:xfrm flipV="1">
            <a:off x="1007078" y="6377223"/>
            <a:ext cx="40626" cy="40626"/>
          </a:xfrm>
          <a:prstGeom prst="line">
            <a:avLst/>
          </a:prstGeom>
          <a:ln w="39370">
            <a:solidFill>
              <a:srgbClr val="F47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0" name="TextBox 389"/>
          <p:cNvSpPr txBox="1"/>
          <p:nvPr/>
        </p:nvSpPr>
        <p:spPr>
          <a:xfrm>
            <a:off x="1325880" y="6281928"/>
            <a:ext cx="1325880" cy="374904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47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架构特点：</a:t>
            </a:r>
            <a:endParaRPr sz="1700" b="1">
              <a:solidFill>
                <a:srgbClr val="F47B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1" name="TextBox 390"/>
          <p:cNvSpPr txBox="1"/>
          <p:nvPr/>
        </p:nvSpPr>
        <p:spPr>
          <a:xfrm>
            <a:off x="2651760" y="6272783"/>
            <a:ext cx="8732520" cy="393192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40" b="1">
                <a:solidFill>
                  <a:srgbClr val="0C20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分层设计、职责明确、模块解耦、易于扩展，支持后续功能迭代。</a:t>
            </a:r>
            <a:endParaRPr sz="1540" b="1">
              <a:solidFill>
                <a:srgbClr val="0C205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7999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80000">
                <a:srgbClr val="F7FAFE"/>
              </a:gs>
              <a:gs pos="100000">
                <a:srgbClr val="ECF5FE"/>
              </a:gs>
            </a:gsLst>
            <a:lin ang="315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Freeform 2"/>
          <p:cNvSpPr/>
          <p:nvPr/>
        </p:nvSpPr>
        <p:spPr>
          <a:xfrm>
            <a:off x="8549640" y="0"/>
            <a:ext cx="3642360" cy="4000500"/>
          </a:xfrm>
          <a:custGeom>
            <a:avLst/>
            <a:gdLst/>
            <a:ahLst/>
            <a:cxnLst/>
            <a:rect l="l" t="t" r="r" b="b"/>
            <a:pathLst>
              <a:path w="478" h="525">
                <a:moveTo>
                  <a:pt x="478" y="0"/>
                </a:moveTo>
                <a:lnTo>
                  <a:pt x="58" y="0"/>
                </a:lnTo>
                <a:lnTo>
                  <a:pt x="41" y="24"/>
                </a:lnTo>
                <a:lnTo>
                  <a:pt x="27" y="49"/>
                </a:lnTo>
                <a:lnTo>
                  <a:pt x="16" y="73"/>
                </a:lnTo>
                <a:lnTo>
                  <a:pt x="8" y="97"/>
                </a:lnTo>
                <a:lnTo>
                  <a:pt x="3" y="121"/>
                </a:lnTo>
                <a:lnTo>
                  <a:pt x="0" y="144"/>
                </a:lnTo>
                <a:lnTo>
                  <a:pt x="0" y="167"/>
                </a:lnTo>
                <a:lnTo>
                  <a:pt x="3" y="190"/>
                </a:lnTo>
                <a:lnTo>
                  <a:pt x="8" y="212"/>
                </a:lnTo>
                <a:lnTo>
                  <a:pt x="15" y="234"/>
                </a:lnTo>
                <a:lnTo>
                  <a:pt x="24" y="255"/>
                </a:lnTo>
                <a:lnTo>
                  <a:pt x="36" y="276"/>
                </a:lnTo>
                <a:lnTo>
                  <a:pt x="49" y="295"/>
                </a:lnTo>
                <a:lnTo>
                  <a:pt x="63" y="314"/>
                </a:lnTo>
                <a:lnTo>
                  <a:pt x="80" y="333"/>
                </a:lnTo>
                <a:lnTo>
                  <a:pt x="98" y="350"/>
                </a:lnTo>
                <a:lnTo>
                  <a:pt x="128" y="371"/>
                </a:lnTo>
                <a:lnTo>
                  <a:pt x="157" y="388"/>
                </a:lnTo>
                <a:lnTo>
                  <a:pt x="185" y="402"/>
                </a:lnTo>
                <a:lnTo>
                  <a:pt x="212" y="413"/>
                </a:lnTo>
                <a:lnTo>
                  <a:pt x="239" y="422"/>
                </a:lnTo>
                <a:lnTo>
                  <a:pt x="265" y="429"/>
                </a:lnTo>
                <a:lnTo>
                  <a:pt x="290" y="434"/>
                </a:lnTo>
                <a:lnTo>
                  <a:pt x="314" y="439"/>
                </a:lnTo>
                <a:lnTo>
                  <a:pt x="338" y="444"/>
                </a:lnTo>
                <a:lnTo>
                  <a:pt x="360" y="450"/>
                </a:lnTo>
                <a:lnTo>
                  <a:pt x="382" y="456"/>
                </a:lnTo>
                <a:lnTo>
                  <a:pt x="403" y="465"/>
                </a:lnTo>
                <a:lnTo>
                  <a:pt x="423" y="475"/>
                </a:lnTo>
                <a:lnTo>
                  <a:pt x="442" y="488"/>
                </a:lnTo>
                <a:lnTo>
                  <a:pt x="461" y="505"/>
                </a:lnTo>
                <a:lnTo>
                  <a:pt x="478" y="525"/>
                </a:lnTo>
                <a:lnTo>
                  <a:pt x="478" y="0"/>
                </a:lnTo>
                <a:close/>
              </a:path>
            </a:pathLst>
          </a:custGeom>
          <a:solidFill>
            <a:srgbClr val="EAF5FE">
              <a:alpha val="6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Oval 5"/>
          <p:cNvSpPr/>
          <p:nvPr/>
        </p:nvSpPr>
        <p:spPr>
          <a:xfrm>
            <a:off x="10020299" y="365759"/>
            <a:ext cx="121919" cy="121919"/>
          </a:xfrm>
          <a:prstGeom prst="ellipse">
            <a:avLst/>
          </a:prstGeom>
          <a:solidFill>
            <a:srgbClr val="48A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Oval 6"/>
          <p:cNvSpPr/>
          <p:nvPr/>
        </p:nvSpPr>
        <p:spPr>
          <a:xfrm>
            <a:off x="11452859" y="2689859"/>
            <a:ext cx="106679" cy="106679"/>
          </a:xfrm>
          <a:prstGeom prst="ellipse">
            <a:avLst/>
          </a:prstGeom>
          <a:solidFill>
            <a:srgbClr val="48A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Oval 7"/>
          <p:cNvSpPr/>
          <p:nvPr/>
        </p:nvSpPr>
        <p:spPr>
          <a:xfrm>
            <a:off x="12085319" y="868679"/>
            <a:ext cx="91439" cy="91439"/>
          </a:xfrm>
          <a:prstGeom prst="ellipse">
            <a:avLst/>
          </a:prstGeom>
          <a:solidFill>
            <a:srgbClr val="48A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Oval 8"/>
          <p:cNvSpPr/>
          <p:nvPr/>
        </p:nvSpPr>
        <p:spPr>
          <a:xfrm>
            <a:off x="10553699" y="2065019"/>
            <a:ext cx="76199" cy="76199"/>
          </a:xfrm>
          <a:prstGeom prst="ellipse">
            <a:avLst/>
          </a:prstGeom>
          <a:solidFill>
            <a:srgbClr val="48A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文字｜科研主题趋势统计分析"/>
          <p:cNvSpPr txBox="1"/>
          <p:nvPr/>
        </p:nvSpPr>
        <p:spPr>
          <a:xfrm>
            <a:off x="640079" y="765886"/>
            <a:ext cx="5189219" cy="52852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306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科研主题趋势统计分析</a:t>
            </a:r>
            <a:endParaRPr lang="zh-CN" sz="3060" b="1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文字｜按去重成果数比较近年主题变化，解释覆盖率与收录范围"/>
          <p:cNvSpPr txBox="1"/>
          <p:nvPr/>
        </p:nvSpPr>
        <p:spPr>
          <a:xfrm>
            <a:off x="662939" y="1373504"/>
            <a:ext cx="6328409" cy="25907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按去重成果数比较近年主题变化，解释覆盖率与收录范围</a:t>
            </a:r>
            <a:endParaRPr lang="zh-CN" sz="1500" b="0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6" name="Connector 15"/>
          <p:cNvCxnSpPr/>
          <p:nvPr/>
        </p:nvCxnSpPr>
        <p:spPr>
          <a:xfrm>
            <a:off x="617219" y="6370319"/>
            <a:ext cx="10949940" cy="0"/>
          </a:xfrm>
          <a:prstGeom prst="line">
            <a:avLst/>
          </a:prstGeom>
          <a:ln w="11429">
            <a:solidFill>
              <a:srgbClr val="D2E2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字｜学术成果分享平台   /   系统分析与设计"/>
          <p:cNvSpPr txBox="1"/>
          <p:nvPr/>
        </p:nvSpPr>
        <p:spPr>
          <a:xfrm>
            <a:off x="640079" y="6463131"/>
            <a:ext cx="3121342" cy="18653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80" b="0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学术成果分享平台   /   系统分析与设计</a:t>
            </a:r>
            <a:endParaRPr lang="zh-CN" sz="1080" b="0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3" name="Rounded Rectangle 62"/>
          <p:cNvSpPr/>
          <p:nvPr/>
        </p:nvSpPr>
        <p:spPr>
          <a:xfrm>
            <a:off x="8252459" y="2133599"/>
            <a:ext cx="3314699" cy="3383279"/>
          </a:xfrm>
          <a:prstGeom prst="roundRect">
            <a:avLst>
              <a:gd name="adj" fmla="val 4367"/>
            </a:avLst>
          </a:prstGeom>
          <a:solidFill>
            <a:srgbClr val="FFFFFF"/>
          </a:solidFill>
          <a:ln w="7619">
            <a:solidFill>
              <a:srgbClr val="D8E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4" name="文字｜统计口径"/>
          <p:cNvSpPr txBox="1"/>
          <p:nvPr/>
        </p:nvSpPr>
        <p:spPr>
          <a:xfrm>
            <a:off x="8534399" y="2280437"/>
            <a:ext cx="1207007" cy="27980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2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统计口径</a:t>
            </a:r>
            <a:endParaRPr lang="zh-CN" sz="1620" b="1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5" name="Oval 64"/>
          <p:cNvSpPr/>
          <p:nvPr/>
        </p:nvSpPr>
        <p:spPr>
          <a:xfrm>
            <a:off x="8488679" y="2674619"/>
            <a:ext cx="350519" cy="350519"/>
          </a:xfrm>
          <a:prstGeom prst="ellipse">
            <a:avLst/>
          </a:prstGeom>
          <a:solidFill>
            <a:srgbClr val="E5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7" name="文字｜主题趋势"/>
          <p:cNvSpPr txBox="1"/>
          <p:nvPr/>
        </p:nvSpPr>
        <p:spPr>
          <a:xfrm>
            <a:off x="8938259" y="2668676"/>
            <a:ext cx="1008887" cy="2279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2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主题趋势</a:t>
            </a:r>
            <a:endParaRPr lang="zh-CN" sz="1320" b="1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8" name="文字｜年度去重成果数"/>
          <p:cNvSpPr txBox="1"/>
          <p:nvPr/>
        </p:nvSpPr>
        <p:spPr>
          <a:xfrm>
            <a:off x="8938259" y="2912211"/>
            <a:ext cx="1385315" cy="18653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8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年度去重成果数</a:t>
            </a:r>
            <a:endParaRPr lang="zh-CN" sz="1080" b="0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9" name="Oval 68"/>
          <p:cNvSpPr/>
          <p:nvPr/>
        </p:nvSpPr>
        <p:spPr>
          <a:xfrm>
            <a:off x="8488679" y="3307079"/>
            <a:ext cx="350519" cy="350519"/>
          </a:xfrm>
          <a:prstGeom prst="ellipse">
            <a:avLst/>
          </a:prstGeom>
          <a:solidFill>
            <a:srgbClr val="E5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1" name="文字｜主题占比"/>
          <p:cNvSpPr txBox="1"/>
          <p:nvPr/>
        </p:nvSpPr>
        <p:spPr>
          <a:xfrm>
            <a:off x="8938259" y="3301136"/>
            <a:ext cx="1008887" cy="2279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2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主题占比</a:t>
            </a:r>
            <a:endParaRPr lang="zh-CN" sz="1320" b="1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2" name="文字｜主题成果数 / 有效成果数"/>
          <p:cNvSpPr txBox="1"/>
          <p:nvPr/>
        </p:nvSpPr>
        <p:spPr>
          <a:xfrm>
            <a:off x="8938259" y="3544671"/>
            <a:ext cx="2070068" cy="18653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8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主题成果数 / 有效成果数</a:t>
            </a:r>
            <a:endParaRPr lang="zh-CN" sz="1080" b="0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3" name="Oval 72"/>
          <p:cNvSpPr/>
          <p:nvPr/>
        </p:nvSpPr>
        <p:spPr>
          <a:xfrm>
            <a:off x="8488679" y="3939539"/>
            <a:ext cx="350519" cy="350519"/>
          </a:xfrm>
          <a:prstGeom prst="ellipse">
            <a:avLst/>
          </a:prstGeom>
          <a:solidFill>
            <a:srgbClr val="E5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5" name="文字｜覆盖率说明"/>
          <p:cNvSpPr txBox="1"/>
          <p:nvPr/>
        </p:nvSpPr>
        <p:spPr>
          <a:xfrm>
            <a:off x="8938259" y="3933596"/>
            <a:ext cx="1226819" cy="2279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2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覆盖率说明</a:t>
            </a:r>
            <a:endParaRPr lang="zh-CN" sz="1320" b="1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6" name="文字｜展示分母及文本覆盖率"/>
          <p:cNvSpPr txBox="1"/>
          <p:nvPr/>
        </p:nvSpPr>
        <p:spPr>
          <a:xfrm>
            <a:off x="8938259" y="4177131"/>
            <a:ext cx="1920239" cy="18653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8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展示分母及文本覆盖率</a:t>
            </a:r>
            <a:endParaRPr lang="zh-CN" sz="1080" b="0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7" name="Oval 76"/>
          <p:cNvSpPr/>
          <p:nvPr/>
        </p:nvSpPr>
        <p:spPr>
          <a:xfrm>
            <a:off x="8488679" y="4571999"/>
            <a:ext cx="350519" cy="350519"/>
          </a:xfrm>
          <a:prstGeom prst="ellipse">
            <a:avLst/>
          </a:prstGeom>
          <a:solidFill>
            <a:srgbClr val="E5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9" name="文字｜结果解释"/>
          <p:cNvSpPr txBox="1"/>
          <p:nvPr/>
        </p:nvSpPr>
        <p:spPr>
          <a:xfrm>
            <a:off x="8938259" y="4566056"/>
            <a:ext cx="1008887" cy="2279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2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结果解释</a:t>
            </a:r>
            <a:endParaRPr lang="zh-CN" sz="1320" b="1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0" name="文字｜区分成果增长与收录增长"/>
          <p:cNvSpPr txBox="1"/>
          <p:nvPr/>
        </p:nvSpPr>
        <p:spPr>
          <a:xfrm>
            <a:off x="8938259" y="4809591"/>
            <a:ext cx="2098547" cy="18653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8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区分成果增长与收录增长</a:t>
            </a:r>
            <a:endParaRPr lang="zh-CN" sz="1080" b="0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1" name="Rounded Rectangle 80"/>
          <p:cNvSpPr/>
          <p:nvPr/>
        </p:nvSpPr>
        <p:spPr>
          <a:xfrm>
            <a:off x="617219" y="5722619"/>
            <a:ext cx="10949939" cy="495299"/>
          </a:xfrm>
          <a:prstGeom prst="roundRect">
            <a:avLst>
              <a:gd name="adj" fmla="val 23076"/>
            </a:avLst>
          </a:prstGeom>
          <a:solidFill>
            <a:srgbClr val="EAF5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2" name="文字｜统计原则"/>
          <p:cNvSpPr txBox="1"/>
          <p:nvPr/>
        </p:nvSpPr>
        <p:spPr>
          <a:xfrm>
            <a:off x="855977" y="5848958"/>
            <a:ext cx="923330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统计原则</a:t>
            </a:r>
            <a:endParaRPr lang="zh-CN" b="1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3" name="文字｜同一篇成果命中同一主题只计一次；统计区间与语料范围必须明确。"/>
          <p:cNvSpPr txBox="1"/>
          <p:nvPr/>
        </p:nvSpPr>
        <p:spPr>
          <a:xfrm>
            <a:off x="2200750" y="5865562"/>
            <a:ext cx="6155531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同一篇成果命中同一主题只计一次；统计区间与语料范围必须明确。</a:t>
            </a:r>
            <a:endParaRPr lang="zh-CN" sz="1600" b="0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5" name="Rounded Rectangle 19"/>
          <p:cNvSpPr/>
          <p:nvPr/>
        </p:nvSpPr>
        <p:spPr>
          <a:xfrm>
            <a:off x="617219" y="2065019"/>
            <a:ext cx="7452359" cy="3398519"/>
          </a:xfrm>
          <a:prstGeom prst="roundRect">
            <a:avLst>
              <a:gd name="adj" fmla="val 4260"/>
            </a:avLst>
          </a:prstGeom>
          <a:solidFill>
            <a:srgbClr val="FFFFFF"/>
          </a:solidFill>
          <a:ln w="7619">
            <a:solidFill>
              <a:srgbClr val="D8E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6" name="文字｜不同研究主题的成果数量趋势"/>
          <p:cNvSpPr txBox="1"/>
          <p:nvPr/>
        </p:nvSpPr>
        <p:spPr>
          <a:xfrm>
            <a:off x="922019" y="2219401"/>
            <a:ext cx="4663440" cy="26944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6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arXiv 相关领域年度投稿量（篇）</a:t>
            </a:r>
            <a:endParaRPr lang="zh-CN" sz="1560" b="1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89" name="可编辑折线图｜arXiv真实年度投稿量（2021—2025）"/>
          <p:cNvGraphicFramePr>
            <a:graphicFrameLocks noGrp="1"/>
          </p:cNvGraphicFramePr>
          <p:nvPr/>
        </p:nvGraphicFramePr>
        <p:xfrm>
          <a:off x="987552" y="2874264"/>
          <a:ext cx="6739128" cy="23134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90" name="Oval 85"/>
          <p:cNvSpPr/>
          <p:nvPr/>
        </p:nvSpPr>
        <p:spPr>
          <a:xfrm>
            <a:off x="1161288" y="2663952"/>
            <a:ext cx="100584" cy="100584"/>
          </a:xfrm>
          <a:prstGeom prst="ellipse">
            <a:avLst/>
          </a:prstGeom>
          <a:solidFill>
            <a:srgbClr val="3179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1" name="TextBox 86"/>
          <p:cNvSpPr txBox="1"/>
          <p:nvPr/>
        </p:nvSpPr>
        <p:spPr>
          <a:xfrm>
            <a:off x="1316736" y="2604516"/>
            <a:ext cx="1874519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10">
                <a:solidFill>
                  <a:srgbClr val="5C70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人工智能 cs.AI</a:t>
            </a:r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2" name="Oval 87"/>
          <p:cNvSpPr/>
          <p:nvPr/>
        </p:nvSpPr>
        <p:spPr>
          <a:xfrm>
            <a:off x="3264408" y="2663952"/>
            <a:ext cx="100584" cy="100584"/>
          </a:xfrm>
          <a:prstGeom prst="ellipse">
            <a:avLst/>
          </a:prstGeom>
          <a:solidFill>
            <a:srgbClr val="ED9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3" name="TextBox 88"/>
          <p:cNvSpPr txBox="1"/>
          <p:nvPr/>
        </p:nvSpPr>
        <p:spPr>
          <a:xfrm>
            <a:off x="3419856" y="2604516"/>
            <a:ext cx="1874519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10">
                <a:solidFill>
                  <a:srgbClr val="5C70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机器学习 cs.LG</a:t>
            </a:r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4" name="Oval 89"/>
          <p:cNvSpPr/>
          <p:nvPr/>
        </p:nvSpPr>
        <p:spPr>
          <a:xfrm>
            <a:off x="5367528" y="2663952"/>
            <a:ext cx="100584" cy="100584"/>
          </a:xfrm>
          <a:prstGeom prst="ellipse">
            <a:avLst/>
          </a:prstGeom>
          <a:solidFill>
            <a:srgbClr val="139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5" name="TextBox 90"/>
          <p:cNvSpPr txBox="1"/>
          <p:nvPr/>
        </p:nvSpPr>
        <p:spPr>
          <a:xfrm>
            <a:off x="5522976" y="2604516"/>
            <a:ext cx="1874519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10">
                <a:solidFill>
                  <a:srgbClr val="5C70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自然语言 cs.CL</a:t>
            </a:r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6" name="Oval 95"/>
          <p:cNvSpPr/>
          <p:nvPr/>
        </p:nvSpPr>
        <p:spPr>
          <a:xfrm>
            <a:off x="8474329" y="2660269"/>
            <a:ext cx="379219" cy="379219"/>
          </a:xfrm>
          <a:prstGeom prst="ellipse">
            <a:avLst/>
          </a:prstGeom>
          <a:solidFill>
            <a:srgbClr val="E6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560791" y="2873087"/>
            <a:ext cx="36101" cy="74782"/>
          </a:xfrm>
          <a:prstGeom prst="rect">
            <a:avLst/>
          </a:prstGeom>
          <a:noFill/>
          <a:ln w="18415">
            <a:solidFill>
              <a:srgbClr val="055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638152" y="2831828"/>
            <a:ext cx="36101" cy="116041"/>
          </a:xfrm>
          <a:prstGeom prst="rect">
            <a:avLst/>
          </a:prstGeom>
          <a:noFill/>
          <a:ln w="18415">
            <a:solidFill>
              <a:srgbClr val="055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715512" y="2775096"/>
            <a:ext cx="36101" cy="172772"/>
          </a:xfrm>
          <a:prstGeom prst="rect">
            <a:avLst/>
          </a:prstGeom>
          <a:noFill/>
          <a:ln w="18415">
            <a:solidFill>
              <a:srgbClr val="055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8474329" y="3292729"/>
            <a:ext cx="379219" cy="379219"/>
          </a:xfrm>
          <a:prstGeom prst="ellipse">
            <a:avLst/>
          </a:prstGeom>
          <a:solidFill>
            <a:srgbClr val="FF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560791" y="3505547"/>
            <a:ext cx="36101" cy="74782"/>
          </a:xfrm>
          <a:prstGeom prst="rect">
            <a:avLst/>
          </a:prstGeom>
          <a:noFill/>
          <a:ln w="18415">
            <a:solidFill>
              <a:srgbClr val="F47B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8638152" y="3464288"/>
            <a:ext cx="36101" cy="116041"/>
          </a:xfrm>
          <a:prstGeom prst="rect">
            <a:avLst/>
          </a:prstGeom>
          <a:noFill/>
          <a:ln w="18415">
            <a:solidFill>
              <a:srgbClr val="F47B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8715512" y="3407556"/>
            <a:ext cx="36101" cy="172772"/>
          </a:xfrm>
          <a:prstGeom prst="rect">
            <a:avLst/>
          </a:prstGeom>
          <a:noFill/>
          <a:ln w="18415">
            <a:solidFill>
              <a:srgbClr val="F47B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8474329" y="3925189"/>
            <a:ext cx="379219" cy="379219"/>
          </a:xfrm>
          <a:prstGeom prst="ellipse">
            <a:avLst/>
          </a:prstGeom>
          <a:solidFill>
            <a:srgbClr val="E6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8560791" y="4138007"/>
            <a:ext cx="36101" cy="74782"/>
          </a:xfrm>
          <a:prstGeom prst="rect">
            <a:avLst/>
          </a:prstGeom>
          <a:noFill/>
          <a:ln w="18415">
            <a:solidFill>
              <a:srgbClr val="055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8638152" y="4096748"/>
            <a:ext cx="36101" cy="116041"/>
          </a:xfrm>
          <a:prstGeom prst="rect">
            <a:avLst/>
          </a:prstGeom>
          <a:noFill/>
          <a:ln w="18415">
            <a:solidFill>
              <a:srgbClr val="055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8715512" y="4040016"/>
            <a:ext cx="36101" cy="172772"/>
          </a:xfrm>
          <a:prstGeom prst="rect">
            <a:avLst/>
          </a:prstGeom>
          <a:noFill/>
          <a:ln w="18415">
            <a:solidFill>
              <a:srgbClr val="055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8474329" y="4557649"/>
            <a:ext cx="379219" cy="379219"/>
          </a:xfrm>
          <a:prstGeom prst="ellipse">
            <a:avLst/>
          </a:prstGeom>
          <a:solidFill>
            <a:srgbClr val="E6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8560791" y="4770467"/>
            <a:ext cx="36101" cy="74782"/>
          </a:xfrm>
          <a:prstGeom prst="rect">
            <a:avLst/>
          </a:prstGeom>
          <a:noFill/>
          <a:ln w="18415">
            <a:solidFill>
              <a:srgbClr val="055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8638152" y="4729208"/>
            <a:ext cx="36101" cy="116041"/>
          </a:xfrm>
          <a:prstGeom prst="rect">
            <a:avLst/>
          </a:prstGeom>
          <a:noFill/>
          <a:ln w="18415">
            <a:solidFill>
              <a:srgbClr val="055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8715512" y="4672476"/>
            <a:ext cx="36101" cy="172772"/>
          </a:xfrm>
          <a:prstGeom prst="rect">
            <a:avLst/>
          </a:prstGeom>
          <a:noFill/>
          <a:ln w="18415">
            <a:solidFill>
              <a:srgbClr val="055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7999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80000">
                <a:srgbClr val="F7FAFE"/>
              </a:gs>
              <a:gs pos="100000">
                <a:srgbClr val="ECF5FE"/>
              </a:gs>
            </a:gsLst>
            <a:lin ang="315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Freeform 2"/>
          <p:cNvSpPr/>
          <p:nvPr/>
        </p:nvSpPr>
        <p:spPr>
          <a:xfrm>
            <a:off x="8549640" y="0"/>
            <a:ext cx="3642360" cy="4000500"/>
          </a:xfrm>
          <a:custGeom>
            <a:avLst/>
            <a:gdLst/>
            <a:ahLst/>
            <a:cxnLst/>
            <a:rect l="l" t="t" r="r" b="b"/>
            <a:pathLst>
              <a:path w="478" h="525">
                <a:moveTo>
                  <a:pt x="478" y="0"/>
                </a:moveTo>
                <a:lnTo>
                  <a:pt x="58" y="0"/>
                </a:lnTo>
                <a:lnTo>
                  <a:pt x="41" y="24"/>
                </a:lnTo>
                <a:lnTo>
                  <a:pt x="27" y="49"/>
                </a:lnTo>
                <a:lnTo>
                  <a:pt x="16" y="73"/>
                </a:lnTo>
                <a:lnTo>
                  <a:pt x="8" y="97"/>
                </a:lnTo>
                <a:lnTo>
                  <a:pt x="3" y="121"/>
                </a:lnTo>
                <a:lnTo>
                  <a:pt x="0" y="144"/>
                </a:lnTo>
                <a:lnTo>
                  <a:pt x="0" y="167"/>
                </a:lnTo>
                <a:lnTo>
                  <a:pt x="3" y="190"/>
                </a:lnTo>
                <a:lnTo>
                  <a:pt x="8" y="212"/>
                </a:lnTo>
                <a:lnTo>
                  <a:pt x="15" y="234"/>
                </a:lnTo>
                <a:lnTo>
                  <a:pt x="24" y="255"/>
                </a:lnTo>
                <a:lnTo>
                  <a:pt x="36" y="276"/>
                </a:lnTo>
                <a:lnTo>
                  <a:pt x="49" y="295"/>
                </a:lnTo>
                <a:lnTo>
                  <a:pt x="63" y="314"/>
                </a:lnTo>
                <a:lnTo>
                  <a:pt x="80" y="333"/>
                </a:lnTo>
                <a:lnTo>
                  <a:pt x="98" y="350"/>
                </a:lnTo>
                <a:lnTo>
                  <a:pt x="128" y="371"/>
                </a:lnTo>
                <a:lnTo>
                  <a:pt x="157" y="388"/>
                </a:lnTo>
                <a:lnTo>
                  <a:pt x="185" y="402"/>
                </a:lnTo>
                <a:lnTo>
                  <a:pt x="212" y="413"/>
                </a:lnTo>
                <a:lnTo>
                  <a:pt x="239" y="422"/>
                </a:lnTo>
                <a:lnTo>
                  <a:pt x="265" y="429"/>
                </a:lnTo>
                <a:lnTo>
                  <a:pt x="290" y="434"/>
                </a:lnTo>
                <a:lnTo>
                  <a:pt x="314" y="439"/>
                </a:lnTo>
                <a:lnTo>
                  <a:pt x="338" y="444"/>
                </a:lnTo>
                <a:lnTo>
                  <a:pt x="360" y="450"/>
                </a:lnTo>
                <a:lnTo>
                  <a:pt x="382" y="456"/>
                </a:lnTo>
                <a:lnTo>
                  <a:pt x="403" y="465"/>
                </a:lnTo>
                <a:lnTo>
                  <a:pt x="423" y="475"/>
                </a:lnTo>
                <a:lnTo>
                  <a:pt x="442" y="488"/>
                </a:lnTo>
                <a:lnTo>
                  <a:pt x="461" y="505"/>
                </a:lnTo>
                <a:lnTo>
                  <a:pt x="478" y="525"/>
                </a:lnTo>
                <a:lnTo>
                  <a:pt x="478" y="0"/>
                </a:lnTo>
                <a:close/>
              </a:path>
            </a:pathLst>
          </a:custGeom>
          <a:solidFill>
            <a:srgbClr val="EAF5FE">
              <a:alpha val="6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Oval 5"/>
          <p:cNvSpPr/>
          <p:nvPr/>
        </p:nvSpPr>
        <p:spPr>
          <a:xfrm>
            <a:off x="10020299" y="365759"/>
            <a:ext cx="121919" cy="121919"/>
          </a:xfrm>
          <a:prstGeom prst="ellipse">
            <a:avLst/>
          </a:prstGeom>
          <a:solidFill>
            <a:srgbClr val="48A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Oval 6"/>
          <p:cNvSpPr/>
          <p:nvPr/>
        </p:nvSpPr>
        <p:spPr>
          <a:xfrm>
            <a:off x="11452859" y="2689859"/>
            <a:ext cx="106679" cy="106679"/>
          </a:xfrm>
          <a:prstGeom prst="ellipse">
            <a:avLst/>
          </a:prstGeom>
          <a:solidFill>
            <a:srgbClr val="48A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Oval 7"/>
          <p:cNvSpPr/>
          <p:nvPr/>
        </p:nvSpPr>
        <p:spPr>
          <a:xfrm>
            <a:off x="12085319" y="868679"/>
            <a:ext cx="91439" cy="91439"/>
          </a:xfrm>
          <a:prstGeom prst="ellipse">
            <a:avLst/>
          </a:prstGeom>
          <a:solidFill>
            <a:srgbClr val="48A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Oval 8"/>
          <p:cNvSpPr/>
          <p:nvPr/>
        </p:nvSpPr>
        <p:spPr>
          <a:xfrm>
            <a:off x="10553699" y="2065019"/>
            <a:ext cx="76199" cy="76199"/>
          </a:xfrm>
          <a:prstGeom prst="ellipse">
            <a:avLst/>
          </a:prstGeom>
          <a:solidFill>
            <a:srgbClr val="48A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2" name="Connector 11"/>
          <p:cNvCxnSpPr/>
          <p:nvPr/>
        </p:nvCxnSpPr>
        <p:spPr>
          <a:xfrm>
            <a:off x="617219" y="6370319"/>
            <a:ext cx="10949940" cy="0"/>
          </a:xfrm>
          <a:prstGeom prst="line">
            <a:avLst/>
          </a:prstGeom>
          <a:ln w="11429">
            <a:solidFill>
              <a:srgbClr val="D2E2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字｜学术成果分享平台   /   系统分析与设计"/>
          <p:cNvSpPr txBox="1"/>
          <p:nvPr/>
        </p:nvSpPr>
        <p:spPr>
          <a:xfrm>
            <a:off x="640079" y="6463131"/>
            <a:ext cx="3121342" cy="18653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学术成果分享平台   /   系统分析与设计</a:t>
            </a:r>
            <a:endParaRPr sz="1080" b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4876799" y="1295399"/>
            <a:ext cx="2545079" cy="2545079"/>
          </a:xfrm>
          <a:prstGeom prst="ellipse">
            <a:avLst/>
          </a:prstGeom>
          <a:solidFill>
            <a:srgbClr val="EAF4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5219699" y="1638299"/>
            <a:ext cx="1859279" cy="1859279"/>
          </a:xfrm>
          <a:prstGeom prst="ellipse">
            <a:avLst/>
          </a:prstGeom>
          <a:solidFill>
            <a:srgbClr val="D9E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文字｜感谢聆听"/>
          <p:cNvSpPr txBox="1"/>
          <p:nvPr/>
        </p:nvSpPr>
        <p:spPr>
          <a:xfrm>
            <a:off x="4442459" y="3686555"/>
            <a:ext cx="3307079" cy="82905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800" b="1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感谢聆听</a:t>
            </a:r>
            <a:endParaRPr sz="48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文字｜学术成果分享平台 · 项目方案汇报"/>
          <p:cNvSpPr txBox="1"/>
          <p:nvPr/>
        </p:nvSpPr>
        <p:spPr>
          <a:xfrm>
            <a:off x="3797254" y="4528565"/>
            <a:ext cx="4597491" cy="31089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学术成果分享平台 · 项目方案汇报</a:t>
            </a:r>
            <a:endParaRPr sz="1800" b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4968239" y="4914899"/>
            <a:ext cx="2255519" cy="38099"/>
          </a:xfrm>
          <a:prstGeom prst="roundRect">
            <a:avLst>
              <a:gd name="adj" fmla="val 50000"/>
            </a:avLst>
          </a:prstGeom>
          <a:solidFill>
            <a:srgbClr val="9FC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2705099" y="5295899"/>
            <a:ext cx="2072639" cy="701039"/>
          </a:xfrm>
          <a:prstGeom prst="roundRect">
            <a:avLst>
              <a:gd name="adj" fmla="val 20652"/>
            </a:avLst>
          </a:prstGeom>
          <a:solidFill>
            <a:srgbClr val="FFFFFF"/>
          </a:solidFill>
          <a:ln w="7619">
            <a:solidFill>
              <a:srgbClr val="D8E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Oval 22"/>
          <p:cNvSpPr/>
          <p:nvPr/>
        </p:nvSpPr>
        <p:spPr>
          <a:xfrm>
            <a:off x="2941319" y="5440679"/>
            <a:ext cx="411479" cy="411479"/>
          </a:xfrm>
          <a:prstGeom prst="ellipse">
            <a:avLst/>
          </a:prstGeom>
          <a:solidFill>
            <a:srgbClr val="E5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文字｜统一检索"/>
          <p:cNvSpPr txBox="1"/>
          <p:nvPr/>
        </p:nvSpPr>
        <p:spPr>
          <a:xfrm>
            <a:off x="3482339" y="5511164"/>
            <a:ext cx="1127759" cy="25907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统一检索</a:t>
            </a:r>
            <a:endParaRPr sz="15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5067299" y="5295899"/>
            <a:ext cx="2072639" cy="701039"/>
          </a:xfrm>
          <a:prstGeom prst="roundRect">
            <a:avLst>
              <a:gd name="adj" fmla="val 20652"/>
            </a:avLst>
          </a:prstGeom>
          <a:solidFill>
            <a:srgbClr val="FFFFFF"/>
          </a:solidFill>
          <a:ln w="7619">
            <a:solidFill>
              <a:srgbClr val="D8E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Oval 26"/>
          <p:cNvSpPr/>
          <p:nvPr/>
        </p:nvSpPr>
        <p:spPr>
          <a:xfrm>
            <a:off x="5303519" y="5440679"/>
            <a:ext cx="411479" cy="411479"/>
          </a:xfrm>
          <a:prstGeom prst="ellipse">
            <a:avLst/>
          </a:prstGeom>
          <a:solidFill>
            <a:srgbClr val="E5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文字｜可信认领"/>
          <p:cNvSpPr txBox="1"/>
          <p:nvPr/>
        </p:nvSpPr>
        <p:spPr>
          <a:xfrm>
            <a:off x="5844539" y="5511164"/>
            <a:ext cx="1127759" cy="25907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可信认领</a:t>
            </a:r>
            <a:endParaRPr sz="15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7429499" y="5295899"/>
            <a:ext cx="2072639" cy="701039"/>
          </a:xfrm>
          <a:prstGeom prst="roundRect">
            <a:avLst>
              <a:gd name="adj" fmla="val 20652"/>
            </a:avLst>
          </a:prstGeom>
          <a:solidFill>
            <a:srgbClr val="FFFFFF"/>
          </a:solidFill>
          <a:ln w="7619">
            <a:solidFill>
              <a:srgbClr val="D8E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Oval 30"/>
          <p:cNvSpPr/>
          <p:nvPr/>
        </p:nvSpPr>
        <p:spPr>
          <a:xfrm>
            <a:off x="7665719" y="5440679"/>
            <a:ext cx="411479" cy="411479"/>
          </a:xfrm>
          <a:prstGeom prst="ellipse">
            <a:avLst/>
          </a:prstGeom>
          <a:solidFill>
            <a:srgbClr val="FFF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文字｜持续治理"/>
          <p:cNvSpPr txBox="1"/>
          <p:nvPr/>
        </p:nvSpPr>
        <p:spPr>
          <a:xfrm>
            <a:off x="8206739" y="5511164"/>
            <a:ext cx="1127759" cy="25907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持续治理</a:t>
            </a:r>
            <a:endParaRPr sz="15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文字｜让学术成果更易发现、准确归属、有效分析"/>
          <p:cNvSpPr txBox="1"/>
          <p:nvPr/>
        </p:nvSpPr>
        <p:spPr>
          <a:xfrm>
            <a:off x="3957065" y="6074816"/>
            <a:ext cx="4277867" cy="2279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让学术成果更易发现、准确归属、有效分析</a:t>
            </a:r>
            <a:endParaRPr sz="1320" b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Oval 34"/>
          <p:cNvSpPr/>
          <p:nvPr/>
        </p:nvSpPr>
        <p:spPr>
          <a:xfrm>
            <a:off x="5332962" y="1751562"/>
            <a:ext cx="1632751" cy="1632751"/>
          </a:xfrm>
          <a:prstGeom prst="ellipse">
            <a:avLst/>
          </a:prstGeom>
          <a:solidFill>
            <a:srgbClr val="E6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" name="Connector 35"/>
          <p:cNvCxnSpPr/>
          <p:nvPr/>
        </p:nvCxnSpPr>
        <p:spPr>
          <a:xfrm flipV="1">
            <a:off x="5638613" y="2057213"/>
            <a:ext cx="510725" cy="233157"/>
          </a:xfrm>
          <a:prstGeom prst="line">
            <a:avLst/>
          </a:prstGeom>
          <a:ln w="24130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6149338" y="2057213"/>
            <a:ext cx="510725" cy="233157"/>
          </a:xfrm>
          <a:prstGeom prst="line">
            <a:avLst/>
          </a:prstGeom>
          <a:ln w="24130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H="1">
            <a:off x="6149338" y="2290370"/>
            <a:ext cx="510725" cy="233157"/>
          </a:xfrm>
          <a:prstGeom prst="line">
            <a:avLst/>
          </a:prstGeom>
          <a:ln w="24130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H="1" flipV="1">
            <a:off x="5638613" y="2290370"/>
            <a:ext cx="510725" cy="233157"/>
          </a:xfrm>
          <a:prstGeom prst="line">
            <a:avLst/>
          </a:prstGeom>
          <a:ln w="24130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5638613" y="2334781"/>
            <a:ext cx="510725" cy="233157"/>
          </a:xfrm>
          <a:prstGeom prst="line">
            <a:avLst/>
          </a:prstGeom>
          <a:ln w="24130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6149338" y="2334781"/>
            <a:ext cx="510725" cy="233157"/>
          </a:xfrm>
          <a:prstGeom prst="line">
            <a:avLst/>
          </a:prstGeom>
          <a:ln w="24130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H="1">
            <a:off x="6149338" y="2567938"/>
            <a:ext cx="510725" cy="233157"/>
          </a:xfrm>
          <a:prstGeom prst="line">
            <a:avLst/>
          </a:prstGeom>
          <a:ln w="24130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H="1" flipV="1">
            <a:off x="5638613" y="2567938"/>
            <a:ext cx="510725" cy="233157"/>
          </a:xfrm>
          <a:prstGeom prst="line">
            <a:avLst/>
          </a:prstGeom>
          <a:ln w="24130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5638613" y="2612349"/>
            <a:ext cx="510725" cy="233157"/>
          </a:xfrm>
          <a:prstGeom prst="line">
            <a:avLst/>
          </a:prstGeom>
          <a:ln w="24130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6149338" y="2612349"/>
            <a:ext cx="510725" cy="233157"/>
          </a:xfrm>
          <a:prstGeom prst="line">
            <a:avLst/>
          </a:prstGeom>
          <a:ln w="24130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H="1">
            <a:off x="6149338" y="2845506"/>
            <a:ext cx="510725" cy="233157"/>
          </a:xfrm>
          <a:prstGeom prst="line">
            <a:avLst/>
          </a:prstGeom>
          <a:ln w="24130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H="1" flipV="1">
            <a:off x="5638613" y="2845506"/>
            <a:ext cx="510725" cy="233157"/>
          </a:xfrm>
          <a:prstGeom prst="line">
            <a:avLst/>
          </a:prstGeom>
          <a:ln w="24130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Oval 47"/>
          <p:cNvSpPr/>
          <p:nvPr/>
        </p:nvSpPr>
        <p:spPr>
          <a:xfrm>
            <a:off x="2957449" y="5456809"/>
            <a:ext cx="379219" cy="379219"/>
          </a:xfrm>
          <a:prstGeom prst="ellipse">
            <a:avLst/>
          </a:prstGeom>
          <a:solidFill>
            <a:srgbClr val="FF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3036175" y="5532956"/>
            <a:ext cx="159878" cy="159878"/>
          </a:xfrm>
          <a:prstGeom prst="ellipse">
            <a:avLst/>
          </a:prstGeom>
          <a:noFill/>
          <a:ln w="18415">
            <a:solidFill>
              <a:srgbClr val="F47B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0" name="Connector 49"/>
          <p:cNvCxnSpPr/>
          <p:nvPr/>
        </p:nvCxnSpPr>
        <p:spPr>
          <a:xfrm>
            <a:off x="3180581" y="5677363"/>
            <a:ext cx="90255" cy="92833"/>
          </a:xfrm>
          <a:prstGeom prst="line">
            <a:avLst/>
          </a:prstGeom>
          <a:ln w="31750">
            <a:solidFill>
              <a:srgbClr val="F47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Oval 50"/>
          <p:cNvSpPr/>
          <p:nvPr/>
        </p:nvSpPr>
        <p:spPr>
          <a:xfrm>
            <a:off x="5319649" y="5456809"/>
            <a:ext cx="379219" cy="379219"/>
          </a:xfrm>
          <a:prstGeom prst="ellipse">
            <a:avLst/>
          </a:prstGeom>
          <a:solidFill>
            <a:srgbClr val="E6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5390639" y="5527799"/>
            <a:ext cx="237239" cy="237239"/>
          </a:xfrm>
          <a:prstGeom prst="ellipse">
            <a:avLst/>
          </a:prstGeom>
          <a:noFill/>
          <a:ln w="18415">
            <a:solidFill>
              <a:srgbClr val="055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" name="Connector 52"/>
          <p:cNvCxnSpPr/>
          <p:nvPr/>
        </p:nvCxnSpPr>
        <p:spPr>
          <a:xfrm>
            <a:off x="5449949" y="5651576"/>
            <a:ext cx="51573" cy="54152"/>
          </a:xfrm>
          <a:prstGeom prst="line">
            <a:avLst/>
          </a:prstGeom>
          <a:ln w="23495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5501522" y="5592266"/>
            <a:ext cx="82519" cy="113462"/>
          </a:xfrm>
          <a:prstGeom prst="line">
            <a:avLst/>
          </a:prstGeom>
          <a:ln w="23495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Oval 54"/>
          <p:cNvSpPr/>
          <p:nvPr/>
        </p:nvSpPr>
        <p:spPr>
          <a:xfrm>
            <a:off x="7681849" y="5456809"/>
            <a:ext cx="379219" cy="379219"/>
          </a:xfrm>
          <a:prstGeom prst="ellipse">
            <a:avLst/>
          </a:prstGeom>
          <a:solidFill>
            <a:srgbClr val="E6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804413" y="5579373"/>
            <a:ext cx="134091" cy="134091"/>
          </a:xfrm>
          <a:prstGeom prst="ellipse">
            <a:avLst/>
          </a:prstGeom>
          <a:noFill/>
          <a:ln w="18415">
            <a:solidFill>
              <a:srgbClr val="055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" name="Connector 56"/>
          <p:cNvCxnSpPr/>
          <p:nvPr/>
        </p:nvCxnSpPr>
        <p:spPr>
          <a:xfrm>
            <a:off x="7946241" y="5646419"/>
            <a:ext cx="54152" cy="0"/>
          </a:xfrm>
          <a:prstGeom prst="line">
            <a:avLst/>
          </a:prstGeom>
          <a:ln w="31115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7924337" y="5699297"/>
            <a:ext cx="38292" cy="38292"/>
          </a:xfrm>
          <a:prstGeom prst="line">
            <a:avLst/>
          </a:prstGeom>
          <a:ln w="31115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7871459" y="5721201"/>
            <a:ext cx="0" cy="54152"/>
          </a:xfrm>
          <a:prstGeom prst="line">
            <a:avLst/>
          </a:prstGeom>
          <a:ln w="31115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H="1">
            <a:off x="7780288" y="5699297"/>
            <a:ext cx="38292" cy="38292"/>
          </a:xfrm>
          <a:prstGeom prst="line">
            <a:avLst/>
          </a:prstGeom>
          <a:ln w="31115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H="1">
            <a:off x="7742524" y="5646419"/>
            <a:ext cx="54152" cy="0"/>
          </a:xfrm>
          <a:prstGeom prst="line">
            <a:avLst/>
          </a:prstGeom>
          <a:ln w="31115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H="1" flipV="1">
            <a:off x="7780288" y="5555248"/>
            <a:ext cx="38292" cy="38292"/>
          </a:xfrm>
          <a:prstGeom prst="line">
            <a:avLst/>
          </a:prstGeom>
          <a:ln w="31115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7871459" y="5517484"/>
            <a:ext cx="0" cy="54152"/>
          </a:xfrm>
          <a:prstGeom prst="line">
            <a:avLst/>
          </a:prstGeom>
          <a:ln w="31115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7924337" y="5555248"/>
            <a:ext cx="38292" cy="38292"/>
          </a:xfrm>
          <a:prstGeom prst="line">
            <a:avLst/>
          </a:prstGeom>
          <a:ln w="31115">
            <a:solidFill>
              <a:srgbClr val="055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67.59992125984246,&quot;left&quot;:49.19992125984252,&quot;top&quot;:162.59992125984252,&quot;width&quot;:866.3999212598426}"/>
</p:tagLst>
</file>

<file path=ppt/tags/tag2.xml><?xml version="1.0" encoding="utf-8"?>
<p:tagLst xmlns:p="http://schemas.openxmlformats.org/presentationml/2006/main">
  <p:tag name="KSO_WM_DIAGRAM_VIRTUALLY_FRAME" val="{&quot;height&quot;:267.59992125984246,&quot;left&quot;:49.19992125984252,&quot;top&quot;:162.59992125984252,&quot;width&quot;:866.3999212598426}"/>
</p:tagLst>
</file>

<file path=ppt/tags/tag3.xml><?xml version="1.0" encoding="utf-8"?>
<p:tagLst xmlns:p="http://schemas.openxmlformats.org/presentationml/2006/main">
  <p:tag name="KSO_WM_DIAGRAM_VIRTUALLY_FRAME" val="{&quot;height&quot;:267.59992125984246,&quot;left&quot;:49.19992125984252,&quot;top&quot;:162.59992125984252,&quot;width&quot;:866.3999212598426}"/>
</p:tagLst>
</file>

<file path=ppt/tags/tag4.xml><?xml version="1.0" encoding="utf-8"?>
<p:tagLst xmlns:p="http://schemas.openxmlformats.org/presentationml/2006/main">
  <p:tag name="KSO_WM_DIAGRAM_VIRTUALLY_FRAME" val="{&quot;height&quot;:267.59992125984246,&quot;left&quot;:49.19992125984252,&quot;top&quot;:162.59992125984252,&quot;width&quot;:866.3999212598426}"/>
</p:tagLst>
</file>

<file path=ppt/tags/tag5.xml><?xml version="1.0" encoding="utf-8"?>
<p:tagLst xmlns:p="http://schemas.openxmlformats.org/presentationml/2006/main">
  <p:tag name="KSO_WM_DIAGRAM_VIRTUALLY_FRAME" val="{&quot;height&quot;:267.59992125984246,&quot;left&quot;:49.19992125984252,&quot;top&quot;:162.59992125984252,&quot;width&quot;:866.3999212598426}"/>
</p:tagLst>
</file>

<file path=ppt/tags/tag6.xml><?xml version="1.0" encoding="utf-8"?>
<p:tagLst xmlns:p="http://schemas.openxmlformats.org/presentationml/2006/main">
  <p:tag name="KSO_WM_DIAGRAM_VIRTUALLY_FRAME" val="{&quot;height&quot;:267.59992125984246,&quot;left&quot;:49.19992125984252,&quot;top&quot;:162.59992125984252,&quot;width&quot;:866.3999212598426}"/>
</p:tagLst>
</file>

<file path=ppt/tags/tag7.xml><?xml version="1.0" encoding="utf-8"?>
<p:tagLst xmlns:p="http://schemas.openxmlformats.org/presentationml/2006/main">
  <p:tag name="KSO_WM_DIAGRAM_VIRTUALLY_FRAME" val="{&quot;height&quot;:267.59992125984246,&quot;left&quot;:49.19992125984252,&quot;top&quot;:162.59992125984252,&quot;width&quot;:866.3999212598426}"/>
</p:tagLst>
</file>

<file path=ppt/tags/tag8.xml><?xml version="1.0" encoding="utf-8"?>
<p:tagLst xmlns:p="http://schemas.openxmlformats.org/presentationml/2006/main">
  <p:tag name="KSO_WM_DIAGRAM_VIRTUALLY_FRAME" val="{&quot;height&quot;:267.59992125984246,&quot;left&quot;:49.19992125984252,&quot;top&quot;:162.59992125984252,&quot;width&quot;:866.3999212598426}"/>
</p:tagLst>
</file>

<file path=ppt/tags/tag9.xml><?xml version="1.0" encoding="utf-8"?>
<p:tagLst xmlns:p="http://schemas.openxmlformats.org/presentationml/2006/main">
  <p:tag name="KSO_WM_DIAGRAM_VIRTUALLY_FRAME" val="{&quot;height&quot;:267.59992125984246,&quot;left&quot;:49.19992125984252,&quot;top&quot;:162.59992125984252,&quot;width&quot;:866.3999212598426}"/>
</p:tagLst>
</file>

<file path=ppt/tags/tag10.xml><?xml version="1.0" encoding="utf-8"?>
<p:tagLst xmlns:p="http://schemas.openxmlformats.org/presentationml/2006/main">
  <p:tag name="KSO_WM_DIAGRAM_VIRTUALLY_FRAME" val="{&quot;height&quot;:267.59992125984246,&quot;left&quot;:49.19992125984252,&quot;top&quot;:162.59992125984252,&quot;width&quot;:866.3999212598426}"/>
</p:tagLst>
</file>

<file path=ppt/tags/tag11.xml><?xml version="1.0" encoding="utf-8"?>
<p:tagLst xmlns:p="http://schemas.openxmlformats.org/presentationml/2006/main">
  <p:tag name="KSO_WM_DIAGRAM_VIRTUALLY_FRAME" val="{&quot;height&quot;:267.59992125984246,&quot;left&quot;:49.19992125984252,&quot;top&quot;:162.59992125984252,&quot;width&quot;:866.3999212598426}"/>
</p:tagLst>
</file>

<file path=ppt/tags/tag12.xml><?xml version="1.0" encoding="utf-8"?>
<p:tagLst xmlns:p="http://schemas.openxmlformats.org/presentationml/2006/main">
  <p:tag name="KSO_WM_DIAGRAM_VIRTUALLY_FRAME" val="{&quot;height&quot;:267.59992125984246,&quot;left&quot;:49.19992125984252,&quot;top&quot;:162.59992125984252,&quot;width&quot;:866.3999212598426}"/>
</p:tagLst>
</file>

<file path=ppt/tags/tag13.xml><?xml version="1.0" encoding="utf-8"?>
<p:tagLst xmlns:p="http://schemas.openxmlformats.org/presentationml/2006/main">
  <p:tag name="KSO_WM_DIAGRAM_VIRTUALLY_FRAME" val="{&quot;height&quot;:267.59992125984246,&quot;left&quot;:49.19992125984252,&quot;top&quot;:162.59992125984252,&quot;width&quot;:866.3999212598426}"/>
</p:tagLst>
</file>

<file path=ppt/tags/tag14.xml><?xml version="1.0" encoding="utf-8"?>
<p:tagLst xmlns:p="http://schemas.openxmlformats.org/presentationml/2006/main">
  <p:tag name="KSO_WM_DIAGRAM_VIRTUALLY_FRAME" val="{&quot;height&quot;:267.59992125984246,&quot;left&quot;:49.19992125984252,&quot;top&quot;:162.59992125984252,&quot;width&quot;:866.3999212598426}"/>
</p:tagLst>
</file>

<file path=ppt/tags/tag15.xml><?xml version="1.0" encoding="utf-8"?>
<p:tagLst xmlns:p="http://schemas.openxmlformats.org/presentationml/2006/main">
  <p:tag name="KSO_WM_DIAGRAM_VIRTUALLY_FRAME" val="{&quot;height&quot;:267.59992125984246,&quot;left&quot;:49.19992125984252,&quot;top&quot;:162.59992125984252,&quot;width&quot;:866.3999212598426}"/>
</p:tagLst>
</file>

<file path=ppt/tags/tag16.xml><?xml version="1.0" encoding="utf-8"?>
<p:tagLst xmlns:p="http://schemas.openxmlformats.org/presentationml/2006/main">
  <p:tag name="KSO_WM_DIAGRAM_VIRTUALLY_FRAME" val="{&quot;height&quot;:267.59992125984246,&quot;left&quot;:49.19992125984252,&quot;top&quot;:162.59992125984252,&quot;width&quot;:866.3999212598426}"/>
</p:tagLst>
</file>

<file path=ppt/tags/tag17.xml><?xml version="1.0" encoding="utf-8"?>
<p:tagLst xmlns:p="http://schemas.openxmlformats.org/presentationml/2006/main">
  <p:tag name="KSO_WM_DIAGRAM_VIRTUALLY_FRAME" val="{&quot;height&quot;:267.59992125984246,&quot;left&quot;:49.19992125984252,&quot;top&quot;:162.59992125984252,&quot;width&quot;:866.3999212598426}"/>
</p:tagLst>
</file>

<file path=ppt/tags/tag18.xml><?xml version="1.0" encoding="utf-8"?>
<p:tagLst xmlns:p="http://schemas.openxmlformats.org/presentationml/2006/main">
  <p:tag name="KSO_WM_DIAGRAM_VIRTUALLY_FRAME" val="{&quot;height&quot;:267.59992125984246,&quot;left&quot;:49.19992125984252,&quot;top&quot;:162.59992125984252,&quot;width&quot;:866.3999212598426}"/>
</p:tagLst>
</file>

<file path=ppt/tags/tag19.xml><?xml version="1.0" encoding="utf-8"?>
<p:tagLst xmlns:p="http://schemas.openxmlformats.org/presentationml/2006/main">
  <p:tag name="KSO_WM_DIAGRAM_VIRTUALLY_FRAME" val="{&quot;height&quot;:267.59992125984246,&quot;left&quot;:49.19992125984252,&quot;top&quot;:162.59992125984252,&quot;width&quot;:866.3999212598426}"/>
</p:tagLst>
</file>

<file path=ppt/tags/tag20.xml><?xml version="1.0" encoding="utf-8"?>
<p:tagLst xmlns:p="http://schemas.openxmlformats.org/presentationml/2006/main">
  <p:tag name="KSO_WM_DIAGRAM_VIRTUALLY_FRAME" val="{&quot;height&quot;:267.59992125984246,&quot;left&quot;:49.19992125984252,&quot;top&quot;:162.59992125984252,&quot;width&quot;:866.3999212598426}"/>
</p:tagLst>
</file>

<file path=ppt/tags/tag21.xml><?xml version="1.0" encoding="utf-8"?>
<p:tagLst xmlns:p="http://schemas.openxmlformats.org/presentationml/2006/main">
  <p:tag name="KSO_WM_DIAGRAM_VIRTUALLY_FRAME" val="{&quot;height&quot;:267.59992125984246,&quot;left&quot;:49.19992125984252,&quot;top&quot;:162.59992125984252,&quot;width&quot;:866.3999212598426}"/>
</p:tagLst>
</file>

<file path=ppt/tags/tag22.xml><?xml version="1.0" encoding="utf-8"?>
<p:tagLst xmlns:p="http://schemas.openxmlformats.org/presentationml/2006/main">
  <p:tag name="KSO_WM_DIAGRAM_VIRTUALLY_FRAME" val="{&quot;height&quot;:267.59992125984246,&quot;left&quot;:49.19992125984252,&quot;top&quot;:162.59992125984252,&quot;width&quot;:866.3999212598426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微软雅黑"/>
        <a:ea typeface="微软雅黑"/>
        <a:cs typeface="微软雅黑"/>
        <a:font script="Jpan" typeface="ＭＳ Ｐゴシック"/>
        <a:font script="Hang" typeface="맑은 고딕"/>
        <a:font script="Hans" typeface="微软雅黑"/>
        <a:font script="Hant" typeface="微软雅黑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微软雅黑"/>
        <a:cs typeface="微软雅黑"/>
        <a:font script="Jpan" typeface="ＭＳ Ｐゴシック"/>
        <a:font script="Hang" typeface="맑은 고딕"/>
        <a:font script="Hans" typeface="微软雅黑"/>
        <a:font script="Hant" typeface="微软雅黑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3781</Words>
  <Application>WPS 演示</Application>
  <PresentationFormat>宽屏</PresentationFormat>
  <Paragraphs>754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3" baseType="lpstr">
      <vt:lpstr>Arial</vt:lpstr>
      <vt:lpstr>宋体</vt:lpstr>
      <vt:lpstr>Wingdings</vt:lpstr>
      <vt:lpstr>微软雅黑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学术成果分享平台｜高自由度可编辑16页PPT</dc:title>
  <dc:creator>OpenAI</dc:creator>
  <dc:description>generated using python-pptx</dc:description>
  <dc:subject>由SVG拆解的原生文字、形状、连线、独立图标</dc:subject>
  <cp:lastModifiedBy>昌昂旺</cp:lastModifiedBy>
  <cp:revision>72</cp:revision>
  <dcterms:created xsi:type="dcterms:W3CDTF">2013-01-27T09:14:00Z</dcterms:created>
  <dcterms:modified xsi:type="dcterms:W3CDTF">2026-10-11T10:12:10Z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6946183A54274C90873BB9F7CAD959FC_12</vt:lpwstr>
  </property>
  <property fmtid="{D5CDD505-2E9C-101B-9397-08002B2CF9AE}" pid="3" name="KSOProductBuildVer">
    <vt:lpwstr>2052-12.1.0.28505</vt:lpwstr>
  </property>
</Properties>
</file>