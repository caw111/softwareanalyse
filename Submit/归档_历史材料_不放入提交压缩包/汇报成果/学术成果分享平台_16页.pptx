
<file path=[Content_Types].xml><?xml version="1.0" encoding="utf-8"?>
<Types xmlns="http://schemas.openxmlformats.org/package/2006/content-types">
  <Default Extension="jpeg" ContentType="image/jpeg"/>
  <Default Extension="JPG" ContentType="image/.jpg"/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72" r:id="rId6"/>
    <p:sldId id="259" r:id="rId7"/>
    <p:sldId id="260" r:id="rId8"/>
    <p:sldId id="273" r:id="rId9"/>
    <p:sldId id="263" r:id="rId10"/>
    <p:sldId id="274" r:id="rId11"/>
    <p:sldId id="275" r:id="rId12"/>
    <p:sldId id="276" r:id="rId13"/>
    <p:sldId id="277" r:id="rId14"/>
    <p:sldId id="278" r:id="rId15"/>
    <p:sldId id="279" r:id="rId16"/>
    <p:sldId id="270" r:id="rId17"/>
    <p:sldId id="271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28" userDrawn="1">
          <p15:clr>
            <a:srgbClr val="A4A3A4"/>
          </p15:clr>
        </p15:guide>
        <p15:guide id="2" pos="285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 showGuides="1">
      <p:cViewPr varScale="1">
        <p:scale>
          <a:sx n="101" d="100"/>
          <a:sy n="101" d="100"/>
        </p:scale>
        <p:origin x="756" y="96"/>
      </p:cViewPr>
      <p:guideLst>
        <p:guide orient="horz" pos="2128"/>
        <p:guide pos="285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10"/>
    </mc:Choice>
    <mc:Fallback>
      <c:style val="10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1952359415046"/>
          <c:y val="0.0638175230566535"/>
          <c:w val="0.877317955676165"/>
          <c:h val="0.760128458498024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人工智能 cs.AI</c:v>
                </c:pt>
              </c:strCache>
            </c:strRef>
          </c:tx>
          <c:spPr>
            <a:ln w="30480" cap="rnd" cmpd="sng" algn="ctr">
              <a:solidFill>
                <a:srgbClr val="3179CB"/>
              </a:solidFill>
              <a:prstDash val="solid"/>
              <a:round/>
            </a:ln>
          </c:spPr>
          <c:marker>
            <c:symbol val="circle"/>
            <c:size val="6"/>
            <c:spPr>
              <a:solidFill>
                <a:srgbClr val="FFFFFF"/>
              </a:solidFill>
              <a:ln w="21590" cap="flat" cmpd="sng" algn="ctr">
                <a:solidFill>
                  <a:srgbClr val="3179CB"/>
                </a:solidFill>
                <a:prstDash val="solid"/>
                <a:round/>
              </a:ln>
            </c:spPr>
          </c:marker>
          <c:dLbls>
            <c:delete val="1"/>
          </c:dLbls>
          <c:cat>
            <c:strRef>
              <c:f>Sheet1!$A$2:$A$6</c: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12523</c:v>
                </c:pt>
                <c:pt idx="1">
                  <c:v>14806</c:v>
                </c:pt>
                <c:pt idx="2">
                  <c:v>21856</c:v>
                </c:pt>
                <c:pt idx="3">
                  <c:v>33036</c:v>
                </c:pt>
                <c:pt idx="4">
                  <c:v>45133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机器学习 cs.LG</c:v>
                </c:pt>
              </c:strCache>
            </c:strRef>
          </c:tx>
          <c:spPr>
            <a:ln w="30480" cap="rnd" cmpd="sng" algn="ctr">
              <a:solidFill>
                <a:srgbClr val="ED9047"/>
              </a:solidFill>
              <a:prstDash val="solid"/>
              <a:round/>
            </a:ln>
          </c:spPr>
          <c:marker>
            <c:symbol val="circle"/>
            <c:size val="6"/>
            <c:spPr>
              <a:solidFill>
                <a:srgbClr val="FFFFFF"/>
              </a:solidFill>
              <a:ln w="21590" cap="flat" cmpd="sng" algn="ctr">
                <a:solidFill>
                  <a:srgbClr val="ED9047"/>
                </a:solidFill>
                <a:prstDash val="solid"/>
                <a:round/>
              </a:ln>
            </c:spPr>
          </c:marker>
          <c:dLbls>
            <c:delete val="1"/>
          </c:dLbls>
          <c:cat>
            <c:strRef>
              <c:f>Sheet1!$A$2:$A$6</c: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26532</c:v>
                </c:pt>
                <c:pt idx="1">
                  <c:v>28721</c:v>
                </c:pt>
                <c:pt idx="2">
                  <c:v>33021</c:v>
                </c:pt>
                <c:pt idx="3">
                  <c:v>39786</c:v>
                </c:pt>
                <c:pt idx="4">
                  <c:v>46005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自然语言 cs.CL</c:v>
                </c:pt>
              </c:strCache>
            </c:strRef>
          </c:tx>
          <c:spPr>
            <a:ln w="30480" cap="rnd" cmpd="sng" algn="ctr">
              <a:solidFill>
                <a:srgbClr val="139B9D"/>
              </a:solidFill>
              <a:prstDash val="solid"/>
              <a:round/>
            </a:ln>
          </c:spPr>
          <c:marker>
            <c:symbol val="circle"/>
            <c:size val="6"/>
            <c:spPr>
              <a:solidFill>
                <a:srgbClr val="FFFFFF"/>
              </a:solidFill>
              <a:ln w="21590" cap="flat" cmpd="sng" algn="ctr">
                <a:solidFill>
                  <a:srgbClr val="139B9D"/>
                </a:solidFill>
                <a:prstDash val="solid"/>
                <a:round/>
              </a:ln>
            </c:spPr>
          </c:marker>
          <c:dLbls>
            <c:delete val="1"/>
          </c:dLbls>
          <c:cat>
            <c:strRef>
              <c:f>Sheet1!$A$2:$A$6</c: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8083</c:v>
                </c:pt>
                <c:pt idx="1">
                  <c:v>8971</c:v>
                </c:pt>
                <c:pt idx="2">
                  <c:v>13601</c:v>
                </c:pt>
                <c:pt idx="3">
                  <c:v>20689</c:v>
                </c:pt>
                <c:pt idx="4">
                  <c:v>23753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9525" cap="flat" cmpd="sng" algn="ctr">
            <a:noFill/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100" b="0" i="0" u="none" strike="noStrike" kern="1200" baseline="0">
                <a:solidFill>
                  <a:srgbClr val="5C7086"/>
                </a:solidFill>
                <a:latin typeface="Noto Sans CJK SC"/>
                <a:ea typeface="+mn-ea"/>
                <a:cs typeface="+mn-cs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50000"/>
          <c:min val="0"/>
        </c:scaling>
        <c:delete val="0"/>
        <c:axPos val="l"/>
        <c:majorGridlines>
          <c:spPr>
            <a:ln w="10160" cap="flat" cmpd="sng" algn="ctr">
              <a:solidFill>
                <a:srgbClr val="E1ECF6"/>
              </a:solidFill>
              <a:prstDash val="solid"/>
              <a:round/>
            </a:ln>
          </c:spPr>
        </c:majorGridlines>
        <c:numFmt formatCode="#,##0" sourceLinked="0"/>
        <c:majorTickMark val="none"/>
        <c:minorTickMark val="none"/>
        <c:tickLblPos val="nextTo"/>
        <c:spPr>
          <a:ln w="9525" cap="flat" cmpd="sng" algn="ctr">
            <a:noFill/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rgbClr val="5C7086"/>
                </a:solidFill>
                <a:latin typeface="Noto Sans CJK SC"/>
                <a:ea typeface="+mn-ea"/>
                <a:cs typeface="+mn-cs"/>
              </a:defRPr>
            </a:pPr>
          </a:p>
        </c:txPr>
        <c:crossAx val="2118791784"/>
        <c:crosses val="autoZero"/>
        <c:crossBetween val="between"/>
        <c:majorUnit val="10000"/>
      </c:valAx>
    </c:plotArea>
    <c:plotVisOnly val="1"/>
    <c:dispBlanksAs val="gap"/>
    <c:showDLblsOverMax val="0"/>
    <c:extLst>
      <c:ext uri="{0b15fc19-7d7d-44ad-8c2d-2c3a37ce22c3}">
        <chartProps xmlns="https://web.wps.cn/et/2018/main" chartId="{e60e3f8f-dae4-4f57-a1c2-e53ae50b4724}"/>
      </c:ext>
    </c:extLst>
  </c:chart>
  <c:txPr>
    <a:bodyPr/>
    <a:lstStyle/>
    <a:p>
      <a:pPr>
        <a:defRPr lang="zh-CN" sz="1800"/>
      </a:pPr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image" Target="../media/image6.png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2" Type="http://schemas.openxmlformats.org/officeDocument/2006/relationships/slideLayout" Target="../slideLayouts/slideLayout7.xml"/><Relationship Id="rId31" Type="http://schemas.openxmlformats.org/officeDocument/2006/relationships/image" Target="../media/image9.png"/><Relationship Id="rId30" Type="http://schemas.openxmlformats.org/officeDocument/2006/relationships/tags" Target="../tags/tag26.xml"/><Relationship Id="rId3" Type="http://schemas.openxmlformats.org/officeDocument/2006/relationships/tags" Target="../tags/tag3.xml"/><Relationship Id="rId29" Type="http://schemas.openxmlformats.org/officeDocument/2006/relationships/tags" Target="../tags/tag25.xml"/><Relationship Id="rId28" Type="http://schemas.openxmlformats.org/officeDocument/2006/relationships/tags" Target="../tags/tag24.xml"/><Relationship Id="rId27" Type="http://schemas.openxmlformats.org/officeDocument/2006/relationships/image" Target="../media/image8.png"/><Relationship Id="rId26" Type="http://schemas.openxmlformats.org/officeDocument/2006/relationships/tags" Target="../tags/tag23.xml"/><Relationship Id="rId25" Type="http://schemas.openxmlformats.org/officeDocument/2006/relationships/tags" Target="../tags/tag22.xml"/><Relationship Id="rId24" Type="http://schemas.openxmlformats.org/officeDocument/2006/relationships/tags" Target="../tags/tag21.xml"/><Relationship Id="rId23" Type="http://schemas.openxmlformats.org/officeDocument/2006/relationships/tags" Target="../tags/tag20.xml"/><Relationship Id="rId22" Type="http://schemas.openxmlformats.org/officeDocument/2006/relationships/tags" Target="../tags/tag19.xml"/><Relationship Id="rId21" Type="http://schemas.openxmlformats.org/officeDocument/2006/relationships/tags" Target="../tags/tag18.xml"/><Relationship Id="rId20" Type="http://schemas.openxmlformats.org/officeDocument/2006/relationships/image" Target="../media/image7.png"/><Relationship Id="rId2" Type="http://schemas.openxmlformats.org/officeDocument/2006/relationships/tags" Target="../tags/tag2.xml"/><Relationship Id="rId19" Type="http://schemas.openxmlformats.org/officeDocument/2006/relationships/tags" Target="../tags/tag17.xml"/><Relationship Id="rId18" Type="http://schemas.openxmlformats.org/officeDocument/2006/relationships/tags" Target="../tags/tag16.xml"/><Relationship Id="rId17" Type="http://schemas.openxmlformats.org/officeDocument/2006/relationships/tags" Target="../tags/tag15.xml"/><Relationship Id="rId16" Type="http://schemas.openxmlformats.org/officeDocument/2006/relationships/tags" Target="../tags/tag14.xml"/><Relationship Id="rId15" Type="http://schemas.openxmlformats.org/officeDocument/2006/relationships/tags" Target="../tags/tag13.xml"/><Relationship Id="rId14" Type="http://schemas.openxmlformats.org/officeDocument/2006/relationships/tags" Target="../tags/tag12.xml"/><Relationship Id="rId13" Type="http://schemas.openxmlformats.org/officeDocument/2006/relationships/image" Target="../media/image4.png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9.png"/><Relationship Id="rId8" Type="http://schemas.openxmlformats.org/officeDocument/2006/relationships/image" Target="../media/image18.png"/><Relationship Id="rId7" Type="http://schemas.openxmlformats.org/officeDocument/2006/relationships/image" Target="../media/image6.png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1.png"/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0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5.png"/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1.png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32.png"/><Relationship Id="rId4" Type="http://schemas.openxmlformats.org/officeDocument/2006/relationships/image" Target="../media/image6.png"/><Relationship Id="rId3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chart" Target="../charts/chart1.xml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34.png"/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7999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80000">
                <a:srgbClr val="F7FAFE"/>
              </a:gs>
              <a:gs pos="100000">
                <a:srgbClr val="ECF5FE"/>
              </a:gs>
            </a:gsLst>
            <a:lin ang="315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Freeform 2"/>
          <p:cNvSpPr/>
          <p:nvPr/>
        </p:nvSpPr>
        <p:spPr>
          <a:xfrm>
            <a:off x="8549640" y="0"/>
            <a:ext cx="3642360" cy="4000500"/>
          </a:xfrm>
          <a:custGeom>
            <a:avLst/>
            <a:gdLst/>
            <a:ahLst/>
            <a:cxnLst/>
            <a:rect l="l" t="t" r="r" b="b"/>
            <a:pathLst>
              <a:path w="478" h="525">
                <a:moveTo>
                  <a:pt x="478" y="0"/>
                </a:moveTo>
                <a:lnTo>
                  <a:pt x="58" y="0"/>
                </a:lnTo>
                <a:lnTo>
                  <a:pt x="41" y="24"/>
                </a:lnTo>
                <a:lnTo>
                  <a:pt x="27" y="49"/>
                </a:lnTo>
                <a:lnTo>
                  <a:pt x="16" y="73"/>
                </a:lnTo>
                <a:lnTo>
                  <a:pt x="8" y="97"/>
                </a:lnTo>
                <a:lnTo>
                  <a:pt x="3" y="121"/>
                </a:lnTo>
                <a:lnTo>
                  <a:pt x="0" y="144"/>
                </a:lnTo>
                <a:lnTo>
                  <a:pt x="0" y="167"/>
                </a:lnTo>
                <a:lnTo>
                  <a:pt x="3" y="190"/>
                </a:lnTo>
                <a:lnTo>
                  <a:pt x="8" y="212"/>
                </a:lnTo>
                <a:lnTo>
                  <a:pt x="15" y="234"/>
                </a:lnTo>
                <a:lnTo>
                  <a:pt x="24" y="255"/>
                </a:lnTo>
                <a:lnTo>
                  <a:pt x="36" y="276"/>
                </a:lnTo>
                <a:lnTo>
                  <a:pt x="49" y="295"/>
                </a:lnTo>
                <a:lnTo>
                  <a:pt x="63" y="314"/>
                </a:lnTo>
                <a:lnTo>
                  <a:pt x="80" y="333"/>
                </a:lnTo>
                <a:lnTo>
                  <a:pt x="98" y="350"/>
                </a:lnTo>
                <a:lnTo>
                  <a:pt x="128" y="371"/>
                </a:lnTo>
                <a:lnTo>
                  <a:pt x="157" y="388"/>
                </a:lnTo>
                <a:lnTo>
                  <a:pt x="185" y="402"/>
                </a:lnTo>
                <a:lnTo>
                  <a:pt x="212" y="413"/>
                </a:lnTo>
                <a:lnTo>
                  <a:pt x="239" y="422"/>
                </a:lnTo>
                <a:lnTo>
                  <a:pt x="265" y="429"/>
                </a:lnTo>
                <a:lnTo>
                  <a:pt x="290" y="434"/>
                </a:lnTo>
                <a:lnTo>
                  <a:pt x="314" y="439"/>
                </a:lnTo>
                <a:lnTo>
                  <a:pt x="338" y="444"/>
                </a:lnTo>
                <a:lnTo>
                  <a:pt x="360" y="450"/>
                </a:lnTo>
                <a:lnTo>
                  <a:pt x="382" y="456"/>
                </a:lnTo>
                <a:lnTo>
                  <a:pt x="403" y="465"/>
                </a:lnTo>
                <a:lnTo>
                  <a:pt x="423" y="475"/>
                </a:lnTo>
                <a:lnTo>
                  <a:pt x="442" y="488"/>
                </a:lnTo>
                <a:lnTo>
                  <a:pt x="461" y="505"/>
                </a:lnTo>
                <a:lnTo>
                  <a:pt x="478" y="525"/>
                </a:lnTo>
                <a:lnTo>
                  <a:pt x="478" y="0"/>
                </a:lnTo>
                <a:close/>
              </a:path>
            </a:pathLst>
          </a:custGeom>
          <a:solidFill>
            <a:srgbClr val="EAF5FE">
              <a:alpha val="6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Oval 5"/>
          <p:cNvSpPr/>
          <p:nvPr/>
        </p:nvSpPr>
        <p:spPr>
          <a:xfrm>
            <a:off x="10020299" y="365759"/>
            <a:ext cx="121919" cy="121919"/>
          </a:xfrm>
          <a:prstGeom prst="ellipse">
            <a:avLst/>
          </a:prstGeom>
          <a:solidFill>
            <a:srgbClr val="48A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Oval 6"/>
          <p:cNvSpPr/>
          <p:nvPr/>
        </p:nvSpPr>
        <p:spPr>
          <a:xfrm>
            <a:off x="11452859" y="2689859"/>
            <a:ext cx="106679" cy="106679"/>
          </a:xfrm>
          <a:prstGeom prst="ellipse">
            <a:avLst/>
          </a:prstGeom>
          <a:solidFill>
            <a:srgbClr val="48A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Oval 7"/>
          <p:cNvSpPr/>
          <p:nvPr/>
        </p:nvSpPr>
        <p:spPr>
          <a:xfrm>
            <a:off x="12085319" y="868679"/>
            <a:ext cx="91439" cy="91439"/>
          </a:xfrm>
          <a:prstGeom prst="ellipse">
            <a:avLst/>
          </a:prstGeom>
          <a:solidFill>
            <a:srgbClr val="48A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Oval 8"/>
          <p:cNvSpPr/>
          <p:nvPr/>
        </p:nvSpPr>
        <p:spPr>
          <a:xfrm>
            <a:off x="10553699" y="2065019"/>
            <a:ext cx="76199" cy="76199"/>
          </a:xfrm>
          <a:prstGeom prst="ellipse">
            <a:avLst/>
          </a:prstGeom>
          <a:solidFill>
            <a:srgbClr val="48A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24839" y="441959"/>
            <a:ext cx="411479" cy="53339"/>
          </a:xfrm>
          <a:prstGeom prst="roundRect">
            <a:avLst>
              <a:gd name="adj" fmla="val 50000"/>
            </a:avLst>
          </a:prstGeom>
          <a:solidFill>
            <a:srgbClr val="0E3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1066799" y="441959"/>
            <a:ext cx="380999" cy="53339"/>
          </a:xfrm>
          <a:prstGeom prst="roundRect">
            <a:avLst>
              <a:gd name="adj" fmla="val 50000"/>
            </a:avLst>
          </a:prstGeom>
          <a:solidFill>
            <a:srgbClr val="E69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2" name="Connector 11"/>
          <p:cNvCxnSpPr/>
          <p:nvPr/>
        </p:nvCxnSpPr>
        <p:spPr>
          <a:xfrm>
            <a:off x="617219" y="6370319"/>
            <a:ext cx="10949940" cy="0"/>
          </a:xfrm>
          <a:prstGeom prst="line">
            <a:avLst/>
          </a:prstGeom>
          <a:ln w="11429">
            <a:solidFill>
              <a:srgbClr val="D2E2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字｜学术成果分享平台   /   系统分析与设计"/>
          <p:cNvSpPr txBox="1"/>
          <p:nvPr/>
        </p:nvSpPr>
        <p:spPr>
          <a:xfrm>
            <a:off x="640079" y="6463131"/>
            <a:ext cx="3121342" cy="18653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80" b="0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学术成果分享平台   /   系统分析与设计</a:t>
            </a:r>
            <a:endParaRPr lang="zh-CN" sz="1080" b="0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文字｜01"/>
          <p:cNvSpPr txBox="1"/>
          <p:nvPr/>
        </p:nvSpPr>
        <p:spPr>
          <a:xfrm>
            <a:off x="11225450" y="6448043"/>
            <a:ext cx="356949" cy="20726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lang="zh-CN" sz="1200" b="1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11315699" y="6675119"/>
            <a:ext cx="274319" cy="30479"/>
          </a:xfrm>
          <a:prstGeom prst="roundRect">
            <a:avLst>
              <a:gd name="adj" fmla="val 50000"/>
            </a:avLst>
          </a:prstGeom>
          <a:solidFill>
            <a:srgbClr val="327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文字｜学术成果分享平台"/>
          <p:cNvSpPr txBox="1"/>
          <p:nvPr/>
        </p:nvSpPr>
        <p:spPr>
          <a:xfrm>
            <a:off x="655319" y="1148791"/>
            <a:ext cx="6160007" cy="78760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456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学术成果分享平台</a:t>
            </a:r>
            <a:endParaRPr lang="zh-CN" sz="4560" b="1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字｜平台方案设计与数据治理框架"/>
          <p:cNvSpPr txBox="1"/>
          <p:nvPr/>
        </p:nvSpPr>
        <p:spPr>
          <a:xfrm>
            <a:off x="685799" y="1961235"/>
            <a:ext cx="5030723" cy="39380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28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平台方案设计与数据治理框架</a:t>
            </a:r>
            <a:endParaRPr lang="zh-CN" sz="2280" b="1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85799" y="2491739"/>
            <a:ext cx="883919" cy="45719"/>
          </a:xfrm>
          <a:prstGeom prst="roundRect">
            <a:avLst>
              <a:gd name="adj" fmla="val 50000"/>
            </a:avLst>
          </a:prstGeom>
          <a:solidFill>
            <a:srgbClr val="ADD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文字｜以学术成果检索为入口，以学者门户和成果认领为核心，"/>
          <p:cNvSpPr txBox="1"/>
          <p:nvPr/>
        </p:nvSpPr>
        <p:spPr>
          <a:xfrm>
            <a:off x="685799" y="2821228"/>
            <a:ext cx="6080759" cy="2487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40" b="0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以学术成果检索为入口，以学者门户和成果认领为核心，</a:t>
            </a:r>
            <a:endParaRPr lang="zh-CN" sz="1440" b="0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文字｜以持续的数据治理保证准确性。"/>
          <p:cNvSpPr txBox="1"/>
          <p:nvPr/>
        </p:nvSpPr>
        <p:spPr>
          <a:xfrm>
            <a:off x="685799" y="3156508"/>
            <a:ext cx="3465575" cy="2487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40" b="0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以持续的数据治理保证准确性。</a:t>
            </a:r>
            <a:endParaRPr lang="zh-CN" sz="1440" b="0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文字｜通过统计与相关推荐支持研究资料发现。"/>
          <p:cNvSpPr txBox="1"/>
          <p:nvPr/>
        </p:nvSpPr>
        <p:spPr>
          <a:xfrm>
            <a:off x="685799" y="3491788"/>
            <a:ext cx="4416551" cy="2487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40" b="0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通过统计与相关推荐支持研究资料发现。</a:t>
            </a:r>
            <a:endParaRPr lang="zh-CN" sz="1440" b="0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6743699" y="1356359"/>
            <a:ext cx="4709159" cy="2689859"/>
          </a:xfrm>
          <a:prstGeom prst="roundRect">
            <a:avLst>
              <a:gd name="adj" fmla="val 5382"/>
            </a:avLst>
          </a:prstGeom>
          <a:solidFill>
            <a:srgbClr val="FFFFFF"/>
          </a:solidFill>
          <a:ln w="7619">
            <a:solidFill>
              <a:srgbClr val="D8E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6941819" y="1562099"/>
            <a:ext cx="4312919" cy="289559"/>
          </a:xfrm>
          <a:prstGeom prst="roundRect">
            <a:avLst>
              <a:gd name="adj" fmla="val 31578"/>
            </a:avLst>
          </a:prstGeom>
          <a:solidFill>
            <a:srgbClr val="E7F3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7025639" y="1653539"/>
            <a:ext cx="91439" cy="91439"/>
          </a:xfrm>
          <a:prstGeom prst="ellipse">
            <a:avLst/>
          </a:prstGeom>
          <a:solidFill>
            <a:srgbClr val="E69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Oval 24"/>
          <p:cNvSpPr/>
          <p:nvPr/>
        </p:nvSpPr>
        <p:spPr>
          <a:xfrm>
            <a:off x="7178039" y="1653539"/>
            <a:ext cx="91439" cy="91439"/>
          </a:xfrm>
          <a:prstGeom prst="ellipse">
            <a:avLst/>
          </a:prstGeom>
          <a:solidFill>
            <a:srgbClr val="159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Oval 25"/>
          <p:cNvSpPr/>
          <p:nvPr/>
        </p:nvSpPr>
        <p:spPr>
          <a:xfrm>
            <a:off x="7330439" y="1653539"/>
            <a:ext cx="91439" cy="91439"/>
          </a:xfrm>
          <a:prstGeom prst="ellipse">
            <a:avLst/>
          </a:prstGeom>
          <a:solidFill>
            <a:srgbClr val="327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7040879" y="2103119"/>
            <a:ext cx="4069079" cy="533399"/>
          </a:xfrm>
          <a:prstGeom prst="roundRect">
            <a:avLst>
              <a:gd name="adj" fmla="val 27142"/>
            </a:avLst>
          </a:prstGeom>
          <a:solidFill>
            <a:srgbClr val="FFFFFF"/>
          </a:solidFill>
          <a:ln w="7619">
            <a:solidFill>
              <a:srgbClr val="D8E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8" name="可移动独立图标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69835" y="2185415"/>
            <a:ext cx="384047" cy="384047"/>
          </a:xfrm>
          <a:prstGeom prst="rect">
            <a:avLst/>
          </a:prstGeom>
        </p:spPr>
      </p:pic>
      <p:sp>
        <p:nvSpPr>
          <p:cNvPr id="29" name="文字｜检索论文 / 专利 / 项目 / 奖项"/>
          <p:cNvSpPr txBox="1"/>
          <p:nvPr/>
        </p:nvSpPr>
        <p:spPr>
          <a:xfrm>
            <a:off x="7619999" y="2264968"/>
            <a:ext cx="3113603" cy="2487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40" b="0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检索论文 / 专利 / 项目 / 奖项</a:t>
            </a:r>
            <a:endParaRPr lang="zh-CN" sz="1440" b="0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7048499" y="2857499"/>
            <a:ext cx="3924299" cy="350519"/>
          </a:xfrm>
          <a:prstGeom prst="roundRect">
            <a:avLst>
              <a:gd name="adj" fmla="val 21739"/>
            </a:avLst>
          </a:prstGeom>
          <a:solidFill>
            <a:srgbClr val="F1F7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Oval 30"/>
          <p:cNvSpPr/>
          <p:nvPr/>
        </p:nvSpPr>
        <p:spPr>
          <a:xfrm>
            <a:off x="7162799" y="2887979"/>
            <a:ext cx="289559" cy="289559"/>
          </a:xfrm>
          <a:prstGeom prst="ellipse">
            <a:avLst/>
          </a:prstGeom>
          <a:solidFill>
            <a:srgbClr val="E5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2" name="可移动独立图标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0069" y="2835249"/>
            <a:ext cx="395020" cy="395020"/>
          </a:xfrm>
          <a:prstGeom prst="rect">
            <a:avLst/>
          </a:prstGeom>
        </p:spPr>
      </p:pic>
      <p:sp>
        <p:nvSpPr>
          <p:cNvPr id="33" name="文字｜论文元数据"/>
          <p:cNvSpPr txBox="1"/>
          <p:nvPr/>
        </p:nvSpPr>
        <p:spPr>
          <a:xfrm>
            <a:off x="7543799" y="2942843"/>
            <a:ext cx="1127759" cy="20726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论文元数据</a:t>
            </a:r>
            <a:endParaRPr lang="zh-CN" sz="1200" b="1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9067799" y="2964179"/>
            <a:ext cx="1219199" cy="53339"/>
          </a:xfrm>
          <a:prstGeom prst="roundRect">
            <a:avLst>
              <a:gd name="adj" fmla="val 50000"/>
            </a:avLst>
          </a:prstGeom>
          <a:solidFill>
            <a:srgbClr val="C8D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9067799" y="3070859"/>
            <a:ext cx="838199" cy="45719"/>
          </a:xfrm>
          <a:prstGeom prst="roundRect">
            <a:avLst>
              <a:gd name="adj" fmla="val 50000"/>
            </a:avLst>
          </a:prstGeom>
          <a:solidFill>
            <a:srgbClr val="D8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7048499" y="3284219"/>
            <a:ext cx="3924299" cy="350519"/>
          </a:xfrm>
          <a:prstGeom prst="roundRect">
            <a:avLst>
              <a:gd name="adj" fmla="val 21739"/>
            </a:avLst>
          </a:prstGeom>
          <a:solidFill>
            <a:srgbClr val="F1F7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Oval 36"/>
          <p:cNvSpPr/>
          <p:nvPr/>
        </p:nvSpPr>
        <p:spPr>
          <a:xfrm>
            <a:off x="7162799" y="3314699"/>
            <a:ext cx="289559" cy="289559"/>
          </a:xfrm>
          <a:prstGeom prst="ellipse">
            <a:avLst/>
          </a:prstGeom>
          <a:solidFill>
            <a:srgbClr val="E5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8" name="可移动独立图标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0069" y="3261969"/>
            <a:ext cx="395020" cy="395020"/>
          </a:xfrm>
          <a:prstGeom prst="rect">
            <a:avLst/>
          </a:prstGeom>
        </p:spPr>
      </p:pic>
      <p:sp>
        <p:nvSpPr>
          <p:cNvPr id="39" name="文字｜学者与机构"/>
          <p:cNvSpPr txBox="1"/>
          <p:nvPr/>
        </p:nvSpPr>
        <p:spPr>
          <a:xfrm>
            <a:off x="7543799" y="3369563"/>
            <a:ext cx="1127759" cy="20726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学者与机构</a:t>
            </a:r>
            <a:endParaRPr lang="zh-CN" sz="1200" b="1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9067799" y="3390899"/>
            <a:ext cx="1219199" cy="53339"/>
          </a:xfrm>
          <a:prstGeom prst="roundRect">
            <a:avLst>
              <a:gd name="adj" fmla="val 50000"/>
            </a:avLst>
          </a:prstGeom>
          <a:solidFill>
            <a:srgbClr val="C8D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9067799" y="3497579"/>
            <a:ext cx="838199" cy="45719"/>
          </a:xfrm>
          <a:prstGeom prst="roundRect">
            <a:avLst>
              <a:gd name="adj" fmla="val 50000"/>
            </a:avLst>
          </a:prstGeom>
          <a:solidFill>
            <a:srgbClr val="D8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Oval 41"/>
          <p:cNvSpPr/>
          <p:nvPr/>
        </p:nvSpPr>
        <p:spPr>
          <a:xfrm>
            <a:off x="10149839" y="3047999"/>
            <a:ext cx="1280159" cy="1280159"/>
          </a:xfrm>
          <a:prstGeom prst="ellipse">
            <a:avLst/>
          </a:prstGeom>
          <a:solidFill>
            <a:srgbClr val="DF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3" name="可移动独立图标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79" y="3139439"/>
            <a:ext cx="1097279" cy="1097279"/>
          </a:xfrm>
          <a:prstGeom prst="rect">
            <a:avLst/>
          </a:prstGeom>
        </p:spPr>
      </p:pic>
      <p:sp>
        <p:nvSpPr>
          <p:cNvPr id="44" name="Rounded Rectangle 43"/>
          <p:cNvSpPr/>
          <p:nvPr/>
        </p:nvSpPr>
        <p:spPr>
          <a:xfrm>
            <a:off x="624839" y="4671059"/>
            <a:ext cx="2773679" cy="1135379"/>
          </a:xfrm>
          <a:prstGeom prst="roundRect">
            <a:avLst>
              <a:gd name="adj" fmla="val 12751"/>
            </a:avLst>
          </a:prstGeom>
          <a:solidFill>
            <a:srgbClr val="FFFFFF"/>
          </a:solidFill>
          <a:ln w="7619">
            <a:solidFill>
              <a:srgbClr val="D8E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Oval 44"/>
          <p:cNvSpPr/>
          <p:nvPr/>
        </p:nvSpPr>
        <p:spPr>
          <a:xfrm>
            <a:off x="800099" y="4876799"/>
            <a:ext cx="640079" cy="640079"/>
          </a:xfrm>
          <a:prstGeom prst="ellipse">
            <a:avLst/>
          </a:prstGeom>
          <a:solidFill>
            <a:srgbClr val="E5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6" name="可移动独立图标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2629" y="4999329"/>
            <a:ext cx="395020" cy="395020"/>
          </a:xfrm>
          <a:prstGeom prst="rect">
            <a:avLst/>
          </a:prstGeom>
        </p:spPr>
      </p:pic>
      <p:sp>
        <p:nvSpPr>
          <p:cNvPr id="47" name="文字｜学术检索"/>
          <p:cNvSpPr txBox="1"/>
          <p:nvPr/>
        </p:nvSpPr>
        <p:spPr>
          <a:xfrm>
            <a:off x="1577339" y="4955057"/>
            <a:ext cx="1207007" cy="27980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2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学术检索</a:t>
            </a:r>
            <a:endParaRPr lang="zh-CN" sz="1620" b="1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" name="文字｜统一检索入口"/>
          <p:cNvSpPr txBox="1"/>
          <p:nvPr/>
        </p:nvSpPr>
        <p:spPr>
          <a:xfrm>
            <a:off x="1577339" y="5312663"/>
            <a:ext cx="1325879" cy="20726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b="0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统一检索入口</a:t>
            </a:r>
            <a:endParaRPr lang="zh-CN" sz="1200" b="0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" name="Rounded Rectangle 48"/>
          <p:cNvSpPr/>
          <p:nvPr/>
        </p:nvSpPr>
        <p:spPr>
          <a:xfrm>
            <a:off x="3543299" y="4671059"/>
            <a:ext cx="2773679" cy="1135379"/>
          </a:xfrm>
          <a:prstGeom prst="roundRect">
            <a:avLst>
              <a:gd name="adj" fmla="val 12751"/>
            </a:avLst>
          </a:prstGeom>
          <a:solidFill>
            <a:srgbClr val="FFFFFF"/>
          </a:solidFill>
          <a:ln w="7619">
            <a:solidFill>
              <a:srgbClr val="D8E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" name="Oval 49"/>
          <p:cNvSpPr/>
          <p:nvPr/>
        </p:nvSpPr>
        <p:spPr>
          <a:xfrm>
            <a:off x="3718559" y="4876799"/>
            <a:ext cx="640079" cy="640079"/>
          </a:xfrm>
          <a:prstGeom prst="ellipse">
            <a:avLst/>
          </a:prstGeom>
          <a:solidFill>
            <a:srgbClr val="E5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51" name="可移动独立图标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1089" y="4999329"/>
            <a:ext cx="395020" cy="395020"/>
          </a:xfrm>
          <a:prstGeom prst="rect">
            <a:avLst/>
          </a:prstGeom>
        </p:spPr>
      </p:pic>
      <p:sp>
        <p:nvSpPr>
          <p:cNvPr id="52" name="文字｜学者门户"/>
          <p:cNvSpPr txBox="1"/>
          <p:nvPr/>
        </p:nvSpPr>
        <p:spPr>
          <a:xfrm>
            <a:off x="4495799" y="4955057"/>
            <a:ext cx="1207007" cy="27980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2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学者门户</a:t>
            </a:r>
            <a:endParaRPr lang="zh-CN" sz="1620" b="1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" name="文字｜维护学术画像"/>
          <p:cNvSpPr txBox="1"/>
          <p:nvPr/>
        </p:nvSpPr>
        <p:spPr>
          <a:xfrm>
            <a:off x="4495799" y="5312663"/>
            <a:ext cx="1325879" cy="20726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b="0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维护学术画像</a:t>
            </a:r>
            <a:endParaRPr lang="zh-CN" sz="1200" b="0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" name="Rounded Rectangle 53"/>
          <p:cNvSpPr/>
          <p:nvPr/>
        </p:nvSpPr>
        <p:spPr>
          <a:xfrm>
            <a:off x="6461759" y="4671059"/>
            <a:ext cx="2773679" cy="1135379"/>
          </a:xfrm>
          <a:prstGeom prst="roundRect">
            <a:avLst>
              <a:gd name="adj" fmla="val 12751"/>
            </a:avLst>
          </a:prstGeom>
          <a:solidFill>
            <a:srgbClr val="FFFFFF"/>
          </a:solidFill>
          <a:ln w="7619">
            <a:solidFill>
              <a:srgbClr val="D8E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" name="Oval 54"/>
          <p:cNvSpPr/>
          <p:nvPr/>
        </p:nvSpPr>
        <p:spPr>
          <a:xfrm>
            <a:off x="6637019" y="4876799"/>
            <a:ext cx="640079" cy="640079"/>
          </a:xfrm>
          <a:prstGeom prst="ellipse">
            <a:avLst/>
          </a:prstGeom>
          <a:solidFill>
            <a:srgbClr val="FFF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56" name="可移动独立图标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59549" y="4999329"/>
            <a:ext cx="395020" cy="395020"/>
          </a:xfrm>
          <a:prstGeom prst="rect">
            <a:avLst/>
          </a:prstGeom>
        </p:spPr>
      </p:pic>
      <p:sp>
        <p:nvSpPr>
          <p:cNvPr id="57" name="文字｜成果认领"/>
          <p:cNvSpPr txBox="1"/>
          <p:nvPr/>
        </p:nvSpPr>
        <p:spPr>
          <a:xfrm>
            <a:off x="7414259" y="4955057"/>
            <a:ext cx="1207007" cy="27980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2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成果认领</a:t>
            </a:r>
            <a:endParaRPr lang="zh-CN" sz="1620" b="1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8" name="文字｜审核确认归属"/>
          <p:cNvSpPr txBox="1"/>
          <p:nvPr/>
        </p:nvSpPr>
        <p:spPr>
          <a:xfrm>
            <a:off x="7414259" y="5312663"/>
            <a:ext cx="1325879" cy="20726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b="0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审核确认归属</a:t>
            </a:r>
            <a:endParaRPr lang="zh-CN" sz="1200" b="0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9" name="Rounded Rectangle 58"/>
          <p:cNvSpPr/>
          <p:nvPr/>
        </p:nvSpPr>
        <p:spPr>
          <a:xfrm>
            <a:off x="9380219" y="4671059"/>
            <a:ext cx="2773679" cy="1135379"/>
          </a:xfrm>
          <a:prstGeom prst="roundRect">
            <a:avLst>
              <a:gd name="adj" fmla="val 12751"/>
            </a:avLst>
          </a:prstGeom>
          <a:solidFill>
            <a:srgbClr val="FFFFFF"/>
          </a:solidFill>
          <a:ln w="7619">
            <a:solidFill>
              <a:srgbClr val="D8E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0" name="Oval 59"/>
          <p:cNvSpPr/>
          <p:nvPr/>
        </p:nvSpPr>
        <p:spPr>
          <a:xfrm>
            <a:off x="9555479" y="4876799"/>
            <a:ext cx="640079" cy="640079"/>
          </a:xfrm>
          <a:prstGeom prst="ellipse">
            <a:avLst/>
          </a:prstGeom>
          <a:solidFill>
            <a:srgbClr val="E5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61" name="可移动独立图标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78009" y="4999329"/>
            <a:ext cx="395020" cy="395020"/>
          </a:xfrm>
          <a:prstGeom prst="rect">
            <a:avLst/>
          </a:prstGeom>
        </p:spPr>
      </p:pic>
      <p:sp>
        <p:nvSpPr>
          <p:cNvPr id="62" name="文字｜数据治理"/>
          <p:cNvSpPr txBox="1"/>
          <p:nvPr/>
        </p:nvSpPr>
        <p:spPr>
          <a:xfrm>
            <a:off x="10332719" y="4955057"/>
            <a:ext cx="1207007" cy="27980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2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数据治理</a:t>
            </a:r>
            <a:endParaRPr lang="zh-CN" sz="1620" b="1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3" name="文字｜保障数据质量"/>
          <p:cNvSpPr txBox="1"/>
          <p:nvPr/>
        </p:nvSpPr>
        <p:spPr>
          <a:xfrm>
            <a:off x="10332719" y="5312663"/>
            <a:ext cx="1325879" cy="20726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b="0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保障数据质量</a:t>
            </a:r>
            <a:endParaRPr lang="zh-CN" sz="1200" b="0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4" name="文字｜覆盖论文、专利、科研项目、获奖信息   ·   面向普通用户、科研人员与平台"/>
          <p:cNvSpPr txBox="1"/>
          <p:nvPr/>
        </p:nvSpPr>
        <p:spPr>
          <a:xfrm>
            <a:off x="655319" y="5960440"/>
            <a:ext cx="7606283" cy="21762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60" b="0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覆盖论文、专利、科研项目、获奖信息   ·   面向普通用户、科研人员与平台管理员</a:t>
            </a:r>
            <a:endParaRPr lang="zh-CN" sz="1260" b="0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7999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80000">
                <a:srgbClr val="F7FAFE"/>
              </a:gs>
              <a:gs pos="100000">
                <a:srgbClr val="ECF5FE"/>
              </a:gs>
            </a:gsLst>
            <a:lin ang="315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Freeform 2"/>
          <p:cNvSpPr/>
          <p:nvPr/>
        </p:nvSpPr>
        <p:spPr>
          <a:xfrm>
            <a:off x="8549640" y="0"/>
            <a:ext cx="3642360" cy="4000500"/>
          </a:xfrm>
          <a:custGeom>
            <a:avLst/>
            <a:gdLst/>
            <a:ahLst/>
            <a:cxnLst/>
            <a:rect l="l" t="t" r="r" b="b"/>
            <a:pathLst>
              <a:path w="478" h="525">
                <a:moveTo>
                  <a:pt x="478" y="0"/>
                </a:moveTo>
                <a:lnTo>
                  <a:pt x="58" y="0"/>
                </a:lnTo>
                <a:lnTo>
                  <a:pt x="41" y="24"/>
                </a:lnTo>
                <a:lnTo>
                  <a:pt x="27" y="49"/>
                </a:lnTo>
                <a:lnTo>
                  <a:pt x="16" y="73"/>
                </a:lnTo>
                <a:lnTo>
                  <a:pt x="8" y="97"/>
                </a:lnTo>
                <a:lnTo>
                  <a:pt x="3" y="121"/>
                </a:lnTo>
                <a:lnTo>
                  <a:pt x="0" y="144"/>
                </a:lnTo>
                <a:lnTo>
                  <a:pt x="0" y="167"/>
                </a:lnTo>
                <a:lnTo>
                  <a:pt x="3" y="190"/>
                </a:lnTo>
                <a:lnTo>
                  <a:pt x="8" y="212"/>
                </a:lnTo>
                <a:lnTo>
                  <a:pt x="15" y="234"/>
                </a:lnTo>
                <a:lnTo>
                  <a:pt x="24" y="255"/>
                </a:lnTo>
                <a:lnTo>
                  <a:pt x="36" y="276"/>
                </a:lnTo>
                <a:lnTo>
                  <a:pt x="49" y="295"/>
                </a:lnTo>
                <a:lnTo>
                  <a:pt x="63" y="314"/>
                </a:lnTo>
                <a:lnTo>
                  <a:pt x="80" y="333"/>
                </a:lnTo>
                <a:lnTo>
                  <a:pt x="98" y="350"/>
                </a:lnTo>
                <a:lnTo>
                  <a:pt x="128" y="371"/>
                </a:lnTo>
                <a:lnTo>
                  <a:pt x="157" y="388"/>
                </a:lnTo>
                <a:lnTo>
                  <a:pt x="185" y="402"/>
                </a:lnTo>
                <a:lnTo>
                  <a:pt x="212" y="413"/>
                </a:lnTo>
                <a:lnTo>
                  <a:pt x="239" y="422"/>
                </a:lnTo>
                <a:lnTo>
                  <a:pt x="265" y="429"/>
                </a:lnTo>
                <a:lnTo>
                  <a:pt x="290" y="434"/>
                </a:lnTo>
                <a:lnTo>
                  <a:pt x="314" y="439"/>
                </a:lnTo>
                <a:lnTo>
                  <a:pt x="338" y="444"/>
                </a:lnTo>
                <a:lnTo>
                  <a:pt x="360" y="450"/>
                </a:lnTo>
                <a:lnTo>
                  <a:pt x="382" y="456"/>
                </a:lnTo>
                <a:lnTo>
                  <a:pt x="403" y="465"/>
                </a:lnTo>
                <a:lnTo>
                  <a:pt x="423" y="475"/>
                </a:lnTo>
                <a:lnTo>
                  <a:pt x="442" y="488"/>
                </a:lnTo>
                <a:lnTo>
                  <a:pt x="461" y="505"/>
                </a:lnTo>
                <a:lnTo>
                  <a:pt x="478" y="525"/>
                </a:lnTo>
                <a:lnTo>
                  <a:pt x="478" y="0"/>
                </a:lnTo>
                <a:close/>
              </a:path>
            </a:pathLst>
          </a:custGeom>
          <a:solidFill>
            <a:srgbClr val="EAF5FE">
              <a:alpha val="6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Oval 5"/>
          <p:cNvSpPr/>
          <p:nvPr/>
        </p:nvSpPr>
        <p:spPr>
          <a:xfrm>
            <a:off x="10020299" y="365759"/>
            <a:ext cx="121919" cy="121919"/>
          </a:xfrm>
          <a:prstGeom prst="ellipse">
            <a:avLst/>
          </a:prstGeom>
          <a:solidFill>
            <a:srgbClr val="48A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Oval 6"/>
          <p:cNvSpPr/>
          <p:nvPr>
            <p:custDataLst>
              <p:tags r:id="rId1"/>
            </p:custDataLst>
          </p:nvPr>
        </p:nvSpPr>
        <p:spPr>
          <a:xfrm>
            <a:off x="11452859" y="2689859"/>
            <a:ext cx="106679" cy="106679"/>
          </a:xfrm>
          <a:prstGeom prst="ellipse">
            <a:avLst/>
          </a:prstGeom>
          <a:solidFill>
            <a:srgbClr val="48A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Oval 7"/>
          <p:cNvSpPr/>
          <p:nvPr/>
        </p:nvSpPr>
        <p:spPr>
          <a:xfrm>
            <a:off x="12085319" y="868679"/>
            <a:ext cx="91439" cy="91439"/>
          </a:xfrm>
          <a:prstGeom prst="ellipse">
            <a:avLst/>
          </a:prstGeom>
          <a:solidFill>
            <a:srgbClr val="48A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Oval 8"/>
          <p:cNvSpPr/>
          <p:nvPr>
            <p:custDataLst>
              <p:tags r:id="rId2"/>
            </p:custDataLst>
          </p:nvPr>
        </p:nvSpPr>
        <p:spPr>
          <a:xfrm>
            <a:off x="10553699" y="2065019"/>
            <a:ext cx="76199" cy="76199"/>
          </a:xfrm>
          <a:prstGeom prst="ellipse">
            <a:avLst/>
          </a:prstGeom>
          <a:solidFill>
            <a:srgbClr val="48A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24839" y="441959"/>
            <a:ext cx="411479" cy="53339"/>
          </a:xfrm>
          <a:prstGeom prst="roundRect">
            <a:avLst>
              <a:gd name="adj" fmla="val 50000"/>
            </a:avLst>
          </a:prstGeom>
          <a:solidFill>
            <a:srgbClr val="0E3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1066799" y="441959"/>
            <a:ext cx="380999" cy="53339"/>
          </a:xfrm>
          <a:prstGeom prst="roundRect">
            <a:avLst>
              <a:gd name="adj" fmla="val 50000"/>
            </a:avLst>
          </a:prstGeom>
          <a:solidFill>
            <a:srgbClr val="E69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文字｜项目背景与核心问题"/>
          <p:cNvSpPr txBox="1"/>
          <p:nvPr/>
        </p:nvSpPr>
        <p:spPr>
          <a:xfrm>
            <a:off x="640079" y="765886"/>
            <a:ext cx="4684013" cy="52852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06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项目背景与核心问题</a:t>
            </a:r>
            <a:endParaRPr lang="zh-CN" sz="3060" b="1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字｜建设可检索、可认领、可治理、可分析的学术成果平台"/>
          <p:cNvSpPr txBox="1"/>
          <p:nvPr/>
        </p:nvSpPr>
        <p:spPr>
          <a:xfrm>
            <a:off x="662939" y="1373504"/>
            <a:ext cx="6080759" cy="25907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0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建设可检索、可认领、可治理、可分析的学术成果平台</a:t>
            </a:r>
            <a:endParaRPr lang="zh-CN" sz="1500" b="0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47699" y="1722119"/>
            <a:ext cx="708659" cy="38099"/>
          </a:xfrm>
          <a:prstGeom prst="roundRect">
            <a:avLst>
              <a:gd name="adj" fmla="val 40000"/>
            </a:avLst>
          </a:prstGeom>
          <a:solidFill>
            <a:srgbClr val="ADD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字｜02 / 16"/>
          <p:cNvSpPr txBox="1"/>
          <p:nvPr/>
        </p:nvSpPr>
        <p:spPr>
          <a:xfrm>
            <a:off x="10815958" y="550087"/>
            <a:ext cx="713101" cy="196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4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02 / 16</a:t>
            </a:r>
            <a:endParaRPr lang="zh-CN" sz="1140" b="1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6" name="Connector 15"/>
          <p:cNvCxnSpPr/>
          <p:nvPr/>
        </p:nvCxnSpPr>
        <p:spPr>
          <a:xfrm>
            <a:off x="617219" y="6370319"/>
            <a:ext cx="10949940" cy="0"/>
          </a:xfrm>
          <a:prstGeom prst="line">
            <a:avLst/>
          </a:prstGeom>
          <a:ln w="11429">
            <a:solidFill>
              <a:srgbClr val="D2E2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字｜学术成果分享平台   /   系统分析与设计"/>
          <p:cNvSpPr txBox="1"/>
          <p:nvPr/>
        </p:nvSpPr>
        <p:spPr>
          <a:xfrm>
            <a:off x="640079" y="6463131"/>
            <a:ext cx="3121342" cy="18653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80" b="0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学术成果分享平台   /   系统分析与设计</a:t>
            </a:r>
            <a:endParaRPr lang="zh-CN" sz="1080" b="0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文字｜02"/>
          <p:cNvSpPr txBox="1"/>
          <p:nvPr/>
        </p:nvSpPr>
        <p:spPr>
          <a:xfrm>
            <a:off x="11225450" y="6448043"/>
            <a:ext cx="356949" cy="20726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lang="zh-CN" sz="1200" b="1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11315699" y="6675119"/>
            <a:ext cx="274319" cy="30479"/>
          </a:xfrm>
          <a:prstGeom prst="roundRect">
            <a:avLst>
              <a:gd name="adj" fmla="val 50000"/>
            </a:avLst>
          </a:prstGeom>
          <a:solidFill>
            <a:srgbClr val="327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>
            <p:custDataLst>
              <p:tags r:id="rId3"/>
            </p:custDataLst>
          </p:nvPr>
        </p:nvSpPr>
        <p:spPr>
          <a:xfrm>
            <a:off x="624839" y="2118359"/>
            <a:ext cx="5333999" cy="1584959"/>
          </a:xfrm>
          <a:prstGeom prst="roundRect">
            <a:avLst>
              <a:gd name="adj" fmla="val 9134"/>
            </a:avLst>
          </a:prstGeom>
          <a:solidFill>
            <a:srgbClr val="FFFFFF"/>
          </a:solidFill>
          <a:ln w="7619">
            <a:solidFill>
              <a:srgbClr val="D8E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Oval 20"/>
          <p:cNvSpPr/>
          <p:nvPr>
            <p:custDataLst>
              <p:tags r:id="rId4"/>
            </p:custDataLst>
          </p:nvPr>
        </p:nvSpPr>
        <p:spPr>
          <a:xfrm>
            <a:off x="830579" y="2476499"/>
            <a:ext cx="792479" cy="792479"/>
          </a:xfrm>
          <a:prstGeom prst="ellipse">
            <a:avLst/>
          </a:prstGeom>
          <a:solidFill>
            <a:srgbClr val="E5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2" name="可移动独立图标" descr="image.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029309" y="2675229"/>
            <a:ext cx="395020" cy="395020"/>
          </a:xfrm>
          <a:prstGeom prst="rect">
            <a:avLst/>
          </a:prstGeom>
        </p:spPr>
      </p:pic>
      <p:sp>
        <p:nvSpPr>
          <p:cNvPr id="23" name="文字｜数据来源分散"/>
          <p:cNvSpPr txBox="1"/>
          <p:nvPr>
            <p:custDataLst>
              <p:tags r:id="rId7"/>
            </p:custDataLst>
          </p:nvPr>
        </p:nvSpPr>
        <p:spPr>
          <a:xfrm>
            <a:off x="1844039" y="2427427"/>
            <a:ext cx="1828800" cy="36893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40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数据来源分散</a:t>
            </a:r>
            <a:endParaRPr lang="zh-CN" sz="2400" b="1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字｜论文、专利、项目、获奖来源不同"/>
          <p:cNvSpPr txBox="1"/>
          <p:nvPr>
            <p:custDataLst>
              <p:tags r:id="rId8"/>
            </p:custDataLst>
          </p:nvPr>
        </p:nvSpPr>
        <p:spPr>
          <a:xfrm>
            <a:off x="1844039" y="2874416"/>
            <a:ext cx="2667000" cy="2152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00" b="0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论文、专利、项目、获奖来源不同</a:t>
            </a:r>
            <a:endParaRPr lang="zh-CN" sz="1400" b="0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文字｜字段结构与时间口径不一致"/>
          <p:cNvSpPr txBox="1"/>
          <p:nvPr>
            <p:custDataLst>
              <p:tags r:id="rId9"/>
            </p:custDataLst>
          </p:nvPr>
        </p:nvSpPr>
        <p:spPr>
          <a:xfrm>
            <a:off x="1844039" y="3133496"/>
            <a:ext cx="2133600" cy="2152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00" b="0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字段结构与时间口径不一致</a:t>
            </a:r>
            <a:endParaRPr lang="zh-CN" sz="1400" b="0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Rounded Rectangle 25"/>
          <p:cNvSpPr/>
          <p:nvPr>
            <p:custDataLst>
              <p:tags r:id="rId10"/>
            </p:custDataLst>
          </p:nvPr>
        </p:nvSpPr>
        <p:spPr>
          <a:xfrm>
            <a:off x="6294119" y="2118359"/>
            <a:ext cx="5333999" cy="1584959"/>
          </a:xfrm>
          <a:prstGeom prst="roundRect">
            <a:avLst>
              <a:gd name="adj" fmla="val 9134"/>
            </a:avLst>
          </a:prstGeom>
          <a:solidFill>
            <a:srgbClr val="FFFFFF"/>
          </a:solidFill>
          <a:ln w="7619">
            <a:solidFill>
              <a:srgbClr val="D8E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Oval 26"/>
          <p:cNvSpPr/>
          <p:nvPr>
            <p:custDataLst>
              <p:tags r:id="rId11"/>
            </p:custDataLst>
          </p:nvPr>
        </p:nvSpPr>
        <p:spPr>
          <a:xfrm>
            <a:off x="6499859" y="2476499"/>
            <a:ext cx="792479" cy="792479"/>
          </a:xfrm>
          <a:prstGeom prst="ellipse">
            <a:avLst/>
          </a:prstGeom>
          <a:solidFill>
            <a:srgbClr val="E5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8" name="可移动独立图标" descr="image.png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6698589" y="2675229"/>
            <a:ext cx="395020" cy="395020"/>
          </a:xfrm>
          <a:prstGeom prst="rect">
            <a:avLst/>
          </a:prstGeom>
        </p:spPr>
      </p:pic>
      <p:sp>
        <p:nvSpPr>
          <p:cNvPr id="29" name="文字｜学者身份歧义"/>
          <p:cNvSpPr txBox="1"/>
          <p:nvPr>
            <p:custDataLst>
              <p:tags r:id="rId14"/>
            </p:custDataLst>
          </p:nvPr>
        </p:nvSpPr>
        <p:spPr>
          <a:xfrm>
            <a:off x="7513319" y="2427427"/>
            <a:ext cx="1828800" cy="36893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sz="240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学者身份歧义</a:t>
            </a:r>
            <a:endParaRPr lang="zh-CN" sz="2400" b="1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文字｜同名人员、机构变更"/>
          <p:cNvSpPr txBox="1"/>
          <p:nvPr>
            <p:custDataLst>
              <p:tags r:id="rId15"/>
            </p:custDataLst>
          </p:nvPr>
        </p:nvSpPr>
        <p:spPr>
          <a:xfrm>
            <a:off x="7513319" y="2874416"/>
            <a:ext cx="1828800" cy="24574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0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同名人员、机构变更</a:t>
            </a:r>
            <a:endParaRPr lang="zh-CN" sz="1600" b="0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文字｜自动关联错误造成成果归属不确定"/>
          <p:cNvSpPr txBox="1"/>
          <p:nvPr>
            <p:custDataLst>
              <p:tags r:id="rId16"/>
            </p:custDataLst>
          </p:nvPr>
        </p:nvSpPr>
        <p:spPr>
          <a:xfrm>
            <a:off x="7513319" y="3133496"/>
            <a:ext cx="3048000" cy="24574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0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自动关联错误造成成果归属不确定</a:t>
            </a:r>
            <a:endParaRPr lang="zh-CN" sz="1600" b="0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Rounded Rectangle 31"/>
          <p:cNvSpPr/>
          <p:nvPr>
            <p:custDataLst>
              <p:tags r:id="rId17"/>
            </p:custDataLst>
          </p:nvPr>
        </p:nvSpPr>
        <p:spPr>
          <a:xfrm>
            <a:off x="624839" y="3878579"/>
            <a:ext cx="5333999" cy="1584959"/>
          </a:xfrm>
          <a:prstGeom prst="roundRect">
            <a:avLst>
              <a:gd name="adj" fmla="val 9134"/>
            </a:avLst>
          </a:prstGeom>
          <a:solidFill>
            <a:srgbClr val="FFFFFF"/>
          </a:solidFill>
          <a:ln w="7619">
            <a:solidFill>
              <a:srgbClr val="D8E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Oval 32"/>
          <p:cNvSpPr/>
          <p:nvPr>
            <p:custDataLst>
              <p:tags r:id="rId18"/>
            </p:custDataLst>
          </p:nvPr>
        </p:nvSpPr>
        <p:spPr>
          <a:xfrm>
            <a:off x="830579" y="4236719"/>
            <a:ext cx="792479" cy="792479"/>
          </a:xfrm>
          <a:prstGeom prst="ellipse">
            <a:avLst/>
          </a:prstGeom>
          <a:solidFill>
            <a:srgbClr val="FFF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4" name="可移动独立图标" descr="image.png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20"/>
          <a:stretch>
            <a:fillRect/>
          </a:stretch>
        </p:blipFill>
        <p:spPr>
          <a:xfrm>
            <a:off x="1029309" y="4435449"/>
            <a:ext cx="395020" cy="395020"/>
          </a:xfrm>
          <a:prstGeom prst="rect">
            <a:avLst/>
          </a:prstGeom>
        </p:spPr>
      </p:pic>
      <p:sp>
        <p:nvSpPr>
          <p:cNvPr id="35" name="文字｜管理与分析约束"/>
          <p:cNvSpPr txBox="1"/>
          <p:nvPr>
            <p:custDataLst>
              <p:tags r:id="rId21"/>
            </p:custDataLst>
          </p:nvPr>
        </p:nvSpPr>
        <p:spPr>
          <a:xfrm>
            <a:off x="1844039" y="4130497"/>
            <a:ext cx="2133600" cy="36893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sz="240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管理与分析约束</a:t>
            </a:r>
            <a:endParaRPr lang="zh-CN" sz="2400" b="1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文字｜个人成果需要认领、纠错"/>
          <p:cNvSpPr txBox="1"/>
          <p:nvPr>
            <p:custDataLst>
              <p:tags r:id="rId22"/>
            </p:custDataLst>
          </p:nvPr>
        </p:nvSpPr>
        <p:spPr>
          <a:xfrm>
            <a:off x="1844039" y="4634636"/>
            <a:ext cx="1955800" cy="2152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00" b="0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个人成果需要认领、纠错</a:t>
            </a:r>
            <a:endParaRPr lang="zh-CN" sz="1400" b="0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文字｜统计需说明来源、范围与指标含义"/>
          <p:cNvSpPr txBox="1"/>
          <p:nvPr>
            <p:custDataLst>
              <p:tags r:id="rId23"/>
            </p:custDataLst>
          </p:nvPr>
        </p:nvSpPr>
        <p:spPr>
          <a:xfrm>
            <a:off x="1844039" y="4893716"/>
            <a:ext cx="2667000" cy="2152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00" b="0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统计需说明来源、范围与指标含义</a:t>
            </a:r>
            <a:endParaRPr lang="zh-CN" sz="1400" b="0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Rounded Rectangle 37"/>
          <p:cNvSpPr/>
          <p:nvPr>
            <p:custDataLst>
              <p:tags r:id="rId24"/>
            </p:custDataLst>
          </p:nvPr>
        </p:nvSpPr>
        <p:spPr>
          <a:xfrm>
            <a:off x="6294119" y="3878579"/>
            <a:ext cx="5333999" cy="1584959"/>
          </a:xfrm>
          <a:prstGeom prst="roundRect">
            <a:avLst>
              <a:gd name="adj" fmla="val 9134"/>
            </a:avLst>
          </a:prstGeom>
          <a:solidFill>
            <a:srgbClr val="FFFFFF"/>
          </a:solidFill>
          <a:ln w="7619">
            <a:solidFill>
              <a:srgbClr val="D8E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Oval 38"/>
          <p:cNvSpPr/>
          <p:nvPr>
            <p:custDataLst>
              <p:tags r:id="rId25"/>
            </p:custDataLst>
          </p:nvPr>
        </p:nvSpPr>
        <p:spPr>
          <a:xfrm>
            <a:off x="6499859" y="4236719"/>
            <a:ext cx="792479" cy="792479"/>
          </a:xfrm>
          <a:prstGeom prst="ellipse">
            <a:avLst/>
          </a:prstGeom>
          <a:solidFill>
            <a:srgbClr val="E5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0" name="可移动独立图标" descr="image.png"/>
          <p:cNvPicPr>
            <a:picLocks noChangeAspect="1"/>
          </p:cNvPicPr>
          <p:nvPr>
            <p:custDataLst>
              <p:tags r:id="rId26"/>
            </p:custDataLst>
          </p:nvPr>
        </p:nvPicPr>
        <p:blipFill>
          <a:blip r:embed="rId27"/>
          <a:stretch>
            <a:fillRect/>
          </a:stretch>
        </p:blipFill>
        <p:spPr>
          <a:xfrm>
            <a:off x="6698589" y="4435449"/>
            <a:ext cx="395020" cy="395020"/>
          </a:xfrm>
          <a:prstGeom prst="rect">
            <a:avLst/>
          </a:prstGeom>
        </p:spPr>
      </p:pic>
      <p:sp>
        <p:nvSpPr>
          <p:cNvPr id="41" name="文字｜重复与字段冲突"/>
          <p:cNvSpPr txBox="1"/>
          <p:nvPr>
            <p:custDataLst>
              <p:tags r:id="rId28"/>
            </p:custDataLst>
          </p:nvPr>
        </p:nvSpPr>
        <p:spPr>
          <a:xfrm>
            <a:off x="7513319" y="4130497"/>
            <a:ext cx="2133600" cy="36893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sz="240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重复与字段冲突</a:t>
            </a:r>
            <a:endParaRPr lang="zh-CN" sz="2400" b="1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文字｜跨来源重复收录、字段不一致"/>
          <p:cNvSpPr txBox="1"/>
          <p:nvPr>
            <p:custDataLst>
              <p:tags r:id="rId29"/>
            </p:custDataLst>
          </p:nvPr>
        </p:nvSpPr>
        <p:spPr>
          <a:xfrm>
            <a:off x="7513319" y="4634636"/>
            <a:ext cx="2311400" cy="2152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00" b="0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跨来源重复收录、字段不一致</a:t>
            </a:r>
            <a:endParaRPr lang="zh-CN" sz="1400" b="0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文字｜影响检索质量及统计可靠性"/>
          <p:cNvSpPr txBox="1"/>
          <p:nvPr>
            <p:custDataLst>
              <p:tags r:id="rId30"/>
            </p:custDataLst>
          </p:nvPr>
        </p:nvSpPr>
        <p:spPr>
          <a:xfrm>
            <a:off x="7513319" y="4893716"/>
            <a:ext cx="2133600" cy="2152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00" b="0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影响检索质量及统计可靠性</a:t>
            </a:r>
            <a:endParaRPr lang="zh-CN" sz="1400" b="0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624839" y="5760719"/>
            <a:ext cx="10934699" cy="518159"/>
          </a:xfrm>
          <a:prstGeom prst="roundRect">
            <a:avLst>
              <a:gd name="adj" fmla="val 25000"/>
            </a:avLst>
          </a:prstGeom>
          <a:solidFill>
            <a:srgbClr val="EC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Oval 44"/>
          <p:cNvSpPr/>
          <p:nvPr/>
        </p:nvSpPr>
        <p:spPr>
          <a:xfrm>
            <a:off x="761999" y="5829299"/>
            <a:ext cx="380999" cy="380999"/>
          </a:xfrm>
          <a:prstGeom prst="ellipse">
            <a:avLst/>
          </a:prstGeom>
          <a:solidFill>
            <a:srgbClr val="E5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6" name="可移动独立图标" descr="image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754989" y="5822289"/>
            <a:ext cx="395020" cy="395020"/>
          </a:xfrm>
          <a:prstGeom prst="rect">
            <a:avLst/>
          </a:prstGeom>
        </p:spPr>
      </p:pic>
      <p:sp>
        <p:nvSpPr>
          <p:cNvPr id="47" name="文字｜核心目标"/>
          <p:cNvSpPr txBox="1"/>
          <p:nvPr/>
        </p:nvSpPr>
        <p:spPr>
          <a:xfrm>
            <a:off x="1257299" y="5899784"/>
            <a:ext cx="1127759" cy="25907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核心目标</a:t>
            </a:r>
            <a:endParaRPr lang="zh-CN" sz="1500" b="1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" name="文字｜连接检索、认领、数据治理与统计分析全业务链条。"/>
          <p:cNvSpPr txBox="1"/>
          <p:nvPr/>
        </p:nvSpPr>
        <p:spPr>
          <a:xfrm>
            <a:off x="2834639" y="5907252"/>
            <a:ext cx="5377433" cy="23835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80" b="0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连接检索、认领、数据治理与统计分析全业务链条。</a:t>
            </a:r>
            <a:endParaRPr lang="zh-CN" sz="1380" b="0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7999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80000">
                <a:srgbClr val="F7FAFE"/>
              </a:gs>
              <a:gs pos="100000">
                <a:srgbClr val="ECF5FE"/>
              </a:gs>
            </a:gsLst>
            <a:lin ang="315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Freeform 2"/>
          <p:cNvSpPr/>
          <p:nvPr/>
        </p:nvSpPr>
        <p:spPr>
          <a:xfrm>
            <a:off x="8549640" y="0"/>
            <a:ext cx="3642360" cy="4000500"/>
          </a:xfrm>
          <a:custGeom>
            <a:avLst/>
            <a:gdLst/>
            <a:ahLst/>
            <a:cxnLst/>
            <a:rect l="l" t="t" r="r" b="b"/>
            <a:pathLst>
              <a:path w="478" h="525">
                <a:moveTo>
                  <a:pt x="478" y="0"/>
                </a:moveTo>
                <a:lnTo>
                  <a:pt x="58" y="0"/>
                </a:lnTo>
                <a:lnTo>
                  <a:pt x="41" y="24"/>
                </a:lnTo>
                <a:lnTo>
                  <a:pt x="27" y="49"/>
                </a:lnTo>
                <a:lnTo>
                  <a:pt x="16" y="73"/>
                </a:lnTo>
                <a:lnTo>
                  <a:pt x="8" y="97"/>
                </a:lnTo>
                <a:lnTo>
                  <a:pt x="3" y="121"/>
                </a:lnTo>
                <a:lnTo>
                  <a:pt x="0" y="144"/>
                </a:lnTo>
                <a:lnTo>
                  <a:pt x="0" y="167"/>
                </a:lnTo>
                <a:lnTo>
                  <a:pt x="3" y="190"/>
                </a:lnTo>
                <a:lnTo>
                  <a:pt x="8" y="212"/>
                </a:lnTo>
                <a:lnTo>
                  <a:pt x="15" y="234"/>
                </a:lnTo>
                <a:lnTo>
                  <a:pt x="24" y="255"/>
                </a:lnTo>
                <a:lnTo>
                  <a:pt x="36" y="276"/>
                </a:lnTo>
                <a:lnTo>
                  <a:pt x="49" y="295"/>
                </a:lnTo>
                <a:lnTo>
                  <a:pt x="63" y="314"/>
                </a:lnTo>
                <a:lnTo>
                  <a:pt x="80" y="333"/>
                </a:lnTo>
                <a:lnTo>
                  <a:pt x="98" y="350"/>
                </a:lnTo>
                <a:lnTo>
                  <a:pt x="128" y="371"/>
                </a:lnTo>
                <a:lnTo>
                  <a:pt x="157" y="388"/>
                </a:lnTo>
                <a:lnTo>
                  <a:pt x="185" y="402"/>
                </a:lnTo>
                <a:lnTo>
                  <a:pt x="212" y="413"/>
                </a:lnTo>
                <a:lnTo>
                  <a:pt x="239" y="422"/>
                </a:lnTo>
                <a:lnTo>
                  <a:pt x="265" y="429"/>
                </a:lnTo>
                <a:lnTo>
                  <a:pt x="290" y="434"/>
                </a:lnTo>
                <a:lnTo>
                  <a:pt x="314" y="439"/>
                </a:lnTo>
                <a:lnTo>
                  <a:pt x="338" y="444"/>
                </a:lnTo>
                <a:lnTo>
                  <a:pt x="360" y="450"/>
                </a:lnTo>
                <a:lnTo>
                  <a:pt x="382" y="456"/>
                </a:lnTo>
                <a:lnTo>
                  <a:pt x="403" y="465"/>
                </a:lnTo>
                <a:lnTo>
                  <a:pt x="423" y="475"/>
                </a:lnTo>
                <a:lnTo>
                  <a:pt x="442" y="488"/>
                </a:lnTo>
                <a:lnTo>
                  <a:pt x="461" y="505"/>
                </a:lnTo>
                <a:lnTo>
                  <a:pt x="478" y="525"/>
                </a:lnTo>
                <a:lnTo>
                  <a:pt x="478" y="0"/>
                </a:lnTo>
                <a:close/>
              </a:path>
            </a:pathLst>
          </a:custGeom>
          <a:solidFill>
            <a:srgbClr val="EAF5FE">
              <a:alpha val="6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Oval 5"/>
          <p:cNvSpPr/>
          <p:nvPr/>
        </p:nvSpPr>
        <p:spPr>
          <a:xfrm>
            <a:off x="10020299" y="365759"/>
            <a:ext cx="121919" cy="121919"/>
          </a:xfrm>
          <a:prstGeom prst="ellipse">
            <a:avLst/>
          </a:prstGeom>
          <a:solidFill>
            <a:srgbClr val="48A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Oval 6"/>
          <p:cNvSpPr/>
          <p:nvPr/>
        </p:nvSpPr>
        <p:spPr>
          <a:xfrm>
            <a:off x="11452859" y="2689859"/>
            <a:ext cx="106679" cy="106679"/>
          </a:xfrm>
          <a:prstGeom prst="ellipse">
            <a:avLst/>
          </a:prstGeom>
          <a:solidFill>
            <a:srgbClr val="48A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Oval 7"/>
          <p:cNvSpPr/>
          <p:nvPr/>
        </p:nvSpPr>
        <p:spPr>
          <a:xfrm>
            <a:off x="12085319" y="868679"/>
            <a:ext cx="91439" cy="91439"/>
          </a:xfrm>
          <a:prstGeom prst="ellipse">
            <a:avLst/>
          </a:prstGeom>
          <a:solidFill>
            <a:srgbClr val="48A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Oval 8"/>
          <p:cNvSpPr/>
          <p:nvPr/>
        </p:nvSpPr>
        <p:spPr>
          <a:xfrm>
            <a:off x="10553699" y="2065019"/>
            <a:ext cx="76199" cy="76199"/>
          </a:xfrm>
          <a:prstGeom prst="ellipse">
            <a:avLst/>
          </a:prstGeom>
          <a:solidFill>
            <a:srgbClr val="48A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24839" y="441959"/>
            <a:ext cx="411479" cy="53339"/>
          </a:xfrm>
          <a:prstGeom prst="roundRect">
            <a:avLst>
              <a:gd name="adj" fmla="val 50000"/>
            </a:avLst>
          </a:prstGeom>
          <a:solidFill>
            <a:srgbClr val="0E3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1066799" y="441959"/>
            <a:ext cx="380999" cy="53339"/>
          </a:xfrm>
          <a:prstGeom prst="roundRect">
            <a:avLst>
              <a:gd name="adj" fmla="val 50000"/>
            </a:avLst>
          </a:prstGeom>
          <a:solidFill>
            <a:srgbClr val="E69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文字｜同类平台调研与启示"/>
          <p:cNvSpPr txBox="1"/>
          <p:nvPr/>
        </p:nvSpPr>
        <p:spPr>
          <a:xfrm>
            <a:off x="640079" y="765886"/>
            <a:ext cx="4684013" cy="52852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06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同类平台调研与启示</a:t>
            </a:r>
            <a:endParaRPr lang="zh-CN" sz="3060" b="1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字｜典型平台的优势、局限与可借鉴设计"/>
          <p:cNvSpPr txBox="1"/>
          <p:nvPr/>
        </p:nvSpPr>
        <p:spPr>
          <a:xfrm>
            <a:off x="662939" y="1373504"/>
            <a:ext cx="4099559" cy="25907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0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典型平台的优势、局限与可借鉴设计</a:t>
            </a:r>
            <a:endParaRPr lang="zh-CN" sz="1500" b="0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47699" y="1722119"/>
            <a:ext cx="708659" cy="38099"/>
          </a:xfrm>
          <a:prstGeom prst="roundRect">
            <a:avLst>
              <a:gd name="adj" fmla="val 40000"/>
            </a:avLst>
          </a:prstGeom>
          <a:solidFill>
            <a:srgbClr val="ADD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字｜03 / 16"/>
          <p:cNvSpPr txBox="1"/>
          <p:nvPr/>
        </p:nvSpPr>
        <p:spPr>
          <a:xfrm>
            <a:off x="10815958" y="550087"/>
            <a:ext cx="713101" cy="196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4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03 / 16</a:t>
            </a:r>
            <a:endParaRPr lang="zh-CN" sz="1140" b="1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6" name="Connector 15"/>
          <p:cNvCxnSpPr/>
          <p:nvPr/>
        </p:nvCxnSpPr>
        <p:spPr>
          <a:xfrm>
            <a:off x="617219" y="6370319"/>
            <a:ext cx="10949940" cy="0"/>
          </a:xfrm>
          <a:prstGeom prst="line">
            <a:avLst/>
          </a:prstGeom>
          <a:ln w="11429">
            <a:solidFill>
              <a:srgbClr val="D2E2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字｜学术成果分享平台   /   系统分析与设计"/>
          <p:cNvSpPr txBox="1"/>
          <p:nvPr/>
        </p:nvSpPr>
        <p:spPr>
          <a:xfrm>
            <a:off x="640079" y="6463131"/>
            <a:ext cx="3121342" cy="18653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80" b="0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学术成果分享平台   /   系统分析与设计</a:t>
            </a:r>
            <a:endParaRPr lang="zh-CN" sz="1080" b="0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文字｜03"/>
          <p:cNvSpPr txBox="1"/>
          <p:nvPr/>
        </p:nvSpPr>
        <p:spPr>
          <a:xfrm>
            <a:off x="11225450" y="6448043"/>
            <a:ext cx="356949" cy="20726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lang="zh-CN" sz="1200" b="1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11315699" y="6675119"/>
            <a:ext cx="274319" cy="30479"/>
          </a:xfrm>
          <a:prstGeom prst="roundRect">
            <a:avLst>
              <a:gd name="adj" fmla="val 50000"/>
            </a:avLst>
          </a:prstGeom>
          <a:solidFill>
            <a:srgbClr val="327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24839" y="2118359"/>
            <a:ext cx="3482339" cy="3474719"/>
          </a:xfrm>
          <a:prstGeom prst="roundRect">
            <a:avLst>
              <a:gd name="adj" fmla="val 4166"/>
            </a:avLst>
          </a:prstGeom>
          <a:solidFill>
            <a:srgbClr val="FFFFFF"/>
          </a:solidFill>
          <a:ln w="7619">
            <a:solidFill>
              <a:srgbClr val="D8E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807719" y="2263139"/>
            <a:ext cx="579119" cy="579119"/>
          </a:xfrm>
          <a:prstGeom prst="ellipse">
            <a:avLst/>
          </a:prstGeom>
          <a:solidFill>
            <a:srgbClr val="E5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2" name="可移动独立图标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9769" y="2355189"/>
            <a:ext cx="395020" cy="395020"/>
          </a:xfrm>
          <a:prstGeom prst="rect">
            <a:avLst/>
          </a:prstGeom>
        </p:spPr>
      </p:pic>
      <p:sp>
        <p:nvSpPr>
          <p:cNvPr id="23" name="文字｜OpenAlex"/>
          <p:cNvSpPr txBox="1"/>
          <p:nvPr/>
        </p:nvSpPr>
        <p:spPr>
          <a:xfrm>
            <a:off x="1493519" y="2364562"/>
            <a:ext cx="1507128" cy="32125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6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OpenAlex</a:t>
            </a:r>
            <a:endParaRPr lang="zh-CN" sz="1860" b="1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字｜开放学术知识图谱"/>
          <p:cNvSpPr txBox="1"/>
          <p:nvPr/>
        </p:nvSpPr>
        <p:spPr>
          <a:xfrm>
            <a:off x="1539239" y="2796793"/>
            <a:ext cx="1722119" cy="20726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b="0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开放学术知识图谱</a:t>
            </a:r>
            <a:endParaRPr lang="zh-CN" sz="1200" b="0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25" name="Connector 24"/>
          <p:cNvCxnSpPr/>
          <p:nvPr/>
        </p:nvCxnSpPr>
        <p:spPr>
          <a:xfrm>
            <a:off x="838199" y="3124199"/>
            <a:ext cx="3032760" cy="0"/>
          </a:xfrm>
          <a:prstGeom prst="line">
            <a:avLst/>
          </a:prstGeom>
          <a:ln w="15239">
            <a:solidFill>
              <a:srgbClr val="D8E7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字｜优势"/>
          <p:cNvSpPr txBox="1"/>
          <p:nvPr/>
        </p:nvSpPr>
        <p:spPr>
          <a:xfrm>
            <a:off x="853439" y="3240176"/>
            <a:ext cx="508000" cy="3073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优势</a:t>
            </a:r>
            <a:endParaRPr lang="zh-CN" sz="2000" b="1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文字｜开放数据与 API"/>
          <p:cNvSpPr txBox="1"/>
          <p:nvPr/>
        </p:nvSpPr>
        <p:spPr>
          <a:xfrm>
            <a:off x="1539239" y="3247643"/>
            <a:ext cx="1403350" cy="24574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0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开放数据与 API</a:t>
            </a:r>
            <a:endParaRPr lang="zh-CN" sz="1600" b="0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文字｜结构化学术元数据"/>
          <p:cNvSpPr txBox="1"/>
          <p:nvPr/>
        </p:nvSpPr>
        <p:spPr>
          <a:xfrm>
            <a:off x="1539239" y="3491483"/>
            <a:ext cx="1625600" cy="24574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0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结构化学术元数据</a:t>
            </a:r>
            <a:endParaRPr lang="zh-CN" sz="1600" b="0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29" name="Connector 28"/>
          <p:cNvCxnSpPr/>
          <p:nvPr/>
        </p:nvCxnSpPr>
        <p:spPr>
          <a:xfrm>
            <a:off x="838199" y="4023359"/>
            <a:ext cx="3032760" cy="0"/>
          </a:xfrm>
          <a:prstGeom prst="line">
            <a:avLst/>
          </a:prstGeom>
          <a:ln w="15239">
            <a:solidFill>
              <a:srgbClr val="D8E7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字｜局限"/>
          <p:cNvSpPr txBox="1"/>
          <p:nvPr/>
        </p:nvSpPr>
        <p:spPr>
          <a:xfrm>
            <a:off x="853439" y="4139336"/>
            <a:ext cx="508000" cy="3073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局限</a:t>
            </a:r>
            <a:endParaRPr lang="zh-CN" sz="2000" b="1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文字｜中文覆盖与本地化不足"/>
          <p:cNvSpPr txBox="1"/>
          <p:nvPr/>
        </p:nvSpPr>
        <p:spPr>
          <a:xfrm>
            <a:off x="1539239" y="4146803"/>
            <a:ext cx="2032000" cy="24574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0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中文覆盖与本地化不足</a:t>
            </a:r>
            <a:endParaRPr lang="zh-CN" sz="1600" b="0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文字｜个人认领功能有限"/>
          <p:cNvSpPr txBox="1"/>
          <p:nvPr/>
        </p:nvSpPr>
        <p:spPr>
          <a:xfrm>
            <a:off x="1539239" y="4390643"/>
            <a:ext cx="1625600" cy="24574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0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个人认领功能有限</a:t>
            </a:r>
            <a:endParaRPr lang="zh-CN" sz="1600" b="0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33" name="Connector 32"/>
          <p:cNvCxnSpPr/>
          <p:nvPr/>
        </p:nvCxnSpPr>
        <p:spPr>
          <a:xfrm>
            <a:off x="838199" y="4907279"/>
            <a:ext cx="3032760" cy="0"/>
          </a:xfrm>
          <a:prstGeom prst="line">
            <a:avLst/>
          </a:prstGeom>
          <a:ln w="15239">
            <a:solidFill>
              <a:srgbClr val="D8E7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文字｜借鉴"/>
          <p:cNvSpPr txBox="1"/>
          <p:nvPr/>
        </p:nvSpPr>
        <p:spPr>
          <a:xfrm>
            <a:off x="853439" y="5038496"/>
            <a:ext cx="508000" cy="3073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sz="200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借鉴</a:t>
            </a:r>
            <a:endParaRPr lang="zh-CN" sz="2000" b="1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文字｜开放接口、标准化数据"/>
          <p:cNvSpPr txBox="1"/>
          <p:nvPr/>
        </p:nvSpPr>
        <p:spPr>
          <a:xfrm>
            <a:off x="1539239" y="5076291"/>
            <a:ext cx="2032000" cy="24574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0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开放接口、标准化数据</a:t>
            </a:r>
            <a:endParaRPr lang="zh-CN" sz="1600" b="0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4381499" y="2118359"/>
            <a:ext cx="3482339" cy="3474719"/>
          </a:xfrm>
          <a:prstGeom prst="roundRect">
            <a:avLst>
              <a:gd name="adj" fmla="val 4166"/>
            </a:avLst>
          </a:prstGeom>
          <a:solidFill>
            <a:srgbClr val="FFFFFF"/>
          </a:solidFill>
          <a:ln w="7619">
            <a:solidFill>
              <a:srgbClr val="D8E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Oval 36"/>
          <p:cNvSpPr/>
          <p:nvPr/>
        </p:nvSpPr>
        <p:spPr>
          <a:xfrm>
            <a:off x="4564379" y="2263139"/>
            <a:ext cx="579119" cy="579119"/>
          </a:xfrm>
          <a:prstGeom prst="ellipse">
            <a:avLst/>
          </a:prstGeom>
          <a:solidFill>
            <a:srgbClr val="E5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8" name="可移动独立图标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6429" y="2355189"/>
            <a:ext cx="395020" cy="395020"/>
          </a:xfrm>
          <a:prstGeom prst="rect">
            <a:avLst/>
          </a:prstGeom>
        </p:spPr>
      </p:pic>
      <p:sp>
        <p:nvSpPr>
          <p:cNvPr id="39" name="文字｜Google Scholar"/>
          <p:cNvSpPr txBox="1"/>
          <p:nvPr/>
        </p:nvSpPr>
        <p:spPr>
          <a:xfrm>
            <a:off x="5250179" y="2364562"/>
            <a:ext cx="2311217" cy="32125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6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Google Scholar</a:t>
            </a:r>
            <a:endParaRPr lang="zh-CN" sz="1860" b="1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文字｜学术检索与个人画像"/>
          <p:cNvSpPr txBox="1"/>
          <p:nvPr/>
        </p:nvSpPr>
        <p:spPr>
          <a:xfrm>
            <a:off x="5250179" y="2796793"/>
            <a:ext cx="1920239" cy="20726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b="0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学术检索与个人画像</a:t>
            </a:r>
            <a:endParaRPr lang="zh-CN" sz="1200" b="0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41" name="Connector 40"/>
          <p:cNvCxnSpPr/>
          <p:nvPr/>
        </p:nvCxnSpPr>
        <p:spPr>
          <a:xfrm>
            <a:off x="4594859" y="3124199"/>
            <a:ext cx="3032760" cy="0"/>
          </a:xfrm>
          <a:prstGeom prst="line">
            <a:avLst/>
          </a:prstGeom>
          <a:ln w="15239">
            <a:solidFill>
              <a:srgbClr val="D8E7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文字｜优势"/>
          <p:cNvSpPr txBox="1"/>
          <p:nvPr/>
        </p:nvSpPr>
        <p:spPr>
          <a:xfrm>
            <a:off x="4610099" y="3240176"/>
            <a:ext cx="508000" cy="3073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优势</a:t>
            </a:r>
            <a:endParaRPr lang="zh-CN" sz="1320" b="1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文字｜检索覆盖广"/>
          <p:cNvSpPr txBox="1"/>
          <p:nvPr/>
        </p:nvSpPr>
        <p:spPr>
          <a:xfrm>
            <a:off x="5295899" y="3247643"/>
            <a:ext cx="1016000" cy="24574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0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检索覆盖广</a:t>
            </a:r>
            <a:endParaRPr lang="zh-CN" sz="1600" b="0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文字｜引用网络和学者画像成熟"/>
          <p:cNvSpPr txBox="1"/>
          <p:nvPr/>
        </p:nvSpPr>
        <p:spPr>
          <a:xfrm>
            <a:off x="5295899" y="3491483"/>
            <a:ext cx="2235200" cy="24574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0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引用网络和学者画像成熟</a:t>
            </a:r>
            <a:endParaRPr lang="zh-CN" sz="1600" b="0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45" name="Connector 44"/>
          <p:cNvCxnSpPr/>
          <p:nvPr/>
        </p:nvCxnSpPr>
        <p:spPr>
          <a:xfrm>
            <a:off x="4594859" y="4023359"/>
            <a:ext cx="3032760" cy="0"/>
          </a:xfrm>
          <a:prstGeom prst="line">
            <a:avLst/>
          </a:prstGeom>
          <a:ln w="15239">
            <a:solidFill>
              <a:srgbClr val="D8E7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文字｜局限"/>
          <p:cNvSpPr txBox="1"/>
          <p:nvPr/>
        </p:nvSpPr>
        <p:spPr>
          <a:xfrm>
            <a:off x="4610099" y="4139336"/>
            <a:ext cx="508000" cy="3073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局限</a:t>
            </a:r>
            <a:endParaRPr lang="zh-CN" sz="1320" b="1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文字｜数据透明度有限"/>
          <p:cNvSpPr txBox="1"/>
          <p:nvPr/>
        </p:nvSpPr>
        <p:spPr>
          <a:xfrm>
            <a:off x="5295899" y="4146803"/>
            <a:ext cx="1422400" cy="24574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0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数据透明度有限</a:t>
            </a:r>
            <a:endParaRPr lang="zh-CN" sz="1600" b="0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" name="文字｜公开纠错机制有限"/>
          <p:cNvSpPr txBox="1"/>
          <p:nvPr/>
        </p:nvSpPr>
        <p:spPr>
          <a:xfrm>
            <a:off x="5295899" y="4390643"/>
            <a:ext cx="1625600" cy="24574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0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公开纠错机制有限</a:t>
            </a:r>
            <a:endParaRPr lang="zh-CN" sz="1600" b="0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49" name="Connector 48"/>
          <p:cNvCxnSpPr/>
          <p:nvPr/>
        </p:nvCxnSpPr>
        <p:spPr>
          <a:xfrm>
            <a:off x="4594859" y="4907279"/>
            <a:ext cx="3032760" cy="0"/>
          </a:xfrm>
          <a:prstGeom prst="line">
            <a:avLst/>
          </a:prstGeom>
          <a:ln w="15239">
            <a:solidFill>
              <a:srgbClr val="D8E7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文字｜借鉴"/>
          <p:cNvSpPr txBox="1"/>
          <p:nvPr/>
        </p:nvSpPr>
        <p:spPr>
          <a:xfrm>
            <a:off x="4610099" y="5038496"/>
            <a:ext cx="508000" cy="3073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借鉴</a:t>
            </a:r>
            <a:endParaRPr lang="zh-CN" sz="1320" b="1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" name="文字｜学者门户、引文发现"/>
          <p:cNvSpPr txBox="1"/>
          <p:nvPr/>
        </p:nvSpPr>
        <p:spPr>
          <a:xfrm>
            <a:off x="5295899" y="5076291"/>
            <a:ext cx="1651000" cy="24574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sz="1400" b="0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学者门户、</a:t>
            </a:r>
            <a:r>
              <a:rPr lang="zh-CN" sz="1600" b="0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引文</a:t>
            </a:r>
            <a:r>
              <a:rPr lang="zh-CN" sz="1400" b="0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发现</a:t>
            </a:r>
            <a:endParaRPr lang="zh-CN" sz="1400" b="0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" name="Rounded Rectangle 51"/>
          <p:cNvSpPr/>
          <p:nvPr/>
        </p:nvSpPr>
        <p:spPr>
          <a:xfrm>
            <a:off x="8138159" y="2118359"/>
            <a:ext cx="3482339" cy="3474719"/>
          </a:xfrm>
          <a:prstGeom prst="roundRect">
            <a:avLst>
              <a:gd name="adj" fmla="val 4166"/>
            </a:avLst>
          </a:prstGeom>
          <a:solidFill>
            <a:srgbClr val="FFFFFF"/>
          </a:solidFill>
          <a:ln w="7619">
            <a:solidFill>
              <a:srgbClr val="D8E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" name="Oval 52"/>
          <p:cNvSpPr/>
          <p:nvPr/>
        </p:nvSpPr>
        <p:spPr>
          <a:xfrm>
            <a:off x="8321039" y="2263139"/>
            <a:ext cx="579119" cy="579119"/>
          </a:xfrm>
          <a:prstGeom prst="ellipse">
            <a:avLst/>
          </a:prstGeom>
          <a:solidFill>
            <a:srgbClr val="FFF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54" name="可移动独立图标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3089" y="2355189"/>
            <a:ext cx="395020" cy="395020"/>
          </a:xfrm>
          <a:prstGeom prst="rect">
            <a:avLst/>
          </a:prstGeom>
        </p:spPr>
      </p:pic>
      <p:sp>
        <p:nvSpPr>
          <p:cNvPr id="55" name="文字｜中国知网"/>
          <p:cNvSpPr txBox="1"/>
          <p:nvPr/>
        </p:nvSpPr>
        <p:spPr>
          <a:xfrm>
            <a:off x="9006839" y="2364562"/>
            <a:ext cx="1365503" cy="32125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6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中国知网</a:t>
            </a:r>
            <a:endParaRPr lang="zh-CN" sz="1860" b="1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" name="文字｜中文学术资源平台"/>
          <p:cNvSpPr txBox="1"/>
          <p:nvPr/>
        </p:nvSpPr>
        <p:spPr>
          <a:xfrm>
            <a:off x="8939529" y="2805683"/>
            <a:ext cx="1722119" cy="20726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b="0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中文学术资源平台</a:t>
            </a:r>
            <a:endParaRPr lang="zh-CN" sz="1200" b="0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57" name="Connector 56"/>
          <p:cNvCxnSpPr/>
          <p:nvPr/>
        </p:nvCxnSpPr>
        <p:spPr>
          <a:xfrm>
            <a:off x="8351519" y="3124199"/>
            <a:ext cx="3032760" cy="0"/>
          </a:xfrm>
          <a:prstGeom prst="line">
            <a:avLst/>
          </a:prstGeom>
          <a:ln w="15239">
            <a:solidFill>
              <a:srgbClr val="D8E7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文字｜优势"/>
          <p:cNvSpPr txBox="1"/>
          <p:nvPr/>
        </p:nvSpPr>
        <p:spPr>
          <a:xfrm>
            <a:off x="8366759" y="3240176"/>
            <a:ext cx="508000" cy="3073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优势</a:t>
            </a:r>
            <a:endParaRPr lang="zh-CN" sz="1320" b="1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9" name="文字｜中文资源丰富"/>
          <p:cNvSpPr txBox="1"/>
          <p:nvPr/>
        </p:nvSpPr>
        <p:spPr>
          <a:xfrm>
            <a:off x="9052559" y="3247643"/>
            <a:ext cx="1219200" cy="24574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0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中文资源丰富</a:t>
            </a:r>
            <a:endParaRPr lang="zh-CN" sz="1600" b="0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0" name="文字｜期刊资源和分类较细"/>
          <p:cNvSpPr txBox="1"/>
          <p:nvPr/>
        </p:nvSpPr>
        <p:spPr>
          <a:xfrm>
            <a:off x="9052559" y="3491483"/>
            <a:ext cx="1828800" cy="24574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0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期刊资源和分类较细</a:t>
            </a:r>
            <a:endParaRPr lang="zh-CN" sz="1600" b="0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61" name="Connector 60"/>
          <p:cNvCxnSpPr/>
          <p:nvPr/>
        </p:nvCxnSpPr>
        <p:spPr>
          <a:xfrm>
            <a:off x="8351519" y="4023359"/>
            <a:ext cx="3032760" cy="0"/>
          </a:xfrm>
          <a:prstGeom prst="line">
            <a:avLst/>
          </a:prstGeom>
          <a:ln w="15239">
            <a:solidFill>
              <a:srgbClr val="D8E7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文字｜局限"/>
          <p:cNvSpPr txBox="1"/>
          <p:nvPr/>
        </p:nvSpPr>
        <p:spPr>
          <a:xfrm>
            <a:off x="8366759" y="4139336"/>
            <a:ext cx="508000" cy="3073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局限</a:t>
            </a:r>
            <a:endParaRPr lang="zh-CN" sz="1320" b="1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3" name="文字｜开放访问有限"/>
          <p:cNvSpPr txBox="1"/>
          <p:nvPr/>
        </p:nvSpPr>
        <p:spPr>
          <a:xfrm>
            <a:off x="9052559" y="4146803"/>
            <a:ext cx="1219200" cy="24574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0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开放访问有限</a:t>
            </a:r>
            <a:endParaRPr lang="zh-CN" sz="1600" b="0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4" name="文字｜跨源融合与认领约束"/>
          <p:cNvSpPr txBox="1"/>
          <p:nvPr/>
        </p:nvSpPr>
        <p:spPr>
          <a:xfrm>
            <a:off x="9052559" y="4390643"/>
            <a:ext cx="1828800" cy="24574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0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跨源融合与认领约束</a:t>
            </a:r>
            <a:endParaRPr lang="zh-CN" sz="1600" b="0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65" name="Connector 64"/>
          <p:cNvCxnSpPr/>
          <p:nvPr/>
        </p:nvCxnSpPr>
        <p:spPr>
          <a:xfrm>
            <a:off x="8351519" y="4907279"/>
            <a:ext cx="3032760" cy="0"/>
          </a:xfrm>
          <a:prstGeom prst="line">
            <a:avLst/>
          </a:prstGeom>
          <a:ln w="15239">
            <a:solidFill>
              <a:srgbClr val="D8E7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文字｜借鉴"/>
          <p:cNvSpPr txBox="1"/>
          <p:nvPr/>
        </p:nvSpPr>
        <p:spPr>
          <a:xfrm>
            <a:off x="8366759" y="5038496"/>
            <a:ext cx="508000" cy="3073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借鉴</a:t>
            </a:r>
            <a:endParaRPr lang="zh-CN" sz="1320" b="1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7" name="文字｜本土资源与学科分类"/>
          <p:cNvSpPr txBox="1"/>
          <p:nvPr/>
        </p:nvSpPr>
        <p:spPr>
          <a:xfrm>
            <a:off x="9052559" y="5076291"/>
            <a:ext cx="1828800" cy="24574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sz="1600" b="0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本土资源与学科分类</a:t>
            </a:r>
            <a:endParaRPr lang="zh-CN" sz="1600" b="0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8" name="Rounded Rectangle 67"/>
          <p:cNvSpPr/>
          <p:nvPr/>
        </p:nvSpPr>
        <p:spPr>
          <a:xfrm>
            <a:off x="624839" y="5775959"/>
            <a:ext cx="10934699" cy="441959"/>
          </a:xfrm>
          <a:prstGeom prst="roundRect">
            <a:avLst>
              <a:gd name="adj" fmla="val 25862"/>
            </a:avLst>
          </a:prstGeom>
          <a:solidFill>
            <a:srgbClr val="E8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9" name="文字｜调研结论"/>
          <p:cNvSpPr txBox="1"/>
          <p:nvPr/>
        </p:nvSpPr>
        <p:spPr>
          <a:xfrm>
            <a:off x="830579" y="5892088"/>
            <a:ext cx="1088135" cy="2487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4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调研结论</a:t>
            </a:r>
            <a:endParaRPr lang="zh-CN" sz="1440" b="1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0" name="文字｜检索要强     ·     数据治理要透明     ·     成果认领需"/>
          <p:cNvSpPr txBox="1"/>
          <p:nvPr/>
        </p:nvSpPr>
        <p:spPr>
          <a:xfrm>
            <a:off x="2567939" y="5907176"/>
            <a:ext cx="6587204" cy="2279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20" b="0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检索要强     ·     数据治理要透明     ·     成果认领需形成完整审核闭环</a:t>
            </a:r>
            <a:endParaRPr lang="zh-CN" sz="1320" b="0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7999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80000">
                <a:srgbClr val="F7FAFE"/>
              </a:gs>
              <a:gs pos="100000">
                <a:srgbClr val="ECF5FE"/>
              </a:gs>
            </a:gsLst>
            <a:lin ang="315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Freeform 2"/>
          <p:cNvSpPr/>
          <p:nvPr/>
        </p:nvSpPr>
        <p:spPr>
          <a:xfrm>
            <a:off x="8549640" y="0"/>
            <a:ext cx="3642360" cy="4000500"/>
          </a:xfrm>
          <a:custGeom>
            <a:avLst/>
            <a:gdLst/>
            <a:ahLst/>
            <a:cxnLst/>
            <a:rect l="l" t="t" r="r" b="b"/>
            <a:pathLst>
              <a:path w="478" h="525">
                <a:moveTo>
                  <a:pt x="478" y="0"/>
                </a:moveTo>
                <a:lnTo>
                  <a:pt x="58" y="0"/>
                </a:lnTo>
                <a:lnTo>
                  <a:pt x="41" y="24"/>
                </a:lnTo>
                <a:lnTo>
                  <a:pt x="27" y="49"/>
                </a:lnTo>
                <a:lnTo>
                  <a:pt x="16" y="73"/>
                </a:lnTo>
                <a:lnTo>
                  <a:pt x="8" y="97"/>
                </a:lnTo>
                <a:lnTo>
                  <a:pt x="3" y="121"/>
                </a:lnTo>
                <a:lnTo>
                  <a:pt x="0" y="144"/>
                </a:lnTo>
                <a:lnTo>
                  <a:pt x="0" y="167"/>
                </a:lnTo>
                <a:lnTo>
                  <a:pt x="3" y="190"/>
                </a:lnTo>
                <a:lnTo>
                  <a:pt x="8" y="212"/>
                </a:lnTo>
                <a:lnTo>
                  <a:pt x="15" y="234"/>
                </a:lnTo>
                <a:lnTo>
                  <a:pt x="24" y="255"/>
                </a:lnTo>
                <a:lnTo>
                  <a:pt x="36" y="276"/>
                </a:lnTo>
                <a:lnTo>
                  <a:pt x="49" y="295"/>
                </a:lnTo>
                <a:lnTo>
                  <a:pt x="63" y="314"/>
                </a:lnTo>
                <a:lnTo>
                  <a:pt x="80" y="333"/>
                </a:lnTo>
                <a:lnTo>
                  <a:pt x="98" y="350"/>
                </a:lnTo>
                <a:lnTo>
                  <a:pt x="128" y="371"/>
                </a:lnTo>
                <a:lnTo>
                  <a:pt x="157" y="388"/>
                </a:lnTo>
                <a:lnTo>
                  <a:pt x="185" y="402"/>
                </a:lnTo>
                <a:lnTo>
                  <a:pt x="212" y="413"/>
                </a:lnTo>
                <a:lnTo>
                  <a:pt x="239" y="422"/>
                </a:lnTo>
                <a:lnTo>
                  <a:pt x="265" y="429"/>
                </a:lnTo>
                <a:lnTo>
                  <a:pt x="290" y="434"/>
                </a:lnTo>
                <a:lnTo>
                  <a:pt x="314" y="439"/>
                </a:lnTo>
                <a:lnTo>
                  <a:pt x="338" y="444"/>
                </a:lnTo>
                <a:lnTo>
                  <a:pt x="360" y="450"/>
                </a:lnTo>
                <a:lnTo>
                  <a:pt x="382" y="456"/>
                </a:lnTo>
                <a:lnTo>
                  <a:pt x="403" y="465"/>
                </a:lnTo>
                <a:lnTo>
                  <a:pt x="423" y="475"/>
                </a:lnTo>
                <a:lnTo>
                  <a:pt x="442" y="488"/>
                </a:lnTo>
                <a:lnTo>
                  <a:pt x="461" y="505"/>
                </a:lnTo>
                <a:lnTo>
                  <a:pt x="478" y="525"/>
                </a:lnTo>
                <a:lnTo>
                  <a:pt x="478" y="0"/>
                </a:lnTo>
                <a:close/>
              </a:path>
            </a:pathLst>
          </a:custGeom>
          <a:solidFill>
            <a:srgbClr val="EAF5FE">
              <a:alpha val="6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Oval 5"/>
          <p:cNvSpPr/>
          <p:nvPr/>
        </p:nvSpPr>
        <p:spPr>
          <a:xfrm>
            <a:off x="10020299" y="365759"/>
            <a:ext cx="121919" cy="121919"/>
          </a:xfrm>
          <a:prstGeom prst="ellipse">
            <a:avLst/>
          </a:prstGeom>
          <a:solidFill>
            <a:srgbClr val="48A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Oval 6"/>
          <p:cNvSpPr/>
          <p:nvPr/>
        </p:nvSpPr>
        <p:spPr>
          <a:xfrm>
            <a:off x="11452859" y="2689859"/>
            <a:ext cx="106679" cy="106679"/>
          </a:xfrm>
          <a:prstGeom prst="ellipse">
            <a:avLst/>
          </a:prstGeom>
          <a:solidFill>
            <a:srgbClr val="48A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Oval 7"/>
          <p:cNvSpPr/>
          <p:nvPr/>
        </p:nvSpPr>
        <p:spPr>
          <a:xfrm>
            <a:off x="12085319" y="868679"/>
            <a:ext cx="91439" cy="91439"/>
          </a:xfrm>
          <a:prstGeom prst="ellipse">
            <a:avLst/>
          </a:prstGeom>
          <a:solidFill>
            <a:srgbClr val="48A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Oval 8"/>
          <p:cNvSpPr/>
          <p:nvPr/>
        </p:nvSpPr>
        <p:spPr>
          <a:xfrm>
            <a:off x="10553699" y="2065019"/>
            <a:ext cx="76199" cy="76199"/>
          </a:xfrm>
          <a:prstGeom prst="ellipse">
            <a:avLst/>
          </a:prstGeom>
          <a:solidFill>
            <a:srgbClr val="48A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24839" y="441959"/>
            <a:ext cx="411479" cy="53339"/>
          </a:xfrm>
          <a:prstGeom prst="roundRect">
            <a:avLst>
              <a:gd name="adj" fmla="val 50000"/>
            </a:avLst>
          </a:prstGeom>
          <a:solidFill>
            <a:srgbClr val="0E3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1066799" y="441959"/>
            <a:ext cx="380999" cy="53339"/>
          </a:xfrm>
          <a:prstGeom prst="roundRect">
            <a:avLst>
              <a:gd name="adj" fmla="val 50000"/>
            </a:avLst>
          </a:prstGeom>
          <a:solidFill>
            <a:srgbClr val="E69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文字｜学术成果数据来源调研"/>
          <p:cNvSpPr txBox="1"/>
          <p:nvPr/>
        </p:nvSpPr>
        <p:spPr>
          <a:xfrm>
            <a:off x="640079" y="765886"/>
            <a:ext cx="5189219" cy="52852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06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学术成果数据来源调研</a:t>
            </a:r>
            <a:endParaRPr lang="zh-CN" sz="3060" b="1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字｜多源公开数据：明确范围、字段、可用方式与合规边界"/>
          <p:cNvSpPr txBox="1"/>
          <p:nvPr/>
        </p:nvSpPr>
        <p:spPr>
          <a:xfrm>
            <a:off x="662939" y="1373504"/>
            <a:ext cx="6080759" cy="25907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0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多源公开数据：明确范围、字段、可用方式与合规边界</a:t>
            </a:r>
            <a:endParaRPr lang="zh-CN" sz="1500" b="0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47699" y="1722119"/>
            <a:ext cx="708659" cy="38099"/>
          </a:xfrm>
          <a:prstGeom prst="roundRect">
            <a:avLst>
              <a:gd name="adj" fmla="val 40000"/>
            </a:avLst>
          </a:prstGeom>
          <a:solidFill>
            <a:srgbClr val="ADD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字｜06 / 16"/>
          <p:cNvSpPr txBox="1"/>
          <p:nvPr/>
        </p:nvSpPr>
        <p:spPr>
          <a:xfrm>
            <a:off x="10815958" y="550087"/>
            <a:ext cx="713101" cy="196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4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06 / 16</a:t>
            </a:r>
            <a:endParaRPr lang="zh-CN" sz="1140" b="1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6" name="Connector 15"/>
          <p:cNvCxnSpPr/>
          <p:nvPr/>
        </p:nvCxnSpPr>
        <p:spPr>
          <a:xfrm>
            <a:off x="617219" y="6370319"/>
            <a:ext cx="10949940" cy="0"/>
          </a:xfrm>
          <a:prstGeom prst="line">
            <a:avLst/>
          </a:prstGeom>
          <a:ln w="11429">
            <a:solidFill>
              <a:srgbClr val="D2E2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字｜学术成果分享平台   /   系统分析与设计"/>
          <p:cNvSpPr txBox="1"/>
          <p:nvPr/>
        </p:nvSpPr>
        <p:spPr>
          <a:xfrm>
            <a:off x="640079" y="6463131"/>
            <a:ext cx="3121342" cy="18653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80" b="0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学术成果分享平台   /   系统分析与设计</a:t>
            </a:r>
            <a:endParaRPr lang="zh-CN" sz="1080" b="0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文字｜06"/>
          <p:cNvSpPr txBox="1"/>
          <p:nvPr/>
        </p:nvSpPr>
        <p:spPr>
          <a:xfrm>
            <a:off x="11225450" y="6448043"/>
            <a:ext cx="356949" cy="20726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06</a:t>
            </a:r>
            <a:endParaRPr lang="zh-CN" sz="1200" b="1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11315699" y="6675119"/>
            <a:ext cx="274319" cy="30479"/>
          </a:xfrm>
          <a:prstGeom prst="roundRect">
            <a:avLst>
              <a:gd name="adj" fmla="val 50000"/>
            </a:avLst>
          </a:prstGeom>
          <a:solidFill>
            <a:srgbClr val="327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24839" y="2194559"/>
            <a:ext cx="2697479" cy="3208019"/>
          </a:xfrm>
          <a:prstGeom prst="roundRect">
            <a:avLst>
              <a:gd name="adj" fmla="val 5367"/>
            </a:avLst>
          </a:prstGeom>
          <a:solidFill>
            <a:srgbClr val="FFFFFF"/>
          </a:solidFill>
          <a:ln w="7619">
            <a:solidFill>
              <a:srgbClr val="D8E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784859" y="2369819"/>
            <a:ext cx="670559" cy="670559"/>
          </a:xfrm>
          <a:prstGeom prst="ellipse">
            <a:avLst/>
          </a:prstGeom>
          <a:solidFill>
            <a:srgbClr val="E5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2" name="可移动独立图标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2629" y="2507589"/>
            <a:ext cx="395020" cy="395020"/>
          </a:xfrm>
          <a:prstGeom prst="rect">
            <a:avLst/>
          </a:prstGeom>
        </p:spPr>
      </p:pic>
      <p:sp>
        <p:nvSpPr>
          <p:cNvPr id="23" name="文字｜论文"/>
          <p:cNvSpPr txBox="1"/>
          <p:nvPr/>
        </p:nvSpPr>
        <p:spPr>
          <a:xfrm>
            <a:off x="1539239" y="2539745"/>
            <a:ext cx="731519" cy="32918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论文</a:t>
            </a:r>
            <a:endParaRPr lang="zh-CN" sz="2000" b="1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字｜来源渠道"/>
          <p:cNvSpPr txBox="1"/>
          <p:nvPr/>
        </p:nvSpPr>
        <p:spPr>
          <a:xfrm>
            <a:off x="830579" y="3131820"/>
            <a:ext cx="929639" cy="28346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10" b="1" noProof="0" dirty="0">
                <a:solidFill>
                  <a:srgbClr val="172131"/>
                </a:solidFill>
                <a:latin typeface="微软雅黑" panose="020B0503020204020204" charset="-122"/>
                <a:ea typeface="微软雅黑" panose="020B0503020204020204" charset="-122"/>
              </a:rPr>
              <a:t>来源渠道</a:t>
            </a:r>
            <a:endParaRPr lang="zh-CN" sz="1310" b="1" noProof="0" dirty="0">
              <a:solidFill>
                <a:srgbClr val="17213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文字｜Crossref / OpenAlex / DBLP"/>
          <p:cNvSpPr txBox="1"/>
          <p:nvPr/>
        </p:nvSpPr>
        <p:spPr>
          <a:xfrm>
            <a:off x="830579" y="3429000"/>
            <a:ext cx="2432304" cy="28346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30" b="1" noProof="0" dirty="0">
                <a:solidFill>
                  <a:srgbClr val="1B395E"/>
                </a:solidFill>
                <a:latin typeface="微软雅黑" panose="020B0503020204020204" charset="-122"/>
                <a:ea typeface="微软雅黑" panose="020B0503020204020204" charset="-122"/>
              </a:rPr>
              <a:t>Crossref / OpenAlex / DBLP</a:t>
            </a:r>
            <a:endParaRPr lang="zh-CN" sz="1330" b="1" noProof="0" dirty="0">
              <a:solidFill>
                <a:srgbClr val="1B395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26" name="Connector 25"/>
          <p:cNvCxnSpPr/>
          <p:nvPr/>
        </p:nvCxnSpPr>
        <p:spPr>
          <a:xfrm>
            <a:off x="830579" y="3787139"/>
            <a:ext cx="2278380" cy="0"/>
          </a:xfrm>
          <a:prstGeom prst="line">
            <a:avLst/>
          </a:prstGeom>
          <a:ln w="15239">
            <a:solidFill>
              <a:srgbClr val="D8E7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字｜主要字段"/>
          <p:cNvSpPr txBox="1"/>
          <p:nvPr/>
        </p:nvSpPr>
        <p:spPr>
          <a:xfrm>
            <a:off x="830579" y="3918204"/>
            <a:ext cx="929639" cy="28346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10" b="1" noProof="0" dirty="0">
                <a:solidFill>
                  <a:srgbClr val="172131"/>
                </a:solidFill>
                <a:latin typeface="微软雅黑" panose="020B0503020204020204" charset="-122"/>
                <a:ea typeface="微软雅黑" panose="020B0503020204020204" charset="-122"/>
              </a:rPr>
              <a:t>主要字段</a:t>
            </a:r>
            <a:endParaRPr lang="zh-CN" sz="1310" b="1" noProof="0" dirty="0">
              <a:solidFill>
                <a:srgbClr val="17213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文字｜DOI、标题、作者、期刊、"/>
          <p:cNvSpPr txBox="1"/>
          <p:nvPr/>
        </p:nvSpPr>
        <p:spPr>
          <a:xfrm>
            <a:off x="830579" y="4206240"/>
            <a:ext cx="2450592" cy="29260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00" b="1" noProof="0" dirty="0">
                <a:solidFill>
                  <a:srgbClr val="1721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DOI、标题、作者、期刊、</a:t>
            </a:r>
            <a:endParaRPr lang="zh-CN" sz="1400" b="1" noProof="0" dirty="0">
              <a:solidFill>
                <a:srgbClr val="1721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文字｜发表时间"/>
          <p:cNvSpPr txBox="1"/>
          <p:nvPr/>
        </p:nvSpPr>
        <p:spPr>
          <a:xfrm>
            <a:off x="830579" y="4466844"/>
            <a:ext cx="2450592" cy="29260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00" b="1" noProof="0" dirty="0">
                <a:solidFill>
                  <a:srgbClr val="172131"/>
                </a:solidFill>
                <a:latin typeface="微软雅黑" panose="020B0503020204020204" charset="-122"/>
                <a:ea typeface="微软雅黑" panose="020B0503020204020204" charset="-122"/>
              </a:rPr>
              <a:t>发表时间</a:t>
            </a:r>
            <a:endParaRPr lang="zh-CN" sz="1400" b="1" noProof="0" dirty="0">
              <a:solidFill>
                <a:srgbClr val="17213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30" name="Connector 29"/>
          <p:cNvCxnSpPr/>
          <p:nvPr/>
        </p:nvCxnSpPr>
        <p:spPr>
          <a:xfrm>
            <a:off x="830579" y="4892039"/>
            <a:ext cx="2278380" cy="0"/>
          </a:xfrm>
          <a:prstGeom prst="line">
            <a:avLst/>
          </a:prstGeom>
          <a:ln w="15239">
            <a:solidFill>
              <a:srgbClr val="D8E7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字｜优先采用开放 API 或授权数据"/>
          <p:cNvSpPr txBox="1"/>
          <p:nvPr/>
        </p:nvSpPr>
        <p:spPr>
          <a:xfrm>
            <a:off x="830579" y="5020056"/>
            <a:ext cx="2286000" cy="31089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65" b="0" noProof="0" dirty="0">
                <a:solidFill>
                  <a:srgbClr val="1721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优先采用开放 API 或授权数据</a:t>
            </a:r>
            <a:endParaRPr lang="zh-CN" sz="1265" b="0" noProof="0" dirty="0">
              <a:solidFill>
                <a:srgbClr val="1721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3520439" y="2194559"/>
            <a:ext cx="2697479" cy="3208019"/>
          </a:xfrm>
          <a:prstGeom prst="roundRect">
            <a:avLst>
              <a:gd name="adj" fmla="val 5367"/>
            </a:avLst>
          </a:prstGeom>
          <a:solidFill>
            <a:srgbClr val="FFFFFF"/>
          </a:solidFill>
          <a:ln w="7619">
            <a:solidFill>
              <a:srgbClr val="D8E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Oval 32"/>
          <p:cNvSpPr/>
          <p:nvPr/>
        </p:nvSpPr>
        <p:spPr>
          <a:xfrm>
            <a:off x="3680459" y="2369819"/>
            <a:ext cx="670559" cy="670559"/>
          </a:xfrm>
          <a:prstGeom prst="ellipse">
            <a:avLst/>
          </a:prstGeom>
          <a:solidFill>
            <a:srgbClr val="FFF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4" name="可移动独立图标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8229" y="2507589"/>
            <a:ext cx="395020" cy="395020"/>
          </a:xfrm>
          <a:prstGeom prst="rect">
            <a:avLst/>
          </a:prstGeom>
        </p:spPr>
      </p:pic>
      <p:sp>
        <p:nvSpPr>
          <p:cNvPr id="35" name="文字｜专利"/>
          <p:cNvSpPr txBox="1"/>
          <p:nvPr/>
        </p:nvSpPr>
        <p:spPr>
          <a:xfrm>
            <a:off x="4434839" y="2539745"/>
            <a:ext cx="731519" cy="32918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专利</a:t>
            </a:r>
            <a:endParaRPr lang="zh-CN" sz="2000" b="1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文字｜来源渠道"/>
          <p:cNvSpPr txBox="1"/>
          <p:nvPr/>
        </p:nvSpPr>
        <p:spPr>
          <a:xfrm>
            <a:off x="3726179" y="3131820"/>
            <a:ext cx="929639" cy="28346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10" b="1" noProof="0" dirty="0">
                <a:solidFill>
                  <a:srgbClr val="172131"/>
                </a:solidFill>
                <a:latin typeface="微软雅黑" panose="020B0503020204020204" charset="-122"/>
                <a:ea typeface="微软雅黑" panose="020B0503020204020204" charset="-122"/>
              </a:rPr>
              <a:t>来源渠道</a:t>
            </a:r>
            <a:endParaRPr lang="zh-CN" sz="1310" b="1" noProof="0" dirty="0">
              <a:solidFill>
                <a:srgbClr val="17213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文字｜国家或地区专利公开信息"/>
          <p:cNvSpPr txBox="1"/>
          <p:nvPr/>
        </p:nvSpPr>
        <p:spPr>
          <a:xfrm>
            <a:off x="3726179" y="3429000"/>
            <a:ext cx="2377440" cy="28346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70" b="1" noProof="0" dirty="0">
                <a:solidFill>
                  <a:srgbClr val="1B395E"/>
                </a:solidFill>
                <a:latin typeface="微软雅黑" panose="020B0503020204020204" charset="-122"/>
                <a:ea typeface="微软雅黑" panose="020B0503020204020204" charset="-122"/>
              </a:rPr>
              <a:t>国家或地区专利公开信息</a:t>
            </a:r>
            <a:endParaRPr lang="zh-CN" sz="1370" b="1" noProof="0" dirty="0">
              <a:solidFill>
                <a:srgbClr val="1B395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38" name="Connector 37"/>
          <p:cNvCxnSpPr/>
          <p:nvPr/>
        </p:nvCxnSpPr>
        <p:spPr>
          <a:xfrm>
            <a:off x="3726179" y="3787139"/>
            <a:ext cx="2278380" cy="0"/>
          </a:xfrm>
          <a:prstGeom prst="line">
            <a:avLst/>
          </a:prstGeom>
          <a:ln w="15239">
            <a:solidFill>
              <a:srgbClr val="D8E7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字｜主要字段"/>
          <p:cNvSpPr txBox="1"/>
          <p:nvPr/>
        </p:nvSpPr>
        <p:spPr>
          <a:xfrm>
            <a:off x="3726179" y="3918204"/>
            <a:ext cx="929639" cy="28346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10" b="1" noProof="0" dirty="0">
                <a:solidFill>
                  <a:srgbClr val="172131"/>
                </a:solidFill>
                <a:latin typeface="微软雅黑" panose="020B0503020204020204" charset="-122"/>
                <a:ea typeface="微软雅黑" panose="020B0503020204020204" charset="-122"/>
              </a:rPr>
              <a:t>主要字段</a:t>
            </a:r>
            <a:endParaRPr lang="zh-CN" sz="1310" b="1" noProof="0" dirty="0">
              <a:solidFill>
                <a:srgbClr val="17213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文字｜申请号、公开号、名称、"/>
          <p:cNvSpPr txBox="1"/>
          <p:nvPr/>
        </p:nvSpPr>
        <p:spPr>
          <a:xfrm>
            <a:off x="3726179" y="4206240"/>
            <a:ext cx="2450592" cy="29260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00" b="1" noProof="0" dirty="0">
                <a:solidFill>
                  <a:srgbClr val="172131"/>
                </a:solidFill>
                <a:latin typeface="微软雅黑" panose="020B0503020204020204" charset="-122"/>
                <a:ea typeface="微软雅黑" panose="020B0503020204020204" charset="-122"/>
              </a:rPr>
              <a:t>申请号、公开号、名称、</a:t>
            </a:r>
            <a:endParaRPr lang="zh-CN" sz="1400" b="1" noProof="0" dirty="0">
              <a:solidFill>
                <a:srgbClr val="17213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文字｜发明人"/>
          <p:cNvSpPr txBox="1"/>
          <p:nvPr/>
        </p:nvSpPr>
        <p:spPr>
          <a:xfrm>
            <a:off x="3726179" y="4466844"/>
            <a:ext cx="2450592" cy="29260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00" b="1" noProof="0" dirty="0">
                <a:solidFill>
                  <a:srgbClr val="172131"/>
                </a:solidFill>
                <a:latin typeface="微软雅黑" panose="020B0503020204020204" charset="-122"/>
                <a:ea typeface="微软雅黑" panose="020B0503020204020204" charset="-122"/>
              </a:rPr>
              <a:t>发明人</a:t>
            </a:r>
            <a:endParaRPr lang="zh-CN" sz="1400" b="1" noProof="0" dirty="0">
              <a:solidFill>
                <a:srgbClr val="17213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42" name="Connector 41"/>
          <p:cNvCxnSpPr/>
          <p:nvPr/>
        </p:nvCxnSpPr>
        <p:spPr>
          <a:xfrm>
            <a:off x="3726179" y="4892039"/>
            <a:ext cx="2278380" cy="0"/>
          </a:xfrm>
          <a:prstGeom prst="line">
            <a:avLst/>
          </a:prstGeom>
          <a:ln w="15239">
            <a:solidFill>
              <a:srgbClr val="D8E7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文字｜区分申请、公开与授权编号"/>
          <p:cNvSpPr txBox="1"/>
          <p:nvPr/>
        </p:nvSpPr>
        <p:spPr>
          <a:xfrm>
            <a:off x="3726179" y="5020056"/>
            <a:ext cx="2286000" cy="31089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65" b="0" noProof="0" dirty="0">
                <a:solidFill>
                  <a:srgbClr val="172131"/>
                </a:solidFill>
                <a:latin typeface="微软雅黑" panose="020B0503020204020204" charset="-122"/>
                <a:ea typeface="微软雅黑" panose="020B0503020204020204" charset="-122"/>
              </a:rPr>
              <a:t>区分申请、公开与授权编号</a:t>
            </a:r>
            <a:endParaRPr lang="zh-CN" sz="1265" b="0" noProof="0" dirty="0">
              <a:solidFill>
                <a:srgbClr val="17213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6416039" y="2194559"/>
            <a:ext cx="2697479" cy="3208019"/>
          </a:xfrm>
          <a:prstGeom prst="roundRect">
            <a:avLst>
              <a:gd name="adj" fmla="val 5367"/>
            </a:avLst>
          </a:prstGeom>
          <a:solidFill>
            <a:srgbClr val="FFFFFF"/>
          </a:solidFill>
          <a:ln w="7619">
            <a:solidFill>
              <a:srgbClr val="D8E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Oval 44"/>
          <p:cNvSpPr/>
          <p:nvPr/>
        </p:nvSpPr>
        <p:spPr>
          <a:xfrm>
            <a:off x="6576059" y="2369819"/>
            <a:ext cx="670559" cy="670559"/>
          </a:xfrm>
          <a:prstGeom prst="ellipse">
            <a:avLst/>
          </a:prstGeom>
          <a:solidFill>
            <a:srgbClr val="E5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6" name="可移动独立图标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3829" y="2507589"/>
            <a:ext cx="395020" cy="395020"/>
          </a:xfrm>
          <a:prstGeom prst="rect">
            <a:avLst/>
          </a:prstGeom>
        </p:spPr>
      </p:pic>
      <p:sp>
        <p:nvSpPr>
          <p:cNvPr id="47" name="文字｜科研项目"/>
          <p:cNvSpPr txBox="1"/>
          <p:nvPr/>
        </p:nvSpPr>
        <p:spPr>
          <a:xfrm>
            <a:off x="7330439" y="2539745"/>
            <a:ext cx="1325879" cy="32918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科研项目</a:t>
            </a:r>
            <a:endParaRPr lang="zh-CN" sz="2000" b="1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" name="文字｜来源渠道"/>
          <p:cNvSpPr txBox="1"/>
          <p:nvPr/>
        </p:nvSpPr>
        <p:spPr>
          <a:xfrm>
            <a:off x="6621779" y="3131820"/>
            <a:ext cx="929639" cy="28346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10" b="1" noProof="0" dirty="0">
                <a:solidFill>
                  <a:srgbClr val="172131"/>
                </a:solidFill>
                <a:latin typeface="微软雅黑" panose="020B0503020204020204" charset="-122"/>
                <a:ea typeface="微软雅黑" panose="020B0503020204020204" charset="-122"/>
              </a:rPr>
              <a:t>来源渠道</a:t>
            </a:r>
            <a:endParaRPr lang="zh-CN" sz="1310" b="1" noProof="0" dirty="0">
              <a:solidFill>
                <a:srgbClr val="17213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" name="文字｜科研资助机构官方公开清单"/>
          <p:cNvSpPr txBox="1"/>
          <p:nvPr/>
        </p:nvSpPr>
        <p:spPr>
          <a:xfrm>
            <a:off x="6621779" y="3429000"/>
            <a:ext cx="2432304" cy="28346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30" b="1" noProof="0" dirty="0">
                <a:solidFill>
                  <a:srgbClr val="1B395E"/>
                </a:solidFill>
                <a:latin typeface="微软雅黑" panose="020B0503020204020204" charset="-122"/>
                <a:ea typeface="微软雅黑" panose="020B0503020204020204" charset="-122"/>
              </a:rPr>
              <a:t>科研资助机构官方公开清单</a:t>
            </a:r>
            <a:endParaRPr lang="zh-CN" sz="1330" b="1" noProof="0" dirty="0">
              <a:solidFill>
                <a:srgbClr val="1B395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50" name="Connector 49"/>
          <p:cNvCxnSpPr/>
          <p:nvPr/>
        </p:nvCxnSpPr>
        <p:spPr>
          <a:xfrm>
            <a:off x="6621779" y="3787139"/>
            <a:ext cx="2278380" cy="0"/>
          </a:xfrm>
          <a:prstGeom prst="line">
            <a:avLst/>
          </a:prstGeom>
          <a:ln w="15239">
            <a:solidFill>
              <a:srgbClr val="D8E7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文字｜主要字段"/>
          <p:cNvSpPr txBox="1"/>
          <p:nvPr/>
        </p:nvSpPr>
        <p:spPr>
          <a:xfrm>
            <a:off x="6621779" y="3918204"/>
            <a:ext cx="929639" cy="28346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10" b="1" noProof="0" dirty="0">
                <a:solidFill>
                  <a:srgbClr val="172131"/>
                </a:solidFill>
                <a:latin typeface="微软雅黑" panose="020B0503020204020204" charset="-122"/>
                <a:ea typeface="微软雅黑" panose="020B0503020204020204" charset="-122"/>
              </a:rPr>
              <a:t>主要字段</a:t>
            </a:r>
            <a:endParaRPr lang="zh-CN" sz="1310" b="1" noProof="0" dirty="0">
              <a:solidFill>
                <a:srgbClr val="17213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" name="文字｜批准号、项目名称、"/>
          <p:cNvSpPr txBox="1"/>
          <p:nvPr/>
        </p:nvSpPr>
        <p:spPr>
          <a:xfrm>
            <a:off x="6621779" y="4206240"/>
            <a:ext cx="2450592" cy="29260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00" b="1" noProof="0" dirty="0">
                <a:solidFill>
                  <a:srgbClr val="172131"/>
                </a:solidFill>
                <a:latin typeface="微软雅黑" panose="020B0503020204020204" charset="-122"/>
                <a:ea typeface="微软雅黑" panose="020B0503020204020204" charset="-122"/>
              </a:rPr>
              <a:t>批准号、项目名称、</a:t>
            </a:r>
            <a:endParaRPr lang="zh-CN" sz="1400" b="1" noProof="0" dirty="0">
              <a:solidFill>
                <a:srgbClr val="17213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" name="文字｜负责人、年度"/>
          <p:cNvSpPr txBox="1"/>
          <p:nvPr/>
        </p:nvSpPr>
        <p:spPr>
          <a:xfrm>
            <a:off x="6621779" y="4466844"/>
            <a:ext cx="2450592" cy="29260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00" b="1" noProof="0" dirty="0">
                <a:solidFill>
                  <a:srgbClr val="172131"/>
                </a:solidFill>
                <a:latin typeface="微软雅黑" panose="020B0503020204020204" charset="-122"/>
                <a:ea typeface="微软雅黑" panose="020B0503020204020204" charset="-122"/>
              </a:rPr>
              <a:t>负责人、年度</a:t>
            </a:r>
            <a:endParaRPr lang="zh-CN" sz="1400" b="1" noProof="0" dirty="0">
              <a:solidFill>
                <a:srgbClr val="17213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54" name="Connector 53"/>
          <p:cNvCxnSpPr/>
          <p:nvPr/>
        </p:nvCxnSpPr>
        <p:spPr>
          <a:xfrm>
            <a:off x="6621779" y="4892039"/>
            <a:ext cx="2278380" cy="0"/>
          </a:xfrm>
          <a:prstGeom prst="line">
            <a:avLst/>
          </a:prstGeom>
          <a:ln w="15239">
            <a:solidFill>
              <a:srgbClr val="D8E7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文字｜一期可先覆盖国家级项目"/>
          <p:cNvSpPr txBox="1"/>
          <p:nvPr/>
        </p:nvSpPr>
        <p:spPr>
          <a:xfrm>
            <a:off x="6621779" y="5020056"/>
            <a:ext cx="2286000" cy="31089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65" b="0" noProof="0" dirty="0">
                <a:solidFill>
                  <a:srgbClr val="172131"/>
                </a:solidFill>
                <a:latin typeface="微软雅黑" panose="020B0503020204020204" charset="-122"/>
                <a:ea typeface="微软雅黑" panose="020B0503020204020204" charset="-122"/>
              </a:rPr>
              <a:t>一期可先覆盖国家级项目</a:t>
            </a:r>
            <a:endParaRPr lang="zh-CN" sz="1265" b="0" noProof="0" dirty="0">
              <a:solidFill>
                <a:srgbClr val="17213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" name="Rounded Rectangle 55"/>
          <p:cNvSpPr/>
          <p:nvPr/>
        </p:nvSpPr>
        <p:spPr>
          <a:xfrm>
            <a:off x="9311639" y="2194559"/>
            <a:ext cx="2697479" cy="3208019"/>
          </a:xfrm>
          <a:prstGeom prst="roundRect">
            <a:avLst>
              <a:gd name="adj" fmla="val 5367"/>
            </a:avLst>
          </a:prstGeom>
          <a:solidFill>
            <a:srgbClr val="FFFFFF"/>
          </a:solidFill>
          <a:ln w="7619">
            <a:solidFill>
              <a:srgbClr val="D8E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" name="Oval 56"/>
          <p:cNvSpPr/>
          <p:nvPr/>
        </p:nvSpPr>
        <p:spPr>
          <a:xfrm>
            <a:off x="9471659" y="2369819"/>
            <a:ext cx="670559" cy="670559"/>
          </a:xfrm>
          <a:prstGeom prst="ellipse">
            <a:avLst/>
          </a:prstGeom>
          <a:solidFill>
            <a:srgbClr val="E5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58" name="可移动独立图标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9429" y="2507589"/>
            <a:ext cx="395020" cy="395020"/>
          </a:xfrm>
          <a:prstGeom prst="rect">
            <a:avLst/>
          </a:prstGeom>
        </p:spPr>
      </p:pic>
      <p:sp>
        <p:nvSpPr>
          <p:cNvPr id="59" name="文字｜获奖信息"/>
          <p:cNvSpPr txBox="1"/>
          <p:nvPr/>
        </p:nvSpPr>
        <p:spPr>
          <a:xfrm>
            <a:off x="10226039" y="2539745"/>
            <a:ext cx="1325879" cy="32918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获奖信息</a:t>
            </a:r>
            <a:endParaRPr lang="zh-CN" sz="2000" b="1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0" name="文字｜来源渠道"/>
          <p:cNvSpPr txBox="1"/>
          <p:nvPr/>
        </p:nvSpPr>
        <p:spPr>
          <a:xfrm>
            <a:off x="9517379" y="3131820"/>
            <a:ext cx="929639" cy="28346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10" b="1" noProof="0" dirty="0">
                <a:solidFill>
                  <a:srgbClr val="172131"/>
                </a:solidFill>
                <a:latin typeface="微软雅黑" panose="020B0503020204020204" charset="-122"/>
                <a:ea typeface="微软雅黑" panose="020B0503020204020204" charset="-122"/>
              </a:rPr>
              <a:t>来源渠道</a:t>
            </a:r>
            <a:endParaRPr lang="zh-CN" sz="1310" b="1" noProof="0" dirty="0">
              <a:solidFill>
                <a:srgbClr val="17213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1" name="文字｜学会、政府部门公开公告"/>
          <p:cNvSpPr txBox="1"/>
          <p:nvPr/>
        </p:nvSpPr>
        <p:spPr>
          <a:xfrm>
            <a:off x="9517379" y="3429000"/>
            <a:ext cx="2432304" cy="28346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70" b="1" noProof="0" dirty="0">
                <a:solidFill>
                  <a:srgbClr val="1B395E"/>
                </a:solidFill>
                <a:latin typeface="微软雅黑" panose="020B0503020204020204" charset="-122"/>
                <a:ea typeface="微软雅黑" panose="020B0503020204020204" charset="-122"/>
              </a:rPr>
              <a:t>学会、政府部门公开公告</a:t>
            </a:r>
            <a:endParaRPr lang="zh-CN" sz="1370" b="1" noProof="0" dirty="0">
              <a:solidFill>
                <a:srgbClr val="1B395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62" name="Connector 61"/>
          <p:cNvCxnSpPr/>
          <p:nvPr/>
        </p:nvCxnSpPr>
        <p:spPr>
          <a:xfrm>
            <a:off x="9517379" y="3787139"/>
            <a:ext cx="2278380" cy="0"/>
          </a:xfrm>
          <a:prstGeom prst="line">
            <a:avLst/>
          </a:prstGeom>
          <a:ln w="15239">
            <a:solidFill>
              <a:srgbClr val="D8E7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文字｜主要字段"/>
          <p:cNvSpPr txBox="1"/>
          <p:nvPr/>
        </p:nvSpPr>
        <p:spPr>
          <a:xfrm>
            <a:off x="9517379" y="3918204"/>
            <a:ext cx="929639" cy="28346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10" b="1" noProof="0" dirty="0">
                <a:solidFill>
                  <a:srgbClr val="172131"/>
                </a:solidFill>
                <a:latin typeface="微软雅黑" panose="020B0503020204020204" charset="-122"/>
                <a:ea typeface="微软雅黑" panose="020B0503020204020204" charset="-122"/>
              </a:rPr>
              <a:t>主要字段</a:t>
            </a:r>
            <a:endParaRPr lang="zh-CN" sz="1310" b="1" noProof="0" dirty="0">
              <a:solidFill>
                <a:srgbClr val="17213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4" name="文字｜奖项、年度、获奖项目"/>
          <p:cNvSpPr txBox="1"/>
          <p:nvPr/>
        </p:nvSpPr>
        <p:spPr>
          <a:xfrm>
            <a:off x="9517379" y="4206240"/>
            <a:ext cx="2450592" cy="29260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00" b="1" noProof="0" dirty="0">
                <a:solidFill>
                  <a:srgbClr val="172131"/>
                </a:solidFill>
                <a:latin typeface="微软雅黑" panose="020B0503020204020204" charset="-122"/>
                <a:ea typeface="微软雅黑" panose="020B0503020204020204" charset="-122"/>
              </a:rPr>
              <a:t>奖项、年度、获奖项目</a:t>
            </a:r>
            <a:endParaRPr lang="zh-CN" sz="1400" b="1" noProof="0" dirty="0">
              <a:solidFill>
                <a:srgbClr val="17213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5" name="文字｜及获奖人员"/>
          <p:cNvSpPr txBox="1"/>
          <p:nvPr/>
        </p:nvSpPr>
        <p:spPr>
          <a:xfrm>
            <a:off x="9517379" y="4466844"/>
            <a:ext cx="2450592" cy="29260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00" b="1" noProof="0" dirty="0">
                <a:solidFill>
                  <a:srgbClr val="172131"/>
                </a:solidFill>
                <a:latin typeface="微软雅黑" panose="020B0503020204020204" charset="-122"/>
                <a:ea typeface="微软雅黑" panose="020B0503020204020204" charset="-122"/>
              </a:rPr>
              <a:t>及获奖人员</a:t>
            </a:r>
            <a:endParaRPr lang="zh-CN" sz="1400" b="1" noProof="0" dirty="0">
              <a:solidFill>
                <a:srgbClr val="17213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66" name="Connector 65"/>
          <p:cNvCxnSpPr/>
          <p:nvPr/>
        </p:nvCxnSpPr>
        <p:spPr>
          <a:xfrm>
            <a:off x="9517379" y="4892039"/>
            <a:ext cx="2278380" cy="0"/>
          </a:xfrm>
          <a:prstGeom prst="line">
            <a:avLst/>
          </a:prstGeom>
          <a:ln w="15239">
            <a:solidFill>
              <a:srgbClr val="D8E7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文字｜以可核验的官方公示为准"/>
          <p:cNvSpPr txBox="1"/>
          <p:nvPr/>
        </p:nvSpPr>
        <p:spPr>
          <a:xfrm>
            <a:off x="9517379" y="5020056"/>
            <a:ext cx="2286000" cy="31089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65" b="0" noProof="0" dirty="0">
                <a:solidFill>
                  <a:srgbClr val="172131"/>
                </a:solidFill>
                <a:latin typeface="微软雅黑" panose="020B0503020204020204" charset="-122"/>
                <a:ea typeface="微软雅黑" panose="020B0503020204020204" charset="-122"/>
              </a:rPr>
              <a:t>以可核验的官方公示为准</a:t>
            </a:r>
            <a:endParaRPr lang="zh-CN" sz="1265" b="0" noProof="0" dirty="0">
              <a:solidFill>
                <a:srgbClr val="17213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8" name="Rounded Rectangle 67"/>
          <p:cNvSpPr/>
          <p:nvPr/>
        </p:nvSpPr>
        <p:spPr>
          <a:xfrm>
            <a:off x="624839" y="5684519"/>
            <a:ext cx="10934699" cy="533399"/>
          </a:xfrm>
          <a:prstGeom prst="roundRect">
            <a:avLst>
              <a:gd name="adj" fmla="val 21428"/>
            </a:avLst>
          </a:prstGeom>
          <a:solidFill>
            <a:srgbClr val="EA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69" name="可移动独立图标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9995" y="5759195"/>
            <a:ext cx="384047" cy="384047"/>
          </a:xfrm>
          <a:prstGeom prst="rect">
            <a:avLst/>
          </a:prstGeom>
        </p:spPr>
      </p:pic>
      <p:sp>
        <p:nvSpPr>
          <p:cNvPr id="70" name="文字｜采集边界：仅采用公开且允许使用的数据；遵守版权、访问限制与数据合规要求。"/>
          <p:cNvSpPr txBox="1"/>
          <p:nvPr/>
        </p:nvSpPr>
        <p:spPr>
          <a:xfrm>
            <a:off x="1219199" y="5820156"/>
            <a:ext cx="10040112" cy="30175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1B395E"/>
                </a:solidFill>
                <a:latin typeface="微软雅黑" panose="020B0503020204020204" charset="-122"/>
              </a:rPr>
              <a:t>采集边界：</a:t>
            </a:r>
            <a:r>
              <a:rPr sz="1400" b="1">
                <a:solidFill>
                  <a:srgbClr val="172131"/>
                </a:solidFill>
                <a:latin typeface="微软雅黑" panose="020B0503020204020204" charset="-122"/>
              </a:rPr>
              <a:t>仅采用公开且允许使用的数据；遵守版权、访问限制与数据合规要求。</a:t>
            </a:r>
            <a:endParaRPr sz="1400" b="1">
              <a:solidFill>
                <a:srgbClr val="172131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7999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80000">
                <a:srgbClr val="F7FAFE"/>
              </a:gs>
              <a:gs pos="100000">
                <a:srgbClr val="ECF5FE"/>
              </a:gs>
            </a:gsLst>
            <a:lin ang="315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Freeform 2"/>
          <p:cNvSpPr/>
          <p:nvPr/>
        </p:nvSpPr>
        <p:spPr>
          <a:xfrm>
            <a:off x="8549640" y="0"/>
            <a:ext cx="3642360" cy="4000500"/>
          </a:xfrm>
          <a:custGeom>
            <a:avLst/>
            <a:gdLst/>
            <a:ahLst/>
            <a:cxnLst/>
            <a:rect l="l" t="t" r="r" b="b"/>
            <a:pathLst>
              <a:path w="478" h="525">
                <a:moveTo>
                  <a:pt x="478" y="0"/>
                </a:moveTo>
                <a:lnTo>
                  <a:pt x="58" y="0"/>
                </a:lnTo>
                <a:lnTo>
                  <a:pt x="41" y="24"/>
                </a:lnTo>
                <a:lnTo>
                  <a:pt x="27" y="49"/>
                </a:lnTo>
                <a:lnTo>
                  <a:pt x="16" y="73"/>
                </a:lnTo>
                <a:lnTo>
                  <a:pt x="8" y="97"/>
                </a:lnTo>
                <a:lnTo>
                  <a:pt x="3" y="121"/>
                </a:lnTo>
                <a:lnTo>
                  <a:pt x="0" y="144"/>
                </a:lnTo>
                <a:lnTo>
                  <a:pt x="0" y="167"/>
                </a:lnTo>
                <a:lnTo>
                  <a:pt x="3" y="190"/>
                </a:lnTo>
                <a:lnTo>
                  <a:pt x="8" y="212"/>
                </a:lnTo>
                <a:lnTo>
                  <a:pt x="15" y="234"/>
                </a:lnTo>
                <a:lnTo>
                  <a:pt x="24" y="255"/>
                </a:lnTo>
                <a:lnTo>
                  <a:pt x="36" y="276"/>
                </a:lnTo>
                <a:lnTo>
                  <a:pt x="49" y="295"/>
                </a:lnTo>
                <a:lnTo>
                  <a:pt x="63" y="314"/>
                </a:lnTo>
                <a:lnTo>
                  <a:pt x="80" y="333"/>
                </a:lnTo>
                <a:lnTo>
                  <a:pt x="98" y="350"/>
                </a:lnTo>
                <a:lnTo>
                  <a:pt x="128" y="371"/>
                </a:lnTo>
                <a:lnTo>
                  <a:pt x="157" y="388"/>
                </a:lnTo>
                <a:lnTo>
                  <a:pt x="185" y="402"/>
                </a:lnTo>
                <a:lnTo>
                  <a:pt x="212" y="413"/>
                </a:lnTo>
                <a:lnTo>
                  <a:pt x="239" y="422"/>
                </a:lnTo>
                <a:lnTo>
                  <a:pt x="265" y="429"/>
                </a:lnTo>
                <a:lnTo>
                  <a:pt x="290" y="434"/>
                </a:lnTo>
                <a:lnTo>
                  <a:pt x="314" y="439"/>
                </a:lnTo>
                <a:lnTo>
                  <a:pt x="338" y="444"/>
                </a:lnTo>
                <a:lnTo>
                  <a:pt x="360" y="450"/>
                </a:lnTo>
                <a:lnTo>
                  <a:pt x="382" y="456"/>
                </a:lnTo>
                <a:lnTo>
                  <a:pt x="403" y="465"/>
                </a:lnTo>
                <a:lnTo>
                  <a:pt x="423" y="475"/>
                </a:lnTo>
                <a:lnTo>
                  <a:pt x="442" y="488"/>
                </a:lnTo>
                <a:lnTo>
                  <a:pt x="461" y="505"/>
                </a:lnTo>
                <a:lnTo>
                  <a:pt x="478" y="525"/>
                </a:lnTo>
                <a:lnTo>
                  <a:pt x="478" y="0"/>
                </a:lnTo>
                <a:close/>
              </a:path>
            </a:pathLst>
          </a:custGeom>
          <a:solidFill>
            <a:srgbClr val="EAF5FE">
              <a:alpha val="6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Oval 5"/>
          <p:cNvSpPr/>
          <p:nvPr/>
        </p:nvSpPr>
        <p:spPr>
          <a:xfrm>
            <a:off x="10020299" y="365759"/>
            <a:ext cx="121919" cy="121919"/>
          </a:xfrm>
          <a:prstGeom prst="ellipse">
            <a:avLst/>
          </a:prstGeom>
          <a:solidFill>
            <a:srgbClr val="48A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Oval 6"/>
          <p:cNvSpPr/>
          <p:nvPr/>
        </p:nvSpPr>
        <p:spPr>
          <a:xfrm>
            <a:off x="11452859" y="2689859"/>
            <a:ext cx="106679" cy="106679"/>
          </a:xfrm>
          <a:prstGeom prst="ellipse">
            <a:avLst/>
          </a:prstGeom>
          <a:solidFill>
            <a:srgbClr val="48A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Oval 7"/>
          <p:cNvSpPr/>
          <p:nvPr/>
        </p:nvSpPr>
        <p:spPr>
          <a:xfrm>
            <a:off x="12085319" y="868679"/>
            <a:ext cx="91439" cy="91439"/>
          </a:xfrm>
          <a:prstGeom prst="ellipse">
            <a:avLst/>
          </a:prstGeom>
          <a:solidFill>
            <a:srgbClr val="48A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Oval 8"/>
          <p:cNvSpPr/>
          <p:nvPr/>
        </p:nvSpPr>
        <p:spPr>
          <a:xfrm>
            <a:off x="10553699" y="2065019"/>
            <a:ext cx="76199" cy="76199"/>
          </a:xfrm>
          <a:prstGeom prst="ellipse">
            <a:avLst/>
          </a:prstGeom>
          <a:solidFill>
            <a:srgbClr val="48A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24839" y="441959"/>
            <a:ext cx="411479" cy="53339"/>
          </a:xfrm>
          <a:prstGeom prst="roundRect">
            <a:avLst>
              <a:gd name="adj" fmla="val 50000"/>
            </a:avLst>
          </a:prstGeom>
          <a:solidFill>
            <a:srgbClr val="0E3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1066799" y="441959"/>
            <a:ext cx="380999" cy="53339"/>
          </a:xfrm>
          <a:prstGeom prst="roundRect">
            <a:avLst>
              <a:gd name="adj" fmla="val 50000"/>
            </a:avLst>
          </a:prstGeom>
          <a:solidFill>
            <a:srgbClr val="E69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文字｜总体架构与改进设计"/>
          <p:cNvSpPr txBox="1"/>
          <p:nvPr/>
        </p:nvSpPr>
        <p:spPr>
          <a:xfrm>
            <a:off x="640079" y="765886"/>
            <a:ext cx="4684013" cy="52852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6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总体架构与改进设计</a:t>
            </a:r>
            <a:endParaRPr sz="306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字｜展现层 → 业务服务层 → 数据存储层，采集管道与检索统计解耦"/>
          <p:cNvSpPr txBox="1"/>
          <p:nvPr/>
        </p:nvSpPr>
        <p:spPr>
          <a:xfrm>
            <a:off x="662939" y="1373504"/>
            <a:ext cx="7045356" cy="25907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展现层 → 业务服务层 → 数据存储层，采集管道与检索统计解耦</a:t>
            </a:r>
            <a:endParaRPr sz="1500" b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47699" y="1722119"/>
            <a:ext cx="708659" cy="38099"/>
          </a:xfrm>
          <a:prstGeom prst="roundRect">
            <a:avLst>
              <a:gd name="adj" fmla="val 40000"/>
            </a:avLst>
          </a:prstGeom>
          <a:solidFill>
            <a:srgbClr val="ADD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字｜04 / 16"/>
          <p:cNvSpPr txBox="1"/>
          <p:nvPr/>
        </p:nvSpPr>
        <p:spPr>
          <a:xfrm>
            <a:off x="10815958" y="550087"/>
            <a:ext cx="713101" cy="196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04 / 16</a:t>
            </a:r>
            <a:endParaRPr sz="114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6" name="Connector 15"/>
          <p:cNvCxnSpPr/>
          <p:nvPr/>
        </p:nvCxnSpPr>
        <p:spPr>
          <a:xfrm>
            <a:off x="617219" y="6370319"/>
            <a:ext cx="10949940" cy="0"/>
          </a:xfrm>
          <a:prstGeom prst="line">
            <a:avLst/>
          </a:prstGeom>
          <a:ln w="11429">
            <a:solidFill>
              <a:srgbClr val="D2E2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字｜学术成果分享平台   /   系统分析与设计"/>
          <p:cNvSpPr txBox="1"/>
          <p:nvPr/>
        </p:nvSpPr>
        <p:spPr>
          <a:xfrm>
            <a:off x="640079" y="6463131"/>
            <a:ext cx="3121342" cy="18653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学术成果分享平台   /   系统分析与设计</a:t>
            </a:r>
            <a:endParaRPr sz="1080" b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文字｜04"/>
          <p:cNvSpPr txBox="1"/>
          <p:nvPr/>
        </p:nvSpPr>
        <p:spPr>
          <a:xfrm>
            <a:off x="11225450" y="6448043"/>
            <a:ext cx="356949" cy="20726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sz="12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11315699" y="6675119"/>
            <a:ext cx="274319" cy="30479"/>
          </a:xfrm>
          <a:prstGeom prst="roundRect">
            <a:avLst>
              <a:gd name="adj" fmla="val 50000"/>
            </a:avLst>
          </a:prstGeom>
          <a:solidFill>
            <a:srgbClr val="327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文字｜展现层"/>
          <p:cNvSpPr txBox="1"/>
          <p:nvPr/>
        </p:nvSpPr>
        <p:spPr>
          <a:xfrm>
            <a:off x="685799" y="2229967"/>
            <a:ext cx="762000" cy="3073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展现层</a:t>
            </a:r>
            <a:endParaRPr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文字｜业务层"/>
          <p:cNvSpPr txBox="1"/>
          <p:nvPr/>
        </p:nvSpPr>
        <p:spPr>
          <a:xfrm>
            <a:off x="685799" y="3246602"/>
            <a:ext cx="762000" cy="3073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业务层</a:t>
            </a:r>
            <a:endParaRPr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文字｜存储层"/>
          <p:cNvSpPr txBox="1"/>
          <p:nvPr/>
        </p:nvSpPr>
        <p:spPr>
          <a:xfrm>
            <a:off x="685799" y="4358487"/>
            <a:ext cx="762000" cy="3073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存储层</a:t>
            </a:r>
            <a:endParaRPr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字｜采集层"/>
          <p:cNvSpPr txBox="1"/>
          <p:nvPr/>
        </p:nvSpPr>
        <p:spPr>
          <a:xfrm>
            <a:off x="685799" y="5484977"/>
            <a:ext cx="762000" cy="3073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采集层</a:t>
            </a:r>
            <a:endParaRPr sz="2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1981199" y="2049779"/>
            <a:ext cx="2590799" cy="701039"/>
          </a:xfrm>
          <a:prstGeom prst="roundRect">
            <a:avLst>
              <a:gd name="adj" fmla="val 20652"/>
            </a:avLst>
          </a:prstGeom>
          <a:solidFill>
            <a:srgbClr val="FFFFFF"/>
          </a:solidFill>
          <a:ln w="7619">
            <a:solidFill>
              <a:srgbClr val="D8E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Oval 24"/>
          <p:cNvSpPr/>
          <p:nvPr/>
        </p:nvSpPr>
        <p:spPr>
          <a:xfrm>
            <a:off x="2141219" y="2156459"/>
            <a:ext cx="472439" cy="472439"/>
          </a:xfrm>
          <a:prstGeom prst="ellipse">
            <a:avLst/>
          </a:prstGeom>
          <a:solidFill>
            <a:srgbClr val="E5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6" name="可移动独立图标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79929" y="2195169"/>
            <a:ext cx="395020" cy="395020"/>
          </a:xfrm>
          <a:prstGeom prst="rect">
            <a:avLst/>
          </a:prstGeom>
        </p:spPr>
      </p:pic>
      <p:sp>
        <p:nvSpPr>
          <p:cNvPr id="27" name="文字｜公开前端"/>
          <p:cNvSpPr txBox="1"/>
          <p:nvPr/>
        </p:nvSpPr>
        <p:spPr>
          <a:xfrm>
            <a:off x="2727959" y="2257577"/>
            <a:ext cx="1207007" cy="27980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公开前端</a:t>
            </a:r>
            <a:endParaRPr sz="162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5029199" y="2049779"/>
            <a:ext cx="2590799" cy="701039"/>
          </a:xfrm>
          <a:prstGeom prst="roundRect">
            <a:avLst>
              <a:gd name="adj" fmla="val 20652"/>
            </a:avLst>
          </a:prstGeom>
          <a:solidFill>
            <a:srgbClr val="FFFFFF"/>
          </a:solidFill>
          <a:ln w="7619">
            <a:solidFill>
              <a:srgbClr val="D8E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Oval 28"/>
          <p:cNvSpPr/>
          <p:nvPr/>
        </p:nvSpPr>
        <p:spPr>
          <a:xfrm>
            <a:off x="5189219" y="2156459"/>
            <a:ext cx="472439" cy="472439"/>
          </a:xfrm>
          <a:prstGeom prst="ellipse">
            <a:avLst/>
          </a:prstGeom>
          <a:solidFill>
            <a:srgbClr val="E5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0" name="可移动独立图标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7929" y="2195169"/>
            <a:ext cx="395020" cy="395020"/>
          </a:xfrm>
          <a:prstGeom prst="rect">
            <a:avLst/>
          </a:prstGeom>
        </p:spPr>
      </p:pic>
      <p:sp>
        <p:nvSpPr>
          <p:cNvPr id="31" name="文字｜学者门户"/>
          <p:cNvSpPr txBox="1"/>
          <p:nvPr/>
        </p:nvSpPr>
        <p:spPr>
          <a:xfrm>
            <a:off x="5775959" y="2257577"/>
            <a:ext cx="1207007" cy="27980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学者门户</a:t>
            </a:r>
            <a:endParaRPr sz="162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8077199" y="2049779"/>
            <a:ext cx="2590799" cy="701039"/>
          </a:xfrm>
          <a:prstGeom prst="roundRect">
            <a:avLst>
              <a:gd name="adj" fmla="val 20652"/>
            </a:avLst>
          </a:prstGeom>
          <a:solidFill>
            <a:srgbClr val="FFFFFF"/>
          </a:solidFill>
          <a:ln w="7619">
            <a:solidFill>
              <a:srgbClr val="D8E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Oval 32"/>
          <p:cNvSpPr/>
          <p:nvPr/>
        </p:nvSpPr>
        <p:spPr>
          <a:xfrm>
            <a:off x="8237219" y="2156459"/>
            <a:ext cx="472439" cy="472439"/>
          </a:xfrm>
          <a:prstGeom prst="ellipse">
            <a:avLst/>
          </a:prstGeom>
          <a:solidFill>
            <a:srgbClr val="FFF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4" name="可移动独立图标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929" y="2195169"/>
            <a:ext cx="395020" cy="395020"/>
          </a:xfrm>
          <a:prstGeom prst="rect">
            <a:avLst/>
          </a:prstGeom>
        </p:spPr>
      </p:pic>
      <p:sp>
        <p:nvSpPr>
          <p:cNvPr id="35" name="文字｜管理后台"/>
          <p:cNvSpPr txBox="1"/>
          <p:nvPr/>
        </p:nvSpPr>
        <p:spPr>
          <a:xfrm>
            <a:off x="8823959" y="2257577"/>
            <a:ext cx="1207007" cy="27980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管理后台</a:t>
            </a:r>
            <a:endParaRPr sz="162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36" name="Connector 35"/>
          <p:cNvCxnSpPr/>
          <p:nvPr/>
        </p:nvCxnSpPr>
        <p:spPr>
          <a:xfrm>
            <a:off x="6095999" y="2804159"/>
            <a:ext cx="0" cy="243840"/>
          </a:xfrm>
          <a:prstGeom prst="line">
            <a:avLst/>
          </a:prstGeom>
          <a:ln w="21335">
            <a:solidFill>
              <a:srgbClr val="7BB5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Freeform 36"/>
          <p:cNvSpPr/>
          <p:nvPr/>
        </p:nvSpPr>
        <p:spPr>
          <a:xfrm>
            <a:off x="6057900" y="29718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10" h="10">
                <a:moveTo>
                  <a:pt x="0" y="0"/>
                </a:moveTo>
                <a:lnTo>
                  <a:pt x="5" y="10"/>
                </a:lnTo>
                <a:lnTo>
                  <a:pt x="10" y="0"/>
                </a:lnTo>
              </a:path>
            </a:pathLst>
          </a:custGeom>
          <a:noFill/>
          <a:ln w="21335">
            <a:solidFill>
              <a:srgbClr val="7BB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1981199" y="3063239"/>
            <a:ext cx="2125979" cy="769619"/>
          </a:xfrm>
          <a:prstGeom prst="roundRect">
            <a:avLst>
              <a:gd name="adj" fmla="val 18811"/>
            </a:avLst>
          </a:prstGeom>
          <a:solidFill>
            <a:srgbClr val="FFFFFF"/>
          </a:solidFill>
          <a:ln w="7619">
            <a:solidFill>
              <a:srgbClr val="D8E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Oval 38"/>
          <p:cNvSpPr/>
          <p:nvPr/>
        </p:nvSpPr>
        <p:spPr>
          <a:xfrm>
            <a:off x="2103119" y="3215639"/>
            <a:ext cx="457199" cy="457199"/>
          </a:xfrm>
          <a:prstGeom prst="ellipse">
            <a:avLst/>
          </a:prstGeom>
          <a:solidFill>
            <a:srgbClr val="E5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0" name="可移动独立图标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34209" y="3246729"/>
            <a:ext cx="395020" cy="395020"/>
          </a:xfrm>
          <a:prstGeom prst="rect">
            <a:avLst/>
          </a:prstGeom>
        </p:spPr>
      </p:pic>
      <p:sp>
        <p:nvSpPr>
          <p:cNvPr id="41" name="文字｜检索服务"/>
          <p:cNvSpPr txBox="1"/>
          <p:nvPr/>
        </p:nvSpPr>
        <p:spPr>
          <a:xfrm>
            <a:off x="2659379" y="3324224"/>
            <a:ext cx="1127759" cy="25907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检索服务</a:t>
            </a:r>
            <a:endParaRPr sz="15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4290059" y="3063239"/>
            <a:ext cx="2125979" cy="769619"/>
          </a:xfrm>
          <a:prstGeom prst="roundRect">
            <a:avLst>
              <a:gd name="adj" fmla="val 18811"/>
            </a:avLst>
          </a:prstGeom>
          <a:solidFill>
            <a:srgbClr val="FFFFFF"/>
          </a:solidFill>
          <a:ln w="7619">
            <a:solidFill>
              <a:srgbClr val="D8E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4411979" y="3215639"/>
            <a:ext cx="457199" cy="457199"/>
          </a:xfrm>
          <a:prstGeom prst="ellipse">
            <a:avLst/>
          </a:prstGeom>
          <a:solidFill>
            <a:srgbClr val="FFF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4" name="可移动独立图标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3069" y="3246729"/>
            <a:ext cx="395020" cy="395020"/>
          </a:xfrm>
          <a:prstGeom prst="rect">
            <a:avLst/>
          </a:prstGeom>
        </p:spPr>
      </p:pic>
      <p:sp>
        <p:nvSpPr>
          <p:cNvPr id="45" name="文字｜成果服务"/>
          <p:cNvSpPr txBox="1"/>
          <p:nvPr/>
        </p:nvSpPr>
        <p:spPr>
          <a:xfrm>
            <a:off x="4968239" y="3324224"/>
            <a:ext cx="1127759" cy="25907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成果服务</a:t>
            </a:r>
            <a:endParaRPr sz="15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6598919" y="3063239"/>
            <a:ext cx="2125979" cy="769619"/>
          </a:xfrm>
          <a:prstGeom prst="roundRect">
            <a:avLst>
              <a:gd name="adj" fmla="val 18811"/>
            </a:avLst>
          </a:prstGeom>
          <a:solidFill>
            <a:srgbClr val="FFFFFF"/>
          </a:solidFill>
          <a:ln w="7619">
            <a:solidFill>
              <a:srgbClr val="D8E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Oval 46"/>
          <p:cNvSpPr/>
          <p:nvPr/>
        </p:nvSpPr>
        <p:spPr>
          <a:xfrm>
            <a:off x="6720839" y="3215639"/>
            <a:ext cx="457199" cy="457199"/>
          </a:xfrm>
          <a:prstGeom prst="ellipse">
            <a:avLst/>
          </a:prstGeom>
          <a:solidFill>
            <a:srgbClr val="E5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8" name="可移动独立图标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51929" y="3246729"/>
            <a:ext cx="395020" cy="395020"/>
          </a:xfrm>
          <a:prstGeom prst="rect">
            <a:avLst/>
          </a:prstGeom>
        </p:spPr>
      </p:pic>
      <p:sp>
        <p:nvSpPr>
          <p:cNvPr id="49" name="文字｜认领服务"/>
          <p:cNvSpPr txBox="1"/>
          <p:nvPr/>
        </p:nvSpPr>
        <p:spPr>
          <a:xfrm>
            <a:off x="7277099" y="3324224"/>
            <a:ext cx="1127759" cy="25907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认领服务</a:t>
            </a:r>
            <a:endParaRPr sz="15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" name="Rounded Rectangle 49"/>
          <p:cNvSpPr/>
          <p:nvPr/>
        </p:nvSpPr>
        <p:spPr>
          <a:xfrm>
            <a:off x="8907779" y="3063239"/>
            <a:ext cx="2125979" cy="769619"/>
          </a:xfrm>
          <a:prstGeom prst="roundRect">
            <a:avLst>
              <a:gd name="adj" fmla="val 18811"/>
            </a:avLst>
          </a:prstGeom>
          <a:solidFill>
            <a:srgbClr val="FFFFFF"/>
          </a:solidFill>
          <a:ln w="7619">
            <a:solidFill>
              <a:srgbClr val="D8E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" name="Oval 50"/>
          <p:cNvSpPr/>
          <p:nvPr/>
        </p:nvSpPr>
        <p:spPr>
          <a:xfrm>
            <a:off x="9029699" y="3215639"/>
            <a:ext cx="457199" cy="457199"/>
          </a:xfrm>
          <a:prstGeom prst="ellipse">
            <a:avLst/>
          </a:prstGeom>
          <a:solidFill>
            <a:srgbClr val="E5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52" name="可移动独立图标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60789" y="3246729"/>
            <a:ext cx="395020" cy="395020"/>
          </a:xfrm>
          <a:prstGeom prst="rect">
            <a:avLst/>
          </a:prstGeom>
        </p:spPr>
      </p:pic>
      <p:sp>
        <p:nvSpPr>
          <p:cNvPr id="53" name="文字｜统计服务"/>
          <p:cNvSpPr txBox="1"/>
          <p:nvPr/>
        </p:nvSpPr>
        <p:spPr>
          <a:xfrm>
            <a:off x="9585959" y="3324224"/>
            <a:ext cx="1127759" cy="25907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统计服务</a:t>
            </a:r>
            <a:endParaRPr sz="15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54" name="Connector 53"/>
          <p:cNvCxnSpPr/>
          <p:nvPr/>
        </p:nvCxnSpPr>
        <p:spPr>
          <a:xfrm>
            <a:off x="6080759" y="3848099"/>
            <a:ext cx="0" cy="274320"/>
          </a:xfrm>
          <a:prstGeom prst="line">
            <a:avLst/>
          </a:prstGeom>
          <a:ln w="21335">
            <a:solidFill>
              <a:srgbClr val="7BB5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Freeform 54"/>
          <p:cNvSpPr/>
          <p:nvPr/>
        </p:nvSpPr>
        <p:spPr>
          <a:xfrm>
            <a:off x="6042660" y="4046220"/>
            <a:ext cx="76200" cy="76200"/>
          </a:xfrm>
          <a:custGeom>
            <a:avLst/>
            <a:gdLst/>
            <a:ahLst/>
            <a:cxnLst/>
            <a:rect l="l" t="t" r="r" b="b"/>
            <a:pathLst>
              <a:path w="10" h="10">
                <a:moveTo>
                  <a:pt x="0" y="0"/>
                </a:moveTo>
                <a:lnTo>
                  <a:pt x="5" y="10"/>
                </a:lnTo>
                <a:lnTo>
                  <a:pt x="10" y="0"/>
                </a:lnTo>
              </a:path>
            </a:pathLst>
          </a:custGeom>
          <a:noFill/>
          <a:ln w="21335">
            <a:solidFill>
              <a:srgbClr val="7BB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" name="Rounded Rectangle 55"/>
          <p:cNvSpPr/>
          <p:nvPr/>
        </p:nvSpPr>
        <p:spPr>
          <a:xfrm>
            <a:off x="1996439" y="4122419"/>
            <a:ext cx="5623559" cy="822959"/>
          </a:xfrm>
          <a:prstGeom prst="roundRect">
            <a:avLst>
              <a:gd name="adj" fmla="val 17592"/>
            </a:avLst>
          </a:prstGeom>
          <a:solidFill>
            <a:srgbClr val="EBF5FF"/>
          </a:solidFill>
          <a:ln w="7619">
            <a:solidFill>
              <a:srgbClr val="D8E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" name="Oval 56"/>
          <p:cNvSpPr/>
          <p:nvPr/>
        </p:nvSpPr>
        <p:spPr>
          <a:xfrm>
            <a:off x="2209799" y="4259579"/>
            <a:ext cx="548639" cy="548639"/>
          </a:xfrm>
          <a:prstGeom prst="ellipse">
            <a:avLst/>
          </a:prstGeom>
          <a:solidFill>
            <a:srgbClr val="E5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58" name="可移动独立图标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86609" y="4336389"/>
            <a:ext cx="395020" cy="395020"/>
          </a:xfrm>
          <a:prstGeom prst="rect">
            <a:avLst/>
          </a:prstGeom>
        </p:spPr>
      </p:pic>
      <p:sp>
        <p:nvSpPr>
          <p:cNvPr id="59" name="文字｜主业务数据库"/>
          <p:cNvSpPr txBox="1"/>
          <p:nvPr/>
        </p:nvSpPr>
        <p:spPr>
          <a:xfrm>
            <a:off x="2941319" y="4254093"/>
            <a:ext cx="1801367" cy="2901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8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主业务数据库</a:t>
            </a:r>
            <a:endParaRPr sz="168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0" name="文字｜统一成果、人员、机构、来源、认领与审计数据"/>
          <p:cNvSpPr txBox="1"/>
          <p:nvPr/>
        </p:nvSpPr>
        <p:spPr>
          <a:xfrm>
            <a:off x="2933699" y="4581143"/>
            <a:ext cx="4297679" cy="20726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统一成果、人员、机构、来源、认领与审计数据</a:t>
            </a:r>
            <a:endParaRPr sz="1200" b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1" name="Rounded Rectangle 60"/>
          <p:cNvSpPr/>
          <p:nvPr/>
        </p:nvSpPr>
        <p:spPr>
          <a:xfrm>
            <a:off x="7848599" y="4137659"/>
            <a:ext cx="3291839" cy="365759"/>
          </a:xfrm>
          <a:prstGeom prst="roundRect">
            <a:avLst>
              <a:gd name="adj" fmla="val 39583"/>
            </a:avLst>
          </a:prstGeom>
          <a:solidFill>
            <a:srgbClr val="FFFFFF"/>
          </a:solidFill>
          <a:ln w="7619">
            <a:solidFill>
              <a:srgbClr val="D8E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62" name="可移动独立图标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97342" y="4194962"/>
            <a:ext cx="235915" cy="235915"/>
          </a:xfrm>
          <a:prstGeom prst="rect">
            <a:avLst/>
          </a:prstGeom>
        </p:spPr>
      </p:pic>
      <p:sp>
        <p:nvSpPr>
          <p:cNvPr id="63" name="文字｜搜索索引同步"/>
          <p:cNvSpPr txBox="1"/>
          <p:nvPr/>
        </p:nvSpPr>
        <p:spPr>
          <a:xfrm>
            <a:off x="8389619" y="4207916"/>
            <a:ext cx="1444751" cy="2279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搜索索引同步</a:t>
            </a:r>
            <a:endParaRPr sz="132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64" name="Connector 63"/>
          <p:cNvCxnSpPr/>
          <p:nvPr/>
        </p:nvCxnSpPr>
        <p:spPr>
          <a:xfrm>
            <a:off x="7635239" y="4320539"/>
            <a:ext cx="160020" cy="0"/>
          </a:xfrm>
          <a:prstGeom prst="line">
            <a:avLst/>
          </a:prstGeom>
          <a:ln w="15239">
            <a:solidFill>
              <a:srgbClr val="3279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Freeform 64"/>
          <p:cNvSpPr/>
          <p:nvPr/>
        </p:nvSpPr>
        <p:spPr>
          <a:xfrm>
            <a:off x="7719060" y="4282440"/>
            <a:ext cx="76200" cy="76200"/>
          </a:xfrm>
          <a:custGeom>
            <a:avLst/>
            <a:gdLst/>
            <a:ahLst/>
            <a:cxnLst/>
            <a:rect l="l" t="t" r="r" b="b"/>
            <a:pathLst>
              <a:path w="10" h="10">
                <a:moveTo>
                  <a:pt x="0" y="10"/>
                </a:moveTo>
                <a:lnTo>
                  <a:pt x="10" y="5"/>
                </a:lnTo>
                <a:lnTo>
                  <a:pt x="0" y="0"/>
                </a:lnTo>
              </a:path>
            </a:pathLst>
          </a:custGeom>
          <a:noFill/>
          <a:ln w="15239">
            <a:solidFill>
              <a:srgbClr val="3279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6" name="Rounded Rectangle 65"/>
          <p:cNvSpPr/>
          <p:nvPr/>
        </p:nvSpPr>
        <p:spPr>
          <a:xfrm>
            <a:off x="7848599" y="4564379"/>
            <a:ext cx="3291839" cy="365759"/>
          </a:xfrm>
          <a:prstGeom prst="roundRect">
            <a:avLst>
              <a:gd name="adj" fmla="val 39583"/>
            </a:avLst>
          </a:prstGeom>
          <a:solidFill>
            <a:srgbClr val="FFFFFF"/>
          </a:solidFill>
          <a:ln w="7619">
            <a:solidFill>
              <a:srgbClr val="D8E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67" name="可移动独立图标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97342" y="4621682"/>
            <a:ext cx="235915" cy="235915"/>
          </a:xfrm>
          <a:prstGeom prst="rect">
            <a:avLst/>
          </a:prstGeom>
        </p:spPr>
      </p:pic>
      <p:sp>
        <p:nvSpPr>
          <p:cNvPr id="68" name="文字｜统计快照生成"/>
          <p:cNvSpPr txBox="1"/>
          <p:nvPr/>
        </p:nvSpPr>
        <p:spPr>
          <a:xfrm>
            <a:off x="8389619" y="4634636"/>
            <a:ext cx="1444751" cy="2279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统计快照生成</a:t>
            </a:r>
            <a:endParaRPr sz="132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69" name="Connector 68"/>
          <p:cNvCxnSpPr/>
          <p:nvPr/>
        </p:nvCxnSpPr>
        <p:spPr>
          <a:xfrm>
            <a:off x="7635239" y="4747259"/>
            <a:ext cx="160020" cy="0"/>
          </a:xfrm>
          <a:prstGeom prst="line">
            <a:avLst/>
          </a:prstGeom>
          <a:ln w="15239">
            <a:solidFill>
              <a:srgbClr val="3279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Freeform 69"/>
          <p:cNvSpPr/>
          <p:nvPr/>
        </p:nvSpPr>
        <p:spPr>
          <a:xfrm>
            <a:off x="7719060" y="4709160"/>
            <a:ext cx="76200" cy="76200"/>
          </a:xfrm>
          <a:custGeom>
            <a:avLst/>
            <a:gdLst/>
            <a:ahLst/>
            <a:cxnLst/>
            <a:rect l="l" t="t" r="r" b="b"/>
            <a:pathLst>
              <a:path w="10" h="10">
                <a:moveTo>
                  <a:pt x="0" y="10"/>
                </a:moveTo>
                <a:lnTo>
                  <a:pt x="10" y="5"/>
                </a:lnTo>
                <a:lnTo>
                  <a:pt x="0" y="0"/>
                </a:lnTo>
              </a:path>
            </a:pathLst>
          </a:custGeom>
          <a:noFill/>
          <a:ln w="15239">
            <a:solidFill>
              <a:srgbClr val="3279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71" name="Connector 70"/>
          <p:cNvCxnSpPr/>
          <p:nvPr/>
        </p:nvCxnSpPr>
        <p:spPr>
          <a:xfrm flipV="1">
            <a:off x="4770119" y="4960619"/>
            <a:ext cx="0" cy="342900"/>
          </a:xfrm>
          <a:prstGeom prst="line">
            <a:avLst/>
          </a:prstGeom>
          <a:ln w="21335">
            <a:solidFill>
              <a:srgbClr val="159D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Freeform 71"/>
          <p:cNvSpPr/>
          <p:nvPr/>
        </p:nvSpPr>
        <p:spPr>
          <a:xfrm>
            <a:off x="4732020" y="4960620"/>
            <a:ext cx="76200" cy="76200"/>
          </a:xfrm>
          <a:custGeom>
            <a:avLst/>
            <a:gdLst/>
            <a:ahLst/>
            <a:cxnLst/>
            <a:rect l="l" t="t" r="r" b="b"/>
            <a:pathLst>
              <a:path w="10" h="10">
                <a:moveTo>
                  <a:pt x="10" y="10"/>
                </a:moveTo>
                <a:lnTo>
                  <a:pt x="5" y="0"/>
                </a:lnTo>
                <a:lnTo>
                  <a:pt x="0" y="10"/>
                </a:lnTo>
              </a:path>
            </a:pathLst>
          </a:custGeom>
          <a:noFill/>
          <a:ln w="21335">
            <a:solidFill>
              <a:srgbClr val="159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3" name="Rounded Rectangle 72"/>
          <p:cNvSpPr/>
          <p:nvPr/>
        </p:nvSpPr>
        <p:spPr>
          <a:xfrm>
            <a:off x="1965959" y="5273039"/>
            <a:ext cx="9121139" cy="792479"/>
          </a:xfrm>
          <a:prstGeom prst="roundRect">
            <a:avLst>
              <a:gd name="adj" fmla="val 18269"/>
            </a:avLst>
          </a:prstGeom>
          <a:solidFill>
            <a:srgbClr val="F5FBFE"/>
          </a:solidFill>
          <a:ln w="7619">
            <a:solidFill>
              <a:srgbClr val="D8E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4" name="Oval 73"/>
          <p:cNvSpPr/>
          <p:nvPr/>
        </p:nvSpPr>
        <p:spPr>
          <a:xfrm>
            <a:off x="2247899" y="5440679"/>
            <a:ext cx="441959" cy="441959"/>
          </a:xfrm>
          <a:prstGeom prst="ellipse">
            <a:avLst/>
          </a:prstGeom>
          <a:solidFill>
            <a:srgbClr val="E5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75" name="可移动独立图标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71369" y="5464149"/>
            <a:ext cx="395020" cy="395020"/>
          </a:xfrm>
          <a:prstGeom prst="rect">
            <a:avLst/>
          </a:prstGeom>
        </p:spPr>
      </p:pic>
      <p:sp>
        <p:nvSpPr>
          <p:cNvPr id="76" name="文字｜外部公开数据"/>
          <p:cNvSpPr txBox="1"/>
          <p:nvPr/>
        </p:nvSpPr>
        <p:spPr>
          <a:xfrm>
            <a:off x="2804159" y="5564276"/>
            <a:ext cx="1444751" cy="2279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外部公开数据</a:t>
            </a:r>
            <a:endParaRPr sz="132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77" name="Connector 76"/>
          <p:cNvCxnSpPr/>
          <p:nvPr/>
        </p:nvCxnSpPr>
        <p:spPr>
          <a:xfrm>
            <a:off x="4389119" y="5669279"/>
            <a:ext cx="495300" cy="0"/>
          </a:xfrm>
          <a:prstGeom prst="line">
            <a:avLst/>
          </a:prstGeom>
          <a:ln w="21335">
            <a:solidFill>
              <a:srgbClr val="79B6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Freeform 77"/>
          <p:cNvSpPr/>
          <p:nvPr/>
        </p:nvSpPr>
        <p:spPr>
          <a:xfrm>
            <a:off x="4808220" y="5631180"/>
            <a:ext cx="76200" cy="76200"/>
          </a:xfrm>
          <a:custGeom>
            <a:avLst/>
            <a:gdLst/>
            <a:ahLst/>
            <a:cxnLst/>
            <a:rect l="l" t="t" r="r" b="b"/>
            <a:pathLst>
              <a:path w="10" h="10">
                <a:moveTo>
                  <a:pt x="0" y="10"/>
                </a:moveTo>
                <a:lnTo>
                  <a:pt x="10" y="5"/>
                </a:lnTo>
                <a:lnTo>
                  <a:pt x="0" y="0"/>
                </a:lnTo>
              </a:path>
            </a:pathLst>
          </a:custGeom>
          <a:noFill/>
          <a:ln w="21335">
            <a:solidFill>
              <a:srgbClr val="79B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9" name="Oval 78"/>
          <p:cNvSpPr/>
          <p:nvPr/>
        </p:nvSpPr>
        <p:spPr>
          <a:xfrm>
            <a:off x="5158739" y="5440679"/>
            <a:ext cx="441959" cy="441959"/>
          </a:xfrm>
          <a:prstGeom prst="ellipse">
            <a:avLst/>
          </a:prstGeom>
          <a:solidFill>
            <a:srgbClr val="E5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80" name="可移动独立图标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82209" y="5464149"/>
            <a:ext cx="395020" cy="395020"/>
          </a:xfrm>
          <a:prstGeom prst="rect">
            <a:avLst/>
          </a:prstGeom>
        </p:spPr>
      </p:pic>
      <p:sp>
        <p:nvSpPr>
          <p:cNvPr id="81" name="文字｜采集 Worker"/>
          <p:cNvSpPr txBox="1"/>
          <p:nvPr/>
        </p:nvSpPr>
        <p:spPr>
          <a:xfrm>
            <a:off x="5714999" y="5564276"/>
            <a:ext cx="1350799" cy="2279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采集 Worker</a:t>
            </a:r>
            <a:endParaRPr sz="132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82" name="Connector 81"/>
          <p:cNvCxnSpPr/>
          <p:nvPr/>
        </p:nvCxnSpPr>
        <p:spPr>
          <a:xfrm>
            <a:off x="7299959" y="5669279"/>
            <a:ext cx="495300" cy="0"/>
          </a:xfrm>
          <a:prstGeom prst="line">
            <a:avLst/>
          </a:prstGeom>
          <a:ln w="21335">
            <a:solidFill>
              <a:srgbClr val="79B6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Freeform 82"/>
          <p:cNvSpPr/>
          <p:nvPr/>
        </p:nvSpPr>
        <p:spPr>
          <a:xfrm>
            <a:off x="7719060" y="5631180"/>
            <a:ext cx="76200" cy="76200"/>
          </a:xfrm>
          <a:custGeom>
            <a:avLst/>
            <a:gdLst/>
            <a:ahLst/>
            <a:cxnLst/>
            <a:rect l="l" t="t" r="r" b="b"/>
            <a:pathLst>
              <a:path w="10" h="10">
                <a:moveTo>
                  <a:pt x="0" y="10"/>
                </a:moveTo>
                <a:lnTo>
                  <a:pt x="10" y="5"/>
                </a:lnTo>
                <a:lnTo>
                  <a:pt x="0" y="0"/>
                </a:lnTo>
              </a:path>
            </a:pathLst>
          </a:custGeom>
          <a:noFill/>
          <a:ln w="21335">
            <a:solidFill>
              <a:srgbClr val="79B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4" name="Oval 83"/>
          <p:cNvSpPr/>
          <p:nvPr/>
        </p:nvSpPr>
        <p:spPr>
          <a:xfrm>
            <a:off x="8069579" y="5440679"/>
            <a:ext cx="441959" cy="441959"/>
          </a:xfrm>
          <a:prstGeom prst="ellipse">
            <a:avLst/>
          </a:prstGeom>
          <a:solidFill>
            <a:srgbClr val="FFF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85" name="可移动独立图标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93049" y="5464149"/>
            <a:ext cx="395020" cy="395020"/>
          </a:xfrm>
          <a:prstGeom prst="rect">
            <a:avLst/>
          </a:prstGeom>
        </p:spPr>
      </p:pic>
      <p:sp>
        <p:nvSpPr>
          <p:cNvPr id="86" name="文字｜清洗 / 去重 / 消歧"/>
          <p:cNvSpPr txBox="1"/>
          <p:nvPr/>
        </p:nvSpPr>
        <p:spPr>
          <a:xfrm>
            <a:off x="8625839" y="5564276"/>
            <a:ext cx="1810654" cy="2279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清洗 / 去重 / 消歧</a:t>
            </a:r>
            <a:endParaRPr sz="132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7999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80000">
                <a:srgbClr val="F7FAFE"/>
              </a:gs>
              <a:gs pos="100000">
                <a:srgbClr val="ECF5FE"/>
              </a:gs>
            </a:gsLst>
            <a:lin ang="315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Freeform 2"/>
          <p:cNvSpPr/>
          <p:nvPr/>
        </p:nvSpPr>
        <p:spPr>
          <a:xfrm>
            <a:off x="8549640" y="0"/>
            <a:ext cx="3642360" cy="4000500"/>
          </a:xfrm>
          <a:custGeom>
            <a:avLst/>
            <a:gdLst/>
            <a:ahLst/>
            <a:cxnLst/>
            <a:rect l="l" t="t" r="r" b="b"/>
            <a:pathLst>
              <a:path w="478" h="525">
                <a:moveTo>
                  <a:pt x="478" y="0"/>
                </a:moveTo>
                <a:lnTo>
                  <a:pt x="58" y="0"/>
                </a:lnTo>
                <a:lnTo>
                  <a:pt x="41" y="24"/>
                </a:lnTo>
                <a:lnTo>
                  <a:pt x="27" y="49"/>
                </a:lnTo>
                <a:lnTo>
                  <a:pt x="16" y="73"/>
                </a:lnTo>
                <a:lnTo>
                  <a:pt x="8" y="97"/>
                </a:lnTo>
                <a:lnTo>
                  <a:pt x="3" y="121"/>
                </a:lnTo>
                <a:lnTo>
                  <a:pt x="0" y="144"/>
                </a:lnTo>
                <a:lnTo>
                  <a:pt x="0" y="167"/>
                </a:lnTo>
                <a:lnTo>
                  <a:pt x="3" y="190"/>
                </a:lnTo>
                <a:lnTo>
                  <a:pt x="8" y="212"/>
                </a:lnTo>
                <a:lnTo>
                  <a:pt x="15" y="234"/>
                </a:lnTo>
                <a:lnTo>
                  <a:pt x="24" y="255"/>
                </a:lnTo>
                <a:lnTo>
                  <a:pt x="36" y="276"/>
                </a:lnTo>
                <a:lnTo>
                  <a:pt x="49" y="295"/>
                </a:lnTo>
                <a:lnTo>
                  <a:pt x="63" y="314"/>
                </a:lnTo>
                <a:lnTo>
                  <a:pt x="80" y="333"/>
                </a:lnTo>
                <a:lnTo>
                  <a:pt x="98" y="350"/>
                </a:lnTo>
                <a:lnTo>
                  <a:pt x="128" y="371"/>
                </a:lnTo>
                <a:lnTo>
                  <a:pt x="157" y="388"/>
                </a:lnTo>
                <a:lnTo>
                  <a:pt x="185" y="402"/>
                </a:lnTo>
                <a:lnTo>
                  <a:pt x="212" y="413"/>
                </a:lnTo>
                <a:lnTo>
                  <a:pt x="239" y="422"/>
                </a:lnTo>
                <a:lnTo>
                  <a:pt x="265" y="429"/>
                </a:lnTo>
                <a:lnTo>
                  <a:pt x="290" y="434"/>
                </a:lnTo>
                <a:lnTo>
                  <a:pt x="314" y="439"/>
                </a:lnTo>
                <a:lnTo>
                  <a:pt x="338" y="444"/>
                </a:lnTo>
                <a:lnTo>
                  <a:pt x="360" y="450"/>
                </a:lnTo>
                <a:lnTo>
                  <a:pt x="382" y="456"/>
                </a:lnTo>
                <a:lnTo>
                  <a:pt x="403" y="465"/>
                </a:lnTo>
                <a:lnTo>
                  <a:pt x="423" y="475"/>
                </a:lnTo>
                <a:lnTo>
                  <a:pt x="442" y="488"/>
                </a:lnTo>
                <a:lnTo>
                  <a:pt x="461" y="505"/>
                </a:lnTo>
                <a:lnTo>
                  <a:pt x="478" y="525"/>
                </a:lnTo>
                <a:lnTo>
                  <a:pt x="478" y="0"/>
                </a:lnTo>
                <a:close/>
              </a:path>
            </a:pathLst>
          </a:custGeom>
          <a:solidFill>
            <a:srgbClr val="EAF5FE">
              <a:alpha val="6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Oval 5"/>
          <p:cNvSpPr/>
          <p:nvPr/>
        </p:nvSpPr>
        <p:spPr>
          <a:xfrm>
            <a:off x="10020299" y="365759"/>
            <a:ext cx="121919" cy="121919"/>
          </a:xfrm>
          <a:prstGeom prst="ellipse">
            <a:avLst/>
          </a:prstGeom>
          <a:solidFill>
            <a:srgbClr val="48A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Oval 6"/>
          <p:cNvSpPr/>
          <p:nvPr/>
        </p:nvSpPr>
        <p:spPr>
          <a:xfrm>
            <a:off x="11452859" y="2689859"/>
            <a:ext cx="106679" cy="106679"/>
          </a:xfrm>
          <a:prstGeom prst="ellipse">
            <a:avLst/>
          </a:prstGeom>
          <a:solidFill>
            <a:srgbClr val="48A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Oval 7"/>
          <p:cNvSpPr/>
          <p:nvPr/>
        </p:nvSpPr>
        <p:spPr>
          <a:xfrm>
            <a:off x="12085319" y="868679"/>
            <a:ext cx="91439" cy="91439"/>
          </a:xfrm>
          <a:prstGeom prst="ellipse">
            <a:avLst/>
          </a:prstGeom>
          <a:solidFill>
            <a:srgbClr val="48A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Oval 8"/>
          <p:cNvSpPr/>
          <p:nvPr/>
        </p:nvSpPr>
        <p:spPr>
          <a:xfrm>
            <a:off x="10553699" y="2065019"/>
            <a:ext cx="76199" cy="76199"/>
          </a:xfrm>
          <a:prstGeom prst="ellipse">
            <a:avLst/>
          </a:prstGeom>
          <a:solidFill>
            <a:srgbClr val="48A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24839" y="441959"/>
            <a:ext cx="411479" cy="53339"/>
          </a:xfrm>
          <a:prstGeom prst="roundRect">
            <a:avLst>
              <a:gd name="adj" fmla="val 50000"/>
            </a:avLst>
          </a:prstGeom>
          <a:solidFill>
            <a:srgbClr val="0E3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1066799" y="441959"/>
            <a:ext cx="380999" cy="53339"/>
          </a:xfrm>
          <a:prstGeom prst="roundRect">
            <a:avLst>
              <a:gd name="adj" fmla="val 50000"/>
            </a:avLst>
          </a:prstGeom>
          <a:solidFill>
            <a:srgbClr val="E69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文字｜需求分析与功能边界"/>
          <p:cNvSpPr txBox="1"/>
          <p:nvPr/>
        </p:nvSpPr>
        <p:spPr>
          <a:xfrm>
            <a:off x="640079" y="765886"/>
            <a:ext cx="4684013" cy="52852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6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需求分析与功能边界</a:t>
            </a:r>
            <a:endParaRPr sz="306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字｜按照访问权限与业务职责划分三类用户"/>
          <p:cNvSpPr txBox="1"/>
          <p:nvPr/>
        </p:nvSpPr>
        <p:spPr>
          <a:xfrm>
            <a:off x="662939" y="1373504"/>
            <a:ext cx="4347209" cy="25907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按照访问权限与业务职责划分三类用户</a:t>
            </a:r>
            <a:endParaRPr sz="1500" b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47699" y="1722119"/>
            <a:ext cx="708659" cy="38099"/>
          </a:xfrm>
          <a:prstGeom prst="roundRect">
            <a:avLst>
              <a:gd name="adj" fmla="val 40000"/>
            </a:avLst>
          </a:prstGeom>
          <a:solidFill>
            <a:srgbClr val="ADD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字｜05 / 16"/>
          <p:cNvSpPr txBox="1"/>
          <p:nvPr/>
        </p:nvSpPr>
        <p:spPr>
          <a:xfrm>
            <a:off x="10815958" y="550087"/>
            <a:ext cx="713101" cy="196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05 / 16</a:t>
            </a:r>
            <a:endParaRPr sz="114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6" name="Connector 15"/>
          <p:cNvCxnSpPr/>
          <p:nvPr/>
        </p:nvCxnSpPr>
        <p:spPr>
          <a:xfrm>
            <a:off x="617219" y="6370319"/>
            <a:ext cx="10949940" cy="0"/>
          </a:xfrm>
          <a:prstGeom prst="line">
            <a:avLst/>
          </a:prstGeom>
          <a:ln w="11429">
            <a:solidFill>
              <a:srgbClr val="D2E2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字｜学术成果分享平台   /   系统分析与设计"/>
          <p:cNvSpPr txBox="1"/>
          <p:nvPr/>
        </p:nvSpPr>
        <p:spPr>
          <a:xfrm>
            <a:off x="640079" y="6463131"/>
            <a:ext cx="3121342" cy="18653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学术成果分享平台   /   系统分析与设计</a:t>
            </a:r>
            <a:endParaRPr sz="1080" b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文字｜05"/>
          <p:cNvSpPr txBox="1"/>
          <p:nvPr/>
        </p:nvSpPr>
        <p:spPr>
          <a:xfrm>
            <a:off x="11225450" y="6448043"/>
            <a:ext cx="356949" cy="20726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05</a:t>
            </a:r>
            <a:endParaRPr sz="12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11315699" y="6675119"/>
            <a:ext cx="274319" cy="30479"/>
          </a:xfrm>
          <a:prstGeom prst="roundRect">
            <a:avLst>
              <a:gd name="adj" fmla="val 50000"/>
            </a:avLst>
          </a:prstGeom>
          <a:solidFill>
            <a:srgbClr val="327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24839" y="2156459"/>
            <a:ext cx="3482339" cy="3398519"/>
          </a:xfrm>
          <a:prstGeom prst="roundRect">
            <a:avLst>
              <a:gd name="adj" fmla="val 4260"/>
            </a:avLst>
          </a:prstGeom>
          <a:solidFill>
            <a:srgbClr val="FFFFFF"/>
          </a:solidFill>
          <a:ln w="7619">
            <a:solidFill>
              <a:srgbClr val="D8E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792479" y="2331719"/>
            <a:ext cx="670559" cy="670559"/>
          </a:xfrm>
          <a:prstGeom prst="ellipse">
            <a:avLst/>
          </a:prstGeom>
          <a:solidFill>
            <a:srgbClr val="E5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2" name="可移动独立图标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0249" y="2469489"/>
            <a:ext cx="395020" cy="395020"/>
          </a:xfrm>
          <a:prstGeom prst="rect">
            <a:avLst/>
          </a:prstGeom>
        </p:spPr>
      </p:pic>
      <p:sp>
        <p:nvSpPr>
          <p:cNvPr id="23" name="文字｜访客 / 普通用户"/>
          <p:cNvSpPr txBox="1"/>
          <p:nvPr/>
        </p:nvSpPr>
        <p:spPr>
          <a:xfrm>
            <a:off x="1569719" y="2516809"/>
            <a:ext cx="2102262" cy="3005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4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访客 / 普通用户</a:t>
            </a:r>
            <a:endParaRPr sz="174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922019" y="3215639"/>
            <a:ext cx="91439" cy="91439"/>
          </a:xfrm>
          <a:prstGeom prst="ellipse">
            <a:avLst/>
          </a:prstGeom>
          <a:solidFill>
            <a:srgbClr val="327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文字｜成果与学者检索"/>
          <p:cNvSpPr txBox="1"/>
          <p:nvPr/>
        </p:nvSpPr>
        <p:spPr>
          <a:xfrm>
            <a:off x="1158239" y="3156356"/>
            <a:ext cx="1422400" cy="24574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成果与学者检索</a:t>
            </a:r>
            <a:endParaRPr sz="1600" b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Oval 25"/>
          <p:cNvSpPr/>
          <p:nvPr/>
        </p:nvSpPr>
        <p:spPr>
          <a:xfrm>
            <a:off x="922019" y="3649979"/>
            <a:ext cx="91439" cy="91439"/>
          </a:xfrm>
          <a:prstGeom prst="ellipse">
            <a:avLst/>
          </a:prstGeom>
          <a:solidFill>
            <a:srgbClr val="327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文字｜成果详情与来源外链"/>
          <p:cNvSpPr txBox="1"/>
          <p:nvPr/>
        </p:nvSpPr>
        <p:spPr>
          <a:xfrm>
            <a:off x="1158239" y="3590696"/>
            <a:ext cx="1828800" cy="24574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成果详情与来源外链</a:t>
            </a:r>
            <a:endParaRPr sz="1600" b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Oval 27"/>
          <p:cNvSpPr/>
          <p:nvPr/>
        </p:nvSpPr>
        <p:spPr>
          <a:xfrm>
            <a:off x="922019" y="4084319"/>
            <a:ext cx="91439" cy="91439"/>
          </a:xfrm>
          <a:prstGeom prst="ellipse">
            <a:avLst/>
          </a:prstGeom>
          <a:solidFill>
            <a:srgbClr val="327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文字｜公开统计与相关推荐"/>
          <p:cNvSpPr txBox="1"/>
          <p:nvPr/>
        </p:nvSpPr>
        <p:spPr>
          <a:xfrm>
            <a:off x="1158239" y="4025036"/>
            <a:ext cx="1828800" cy="24574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公开统计与相关推荐</a:t>
            </a:r>
            <a:endParaRPr sz="1600" b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Oval 29"/>
          <p:cNvSpPr/>
          <p:nvPr/>
        </p:nvSpPr>
        <p:spPr>
          <a:xfrm>
            <a:off x="922019" y="4518659"/>
            <a:ext cx="91439" cy="91439"/>
          </a:xfrm>
          <a:prstGeom prst="ellipse">
            <a:avLst/>
          </a:prstGeom>
          <a:solidFill>
            <a:srgbClr val="327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文字｜申请机构注册 / 科研人员身份"/>
          <p:cNvSpPr txBox="1"/>
          <p:nvPr/>
        </p:nvSpPr>
        <p:spPr>
          <a:xfrm>
            <a:off x="1158239" y="4459376"/>
            <a:ext cx="2646045" cy="24574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申请机构注册 / 科研人员身份</a:t>
            </a:r>
            <a:endParaRPr sz="1600" b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4381499" y="2156459"/>
            <a:ext cx="3482339" cy="3398519"/>
          </a:xfrm>
          <a:prstGeom prst="roundRect">
            <a:avLst>
              <a:gd name="adj" fmla="val 4260"/>
            </a:avLst>
          </a:prstGeom>
          <a:solidFill>
            <a:srgbClr val="FFFFFF"/>
          </a:solidFill>
          <a:ln w="7619">
            <a:solidFill>
              <a:srgbClr val="D8E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Oval 32"/>
          <p:cNvSpPr/>
          <p:nvPr/>
        </p:nvSpPr>
        <p:spPr>
          <a:xfrm>
            <a:off x="4549139" y="2331719"/>
            <a:ext cx="670559" cy="670559"/>
          </a:xfrm>
          <a:prstGeom prst="ellipse">
            <a:avLst/>
          </a:prstGeom>
          <a:solidFill>
            <a:srgbClr val="E5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4" name="可移动独立图标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6909" y="2469489"/>
            <a:ext cx="395020" cy="395020"/>
          </a:xfrm>
          <a:prstGeom prst="rect">
            <a:avLst/>
          </a:prstGeom>
        </p:spPr>
      </p:pic>
      <p:sp>
        <p:nvSpPr>
          <p:cNvPr id="35" name="文字｜科研人员"/>
          <p:cNvSpPr txBox="1"/>
          <p:nvPr/>
        </p:nvSpPr>
        <p:spPr>
          <a:xfrm>
            <a:off x="5326379" y="2516809"/>
            <a:ext cx="1286255" cy="3005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4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科研人员</a:t>
            </a:r>
            <a:endParaRPr sz="174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Oval 35"/>
          <p:cNvSpPr/>
          <p:nvPr/>
        </p:nvSpPr>
        <p:spPr>
          <a:xfrm>
            <a:off x="4678679" y="3215639"/>
            <a:ext cx="91439" cy="91439"/>
          </a:xfrm>
          <a:prstGeom prst="ellipse">
            <a:avLst/>
          </a:prstGeom>
          <a:solidFill>
            <a:srgbClr val="159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文字｜申请学者门户管理权"/>
          <p:cNvSpPr txBox="1"/>
          <p:nvPr/>
        </p:nvSpPr>
        <p:spPr>
          <a:xfrm>
            <a:off x="4914899" y="3156356"/>
            <a:ext cx="1828800" cy="24574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申请学者门户管理权</a:t>
            </a:r>
            <a:endParaRPr sz="1600" b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Oval 37"/>
          <p:cNvSpPr/>
          <p:nvPr/>
        </p:nvSpPr>
        <p:spPr>
          <a:xfrm>
            <a:off x="4678679" y="3649979"/>
            <a:ext cx="91439" cy="91439"/>
          </a:xfrm>
          <a:prstGeom prst="ellipse">
            <a:avLst/>
          </a:prstGeom>
          <a:solidFill>
            <a:srgbClr val="159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文字｜逐项申请成果认领"/>
          <p:cNvSpPr txBox="1"/>
          <p:nvPr/>
        </p:nvSpPr>
        <p:spPr>
          <a:xfrm>
            <a:off x="4914899" y="3590696"/>
            <a:ext cx="1625600" cy="24574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逐项申请成果认领</a:t>
            </a:r>
            <a:endParaRPr sz="1600" b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Oval 39"/>
          <p:cNvSpPr/>
          <p:nvPr/>
        </p:nvSpPr>
        <p:spPr>
          <a:xfrm>
            <a:off x="4678679" y="4084319"/>
            <a:ext cx="91439" cy="91439"/>
          </a:xfrm>
          <a:prstGeom prst="ellipse">
            <a:avLst/>
          </a:prstGeom>
          <a:solidFill>
            <a:srgbClr val="159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文字｜提交补录 / 纠错"/>
          <p:cNvSpPr txBox="1"/>
          <p:nvPr/>
        </p:nvSpPr>
        <p:spPr>
          <a:xfrm>
            <a:off x="4914899" y="4025036"/>
            <a:ext cx="1426845" cy="24574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提交补录 / 纠错</a:t>
            </a:r>
            <a:endParaRPr sz="1600" b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Oval 41"/>
          <p:cNvSpPr/>
          <p:nvPr/>
        </p:nvSpPr>
        <p:spPr>
          <a:xfrm>
            <a:off x="4678679" y="4518659"/>
            <a:ext cx="91439" cy="91439"/>
          </a:xfrm>
          <a:prstGeom prst="ellipse">
            <a:avLst/>
          </a:prstGeom>
          <a:solidFill>
            <a:srgbClr val="159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文字｜维护个人标签与说明"/>
          <p:cNvSpPr txBox="1"/>
          <p:nvPr/>
        </p:nvSpPr>
        <p:spPr>
          <a:xfrm>
            <a:off x="4914899" y="4459376"/>
            <a:ext cx="1828800" cy="24574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维护个人标签与说明</a:t>
            </a:r>
            <a:endParaRPr sz="1600" b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Oval 43"/>
          <p:cNvSpPr/>
          <p:nvPr/>
        </p:nvSpPr>
        <p:spPr>
          <a:xfrm>
            <a:off x="4678679" y="4952999"/>
            <a:ext cx="91439" cy="91439"/>
          </a:xfrm>
          <a:prstGeom prst="ellipse">
            <a:avLst/>
          </a:prstGeom>
          <a:solidFill>
            <a:srgbClr val="159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文字｜查看申请与审核状态"/>
          <p:cNvSpPr txBox="1"/>
          <p:nvPr/>
        </p:nvSpPr>
        <p:spPr>
          <a:xfrm>
            <a:off x="4914899" y="4893716"/>
            <a:ext cx="1828800" cy="24574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查看申请与审核状态</a:t>
            </a:r>
            <a:endParaRPr sz="1600" b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8138159" y="2156459"/>
            <a:ext cx="3482339" cy="3398519"/>
          </a:xfrm>
          <a:prstGeom prst="roundRect">
            <a:avLst>
              <a:gd name="adj" fmla="val 4260"/>
            </a:avLst>
          </a:prstGeom>
          <a:solidFill>
            <a:srgbClr val="FFFFFF"/>
          </a:solidFill>
          <a:ln w="7619">
            <a:solidFill>
              <a:srgbClr val="D8E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Oval 46"/>
          <p:cNvSpPr/>
          <p:nvPr/>
        </p:nvSpPr>
        <p:spPr>
          <a:xfrm>
            <a:off x="8305799" y="2331719"/>
            <a:ext cx="670559" cy="670559"/>
          </a:xfrm>
          <a:prstGeom prst="ellipse">
            <a:avLst/>
          </a:prstGeom>
          <a:solidFill>
            <a:srgbClr val="FFF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8" name="可移动独立图标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3569" y="2469489"/>
            <a:ext cx="395020" cy="395020"/>
          </a:xfrm>
          <a:prstGeom prst="rect">
            <a:avLst/>
          </a:prstGeom>
        </p:spPr>
      </p:pic>
      <p:sp>
        <p:nvSpPr>
          <p:cNvPr id="49" name="文字｜平台管理员"/>
          <p:cNvSpPr txBox="1"/>
          <p:nvPr/>
        </p:nvSpPr>
        <p:spPr>
          <a:xfrm>
            <a:off x="9083039" y="2516809"/>
            <a:ext cx="1573529" cy="3005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4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平台管理员</a:t>
            </a:r>
            <a:endParaRPr sz="174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" name="Oval 49"/>
          <p:cNvSpPr/>
          <p:nvPr/>
        </p:nvSpPr>
        <p:spPr>
          <a:xfrm>
            <a:off x="8435339" y="3215639"/>
            <a:ext cx="91439" cy="91439"/>
          </a:xfrm>
          <a:prstGeom prst="ellipse">
            <a:avLst/>
          </a:prstGeom>
          <a:solidFill>
            <a:srgbClr val="E69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" name="文字｜审核机构与人员身份"/>
          <p:cNvSpPr txBox="1"/>
          <p:nvPr/>
        </p:nvSpPr>
        <p:spPr>
          <a:xfrm>
            <a:off x="8671559" y="3156356"/>
            <a:ext cx="1828800" cy="24574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审核机构与人员身份</a:t>
            </a:r>
            <a:endParaRPr sz="1600" b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" name="Oval 51"/>
          <p:cNvSpPr/>
          <p:nvPr/>
        </p:nvSpPr>
        <p:spPr>
          <a:xfrm>
            <a:off x="8435339" y="3649979"/>
            <a:ext cx="91439" cy="91439"/>
          </a:xfrm>
          <a:prstGeom prst="ellipse">
            <a:avLst/>
          </a:prstGeom>
          <a:solidFill>
            <a:srgbClr val="E69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" name="文字｜审核门户与成果认领"/>
          <p:cNvSpPr txBox="1"/>
          <p:nvPr/>
        </p:nvSpPr>
        <p:spPr>
          <a:xfrm>
            <a:off x="8671559" y="3590696"/>
            <a:ext cx="1828800" cy="24574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审核门户与成果认领</a:t>
            </a:r>
            <a:endParaRPr sz="1600" b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" name="Oval 53"/>
          <p:cNvSpPr/>
          <p:nvPr/>
        </p:nvSpPr>
        <p:spPr>
          <a:xfrm>
            <a:off x="8435339" y="4084319"/>
            <a:ext cx="91439" cy="91439"/>
          </a:xfrm>
          <a:prstGeom prst="ellipse">
            <a:avLst/>
          </a:prstGeom>
          <a:solidFill>
            <a:srgbClr val="E69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" name="文字｜管理采集与数据治理"/>
          <p:cNvSpPr txBox="1"/>
          <p:nvPr/>
        </p:nvSpPr>
        <p:spPr>
          <a:xfrm>
            <a:off x="8671559" y="4025036"/>
            <a:ext cx="1828800" cy="24574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管理采集与数据治理</a:t>
            </a:r>
            <a:endParaRPr sz="1600" b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" name="Oval 55"/>
          <p:cNvSpPr/>
          <p:nvPr/>
        </p:nvSpPr>
        <p:spPr>
          <a:xfrm>
            <a:off x="8435339" y="4518659"/>
            <a:ext cx="91439" cy="91439"/>
          </a:xfrm>
          <a:prstGeom prst="ellipse">
            <a:avLst/>
          </a:prstGeom>
          <a:solidFill>
            <a:srgbClr val="E69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" name="文字｜维护检索索引及质量审计"/>
          <p:cNvSpPr txBox="1"/>
          <p:nvPr/>
        </p:nvSpPr>
        <p:spPr>
          <a:xfrm>
            <a:off x="8671559" y="4459376"/>
            <a:ext cx="2235200" cy="24574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维护检索索引及质量审计</a:t>
            </a:r>
            <a:endParaRPr sz="1600" b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8" name="Rounded Rectangle 57"/>
          <p:cNvSpPr/>
          <p:nvPr/>
        </p:nvSpPr>
        <p:spPr>
          <a:xfrm>
            <a:off x="624839" y="5783579"/>
            <a:ext cx="10934699" cy="510539"/>
          </a:xfrm>
          <a:prstGeom prst="roundRect">
            <a:avLst>
              <a:gd name="adj" fmla="val 25373"/>
            </a:avLst>
          </a:prstGeom>
          <a:solidFill>
            <a:srgbClr val="EC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9" name="Oval 58"/>
          <p:cNvSpPr/>
          <p:nvPr/>
        </p:nvSpPr>
        <p:spPr>
          <a:xfrm>
            <a:off x="761999" y="5848349"/>
            <a:ext cx="380999" cy="380999"/>
          </a:xfrm>
          <a:prstGeom prst="ellipse">
            <a:avLst/>
          </a:prstGeom>
          <a:solidFill>
            <a:srgbClr val="E5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60" name="可移动独立图标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989" y="5841339"/>
            <a:ext cx="395020" cy="395020"/>
          </a:xfrm>
          <a:prstGeom prst="rect">
            <a:avLst/>
          </a:prstGeom>
        </p:spPr>
      </p:pic>
      <p:sp>
        <p:nvSpPr>
          <p:cNvPr id="61" name="文字｜权限原则"/>
          <p:cNvSpPr txBox="1"/>
          <p:nvPr/>
        </p:nvSpPr>
        <p:spPr>
          <a:xfrm>
            <a:off x="1257299" y="5918834"/>
            <a:ext cx="1127759" cy="25907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权限原则</a:t>
            </a:r>
            <a:endParaRPr sz="15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2" name="文字｜公开信息开放展示；认领受审核控制；治理操作全程留痕。"/>
          <p:cNvSpPr txBox="1"/>
          <p:nvPr/>
        </p:nvSpPr>
        <p:spPr>
          <a:xfrm>
            <a:off x="2834639" y="5926302"/>
            <a:ext cx="6060947" cy="23835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公开信息开放展示；认领受审核控制；治理操作全程留痕。</a:t>
            </a:r>
            <a:endParaRPr sz="1380" b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核心数据模型设计信息图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7999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80000">
                <a:srgbClr val="F7FAFE"/>
              </a:gs>
              <a:gs pos="100000">
                <a:srgbClr val="ECF5FE"/>
              </a:gs>
            </a:gsLst>
            <a:lin ang="315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Freeform 2"/>
          <p:cNvSpPr/>
          <p:nvPr/>
        </p:nvSpPr>
        <p:spPr>
          <a:xfrm>
            <a:off x="8549640" y="0"/>
            <a:ext cx="3642360" cy="4000500"/>
          </a:xfrm>
          <a:custGeom>
            <a:avLst/>
            <a:gdLst/>
            <a:ahLst/>
            <a:cxnLst/>
            <a:rect l="l" t="t" r="r" b="b"/>
            <a:pathLst>
              <a:path w="478" h="525">
                <a:moveTo>
                  <a:pt x="478" y="0"/>
                </a:moveTo>
                <a:lnTo>
                  <a:pt x="58" y="0"/>
                </a:lnTo>
                <a:lnTo>
                  <a:pt x="41" y="24"/>
                </a:lnTo>
                <a:lnTo>
                  <a:pt x="27" y="49"/>
                </a:lnTo>
                <a:lnTo>
                  <a:pt x="16" y="73"/>
                </a:lnTo>
                <a:lnTo>
                  <a:pt x="8" y="97"/>
                </a:lnTo>
                <a:lnTo>
                  <a:pt x="3" y="121"/>
                </a:lnTo>
                <a:lnTo>
                  <a:pt x="0" y="144"/>
                </a:lnTo>
                <a:lnTo>
                  <a:pt x="0" y="167"/>
                </a:lnTo>
                <a:lnTo>
                  <a:pt x="3" y="190"/>
                </a:lnTo>
                <a:lnTo>
                  <a:pt x="8" y="212"/>
                </a:lnTo>
                <a:lnTo>
                  <a:pt x="15" y="234"/>
                </a:lnTo>
                <a:lnTo>
                  <a:pt x="24" y="255"/>
                </a:lnTo>
                <a:lnTo>
                  <a:pt x="36" y="276"/>
                </a:lnTo>
                <a:lnTo>
                  <a:pt x="49" y="295"/>
                </a:lnTo>
                <a:lnTo>
                  <a:pt x="63" y="314"/>
                </a:lnTo>
                <a:lnTo>
                  <a:pt x="80" y="333"/>
                </a:lnTo>
                <a:lnTo>
                  <a:pt x="98" y="350"/>
                </a:lnTo>
                <a:lnTo>
                  <a:pt x="128" y="371"/>
                </a:lnTo>
                <a:lnTo>
                  <a:pt x="157" y="388"/>
                </a:lnTo>
                <a:lnTo>
                  <a:pt x="185" y="402"/>
                </a:lnTo>
                <a:lnTo>
                  <a:pt x="212" y="413"/>
                </a:lnTo>
                <a:lnTo>
                  <a:pt x="239" y="422"/>
                </a:lnTo>
                <a:lnTo>
                  <a:pt x="265" y="429"/>
                </a:lnTo>
                <a:lnTo>
                  <a:pt x="290" y="434"/>
                </a:lnTo>
                <a:lnTo>
                  <a:pt x="314" y="439"/>
                </a:lnTo>
                <a:lnTo>
                  <a:pt x="338" y="444"/>
                </a:lnTo>
                <a:lnTo>
                  <a:pt x="360" y="450"/>
                </a:lnTo>
                <a:lnTo>
                  <a:pt x="382" y="456"/>
                </a:lnTo>
                <a:lnTo>
                  <a:pt x="403" y="465"/>
                </a:lnTo>
                <a:lnTo>
                  <a:pt x="423" y="475"/>
                </a:lnTo>
                <a:lnTo>
                  <a:pt x="442" y="488"/>
                </a:lnTo>
                <a:lnTo>
                  <a:pt x="461" y="505"/>
                </a:lnTo>
                <a:lnTo>
                  <a:pt x="478" y="525"/>
                </a:lnTo>
                <a:lnTo>
                  <a:pt x="478" y="0"/>
                </a:lnTo>
                <a:close/>
              </a:path>
            </a:pathLst>
          </a:custGeom>
          <a:solidFill>
            <a:srgbClr val="EAF5FE">
              <a:alpha val="6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Oval 5"/>
          <p:cNvSpPr/>
          <p:nvPr/>
        </p:nvSpPr>
        <p:spPr>
          <a:xfrm>
            <a:off x="10020299" y="365759"/>
            <a:ext cx="121919" cy="121919"/>
          </a:xfrm>
          <a:prstGeom prst="ellipse">
            <a:avLst/>
          </a:prstGeom>
          <a:solidFill>
            <a:srgbClr val="48A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Oval 6"/>
          <p:cNvSpPr/>
          <p:nvPr/>
        </p:nvSpPr>
        <p:spPr>
          <a:xfrm>
            <a:off x="11452859" y="2689859"/>
            <a:ext cx="106679" cy="106679"/>
          </a:xfrm>
          <a:prstGeom prst="ellipse">
            <a:avLst/>
          </a:prstGeom>
          <a:solidFill>
            <a:srgbClr val="48A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Oval 7"/>
          <p:cNvSpPr/>
          <p:nvPr/>
        </p:nvSpPr>
        <p:spPr>
          <a:xfrm>
            <a:off x="12085319" y="868679"/>
            <a:ext cx="91439" cy="91439"/>
          </a:xfrm>
          <a:prstGeom prst="ellipse">
            <a:avLst/>
          </a:prstGeom>
          <a:solidFill>
            <a:srgbClr val="48A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Oval 8"/>
          <p:cNvSpPr/>
          <p:nvPr/>
        </p:nvSpPr>
        <p:spPr>
          <a:xfrm>
            <a:off x="10553699" y="2065019"/>
            <a:ext cx="76199" cy="76199"/>
          </a:xfrm>
          <a:prstGeom prst="ellipse">
            <a:avLst/>
          </a:prstGeom>
          <a:solidFill>
            <a:srgbClr val="48A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24839" y="441959"/>
            <a:ext cx="411479" cy="53339"/>
          </a:xfrm>
          <a:prstGeom prst="roundRect">
            <a:avLst>
              <a:gd name="adj" fmla="val 50000"/>
            </a:avLst>
          </a:prstGeom>
          <a:solidFill>
            <a:srgbClr val="0E3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1066799" y="441959"/>
            <a:ext cx="380999" cy="53339"/>
          </a:xfrm>
          <a:prstGeom prst="roundRect">
            <a:avLst>
              <a:gd name="adj" fmla="val 50000"/>
            </a:avLst>
          </a:prstGeom>
          <a:solidFill>
            <a:srgbClr val="E69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文字｜多源数据采集与更新"/>
          <p:cNvSpPr txBox="1"/>
          <p:nvPr/>
        </p:nvSpPr>
        <p:spPr>
          <a:xfrm>
            <a:off x="640079" y="765886"/>
            <a:ext cx="4684013" cy="52852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6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多源数据采集与更新</a:t>
            </a:r>
            <a:endParaRPr sz="306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字｜从数据获取到可检索成果的完整 ETL 与同步流程"/>
          <p:cNvSpPr txBox="1"/>
          <p:nvPr/>
        </p:nvSpPr>
        <p:spPr>
          <a:xfrm>
            <a:off x="662939" y="1373504"/>
            <a:ext cx="5381922" cy="25907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从数据获取到可检索成果的完整 ETL 与同步流程</a:t>
            </a:r>
            <a:endParaRPr sz="1500" b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47699" y="1722119"/>
            <a:ext cx="708659" cy="38099"/>
          </a:xfrm>
          <a:prstGeom prst="roundRect">
            <a:avLst>
              <a:gd name="adj" fmla="val 40000"/>
            </a:avLst>
          </a:prstGeom>
          <a:solidFill>
            <a:srgbClr val="ADD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字｜08 / 16"/>
          <p:cNvSpPr txBox="1"/>
          <p:nvPr/>
        </p:nvSpPr>
        <p:spPr>
          <a:xfrm>
            <a:off x="10815958" y="550087"/>
            <a:ext cx="713101" cy="196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08 / 16</a:t>
            </a:r>
            <a:endParaRPr sz="114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6" name="Connector 15"/>
          <p:cNvCxnSpPr/>
          <p:nvPr/>
        </p:nvCxnSpPr>
        <p:spPr>
          <a:xfrm>
            <a:off x="617219" y="6370319"/>
            <a:ext cx="10949940" cy="0"/>
          </a:xfrm>
          <a:prstGeom prst="line">
            <a:avLst/>
          </a:prstGeom>
          <a:ln w="11429">
            <a:solidFill>
              <a:srgbClr val="D2E2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字｜学术成果分享平台   /   系统分析与设计"/>
          <p:cNvSpPr txBox="1"/>
          <p:nvPr/>
        </p:nvSpPr>
        <p:spPr>
          <a:xfrm>
            <a:off x="640079" y="6463131"/>
            <a:ext cx="3121342" cy="18653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学术成果分享平台   /   系统分析与设计</a:t>
            </a:r>
            <a:endParaRPr sz="1080" b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文字｜08"/>
          <p:cNvSpPr txBox="1"/>
          <p:nvPr/>
        </p:nvSpPr>
        <p:spPr>
          <a:xfrm>
            <a:off x="11225450" y="6448043"/>
            <a:ext cx="356949" cy="20726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08</a:t>
            </a:r>
            <a:endParaRPr sz="12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11315699" y="6675119"/>
            <a:ext cx="274319" cy="30479"/>
          </a:xfrm>
          <a:prstGeom prst="roundRect">
            <a:avLst>
              <a:gd name="adj" fmla="val 50000"/>
            </a:avLst>
          </a:prstGeom>
          <a:solidFill>
            <a:srgbClr val="327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548639" y="2316479"/>
            <a:ext cx="2133599" cy="2461259"/>
          </a:xfrm>
          <a:prstGeom prst="roundRect">
            <a:avLst>
              <a:gd name="adj" fmla="val 6785"/>
            </a:avLst>
          </a:prstGeom>
          <a:solidFill>
            <a:srgbClr val="FFFFFF"/>
          </a:solidFill>
          <a:ln w="7619">
            <a:solidFill>
              <a:srgbClr val="D8E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文字｜01"/>
          <p:cNvSpPr txBox="1"/>
          <p:nvPr/>
        </p:nvSpPr>
        <p:spPr>
          <a:xfrm>
            <a:off x="754379" y="2577236"/>
            <a:ext cx="378928" cy="2279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sz="132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1173479" y="2766059"/>
            <a:ext cx="883919" cy="883919"/>
          </a:xfrm>
          <a:prstGeom prst="ellipse">
            <a:avLst/>
          </a:prstGeom>
          <a:solidFill>
            <a:srgbClr val="E5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3" name="可移动独立图标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929" y="3010509"/>
            <a:ext cx="395020" cy="395020"/>
          </a:xfrm>
          <a:prstGeom prst="rect">
            <a:avLst/>
          </a:prstGeom>
        </p:spPr>
      </p:pic>
      <p:sp>
        <p:nvSpPr>
          <p:cNvPr id="24" name="文字｜数据采集"/>
          <p:cNvSpPr txBox="1"/>
          <p:nvPr/>
        </p:nvSpPr>
        <p:spPr>
          <a:xfrm>
            <a:off x="1011935" y="3766337"/>
            <a:ext cx="1207007" cy="27980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数据采集</a:t>
            </a:r>
            <a:endParaRPr sz="162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文字｜按来源接口或公开清单"/>
          <p:cNvSpPr txBox="1"/>
          <p:nvPr/>
        </p:nvSpPr>
        <p:spPr>
          <a:xfrm>
            <a:off x="556259" y="4169663"/>
            <a:ext cx="2118359" cy="20726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按来源接口或公开清单</a:t>
            </a:r>
            <a:endParaRPr sz="1200" b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文字｜获取结构化信息"/>
          <p:cNvSpPr txBox="1"/>
          <p:nvPr/>
        </p:nvSpPr>
        <p:spPr>
          <a:xfrm>
            <a:off x="853439" y="4390643"/>
            <a:ext cx="1523999" cy="20726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获取结构化信息</a:t>
            </a:r>
            <a:endParaRPr sz="1200" b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27" name="Connector 26"/>
          <p:cNvCxnSpPr/>
          <p:nvPr/>
        </p:nvCxnSpPr>
        <p:spPr>
          <a:xfrm>
            <a:off x="2697479" y="3550919"/>
            <a:ext cx="182880" cy="0"/>
          </a:xfrm>
          <a:prstGeom prst="line">
            <a:avLst/>
          </a:prstGeom>
          <a:ln w="22859">
            <a:solidFill>
              <a:srgbClr val="62AA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Freeform 27"/>
          <p:cNvSpPr/>
          <p:nvPr/>
        </p:nvSpPr>
        <p:spPr>
          <a:xfrm>
            <a:off x="2804160" y="3512820"/>
            <a:ext cx="76200" cy="76200"/>
          </a:xfrm>
          <a:custGeom>
            <a:avLst/>
            <a:gdLst/>
            <a:ahLst/>
            <a:cxnLst/>
            <a:rect l="l" t="t" r="r" b="b"/>
            <a:pathLst>
              <a:path w="10" h="10">
                <a:moveTo>
                  <a:pt x="0" y="10"/>
                </a:moveTo>
                <a:lnTo>
                  <a:pt x="10" y="5"/>
                </a:lnTo>
                <a:lnTo>
                  <a:pt x="0" y="0"/>
                </a:lnTo>
              </a:path>
            </a:pathLst>
          </a:custGeom>
          <a:noFill/>
          <a:ln w="22859">
            <a:solidFill>
              <a:srgbClr val="62A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2895599" y="2316479"/>
            <a:ext cx="2133599" cy="2461259"/>
          </a:xfrm>
          <a:prstGeom prst="roundRect">
            <a:avLst>
              <a:gd name="adj" fmla="val 6785"/>
            </a:avLst>
          </a:prstGeom>
          <a:solidFill>
            <a:srgbClr val="FFFFFF"/>
          </a:solidFill>
          <a:ln w="7619">
            <a:solidFill>
              <a:srgbClr val="D8E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文字｜02"/>
          <p:cNvSpPr txBox="1"/>
          <p:nvPr/>
        </p:nvSpPr>
        <p:spPr>
          <a:xfrm>
            <a:off x="3101339" y="2577236"/>
            <a:ext cx="378928" cy="2279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sz="132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Oval 30"/>
          <p:cNvSpPr/>
          <p:nvPr/>
        </p:nvSpPr>
        <p:spPr>
          <a:xfrm>
            <a:off x="3520439" y="2766059"/>
            <a:ext cx="883919" cy="883919"/>
          </a:xfrm>
          <a:prstGeom prst="ellipse">
            <a:avLst/>
          </a:prstGeom>
          <a:solidFill>
            <a:srgbClr val="E5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2" name="可移动独立图标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4889" y="3010509"/>
            <a:ext cx="395020" cy="395020"/>
          </a:xfrm>
          <a:prstGeom prst="rect">
            <a:avLst/>
          </a:prstGeom>
        </p:spPr>
      </p:pic>
      <p:sp>
        <p:nvSpPr>
          <p:cNvPr id="33" name="文字｜数据清洗"/>
          <p:cNvSpPr txBox="1"/>
          <p:nvPr/>
        </p:nvSpPr>
        <p:spPr>
          <a:xfrm>
            <a:off x="3358895" y="3766337"/>
            <a:ext cx="1207007" cy="27980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数据清洗</a:t>
            </a:r>
            <a:endParaRPr sz="162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文字｜统一格式、检查错误"/>
          <p:cNvSpPr txBox="1"/>
          <p:nvPr/>
        </p:nvSpPr>
        <p:spPr>
          <a:xfrm>
            <a:off x="3002279" y="4169663"/>
            <a:ext cx="1920239" cy="20726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统一格式、检查错误</a:t>
            </a:r>
            <a:endParaRPr sz="1200" b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文字｜标记缺失与重复"/>
          <p:cNvSpPr txBox="1"/>
          <p:nvPr/>
        </p:nvSpPr>
        <p:spPr>
          <a:xfrm>
            <a:off x="3200399" y="4390643"/>
            <a:ext cx="1523999" cy="20726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标记缺失与重复</a:t>
            </a:r>
            <a:endParaRPr sz="1200" b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36" name="Connector 35"/>
          <p:cNvCxnSpPr/>
          <p:nvPr/>
        </p:nvCxnSpPr>
        <p:spPr>
          <a:xfrm>
            <a:off x="5044439" y="3550919"/>
            <a:ext cx="182880" cy="0"/>
          </a:xfrm>
          <a:prstGeom prst="line">
            <a:avLst/>
          </a:prstGeom>
          <a:ln w="22859">
            <a:solidFill>
              <a:srgbClr val="62AA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Freeform 36"/>
          <p:cNvSpPr/>
          <p:nvPr/>
        </p:nvSpPr>
        <p:spPr>
          <a:xfrm>
            <a:off x="5151120" y="3512820"/>
            <a:ext cx="76200" cy="76200"/>
          </a:xfrm>
          <a:custGeom>
            <a:avLst/>
            <a:gdLst/>
            <a:ahLst/>
            <a:cxnLst/>
            <a:rect l="l" t="t" r="r" b="b"/>
            <a:pathLst>
              <a:path w="10" h="10">
                <a:moveTo>
                  <a:pt x="0" y="10"/>
                </a:moveTo>
                <a:lnTo>
                  <a:pt x="10" y="5"/>
                </a:lnTo>
                <a:lnTo>
                  <a:pt x="0" y="0"/>
                </a:lnTo>
              </a:path>
            </a:pathLst>
          </a:custGeom>
          <a:noFill/>
          <a:ln w="22859">
            <a:solidFill>
              <a:srgbClr val="62A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5242559" y="2316479"/>
            <a:ext cx="2133599" cy="2461259"/>
          </a:xfrm>
          <a:prstGeom prst="roundRect">
            <a:avLst>
              <a:gd name="adj" fmla="val 6785"/>
            </a:avLst>
          </a:prstGeom>
          <a:solidFill>
            <a:srgbClr val="FFFFFF"/>
          </a:solidFill>
          <a:ln w="7619">
            <a:solidFill>
              <a:srgbClr val="D8E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文字｜03"/>
          <p:cNvSpPr txBox="1"/>
          <p:nvPr/>
        </p:nvSpPr>
        <p:spPr>
          <a:xfrm>
            <a:off x="5448299" y="2577236"/>
            <a:ext cx="378928" cy="2279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sz="132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Oval 39"/>
          <p:cNvSpPr/>
          <p:nvPr/>
        </p:nvSpPr>
        <p:spPr>
          <a:xfrm>
            <a:off x="5867399" y="2766059"/>
            <a:ext cx="883919" cy="883919"/>
          </a:xfrm>
          <a:prstGeom prst="ellipse">
            <a:avLst/>
          </a:prstGeom>
          <a:solidFill>
            <a:srgbClr val="FFF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1" name="可移动独立图标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1849" y="3010509"/>
            <a:ext cx="395020" cy="395020"/>
          </a:xfrm>
          <a:prstGeom prst="rect">
            <a:avLst/>
          </a:prstGeom>
        </p:spPr>
      </p:pic>
      <p:sp>
        <p:nvSpPr>
          <p:cNvPr id="42" name="文字｜数据存储"/>
          <p:cNvSpPr txBox="1"/>
          <p:nvPr/>
        </p:nvSpPr>
        <p:spPr>
          <a:xfrm>
            <a:off x="5705855" y="3766337"/>
            <a:ext cx="1207007" cy="27980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数据存储</a:t>
            </a:r>
            <a:endParaRPr sz="162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文字｜保存规范成果与"/>
          <p:cNvSpPr txBox="1"/>
          <p:nvPr/>
        </p:nvSpPr>
        <p:spPr>
          <a:xfrm>
            <a:off x="5547359" y="4169663"/>
            <a:ext cx="1523999" cy="20726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保存规范成果与</a:t>
            </a:r>
            <a:endParaRPr sz="1200" b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文字｜原始来源记录"/>
          <p:cNvSpPr txBox="1"/>
          <p:nvPr/>
        </p:nvSpPr>
        <p:spPr>
          <a:xfrm>
            <a:off x="5646419" y="4390643"/>
            <a:ext cx="1325879" cy="20726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原始来源记录</a:t>
            </a:r>
            <a:endParaRPr sz="1200" b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45" name="Connector 44"/>
          <p:cNvCxnSpPr/>
          <p:nvPr/>
        </p:nvCxnSpPr>
        <p:spPr>
          <a:xfrm>
            <a:off x="7391399" y="3550919"/>
            <a:ext cx="182880" cy="0"/>
          </a:xfrm>
          <a:prstGeom prst="line">
            <a:avLst/>
          </a:prstGeom>
          <a:ln w="22859">
            <a:solidFill>
              <a:srgbClr val="62AA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Freeform 45"/>
          <p:cNvSpPr/>
          <p:nvPr/>
        </p:nvSpPr>
        <p:spPr>
          <a:xfrm>
            <a:off x="7498080" y="3512820"/>
            <a:ext cx="76200" cy="76200"/>
          </a:xfrm>
          <a:custGeom>
            <a:avLst/>
            <a:gdLst/>
            <a:ahLst/>
            <a:cxnLst/>
            <a:rect l="l" t="t" r="r" b="b"/>
            <a:pathLst>
              <a:path w="10" h="10">
                <a:moveTo>
                  <a:pt x="0" y="10"/>
                </a:moveTo>
                <a:lnTo>
                  <a:pt x="10" y="5"/>
                </a:lnTo>
                <a:lnTo>
                  <a:pt x="0" y="0"/>
                </a:lnTo>
              </a:path>
            </a:pathLst>
          </a:custGeom>
          <a:noFill/>
          <a:ln w="22859">
            <a:solidFill>
              <a:srgbClr val="62A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Rounded Rectangle 46"/>
          <p:cNvSpPr/>
          <p:nvPr/>
        </p:nvSpPr>
        <p:spPr>
          <a:xfrm>
            <a:off x="7589519" y="2316479"/>
            <a:ext cx="2133599" cy="2461259"/>
          </a:xfrm>
          <a:prstGeom prst="roundRect">
            <a:avLst>
              <a:gd name="adj" fmla="val 6785"/>
            </a:avLst>
          </a:prstGeom>
          <a:solidFill>
            <a:srgbClr val="FFFFFF"/>
          </a:solidFill>
          <a:ln w="7619">
            <a:solidFill>
              <a:srgbClr val="D8E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" name="文字｜04"/>
          <p:cNvSpPr txBox="1"/>
          <p:nvPr/>
        </p:nvSpPr>
        <p:spPr>
          <a:xfrm>
            <a:off x="7795259" y="2577236"/>
            <a:ext cx="378928" cy="2279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sz="132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" name="Oval 48"/>
          <p:cNvSpPr/>
          <p:nvPr/>
        </p:nvSpPr>
        <p:spPr>
          <a:xfrm>
            <a:off x="8214359" y="2766059"/>
            <a:ext cx="883919" cy="883919"/>
          </a:xfrm>
          <a:prstGeom prst="ellipse">
            <a:avLst/>
          </a:prstGeom>
          <a:solidFill>
            <a:srgbClr val="E5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50" name="可移动独立图标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8809" y="3010509"/>
            <a:ext cx="395020" cy="395020"/>
          </a:xfrm>
          <a:prstGeom prst="rect">
            <a:avLst/>
          </a:prstGeom>
        </p:spPr>
      </p:pic>
      <p:sp>
        <p:nvSpPr>
          <p:cNvPr id="51" name="文字｜数据同步"/>
          <p:cNvSpPr txBox="1"/>
          <p:nvPr/>
        </p:nvSpPr>
        <p:spPr>
          <a:xfrm>
            <a:off x="8052815" y="3766337"/>
            <a:ext cx="1207007" cy="27980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数据同步</a:t>
            </a:r>
            <a:endParaRPr sz="162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" name="文字｜更新检索索引"/>
          <p:cNvSpPr txBox="1"/>
          <p:nvPr/>
        </p:nvSpPr>
        <p:spPr>
          <a:xfrm>
            <a:off x="7993379" y="4169663"/>
            <a:ext cx="1325879" cy="20726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更新检索索引</a:t>
            </a:r>
            <a:endParaRPr sz="1200" b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" name="文字｜与统计快照"/>
          <p:cNvSpPr txBox="1"/>
          <p:nvPr/>
        </p:nvSpPr>
        <p:spPr>
          <a:xfrm>
            <a:off x="8092439" y="4390643"/>
            <a:ext cx="1127759" cy="20726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与统计快照</a:t>
            </a:r>
            <a:endParaRPr sz="1200" b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54" name="Connector 53"/>
          <p:cNvCxnSpPr/>
          <p:nvPr/>
        </p:nvCxnSpPr>
        <p:spPr>
          <a:xfrm>
            <a:off x="9738359" y="3550919"/>
            <a:ext cx="182880" cy="0"/>
          </a:xfrm>
          <a:prstGeom prst="line">
            <a:avLst/>
          </a:prstGeom>
          <a:ln w="22859">
            <a:solidFill>
              <a:srgbClr val="62AA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Freeform 54"/>
          <p:cNvSpPr/>
          <p:nvPr/>
        </p:nvSpPr>
        <p:spPr>
          <a:xfrm>
            <a:off x="9845040" y="3512820"/>
            <a:ext cx="76200" cy="76200"/>
          </a:xfrm>
          <a:custGeom>
            <a:avLst/>
            <a:gdLst/>
            <a:ahLst/>
            <a:cxnLst/>
            <a:rect l="l" t="t" r="r" b="b"/>
            <a:pathLst>
              <a:path w="10" h="10">
                <a:moveTo>
                  <a:pt x="0" y="10"/>
                </a:moveTo>
                <a:lnTo>
                  <a:pt x="10" y="5"/>
                </a:lnTo>
                <a:lnTo>
                  <a:pt x="0" y="0"/>
                </a:lnTo>
              </a:path>
            </a:pathLst>
          </a:custGeom>
          <a:noFill/>
          <a:ln w="22859">
            <a:solidFill>
              <a:srgbClr val="62A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" name="Rounded Rectangle 55"/>
          <p:cNvSpPr/>
          <p:nvPr/>
        </p:nvSpPr>
        <p:spPr>
          <a:xfrm>
            <a:off x="9936479" y="2316479"/>
            <a:ext cx="2133599" cy="2461259"/>
          </a:xfrm>
          <a:prstGeom prst="roundRect">
            <a:avLst>
              <a:gd name="adj" fmla="val 6785"/>
            </a:avLst>
          </a:prstGeom>
          <a:solidFill>
            <a:srgbClr val="FFFFFF"/>
          </a:solidFill>
          <a:ln w="7619">
            <a:solidFill>
              <a:srgbClr val="D8E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" name="文字｜05"/>
          <p:cNvSpPr txBox="1"/>
          <p:nvPr/>
        </p:nvSpPr>
        <p:spPr>
          <a:xfrm>
            <a:off x="10142219" y="2577236"/>
            <a:ext cx="378928" cy="2279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05</a:t>
            </a:r>
            <a:endParaRPr sz="132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8" name="Oval 57"/>
          <p:cNvSpPr/>
          <p:nvPr/>
        </p:nvSpPr>
        <p:spPr>
          <a:xfrm>
            <a:off x="10561319" y="2766059"/>
            <a:ext cx="883919" cy="883919"/>
          </a:xfrm>
          <a:prstGeom prst="ellipse">
            <a:avLst/>
          </a:prstGeom>
          <a:solidFill>
            <a:srgbClr val="E5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59" name="可移动独立图标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05769" y="3010509"/>
            <a:ext cx="395020" cy="395020"/>
          </a:xfrm>
          <a:prstGeom prst="rect">
            <a:avLst/>
          </a:prstGeom>
        </p:spPr>
      </p:pic>
      <p:sp>
        <p:nvSpPr>
          <p:cNvPr id="60" name="文字｜定期更新"/>
          <p:cNvSpPr txBox="1"/>
          <p:nvPr/>
        </p:nvSpPr>
        <p:spPr>
          <a:xfrm>
            <a:off x="10399775" y="3766337"/>
            <a:ext cx="1207007" cy="27980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定期更新</a:t>
            </a:r>
            <a:endParaRPr sz="162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1" name="文字｜进度记录、失败重试"/>
          <p:cNvSpPr txBox="1"/>
          <p:nvPr/>
        </p:nvSpPr>
        <p:spPr>
          <a:xfrm>
            <a:off x="10043159" y="4169663"/>
            <a:ext cx="1920239" cy="20726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进度记录、失败重试</a:t>
            </a:r>
            <a:endParaRPr sz="1200" b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2" name="文字｜支持任务停止"/>
          <p:cNvSpPr txBox="1"/>
          <p:nvPr/>
        </p:nvSpPr>
        <p:spPr>
          <a:xfrm>
            <a:off x="10340339" y="4390643"/>
            <a:ext cx="1325879" cy="20726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支持任务停止</a:t>
            </a:r>
            <a:endParaRPr sz="1200" b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3" name="Rounded Rectangle 62"/>
          <p:cNvSpPr/>
          <p:nvPr/>
        </p:nvSpPr>
        <p:spPr>
          <a:xfrm>
            <a:off x="617219" y="5120639"/>
            <a:ext cx="10934699" cy="1051559"/>
          </a:xfrm>
          <a:prstGeom prst="roundRect">
            <a:avLst>
              <a:gd name="adj" fmla="val 13768"/>
            </a:avLst>
          </a:prstGeom>
          <a:solidFill>
            <a:srgbClr val="F5FAFF"/>
          </a:solidFill>
          <a:ln w="7619">
            <a:solidFill>
              <a:srgbClr val="D8E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4" name="Oval 63"/>
          <p:cNvSpPr/>
          <p:nvPr/>
        </p:nvSpPr>
        <p:spPr>
          <a:xfrm>
            <a:off x="739139" y="5326379"/>
            <a:ext cx="579119" cy="579119"/>
          </a:xfrm>
          <a:prstGeom prst="ellipse">
            <a:avLst/>
          </a:prstGeom>
          <a:solidFill>
            <a:srgbClr val="FFF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65" name="可移动独立图标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1189" y="5418429"/>
            <a:ext cx="395020" cy="395020"/>
          </a:xfrm>
          <a:prstGeom prst="rect">
            <a:avLst/>
          </a:prstGeom>
        </p:spPr>
      </p:pic>
      <p:sp>
        <p:nvSpPr>
          <p:cNvPr id="66" name="文字｜异常处理与可恢复性"/>
          <p:cNvSpPr txBox="1"/>
          <p:nvPr/>
        </p:nvSpPr>
        <p:spPr>
          <a:xfrm>
            <a:off x="1467266" y="5386351"/>
            <a:ext cx="2455163" cy="26944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6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异常处理与可恢复性</a:t>
            </a:r>
            <a:endParaRPr sz="156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7" name="文字｜采集失败自动重试并记录错误日志  ·  支持任务暂停 / 停止  ·  持续"/>
          <p:cNvSpPr txBox="1"/>
          <p:nvPr/>
        </p:nvSpPr>
        <p:spPr>
          <a:xfrm>
            <a:off x="1467266" y="5690846"/>
            <a:ext cx="8800266" cy="2279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采集失败自动重试并记录错误日志  ·  支持任务暂停 / 停止  ·  持续失败的记录进入人工复核</a:t>
            </a:r>
            <a:endParaRPr sz="1320" b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a_clean_infographic_presentation_slide_in_chines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a_clean_corporate_educational_presentation_slide_i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作者与机构身份消歧系统设计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7818438" y="45720"/>
            <a:ext cx="4370832" cy="256032"/>
          </a:xfrm>
          <a:prstGeom prst="line">
            <a:avLst/>
          </a:prstGeom>
          <a:ln w="12700">
            <a:solidFill>
              <a:srgbClr val="E4E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7818438" y="86868"/>
            <a:ext cx="4370832" cy="259689"/>
          </a:xfrm>
          <a:prstGeom prst="line">
            <a:avLst/>
          </a:prstGeom>
          <a:ln w="12700">
            <a:solidFill>
              <a:srgbClr val="E2E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818438" y="128016"/>
            <a:ext cx="4370832" cy="263347"/>
          </a:xfrm>
          <a:prstGeom prst="line">
            <a:avLst/>
          </a:prstGeom>
          <a:ln w="12700">
            <a:solidFill>
              <a:srgbClr val="E0E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818438" y="169164"/>
            <a:ext cx="4370832" cy="267004"/>
          </a:xfrm>
          <a:prstGeom prst="line">
            <a:avLst/>
          </a:prstGeom>
          <a:ln w="12700">
            <a:solidFill>
              <a:srgbClr val="DEE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7818438" y="210311"/>
            <a:ext cx="4370832" cy="270663"/>
          </a:xfrm>
          <a:prstGeom prst="line">
            <a:avLst/>
          </a:prstGeom>
          <a:ln w="12700">
            <a:solidFill>
              <a:srgbClr val="DC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818438" y="251459"/>
            <a:ext cx="4370832" cy="274321"/>
          </a:xfrm>
          <a:prstGeom prst="line">
            <a:avLst/>
          </a:prstGeom>
          <a:ln w="12700">
            <a:solidFill>
              <a:srgbClr val="DAEA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818438" y="292608"/>
            <a:ext cx="4370832" cy="277977"/>
          </a:xfrm>
          <a:prstGeom prst="line">
            <a:avLst/>
          </a:prstGeom>
          <a:ln w="12700">
            <a:solidFill>
              <a:srgbClr val="D8E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47790" y="393192"/>
            <a:ext cx="11494008" cy="0"/>
          </a:xfrm>
          <a:prstGeom prst="line">
            <a:avLst/>
          </a:prstGeom>
          <a:ln w="12700">
            <a:solidFill>
              <a:srgbClr val="E7EE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66078" y="98108"/>
            <a:ext cx="5486400" cy="2152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>
                <a:solidFill>
                  <a:srgbClr val="4F6792"/>
                </a:solidFill>
                <a:latin typeface="微软雅黑" panose="020B0503020204020204" charset="-122"/>
              </a:rPr>
              <a:t>学术成果分享平台  /  系统分析与设计</a:t>
            </a:r>
            <a:endParaRPr sz="1400" b="0">
              <a:solidFill>
                <a:srgbClr val="4F6792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284014" y="98108"/>
            <a:ext cx="566928" cy="2152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400" b="1">
                <a:solidFill>
                  <a:srgbClr val="0354D9"/>
                </a:solidFill>
                <a:latin typeface="微软雅黑" panose="020B0503020204020204" charset="-122"/>
              </a:rPr>
              <a:t>12</a:t>
            </a:r>
            <a:endParaRPr sz="1400" b="1">
              <a:solidFill>
                <a:srgbClr val="0354D9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1832654" y="105728"/>
            <a:ext cx="274320" cy="2000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>
                <a:solidFill>
                  <a:srgbClr val="4F6792"/>
                </a:solidFill>
                <a:latin typeface="微软雅黑" panose="020B0503020204020204" charset="-122"/>
              </a:rPr>
              <a:t>/16</a:t>
            </a:r>
            <a:endParaRPr sz="1300" b="0">
              <a:solidFill>
                <a:srgbClr val="4F6792"/>
              </a:solidFill>
              <a:latin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75222" y="576072"/>
            <a:ext cx="50292" cy="411480"/>
          </a:xfrm>
          <a:prstGeom prst="rect">
            <a:avLst/>
          </a:prstGeom>
          <a:solidFill>
            <a:srgbClr val="035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534" y="515937"/>
            <a:ext cx="9326880" cy="5226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400" b="1">
                <a:solidFill>
                  <a:srgbClr val="0A255D"/>
                </a:solidFill>
                <a:latin typeface="微软雅黑" panose="020B0503020204020204" charset="-122"/>
              </a:rPr>
              <a:t>多来源字段冲突处理</a:t>
            </a:r>
            <a:endParaRPr sz="3400" b="1">
              <a:solidFill>
                <a:srgbClr val="0A255D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85534" y="1105154"/>
            <a:ext cx="10881360" cy="2768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0">
                <a:solidFill>
                  <a:srgbClr val="4F6792"/>
                </a:solidFill>
                <a:latin typeface="微软雅黑" panose="020B0503020204020204" charset="-122"/>
              </a:rPr>
              <a:t>保留候选字段值与来源证据，按审核规则确定公共展示值</a:t>
            </a:r>
            <a:endParaRPr sz="1800" b="0">
              <a:solidFill>
                <a:srgbClr val="4F6792"/>
              </a:solidFill>
              <a:latin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393510" y="1664208"/>
            <a:ext cx="5321808" cy="130759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C6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48958" y="1847088"/>
            <a:ext cx="749808" cy="749808"/>
          </a:xfrm>
          <a:prstGeom prst="roundRect">
            <a:avLst>
              <a:gd name="adj" fmla="val 16000"/>
            </a:avLst>
          </a:prstGeom>
          <a:solidFill>
            <a:srgbClr val="E1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958" y="2014347"/>
            <a:ext cx="749808" cy="41529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700" b="1">
                <a:solidFill>
                  <a:srgbClr val="0354D9"/>
                </a:solidFill>
                <a:latin typeface="微软雅黑" panose="020B0503020204020204" charset="-122"/>
              </a:rPr>
              <a:t>A</a:t>
            </a:r>
            <a:endParaRPr sz="2700" b="1">
              <a:solidFill>
                <a:srgbClr val="0354D9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490790" y="1815021"/>
            <a:ext cx="4023360" cy="338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>
                <a:solidFill>
                  <a:srgbClr val="0A255D"/>
                </a:solidFill>
                <a:latin typeface="微软雅黑" panose="020B0503020204020204" charset="-122"/>
              </a:rPr>
              <a:t>来源 A · Crossref</a:t>
            </a:r>
            <a:endParaRPr sz="2200" b="1">
              <a:solidFill>
                <a:srgbClr val="0A255D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490790" y="2252726"/>
            <a:ext cx="3931920" cy="2768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0">
                <a:solidFill>
                  <a:srgbClr val="253F6D"/>
                </a:solidFill>
                <a:latin typeface="微软雅黑" panose="020B0503020204020204" charset="-122"/>
              </a:rPr>
              <a:t>论文标题：版本 A</a:t>
            </a:r>
            <a:endParaRPr sz="1800" b="0">
              <a:solidFill>
                <a:srgbClr val="253F6D"/>
              </a:solidFill>
              <a:latin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490790" y="2549906"/>
            <a:ext cx="3931920" cy="2768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0">
                <a:solidFill>
                  <a:srgbClr val="253F6D"/>
                </a:solidFill>
                <a:latin typeface="微软雅黑" panose="020B0503020204020204" charset="-122"/>
              </a:rPr>
              <a:t>日期字段：2025</a:t>
            </a:r>
            <a:endParaRPr sz="1800" b="0">
              <a:solidFill>
                <a:srgbClr val="253F6D"/>
              </a:solidFill>
              <a:latin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6474270" y="1664208"/>
            <a:ext cx="5321808" cy="130759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C6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629718" y="1847088"/>
            <a:ext cx="749808" cy="749808"/>
          </a:xfrm>
          <a:prstGeom prst="roundRect">
            <a:avLst>
              <a:gd name="adj" fmla="val 16000"/>
            </a:avLst>
          </a:prstGeom>
          <a:solidFill>
            <a:srgbClr val="E7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29718" y="2014347"/>
            <a:ext cx="749808" cy="41529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700" b="1">
                <a:solidFill>
                  <a:srgbClr val="109FA0"/>
                </a:solidFill>
                <a:latin typeface="微软雅黑" panose="020B0503020204020204" charset="-122"/>
              </a:rPr>
              <a:t>B</a:t>
            </a:r>
            <a:endParaRPr sz="2700" b="1">
              <a:solidFill>
                <a:srgbClr val="109FA0"/>
              </a:solidFill>
              <a:latin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571549" y="1815021"/>
            <a:ext cx="4023360" cy="338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>
                <a:solidFill>
                  <a:srgbClr val="0A255D"/>
                </a:solidFill>
                <a:latin typeface="微软雅黑" panose="020B0503020204020204" charset="-122"/>
              </a:rPr>
              <a:t>来源 B · 补充来源</a:t>
            </a:r>
            <a:endParaRPr sz="2200" b="1">
              <a:solidFill>
                <a:srgbClr val="0A255D"/>
              </a:solidFill>
              <a:latin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571549" y="2252726"/>
            <a:ext cx="3931920" cy="2768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0">
                <a:solidFill>
                  <a:srgbClr val="253F6D"/>
                </a:solidFill>
                <a:latin typeface="微软雅黑" panose="020B0503020204020204" charset="-122"/>
              </a:rPr>
              <a:t>论文标题：版本 B</a:t>
            </a:r>
            <a:endParaRPr sz="1800" b="0">
              <a:solidFill>
                <a:srgbClr val="253F6D"/>
              </a:solidFill>
              <a:latin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571549" y="2549906"/>
            <a:ext cx="3931920" cy="2768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0">
                <a:solidFill>
                  <a:srgbClr val="253F6D"/>
                </a:solidFill>
                <a:latin typeface="微软雅黑" panose="020B0503020204020204" charset="-122"/>
              </a:rPr>
              <a:t>日期字段：2026</a:t>
            </a:r>
            <a:endParaRPr sz="1800" b="0">
              <a:solidFill>
                <a:srgbClr val="253F6D"/>
              </a:solidFill>
              <a:latin typeface="微软雅黑" panose="020B0503020204020204" charset="-122"/>
            </a:endParaRPr>
          </a:p>
        </p:txBody>
      </p:sp>
      <p:cxnSp>
        <p:nvCxnSpPr>
          <p:cNvPr id="28" name="Connector 27"/>
          <p:cNvCxnSpPr/>
          <p:nvPr/>
        </p:nvCxnSpPr>
        <p:spPr>
          <a:xfrm>
            <a:off x="3054414" y="2971800"/>
            <a:ext cx="0" cy="192024"/>
          </a:xfrm>
          <a:prstGeom prst="line">
            <a:avLst/>
          </a:prstGeom>
          <a:ln w="34290">
            <a:solidFill>
              <a:srgbClr val="80C0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3054414" y="3163824"/>
            <a:ext cx="3040380" cy="0"/>
          </a:xfrm>
          <a:prstGeom prst="line">
            <a:avLst/>
          </a:prstGeom>
          <a:ln w="34290">
            <a:solidFill>
              <a:srgbClr val="80C0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9144318" y="2971800"/>
            <a:ext cx="0" cy="192024"/>
          </a:xfrm>
          <a:prstGeom prst="line">
            <a:avLst/>
          </a:prstGeom>
          <a:ln w="34290">
            <a:solidFill>
              <a:srgbClr val="80C0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>
            <a:off x="6094794" y="3163824"/>
            <a:ext cx="3049524" cy="0"/>
          </a:xfrm>
          <a:prstGeom prst="line">
            <a:avLst/>
          </a:prstGeom>
          <a:ln w="34290">
            <a:solidFill>
              <a:srgbClr val="80C0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094794" y="3163824"/>
            <a:ext cx="0" cy="164592"/>
          </a:xfrm>
          <a:prstGeom prst="line">
            <a:avLst/>
          </a:prstGeom>
          <a:ln w="34290">
            <a:solidFill>
              <a:srgbClr val="80C0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Isosceles Triangle 32"/>
          <p:cNvSpPr/>
          <p:nvPr/>
        </p:nvSpPr>
        <p:spPr>
          <a:xfrm rot="10800000">
            <a:off x="6021642" y="3310128"/>
            <a:ext cx="146304" cy="118872"/>
          </a:xfrm>
          <a:prstGeom prst="triangle">
            <a:avLst/>
          </a:prstGeom>
          <a:solidFill>
            <a:srgbClr val="035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270566" y="3383280"/>
            <a:ext cx="3648456" cy="713232"/>
          </a:xfrm>
          <a:prstGeom prst="roundRect">
            <a:avLst>
              <a:gd name="adj" fmla="val 16000"/>
            </a:avLst>
          </a:prstGeom>
          <a:solidFill>
            <a:srgbClr val="E1F0FF"/>
          </a:solidFill>
          <a:ln w="12700">
            <a:solidFill>
              <a:srgbClr val="C6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62590" y="3428937"/>
            <a:ext cx="3264408" cy="3841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500" b="1">
                <a:solidFill>
                  <a:srgbClr val="0A255D"/>
                </a:solidFill>
                <a:latin typeface="微软雅黑" panose="020B0503020204020204" charset="-122"/>
              </a:rPr>
              <a:t>同一 Work</a:t>
            </a:r>
            <a:endParaRPr sz="2500" b="1">
              <a:solidFill>
                <a:srgbClr val="0A255D"/>
              </a:solidFill>
              <a:latin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4462590" y="3787711"/>
            <a:ext cx="3264408" cy="2152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0">
                <a:solidFill>
                  <a:srgbClr val="253F6D"/>
                </a:solidFill>
                <a:latin typeface="微软雅黑" panose="020B0503020204020204" charset="-122"/>
              </a:rPr>
              <a:t>关联多个 SourceRecord</a:t>
            </a:r>
            <a:endParaRPr sz="1400" b="0">
              <a:solidFill>
                <a:srgbClr val="253F6D"/>
              </a:solidFill>
              <a:latin typeface="微软雅黑" panose="020B0503020204020204" charset="-122"/>
            </a:endParaRPr>
          </a:p>
        </p:txBody>
      </p:sp>
      <p:cxnSp>
        <p:nvCxnSpPr>
          <p:cNvPr id="37" name="Connector 36"/>
          <p:cNvCxnSpPr/>
          <p:nvPr/>
        </p:nvCxnSpPr>
        <p:spPr>
          <a:xfrm>
            <a:off x="6094794" y="4105656"/>
            <a:ext cx="0" cy="265176"/>
          </a:xfrm>
          <a:prstGeom prst="line">
            <a:avLst/>
          </a:prstGeom>
          <a:ln w="35560">
            <a:solidFill>
              <a:srgbClr val="80C0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Isosceles Triangle 37"/>
          <p:cNvSpPr/>
          <p:nvPr/>
        </p:nvSpPr>
        <p:spPr>
          <a:xfrm rot="10800000">
            <a:off x="6021642" y="4361688"/>
            <a:ext cx="146304" cy="118872"/>
          </a:xfrm>
          <a:prstGeom prst="triangle">
            <a:avLst/>
          </a:prstGeom>
          <a:solidFill>
            <a:srgbClr val="035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393510" y="4507992"/>
            <a:ext cx="3639312" cy="109728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C6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548958" y="4672584"/>
            <a:ext cx="640080" cy="640080"/>
          </a:xfrm>
          <a:prstGeom prst="roundRect">
            <a:avLst>
              <a:gd name="adj" fmla="val 16000"/>
            </a:avLst>
          </a:prstGeom>
          <a:solidFill>
            <a:srgbClr val="ED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8958" y="4826762"/>
            <a:ext cx="640080" cy="3225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100" b="1">
                <a:solidFill>
                  <a:srgbClr val="0354D9"/>
                </a:solidFill>
                <a:latin typeface="微软雅黑" panose="020B0503020204020204" charset="-122"/>
              </a:rPr>
              <a:t>01</a:t>
            </a:r>
            <a:endParaRPr sz="2100" b="1">
              <a:solidFill>
                <a:srgbClr val="0354D9"/>
              </a:solidFill>
              <a:latin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335342" y="4643882"/>
            <a:ext cx="2514600" cy="3225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100" b="1">
                <a:solidFill>
                  <a:srgbClr val="0A255D"/>
                </a:solidFill>
                <a:latin typeface="微软雅黑" panose="020B0503020204020204" charset="-122"/>
              </a:rPr>
              <a:t>字段级保留</a:t>
            </a:r>
            <a:endParaRPr sz="2100" b="1">
              <a:solidFill>
                <a:srgbClr val="0A255D"/>
              </a:solidFill>
              <a:latin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1335342" y="5110543"/>
            <a:ext cx="2514600" cy="2305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>
                <a:solidFill>
                  <a:srgbClr val="4F6792"/>
                </a:solidFill>
                <a:latin typeface="微软雅黑" panose="020B0503020204020204" charset="-122"/>
              </a:rPr>
              <a:t>原值 / 规范值 / 修订值</a:t>
            </a:r>
            <a:endParaRPr sz="1500" b="0">
              <a:solidFill>
                <a:srgbClr val="4F6792"/>
              </a:solidFill>
              <a:latin typeface="微软雅黑" panose="020B0503020204020204" charset="-122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4279710" y="4507992"/>
            <a:ext cx="3639312" cy="109728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C6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4435158" y="4672584"/>
            <a:ext cx="640080" cy="640080"/>
          </a:xfrm>
          <a:prstGeom prst="roundRect">
            <a:avLst>
              <a:gd name="adj" fmla="val 16000"/>
            </a:avLst>
          </a:prstGeom>
          <a:solidFill>
            <a:srgbClr val="FFF1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435158" y="4826762"/>
            <a:ext cx="640080" cy="3225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100" b="1">
                <a:solidFill>
                  <a:srgbClr val="F8830F"/>
                </a:solidFill>
                <a:latin typeface="微软雅黑" panose="020B0503020204020204" charset="-122"/>
              </a:rPr>
              <a:t>02</a:t>
            </a:r>
            <a:endParaRPr sz="2100" b="1">
              <a:solidFill>
                <a:srgbClr val="F8830F"/>
              </a:solidFill>
              <a:latin typeface="微软雅黑" panose="020B0503020204020204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5221542" y="4643882"/>
            <a:ext cx="2514600" cy="3225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100" b="1">
                <a:solidFill>
                  <a:srgbClr val="0A255D"/>
                </a:solidFill>
                <a:latin typeface="微软雅黑" panose="020B0503020204020204" charset="-122"/>
              </a:rPr>
              <a:t>冲突判定</a:t>
            </a:r>
            <a:endParaRPr sz="2100" b="1">
              <a:solidFill>
                <a:srgbClr val="0A255D"/>
              </a:solidFill>
              <a:latin typeface="微软雅黑" panose="020B0503020204020204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5221542" y="5110543"/>
            <a:ext cx="2514600" cy="2305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>
                <a:solidFill>
                  <a:srgbClr val="4F6792"/>
                </a:solidFill>
                <a:latin typeface="微软雅黑" panose="020B0503020204020204" charset="-122"/>
              </a:rPr>
              <a:t>来源 / 采集时间 / 规则版本</a:t>
            </a:r>
            <a:endParaRPr sz="1500" b="0">
              <a:solidFill>
                <a:srgbClr val="4F6792"/>
              </a:solidFill>
              <a:latin typeface="微软雅黑" panose="020B0503020204020204" charset="-122"/>
            </a:endParaRPr>
          </a:p>
        </p:txBody>
      </p:sp>
      <p:sp>
        <p:nvSpPr>
          <p:cNvPr id="49" name="Rounded Rectangle 48"/>
          <p:cNvSpPr/>
          <p:nvPr/>
        </p:nvSpPr>
        <p:spPr>
          <a:xfrm>
            <a:off x="8165910" y="4507992"/>
            <a:ext cx="3639312" cy="109728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C6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8321358" y="4672584"/>
            <a:ext cx="640080" cy="640080"/>
          </a:xfrm>
          <a:prstGeom prst="roundRect">
            <a:avLst>
              <a:gd name="adj" fmla="val 16000"/>
            </a:avLst>
          </a:prstGeom>
          <a:solidFill>
            <a:srgbClr val="E7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321358" y="4826762"/>
            <a:ext cx="640080" cy="3225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100" b="1">
                <a:solidFill>
                  <a:srgbClr val="109FA0"/>
                </a:solidFill>
                <a:latin typeface="微软雅黑" panose="020B0503020204020204" charset="-122"/>
              </a:rPr>
              <a:t>03</a:t>
            </a:r>
            <a:endParaRPr sz="2100" b="1">
              <a:solidFill>
                <a:srgbClr val="109FA0"/>
              </a:solidFill>
              <a:latin typeface="微软雅黑" panose="020B0503020204020204" charset="-122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9107742" y="4643882"/>
            <a:ext cx="2514600" cy="3225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100" b="1">
                <a:solidFill>
                  <a:srgbClr val="0A255D"/>
                </a:solidFill>
                <a:latin typeface="微软雅黑" panose="020B0503020204020204" charset="-122"/>
              </a:rPr>
              <a:t>人工审核</a:t>
            </a:r>
            <a:endParaRPr sz="2100" b="1">
              <a:solidFill>
                <a:srgbClr val="0A255D"/>
              </a:solidFill>
              <a:latin typeface="微软雅黑" panose="020B0503020204020204" charset="-122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9107742" y="5110543"/>
            <a:ext cx="2514600" cy="2305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>
                <a:solidFill>
                  <a:srgbClr val="4F6792"/>
                </a:solidFill>
                <a:latin typeface="微软雅黑" panose="020B0503020204020204" charset="-122"/>
              </a:rPr>
              <a:t>依据 / 操作者 / 审计记录</a:t>
            </a:r>
            <a:endParaRPr sz="1500" b="0">
              <a:solidFill>
                <a:srgbClr val="4F6792"/>
              </a:solidFill>
              <a:latin typeface="微软雅黑" panose="020B0503020204020204" charset="-122"/>
            </a:endParaRPr>
          </a:p>
        </p:txBody>
      </p:sp>
      <p:sp>
        <p:nvSpPr>
          <p:cNvPr id="54" name="Rounded Rectangle 53"/>
          <p:cNvSpPr/>
          <p:nvPr/>
        </p:nvSpPr>
        <p:spPr>
          <a:xfrm>
            <a:off x="402654" y="5833872"/>
            <a:ext cx="11384280" cy="630936"/>
          </a:xfrm>
          <a:prstGeom prst="roundRect">
            <a:avLst>
              <a:gd name="adj" fmla="val 16000"/>
            </a:avLst>
          </a:prstGeom>
          <a:solidFill>
            <a:srgbClr val="FFF1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31254" y="5974334"/>
            <a:ext cx="1975104" cy="3225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100" b="1">
                <a:solidFill>
                  <a:srgbClr val="F8830F"/>
                </a:solidFill>
                <a:latin typeface="微软雅黑" panose="020B0503020204020204" charset="-122"/>
              </a:rPr>
              <a:t>处理原则：</a:t>
            </a:r>
            <a:endParaRPr sz="2100" b="1">
              <a:solidFill>
                <a:srgbClr val="F8830F"/>
              </a:solidFill>
              <a:latin typeface="微软雅黑" panose="020B0503020204020204" charset="-122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2487485" y="5988050"/>
            <a:ext cx="8961120" cy="2768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0">
                <a:solidFill>
                  <a:srgbClr val="0A255D"/>
                </a:solidFill>
                <a:latin typeface="微软雅黑" panose="020B0503020204020204" charset="-122"/>
              </a:rPr>
              <a:t>保留全部候选值与来源，公共展示值由规则或人工审核确定。</a:t>
            </a:r>
            <a:endParaRPr sz="1800" b="0">
              <a:solidFill>
                <a:srgbClr val="0A255D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成果检索与相关推荐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75" y="0"/>
            <a:ext cx="1218501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系统架构与核心模块设计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75" y="0"/>
            <a:ext cx="1218501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7999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80000">
                <a:srgbClr val="F7FAFE"/>
              </a:gs>
              <a:gs pos="100000">
                <a:srgbClr val="ECF5FE"/>
              </a:gs>
            </a:gsLst>
            <a:lin ang="315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Freeform 2"/>
          <p:cNvSpPr/>
          <p:nvPr/>
        </p:nvSpPr>
        <p:spPr>
          <a:xfrm>
            <a:off x="8549640" y="0"/>
            <a:ext cx="3642360" cy="4000500"/>
          </a:xfrm>
          <a:custGeom>
            <a:avLst/>
            <a:gdLst/>
            <a:ahLst/>
            <a:cxnLst/>
            <a:rect l="l" t="t" r="r" b="b"/>
            <a:pathLst>
              <a:path w="478" h="525">
                <a:moveTo>
                  <a:pt x="478" y="0"/>
                </a:moveTo>
                <a:lnTo>
                  <a:pt x="58" y="0"/>
                </a:lnTo>
                <a:lnTo>
                  <a:pt x="41" y="24"/>
                </a:lnTo>
                <a:lnTo>
                  <a:pt x="27" y="49"/>
                </a:lnTo>
                <a:lnTo>
                  <a:pt x="16" y="73"/>
                </a:lnTo>
                <a:lnTo>
                  <a:pt x="8" y="97"/>
                </a:lnTo>
                <a:lnTo>
                  <a:pt x="3" y="121"/>
                </a:lnTo>
                <a:lnTo>
                  <a:pt x="0" y="144"/>
                </a:lnTo>
                <a:lnTo>
                  <a:pt x="0" y="167"/>
                </a:lnTo>
                <a:lnTo>
                  <a:pt x="3" y="190"/>
                </a:lnTo>
                <a:lnTo>
                  <a:pt x="8" y="212"/>
                </a:lnTo>
                <a:lnTo>
                  <a:pt x="15" y="234"/>
                </a:lnTo>
                <a:lnTo>
                  <a:pt x="24" y="255"/>
                </a:lnTo>
                <a:lnTo>
                  <a:pt x="36" y="276"/>
                </a:lnTo>
                <a:lnTo>
                  <a:pt x="49" y="295"/>
                </a:lnTo>
                <a:lnTo>
                  <a:pt x="63" y="314"/>
                </a:lnTo>
                <a:lnTo>
                  <a:pt x="80" y="333"/>
                </a:lnTo>
                <a:lnTo>
                  <a:pt x="98" y="350"/>
                </a:lnTo>
                <a:lnTo>
                  <a:pt x="128" y="371"/>
                </a:lnTo>
                <a:lnTo>
                  <a:pt x="157" y="388"/>
                </a:lnTo>
                <a:lnTo>
                  <a:pt x="185" y="402"/>
                </a:lnTo>
                <a:lnTo>
                  <a:pt x="212" y="413"/>
                </a:lnTo>
                <a:lnTo>
                  <a:pt x="239" y="422"/>
                </a:lnTo>
                <a:lnTo>
                  <a:pt x="265" y="429"/>
                </a:lnTo>
                <a:lnTo>
                  <a:pt x="290" y="434"/>
                </a:lnTo>
                <a:lnTo>
                  <a:pt x="314" y="439"/>
                </a:lnTo>
                <a:lnTo>
                  <a:pt x="338" y="444"/>
                </a:lnTo>
                <a:lnTo>
                  <a:pt x="360" y="450"/>
                </a:lnTo>
                <a:lnTo>
                  <a:pt x="382" y="456"/>
                </a:lnTo>
                <a:lnTo>
                  <a:pt x="403" y="465"/>
                </a:lnTo>
                <a:lnTo>
                  <a:pt x="423" y="475"/>
                </a:lnTo>
                <a:lnTo>
                  <a:pt x="442" y="488"/>
                </a:lnTo>
                <a:lnTo>
                  <a:pt x="461" y="505"/>
                </a:lnTo>
                <a:lnTo>
                  <a:pt x="478" y="525"/>
                </a:lnTo>
                <a:lnTo>
                  <a:pt x="478" y="0"/>
                </a:lnTo>
                <a:close/>
              </a:path>
            </a:pathLst>
          </a:custGeom>
          <a:solidFill>
            <a:srgbClr val="EAF5FE">
              <a:alpha val="6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Oval 5"/>
          <p:cNvSpPr/>
          <p:nvPr/>
        </p:nvSpPr>
        <p:spPr>
          <a:xfrm>
            <a:off x="10020299" y="365759"/>
            <a:ext cx="121919" cy="121919"/>
          </a:xfrm>
          <a:prstGeom prst="ellipse">
            <a:avLst/>
          </a:prstGeom>
          <a:solidFill>
            <a:srgbClr val="48A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Oval 6"/>
          <p:cNvSpPr/>
          <p:nvPr/>
        </p:nvSpPr>
        <p:spPr>
          <a:xfrm>
            <a:off x="11452859" y="2689859"/>
            <a:ext cx="106679" cy="106679"/>
          </a:xfrm>
          <a:prstGeom prst="ellipse">
            <a:avLst/>
          </a:prstGeom>
          <a:solidFill>
            <a:srgbClr val="48A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Oval 7"/>
          <p:cNvSpPr/>
          <p:nvPr/>
        </p:nvSpPr>
        <p:spPr>
          <a:xfrm>
            <a:off x="12085319" y="868679"/>
            <a:ext cx="91439" cy="91439"/>
          </a:xfrm>
          <a:prstGeom prst="ellipse">
            <a:avLst/>
          </a:prstGeom>
          <a:solidFill>
            <a:srgbClr val="48A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Oval 8"/>
          <p:cNvSpPr/>
          <p:nvPr/>
        </p:nvSpPr>
        <p:spPr>
          <a:xfrm>
            <a:off x="10553699" y="2065019"/>
            <a:ext cx="76199" cy="76199"/>
          </a:xfrm>
          <a:prstGeom prst="ellipse">
            <a:avLst/>
          </a:prstGeom>
          <a:solidFill>
            <a:srgbClr val="48A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24839" y="441959"/>
            <a:ext cx="411479" cy="53339"/>
          </a:xfrm>
          <a:prstGeom prst="roundRect">
            <a:avLst>
              <a:gd name="adj" fmla="val 50000"/>
            </a:avLst>
          </a:prstGeom>
          <a:solidFill>
            <a:srgbClr val="0E3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1066799" y="441959"/>
            <a:ext cx="380999" cy="53339"/>
          </a:xfrm>
          <a:prstGeom prst="roundRect">
            <a:avLst>
              <a:gd name="adj" fmla="val 50000"/>
            </a:avLst>
          </a:prstGeom>
          <a:solidFill>
            <a:srgbClr val="E69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文字｜科研主题趋势统计分析"/>
          <p:cNvSpPr txBox="1"/>
          <p:nvPr/>
        </p:nvSpPr>
        <p:spPr>
          <a:xfrm>
            <a:off x="640079" y="765886"/>
            <a:ext cx="5189219" cy="52852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06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科研主题趋势统计分析</a:t>
            </a:r>
            <a:endParaRPr lang="zh-CN" sz="3060" b="1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字｜按去重成果数比较近年主题变化，解释覆盖率与收录范围"/>
          <p:cNvSpPr txBox="1"/>
          <p:nvPr/>
        </p:nvSpPr>
        <p:spPr>
          <a:xfrm>
            <a:off x="662939" y="1373504"/>
            <a:ext cx="6328409" cy="25907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0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按去重成果数比较近年主题变化，解释覆盖率与收录范围</a:t>
            </a:r>
            <a:endParaRPr lang="zh-CN" sz="1500" b="0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47699" y="1722119"/>
            <a:ext cx="708659" cy="38099"/>
          </a:xfrm>
          <a:prstGeom prst="roundRect">
            <a:avLst>
              <a:gd name="adj" fmla="val 40000"/>
            </a:avLst>
          </a:prstGeom>
          <a:solidFill>
            <a:srgbClr val="ADD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字｜15 / 16"/>
          <p:cNvSpPr txBox="1"/>
          <p:nvPr/>
        </p:nvSpPr>
        <p:spPr>
          <a:xfrm>
            <a:off x="10815958" y="550087"/>
            <a:ext cx="713101" cy="196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4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15 / 16</a:t>
            </a:r>
            <a:endParaRPr lang="zh-CN" sz="1140" b="1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6" name="Connector 15"/>
          <p:cNvCxnSpPr/>
          <p:nvPr/>
        </p:nvCxnSpPr>
        <p:spPr>
          <a:xfrm>
            <a:off x="617219" y="6370319"/>
            <a:ext cx="10949940" cy="0"/>
          </a:xfrm>
          <a:prstGeom prst="line">
            <a:avLst/>
          </a:prstGeom>
          <a:ln w="11429">
            <a:solidFill>
              <a:srgbClr val="D2E2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字｜学术成果分享平台   /   系统分析与设计"/>
          <p:cNvSpPr txBox="1"/>
          <p:nvPr/>
        </p:nvSpPr>
        <p:spPr>
          <a:xfrm>
            <a:off x="640079" y="6463131"/>
            <a:ext cx="3121342" cy="18653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80" b="0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学术成果分享平台   /   系统分析与设计</a:t>
            </a:r>
            <a:endParaRPr lang="zh-CN" sz="1080" b="0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文字｜15"/>
          <p:cNvSpPr txBox="1"/>
          <p:nvPr/>
        </p:nvSpPr>
        <p:spPr>
          <a:xfrm>
            <a:off x="11225450" y="6448043"/>
            <a:ext cx="356949" cy="20726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15</a:t>
            </a:r>
            <a:endParaRPr lang="zh-CN" sz="1200" b="1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11315699" y="6675119"/>
            <a:ext cx="274319" cy="30479"/>
          </a:xfrm>
          <a:prstGeom prst="roundRect">
            <a:avLst>
              <a:gd name="adj" fmla="val 50000"/>
            </a:avLst>
          </a:prstGeom>
          <a:solidFill>
            <a:srgbClr val="327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3" name="Rounded Rectangle 62"/>
          <p:cNvSpPr/>
          <p:nvPr/>
        </p:nvSpPr>
        <p:spPr>
          <a:xfrm>
            <a:off x="8252459" y="2133599"/>
            <a:ext cx="3314699" cy="3383279"/>
          </a:xfrm>
          <a:prstGeom prst="roundRect">
            <a:avLst>
              <a:gd name="adj" fmla="val 4367"/>
            </a:avLst>
          </a:prstGeom>
          <a:solidFill>
            <a:srgbClr val="FFFFFF"/>
          </a:solidFill>
          <a:ln w="7619">
            <a:solidFill>
              <a:srgbClr val="D8E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4" name="文字｜统计口径"/>
          <p:cNvSpPr txBox="1"/>
          <p:nvPr/>
        </p:nvSpPr>
        <p:spPr>
          <a:xfrm>
            <a:off x="8534399" y="2280437"/>
            <a:ext cx="1207007" cy="27980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2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统计口径</a:t>
            </a:r>
            <a:endParaRPr lang="zh-CN" sz="1620" b="1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5" name="Oval 64"/>
          <p:cNvSpPr/>
          <p:nvPr/>
        </p:nvSpPr>
        <p:spPr>
          <a:xfrm>
            <a:off x="8488679" y="2674619"/>
            <a:ext cx="350519" cy="350519"/>
          </a:xfrm>
          <a:prstGeom prst="ellipse">
            <a:avLst/>
          </a:prstGeom>
          <a:solidFill>
            <a:srgbClr val="E5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66" name="可移动独立图标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6429" y="2652369"/>
            <a:ext cx="395020" cy="395020"/>
          </a:xfrm>
          <a:prstGeom prst="rect">
            <a:avLst/>
          </a:prstGeom>
        </p:spPr>
      </p:pic>
      <p:sp>
        <p:nvSpPr>
          <p:cNvPr id="67" name="文字｜主题趋势"/>
          <p:cNvSpPr txBox="1"/>
          <p:nvPr/>
        </p:nvSpPr>
        <p:spPr>
          <a:xfrm>
            <a:off x="8938259" y="2668676"/>
            <a:ext cx="1008887" cy="2279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2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主题趋势</a:t>
            </a:r>
            <a:endParaRPr lang="zh-CN" sz="1320" b="1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8" name="文字｜年度去重成果数"/>
          <p:cNvSpPr txBox="1"/>
          <p:nvPr/>
        </p:nvSpPr>
        <p:spPr>
          <a:xfrm>
            <a:off x="8938259" y="2912211"/>
            <a:ext cx="1385315" cy="18653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80" b="0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年度去重成果数</a:t>
            </a:r>
            <a:endParaRPr lang="zh-CN" sz="1080" b="0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9" name="Oval 68"/>
          <p:cNvSpPr/>
          <p:nvPr/>
        </p:nvSpPr>
        <p:spPr>
          <a:xfrm>
            <a:off x="8488679" y="3307079"/>
            <a:ext cx="350519" cy="350519"/>
          </a:xfrm>
          <a:prstGeom prst="ellipse">
            <a:avLst/>
          </a:prstGeom>
          <a:solidFill>
            <a:srgbClr val="E5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70" name="可移动独立图标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6429" y="3284829"/>
            <a:ext cx="395020" cy="395020"/>
          </a:xfrm>
          <a:prstGeom prst="rect">
            <a:avLst/>
          </a:prstGeom>
        </p:spPr>
      </p:pic>
      <p:sp>
        <p:nvSpPr>
          <p:cNvPr id="71" name="文字｜主题占比"/>
          <p:cNvSpPr txBox="1"/>
          <p:nvPr/>
        </p:nvSpPr>
        <p:spPr>
          <a:xfrm>
            <a:off x="8938259" y="3301136"/>
            <a:ext cx="1008887" cy="2279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2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主题占比</a:t>
            </a:r>
            <a:endParaRPr lang="zh-CN" sz="1320" b="1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2" name="文字｜主题成果数 / 有效成果数"/>
          <p:cNvSpPr txBox="1"/>
          <p:nvPr/>
        </p:nvSpPr>
        <p:spPr>
          <a:xfrm>
            <a:off x="8938259" y="3544671"/>
            <a:ext cx="2070068" cy="18653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80" b="0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主题成果数 / 有效成果数</a:t>
            </a:r>
            <a:endParaRPr lang="zh-CN" sz="1080" b="0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3" name="Oval 72"/>
          <p:cNvSpPr/>
          <p:nvPr/>
        </p:nvSpPr>
        <p:spPr>
          <a:xfrm>
            <a:off x="8488679" y="3939539"/>
            <a:ext cx="350519" cy="350519"/>
          </a:xfrm>
          <a:prstGeom prst="ellipse">
            <a:avLst/>
          </a:prstGeom>
          <a:solidFill>
            <a:srgbClr val="E5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74" name="可移动独立图标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6429" y="3917289"/>
            <a:ext cx="395020" cy="395020"/>
          </a:xfrm>
          <a:prstGeom prst="rect">
            <a:avLst/>
          </a:prstGeom>
        </p:spPr>
      </p:pic>
      <p:sp>
        <p:nvSpPr>
          <p:cNvPr id="75" name="文字｜覆盖率说明"/>
          <p:cNvSpPr txBox="1"/>
          <p:nvPr/>
        </p:nvSpPr>
        <p:spPr>
          <a:xfrm>
            <a:off x="8938259" y="3933596"/>
            <a:ext cx="1226819" cy="2279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2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覆盖率说明</a:t>
            </a:r>
            <a:endParaRPr lang="zh-CN" sz="1320" b="1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6" name="文字｜展示分母及文本覆盖率"/>
          <p:cNvSpPr txBox="1"/>
          <p:nvPr/>
        </p:nvSpPr>
        <p:spPr>
          <a:xfrm>
            <a:off x="8938259" y="4177131"/>
            <a:ext cx="1920239" cy="18653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80" b="0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展示分母及文本覆盖率</a:t>
            </a:r>
            <a:endParaRPr lang="zh-CN" sz="1080" b="0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7" name="Oval 76"/>
          <p:cNvSpPr/>
          <p:nvPr/>
        </p:nvSpPr>
        <p:spPr>
          <a:xfrm>
            <a:off x="8488679" y="4571999"/>
            <a:ext cx="350519" cy="350519"/>
          </a:xfrm>
          <a:prstGeom prst="ellipse">
            <a:avLst/>
          </a:prstGeom>
          <a:solidFill>
            <a:srgbClr val="E5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78" name="可移动独立图标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6429" y="4549749"/>
            <a:ext cx="395020" cy="395020"/>
          </a:xfrm>
          <a:prstGeom prst="rect">
            <a:avLst/>
          </a:prstGeom>
        </p:spPr>
      </p:pic>
      <p:sp>
        <p:nvSpPr>
          <p:cNvPr id="79" name="文字｜结果解释"/>
          <p:cNvSpPr txBox="1"/>
          <p:nvPr/>
        </p:nvSpPr>
        <p:spPr>
          <a:xfrm>
            <a:off x="8938259" y="4566056"/>
            <a:ext cx="1008887" cy="2279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2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结果解释</a:t>
            </a:r>
            <a:endParaRPr lang="zh-CN" sz="1320" b="1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0" name="文字｜区分成果增长与收录增长"/>
          <p:cNvSpPr txBox="1"/>
          <p:nvPr/>
        </p:nvSpPr>
        <p:spPr>
          <a:xfrm>
            <a:off x="8938259" y="4809591"/>
            <a:ext cx="2098547" cy="18653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80" b="0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区分成果增长与收录增长</a:t>
            </a:r>
            <a:endParaRPr lang="zh-CN" sz="1080" b="0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1" name="Rounded Rectangle 80"/>
          <p:cNvSpPr/>
          <p:nvPr/>
        </p:nvSpPr>
        <p:spPr>
          <a:xfrm>
            <a:off x="617219" y="5722619"/>
            <a:ext cx="10949939" cy="495299"/>
          </a:xfrm>
          <a:prstGeom prst="roundRect">
            <a:avLst>
              <a:gd name="adj" fmla="val 23076"/>
            </a:avLst>
          </a:prstGeom>
          <a:solidFill>
            <a:srgbClr val="EAF5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2" name="文字｜统计原则"/>
          <p:cNvSpPr txBox="1"/>
          <p:nvPr/>
        </p:nvSpPr>
        <p:spPr>
          <a:xfrm>
            <a:off x="855977" y="5848958"/>
            <a:ext cx="923330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统计原则</a:t>
            </a:r>
            <a:endParaRPr lang="zh-CN" b="1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3" name="文字｜同一篇成果命中同一主题只计一次；统计区间与语料范围必须明确。"/>
          <p:cNvSpPr txBox="1"/>
          <p:nvPr/>
        </p:nvSpPr>
        <p:spPr>
          <a:xfrm>
            <a:off x="2200750" y="5865562"/>
            <a:ext cx="6155531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0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同一篇成果命中同一主题只计一次；统计区间与语料范围必须明确。</a:t>
            </a:r>
            <a:endParaRPr lang="zh-CN" sz="1600" b="0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5" name="Rounded Rectangle 19"/>
          <p:cNvSpPr/>
          <p:nvPr/>
        </p:nvSpPr>
        <p:spPr>
          <a:xfrm>
            <a:off x="617219" y="2065019"/>
            <a:ext cx="7452359" cy="3398519"/>
          </a:xfrm>
          <a:prstGeom prst="roundRect">
            <a:avLst>
              <a:gd name="adj" fmla="val 4260"/>
            </a:avLst>
          </a:prstGeom>
          <a:solidFill>
            <a:srgbClr val="FFFFFF"/>
          </a:solidFill>
          <a:ln w="7619">
            <a:solidFill>
              <a:srgbClr val="D8E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6" name="文字｜不同研究主题的成果数量趋势"/>
          <p:cNvSpPr txBox="1"/>
          <p:nvPr/>
        </p:nvSpPr>
        <p:spPr>
          <a:xfrm>
            <a:off x="922019" y="2219401"/>
            <a:ext cx="4663440" cy="26944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6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arXiv 相关领域年度投稿量（篇）</a:t>
            </a:r>
            <a:endParaRPr lang="zh-CN" sz="1560" b="1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89" name="可编辑折线图｜arXiv真实年度投稿量（2021—2025）"/>
          <p:cNvGraphicFramePr>
            <a:graphicFrameLocks noGrp="1"/>
          </p:cNvGraphicFramePr>
          <p:nvPr/>
        </p:nvGraphicFramePr>
        <p:xfrm>
          <a:off x="987552" y="2874264"/>
          <a:ext cx="6739128" cy="23134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90" name="Oval 85"/>
          <p:cNvSpPr/>
          <p:nvPr/>
        </p:nvSpPr>
        <p:spPr>
          <a:xfrm>
            <a:off x="1161288" y="2663952"/>
            <a:ext cx="100584" cy="100584"/>
          </a:xfrm>
          <a:prstGeom prst="ellipse">
            <a:avLst/>
          </a:prstGeom>
          <a:solidFill>
            <a:srgbClr val="3179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1" name="TextBox 86"/>
          <p:cNvSpPr txBox="1"/>
          <p:nvPr/>
        </p:nvSpPr>
        <p:spPr>
          <a:xfrm>
            <a:off x="1316736" y="2604516"/>
            <a:ext cx="1874519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10">
                <a:solidFill>
                  <a:srgbClr val="5C7086"/>
                </a:solidFill>
                <a:latin typeface="Noto Sans CJK SC"/>
              </a:defRPr>
            </a:pPr>
            <a:r>
              <a:rPr lang="zh-CN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人工智能 cs.AI</a:t>
            </a:r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2" name="Oval 87"/>
          <p:cNvSpPr/>
          <p:nvPr/>
        </p:nvSpPr>
        <p:spPr>
          <a:xfrm>
            <a:off x="3264408" y="2663952"/>
            <a:ext cx="100584" cy="100584"/>
          </a:xfrm>
          <a:prstGeom prst="ellipse">
            <a:avLst/>
          </a:prstGeom>
          <a:solidFill>
            <a:srgbClr val="ED9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3" name="TextBox 88"/>
          <p:cNvSpPr txBox="1"/>
          <p:nvPr/>
        </p:nvSpPr>
        <p:spPr>
          <a:xfrm>
            <a:off x="3419856" y="2604516"/>
            <a:ext cx="1874519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10">
                <a:solidFill>
                  <a:srgbClr val="5C7086"/>
                </a:solidFill>
                <a:latin typeface="Noto Sans CJK SC"/>
              </a:defRPr>
            </a:pPr>
            <a:r>
              <a:rPr lang="zh-CN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机器学习 cs.LG</a:t>
            </a:r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4" name="Oval 89"/>
          <p:cNvSpPr/>
          <p:nvPr/>
        </p:nvSpPr>
        <p:spPr>
          <a:xfrm>
            <a:off x="5367528" y="2663952"/>
            <a:ext cx="100584" cy="100584"/>
          </a:xfrm>
          <a:prstGeom prst="ellipse">
            <a:avLst/>
          </a:prstGeom>
          <a:solidFill>
            <a:srgbClr val="139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5" name="TextBox 90"/>
          <p:cNvSpPr txBox="1"/>
          <p:nvPr/>
        </p:nvSpPr>
        <p:spPr>
          <a:xfrm>
            <a:off x="5522976" y="2604516"/>
            <a:ext cx="1874519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10">
                <a:solidFill>
                  <a:srgbClr val="5C7086"/>
                </a:solidFill>
                <a:latin typeface="Noto Sans CJK SC"/>
              </a:defRPr>
            </a:pPr>
            <a:r>
              <a:rPr lang="zh-CN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自然语言 cs.CL</a:t>
            </a:r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7999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80000">
                <a:srgbClr val="F7FAFE"/>
              </a:gs>
              <a:gs pos="100000">
                <a:srgbClr val="ECF5FE"/>
              </a:gs>
            </a:gsLst>
            <a:lin ang="315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Freeform 2"/>
          <p:cNvSpPr/>
          <p:nvPr/>
        </p:nvSpPr>
        <p:spPr>
          <a:xfrm>
            <a:off x="8549640" y="0"/>
            <a:ext cx="3642360" cy="4000500"/>
          </a:xfrm>
          <a:custGeom>
            <a:avLst/>
            <a:gdLst/>
            <a:ahLst/>
            <a:cxnLst/>
            <a:rect l="l" t="t" r="r" b="b"/>
            <a:pathLst>
              <a:path w="478" h="525">
                <a:moveTo>
                  <a:pt x="478" y="0"/>
                </a:moveTo>
                <a:lnTo>
                  <a:pt x="58" y="0"/>
                </a:lnTo>
                <a:lnTo>
                  <a:pt x="41" y="24"/>
                </a:lnTo>
                <a:lnTo>
                  <a:pt x="27" y="49"/>
                </a:lnTo>
                <a:lnTo>
                  <a:pt x="16" y="73"/>
                </a:lnTo>
                <a:lnTo>
                  <a:pt x="8" y="97"/>
                </a:lnTo>
                <a:lnTo>
                  <a:pt x="3" y="121"/>
                </a:lnTo>
                <a:lnTo>
                  <a:pt x="0" y="144"/>
                </a:lnTo>
                <a:lnTo>
                  <a:pt x="0" y="167"/>
                </a:lnTo>
                <a:lnTo>
                  <a:pt x="3" y="190"/>
                </a:lnTo>
                <a:lnTo>
                  <a:pt x="8" y="212"/>
                </a:lnTo>
                <a:lnTo>
                  <a:pt x="15" y="234"/>
                </a:lnTo>
                <a:lnTo>
                  <a:pt x="24" y="255"/>
                </a:lnTo>
                <a:lnTo>
                  <a:pt x="36" y="276"/>
                </a:lnTo>
                <a:lnTo>
                  <a:pt x="49" y="295"/>
                </a:lnTo>
                <a:lnTo>
                  <a:pt x="63" y="314"/>
                </a:lnTo>
                <a:lnTo>
                  <a:pt x="80" y="333"/>
                </a:lnTo>
                <a:lnTo>
                  <a:pt x="98" y="350"/>
                </a:lnTo>
                <a:lnTo>
                  <a:pt x="128" y="371"/>
                </a:lnTo>
                <a:lnTo>
                  <a:pt x="157" y="388"/>
                </a:lnTo>
                <a:lnTo>
                  <a:pt x="185" y="402"/>
                </a:lnTo>
                <a:lnTo>
                  <a:pt x="212" y="413"/>
                </a:lnTo>
                <a:lnTo>
                  <a:pt x="239" y="422"/>
                </a:lnTo>
                <a:lnTo>
                  <a:pt x="265" y="429"/>
                </a:lnTo>
                <a:lnTo>
                  <a:pt x="290" y="434"/>
                </a:lnTo>
                <a:lnTo>
                  <a:pt x="314" y="439"/>
                </a:lnTo>
                <a:lnTo>
                  <a:pt x="338" y="444"/>
                </a:lnTo>
                <a:lnTo>
                  <a:pt x="360" y="450"/>
                </a:lnTo>
                <a:lnTo>
                  <a:pt x="382" y="456"/>
                </a:lnTo>
                <a:lnTo>
                  <a:pt x="403" y="465"/>
                </a:lnTo>
                <a:lnTo>
                  <a:pt x="423" y="475"/>
                </a:lnTo>
                <a:lnTo>
                  <a:pt x="442" y="488"/>
                </a:lnTo>
                <a:lnTo>
                  <a:pt x="461" y="505"/>
                </a:lnTo>
                <a:lnTo>
                  <a:pt x="478" y="525"/>
                </a:lnTo>
                <a:lnTo>
                  <a:pt x="478" y="0"/>
                </a:lnTo>
                <a:close/>
              </a:path>
            </a:pathLst>
          </a:custGeom>
          <a:solidFill>
            <a:srgbClr val="EAF5FE">
              <a:alpha val="6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Oval 5"/>
          <p:cNvSpPr/>
          <p:nvPr/>
        </p:nvSpPr>
        <p:spPr>
          <a:xfrm>
            <a:off x="10020299" y="365759"/>
            <a:ext cx="121919" cy="121919"/>
          </a:xfrm>
          <a:prstGeom prst="ellipse">
            <a:avLst/>
          </a:prstGeom>
          <a:solidFill>
            <a:srgbClr val="48A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Oval 6"/>
          <p:cNvSpPr/>
          <p:nvPr/>
        </p:nvSpPr>
        <p:spPr>
          <a:xfrm>
            <a:off x="11452859" y="2689859"/>
            <a:ext cx="106679" cy="106679"/>
          </a:xfrm>
          <a:prstGeom prst="ellipse">
            <a:avLst/>
          </a:prstGeom>
          <a:solidFill>
            <a:srgbClr val="48A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Oval 7"/>
          <p:cNvSpPr/>
          <p:nvPr/>
        </p:nvSpPr>
        <p:spPr>
          <a:xfrm>
            <a:off x="12085319" y="868679"/>
            <a:ext cx="91439" cy="91439"/>
          </a:xfrm>
          <a:prstGeom prst="ellipse">
            <a:avLst/>
          </a:prstGeom>
          <a:solidFill>
            <a:srgbClr val="48A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Oval 8"/>
          <p:cNvSpPr/>
          <p:nvPr/>
        </p:nvSpPr>
        <p:spPr>
          <a:xfrm>
            <a:off x="10553699" y="2065019"/>
            <a:ext cx="76199" cy="76199"/>
          </a:xfrm>
          <a:prstGeom prst="ellipse">
            <a:avLst/>
          </a:prstGeom>
          <a:solidFill>
            <a:srgbClr val="48A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24839" y="441959"/>
            <a:ext cx="411479" cy="53339"/>
          </a:xfrm>
          <a:prstGeom prst="roundRect">
            <a:avLst>
              <a:gd name="adj" fmla="val 50000"/>
            </a:avLst>
          </a:prstGeom>
          <a:solidFill>
            <a:srgbClr val="0E3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1066799" y="441959"/>
            <a:ext cx="380999" cy="53339"/>
          </a:xfrm>
          <a:prstGeom prst="roundRect">
            <a:avLst>
              <a:gd name="adj" fmla="val 50000"/>
            </a:avLst>
          </a:prstGeom>
          <a:solidFill>
            <a:srgbClr val="E69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2" name="Connector 11"/>
          <p:cNvCxnSpPr/>
          <p:nvPr/>
        </p:nvCxnSpPr>
        <p:spPr>
          <a:xfrm>
            <a:off x="617219" y="6370319"/>
            <a:ext cx="10949940" cy="0"/>
          </a:xfrm>
          <a:prstGeom prst="line">
            <a:avLst/>
          </a:prstGeom>
          <a:ln w="11429">
            <a:solidFill>
              <a:srgbClr val="D2E2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字｜学术成果分享平台   /   系统分析与设计"/>
          <p:cNvSpPr txBox="1"/>
          <p:nvPr/>
        </p:nvSpPr>
        <p:spPr>
          <a:xfrm>
            <a:off x="640079" y="6463131"/>
            <a:ext cx="3121342" cy="18653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学术成果分享平台   /   系统分析与设计</a:t>
            </a:r>
            <a:endParaRPr sz="1080" b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文字｜16"/>
          <p:cNvSpPr txBox="1"/>
          <p:nvPr/>
        </p:nvSpPr>
        <p:spPr>
          <a:xfrm>
            <a:off x="11225450" y="6448043"/>
            <a:ext cx="356949" cy="20726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16</a:t>
            </a:r>
            <a:endParaRPr sz="12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11315699" y="6675119"/>
            <a:ext cx="274319" cy="30479"/>
          </a:xfrm>
          <a:prstGeom prst="roundRect">
            <a:avLst>
              <a:gd name="adj" fmla="val 50000"/>
            </a:avLst>
          </a:prstGeom>
          <a:solidFill>
            <a:srgbClr val="327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4876799" y="1295399"/>
            <a:ext cx="2545079" cy="2545079"/>
          </a:xfrm>
          <a:prstGeom prst="ellipse">
            <a:avLst/>
          </a:prstGeom>
          <a:solidFill>
            <a:srgbClr val="EAF4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5219699" y="1638299"/>
            <a:ext cx="1859279" cy="1859279"/>
          </a:xfrm>
          <a:prstGeom prst="ellipse">
            <a:avLst/>
          </a:prstGeom>
          <a:solidFill>
            <a:srgbClr val="D9E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8" name="可移动独立图标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98947" y="1717547"/>
            <a:ext cx="1700783" cy="1700783"/>
          </a:xfrm>
          <a:prstGeom prst="rect">
            <a:avLst/>
          </a:prstGeom>
        </p:spPr>
      </p:pic>
      <p:sp>
        <p:nvSpPr>
          <p:cNvPr id="19" name="文字｜感谢聆听"/>
          <p:cNvSpPr txBox="1"/>
          <p:nvPr/>
        </p:nvSpPr>
        <p:spPr>
          <a:xfrm>
            <a:off x="4442459" y="3686555"/>
            <a:ext cx="3307079" cy="82905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感谢聆听</a:t>
            </a:r>
            <a:endParaRPr sz="48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文字｜学术成果分享平台 · 项目方案汇报"/>
          <p:cNvSpPr txBox="1"/>
          <p:nvPr/>
        </p:nvSpPr>
        <p:spPr>
          <a:xfrm>
            <a:off x="3797254" y="4528565"/>
            <a:ext cx="4597491" cy="31089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学术成果分享平台 · 项目方案汇报</a:t>
            </a:r>
            <a:endParaRPr sz="1800" b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4968239" y="4914899"/>
            <a:ext cx="2255519" cy="38099"/>
          </a:xfrm>
          <a:prstGeom prst="roundRect">
            <a:avLst>
              <a:gd name="adj" fmla="val 50000"/>
            </a:avLst>
          </a:prstGeom>
          <a:solidFill>
            <a:srgbClr val="9FC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2705099" y="5295899"/>
            <a:ext cx="2072639" cy="701039"/>
          </a:xfrm>
          <a:prstGeom prst="roundRect">
            <a:avLst>
              <a:gd name="adj" fmla="val 20652"/>
            </a:avLst>
          </a:prstGeom>
          <a:solidFill>
            <a:srgbClr val="FFFFFF"/>
          </a:solidFill>
          <a:ln w="7619">
            <a:solidFill>
              <a:srgbClr val="D8E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2941319" y="5440679"/>
            <a:ext cx="411479" cy="411479"/>
          </a:xfrm>
          <a:prstGeom prst="ellipse">
            <a:avLst/>
          </a:prstGeom>
          <a:solidFill>
            <a:srgbClr val="E5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4" name="可移动独立图标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9549" y="5448909"/>
            <a:ext cx="395020" cy="395020"/>
          </a:xfrm>
          <a:prstGeom prst="rect">
            <a:avLst/>
          </a:prstGeom>
        </p:spPr>
      </p:pic>
      <p:sp>
        <p:nvSpPr>
          <p:cNvPr id="25" name="文字｜统一检索"/>
          <p:cNvSpPr txBox="1"/>
          <p:nvPr/>
        </p:nvSpPr>
        <p:spPr>
          <a:xfrm>
            <a:off x="3482339" y="5511164"/>
            <a:ext cx="1127759" cy="25907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统一检索</a:t>
            </a:r>
            <a:endParaRPr sz="15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5067299" y="5295899"/>
            <a:ext cx="2072639" cy="701039"/>
          </a:xfrm>
          <a:prstGeom prst="roundRect">
            <a:avLst>
              <a:gd name="adj" fmla="val 20652"/>
            </a:avLst>
          </a:prstGeom>
          <a:solidFill>
            <a:srgbClr val="FFFFFF"/>
          </a:solidFill>
          <a:ln w="7619">
            <a:solidFill>
              <a:srgbClr val="D8E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Oval 26"/>
          <p:cNvSpPr/>
          <p:nvPr/>
        </p:nvSpPr>
        <p:spPr>
          <a:xfrm>
            <a:off x="5303519" y="5440679"/>
            <a:ext cx="411479" cy="411479"/>
          </a:xfrm>
          <a:prstGeom prst="ellipse">
            <a:avLst/>
          </a:prstGeom>
          <a:solidFill>
            <a:srgbClr val="E5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8" name="可移动独立图标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1749" y="5448909"/>
            <a:ext cx="395020" cy="395020"/>
          </a:xfrm>
          <a:prstGeom prst="rect">
            <a:avLst/>
          </a:prstGeom>
        </p:spPr>
      </p:pic>
      <p:sp>
        <p:nvSpPr>
          <p:cNvPr id="29" name="文字｜可信认领"/>
          <p:cNvSpPr txBox="1"/>
          <p:nvPr/>
        </p:nvSpPr>
        <p:spPr>
          <a:xfrm>
            <a:off x="5844539" y="5511164"/>
            <a:ext cx="1127759" cy="25907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可信认领</a:t>
            </a:r>
            <a:endParaRPr sz="15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7429499" y="5295899"/>
            <a:ext cx="2072639" cy="701039"/>
          </a:xfrm>
          <a:prstGeom prst="roundRect">
            <a:avLst>
              <a:gd name="adj" fmla="val 20652"/>
            </a:avLst>
          </a:prstGeom>
          <a:solidFill>
            <a:srgbClr val="FFFFFF"/>
          </a:solidFill>
          <a:ln w="7619">
            <a:solidFill>
              <a:srgbClr val="D8E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Oval 30"/>
          <p:cNvSpPr/>
          <p:nvPr/>
        </p:nvSpPr>
        <p:spPr>
          <a:xfrm>
            <a:off x="7665719" y="5440679"/>
            <a:ext cx="411479" cy="411479"/>
          </a:xfrm>
          <a:prstGeom prst="ellipse">
            <a:avLst/>
          </a:prstGeom>
          <a:solidFill>
            <a:srgbClr val="FFF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2" name="可移动独立图标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3949" y="5448909"/>
            <a:ext cx="395020" cy="395020"/>
          </a:xfrm>
          <a:prstGeom prst="rect">
            <a:avLst/>
          </a:prstGeom>
        </p:spPr>
      </p:pic>
      <p:sp>
        <p:nvSpPr>
          <p:cNvPr id="33" name="文字｜持续治理"/>
          <p:cNvSpPr txBox="1"/>
          <p:nvPr/>
        </p:nvSpPr>
        <p:spPr>
          <a:xfrm>
            <a:off x="8206739" y="5511164"/>
            <a:ext cx="1127759" cy="25907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持续治理</a:t>
            </a:r>
            <a:endParaRPr sz="15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文字｜让学术成果更易发现、准确归属、有效分析"/>
          <p:cNvSpPr txBox="1"/>
          <p:nvPr/>
        </p:nvSpPr>
        <p:spPr>
          <a:xfrm>
            <a:off x="3957065" y="6074816"/>
            <a:ext cx="4277867" cy="2279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让学术成果更易发现、准确归属、有效分析</a:t>
            </a:r>
            <a:endParaRPr sz="1320" b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67.59992125984246,&quot;left&quot;:49.19992125984252,&quot;top&quot;:162.59992125984252,&quot;width&quot;:866.3999212598426}"/>
</p:tagLst>
</file>

<file path=ppt/tags/tag2.xml><?xml version="1.0" encoding="utf-8"?>
<p:tagLst xmlns:p="http://schemas.openxmlformats.org/presentationml/2006/main">
  <p:tag name="KSO_WM_DIAGRAM_VIRTUALLY_FRAME" val="{&quot;height&quot;:267.59992125984246,&quot;left&quot;:49.19992125984252,&quot;top&quot;:162.59992125984252,&quot;width&quot;:866.3999212598426}"/>
</p:tagLst>
</file>

<file path=ppt/tags/tag3.xml><?xml version="1.0" encoding="utf-8"?>
<p:tagLst xmlns:p="http://schemas.openxmlformats.org/presentationml/2006/main">
  <p:tag name="KSO_WM_DIAGRAM_VIRTUALLY_FRAME" val="{&quot;height&quot;:267.59992125984246,&quot;left&quot;:49.19992125984252,&quot;top&quot;:162.59992125984252,&quot;width&quot;:866.3999212598426}"/>
</p:tagLst>
</file>

<file path=ppt/tags/tag4.xml><?xml version="1.0" encoding="utf-8"?>
<p:tagLst xmlns:p="http://schemas.openxmlformats.org/presentationml/2006/main">
  <p:tag name="KSO_WM_DIAGRAM_VIRTUALLY_FRAME" val="{&quot;height&quot;:267.59992125984246,&quot;left&quot;:49.19992125984252,&quot;top&quot;:162.59992125984252,&quot;width&quot;:866.3999212598426}"/>
</p:tagLst>
</file>

<file path=ppt/tags/tag5.xml><?xml version="1.0" encoding="utf-8"?>
<p:tagLst xmlns:p="http://schemas.openxmlformats.org/presentationml/2006/main">
  <p:tag name="KSO_WM_DIAGRAM_VIRTUALLY_FRAME" val="{&quot;height&quot;:267.59992125984246,&quot;left&quot;:49.19992125984252,&quot;top&quot;:162.59992125984252,&quot;width&quot;:866.3999212598426}"/>
</p:tagLst>
</file>

<file path=ppt/tags/tag6.xml><?xml version="1.0" encoding="utf-8"?>
<p:tagLst xmlns:p="http://schemas.openxmlformats.org/presentationml/2006/main">
  <p:tag name="KSO_WM_DIAGRAM_VIRTUALLY_FRAME" val="{&quot;height&quot;:267.59992125984246,&quot;left&quot;:49.19992125984252,&quot;top&quot;:162.59992125984252,&quot;width&quot;:866.3999212598426}"/>
</p:tagLst>
</file>

<file path=ppt/tags/tag7.xml><?xml version="1.0" encoding="utf-8"?>
<p:tagLst xmlns:p="http://schemas.openxmlformats.org/presentationml/2006/main">
  <p:tag name="KSO_WM_DIAGRAM_VIRTUALLY_FRAME" val="{&quot;height&quot;:267.59992125984246,&quot;left&quot;:49.19992125984252,&quot;top&quot;:162.59992125984252,&quot;width&quot;:866.3999212598426}"/>
</p:tagLst>
</file>

<file path=ppt/tags/tag8.xml><?xml version="1.0" encoding="utf-8"?>
<p:tagLst xmlns:p="http://schemas.openxmlformats.org/presentationml/2006/main">
  <p:tag name="KSO_WM_DIAGRAM_VIRTUALLY_FRAME" val="{&quot;height&quot;:267.59992125984246,&quot;left&quot;:49.19992125984252,&quot;top&quot;:162.59992125984252,&quot;width&quot;:866.3999212598426}"/>
</p:tagLst>
</file>

<file path=ppt/tags/tag9.xml><?xml version="1.0" encoding="utf-8"?>
<p:tagLst xmlns:p="http://schemas.openxmlformats.org/presentationml/2006/main">
  <p:tag name="KSO_WM_DIAGRAM_VIRTUALLY_FRAME" val="{&quot;height&quot;:267.59992125984246,&quot;left&quot;:49.19992125984252,&quot;top&quot;:162.59992125984252,&quot;width&quot;:866.3999212598426}"/>
</p:tagLst>
</file>

<file path=ppt/tags/tag10.xml><?xml version="1.0" encoding="utf-8"?>
<p:tagLst xmlns:p="http://schemas.openxmlformats.org/presentationml/2006/main">
  <p:tag name="KSO_WM_DIAGRAM_VIRTUALLY_FRAME" val="{&quot;height&quot;:267.59992125984246,&quot;left&quot;:49.19992125984252,&quot;top&quot;:162.59992125984252,&quot;width&quot;:866.3999212598426}"/>
</p:tagLst>
</file>

<file path=ppt/tags/tag11.xml><?xml version="1.0" encoding="utf-8"?>
<p:tagLst xmlns:p="http://schemas.openxmlformats.org/presentationml/2006/main">
  <p:tag name="KSO_WM_DIAGRAM_VIRTUALLY_FRAME" val="{&quot;height&quot;:267.59992125984246,&quot;left&quot;:49.19992125984252,&quot;top&quot;:162.59992125984252,&quot;width&quot;:866.3999212598426}"/>
</p:tagLst>
</file>

<file path=ppt/tags/tag12.xml><?xml version="1.0" encoding="utf-8"?>
<p:tagLst xmlns:p="http://schemas.openxmlformats.org/presentationml/2006/main">
  <p:tag name="KSO_WM_DIAGRAM_VIRTUALLY_FRAME" val="{&quot;height&quot;:267.59992125984246,&quot;left&quot;:49.19992125984252,&quot;top&quot;:162.59992125984252,&quot;width&quot;:866.3999212598426}"/>
</p:tagLst>
</file>

<file path=ppt/tags/tag13.xml><?xml version="1.0" encoding="utf-8"?>
<p:tagLst xmlns:p="http://schemas.openxmlformats.org/presentationml/2006/main">
  <p:tag name="KSO_WM_DIAGRAM_VIRTUALLY_FRAME" val="{&quot;height&quot;:267.59992125984246,&quot;left&quot;:49.19992125984252,&quot;top&quot;:162.59992125984252,&quot;width&quot;:866.3999212598426}"/>
</p:tagLst>
</file>

<file path=ppt/tags/tag14.xml><?xml version="1.0" encoding="utf-8"?>
<p:tagLst xmlns:p="http://schemas.openxmlformats.org/presentationml/2006/main">
  <p:tag name="KSO_WM_DIAGRAM_VIRTUALLY_FRAME" val="{&quot;height&quot;:267.59992125984246,&quot;left&quot;:49.19992125984252,&quot;top&quot;:162.59992125984252,&quot;width&quot;:866.3999212598426}"/>
</p:tagLst>
</file>

<file path=ppt/tags/tag15.xml><?xml version="1.0" encoding="utf-8"?>
<p:tagLst xmlns:p="http://schemas.openxmlformats.org/presentationml/2006/main">
  <p:tag name="KSO_WM_DIAGRAM_VIRTUALLY_FRAME" val="{&quot;height&quot;:267.59992125984246,&quot;left&quot;:49.19992125984252,&quot;top&quot;:162.59992125984252,&quot;width&quot;:866.3999212598426}"/>
</p:tagLst>
</file>

<file path=ppt/tags/tag16.xml><?xml version="1.0" encoding="utf-8"?>
<p:tagLst xmlns:p="http://schemas.openxmlformats.org/presentationml/2006/main">
  <p:tag name="KSO_WM_DIAGRAM_VIRTUALLY_FRAME" val="{&quot;height&quot;:267.59992125984246,&quot;left&quot;:49.19992125984252,&quot;top&quot;:162.59992125984252,&quot;width&quot;:866.3999212598426}"/>
</p:tagLst>
</file>

<file path=ppt/tags/tag17.xml><?xml version="1.0" encoding="utf-8"?>
<p:tagLst xmlns:p="http://schemas.openxmlformats.org/presentationml/2006/main">
  <p:tag name="KSO_WM_DIAGRAM_VIRTUALLY_FRAME" val="{&quot;height&quot;:267.59992125984246,&quot;left&quot;:49.19992125984252,&quot;top&quot;:162.59992125984252,&quot;width&quot;:866.3999212598426}"/>
</p:tagLst>
</file>

<file path=ppt/tags/tag18.xml><?xml version="1.0" encoding="utf-8"?>
<p:tagLst xmlns:p="http://schemas.openxmlformats.org/presentationml/2006/main">
  <p:tag name="KSO_WM_DIAGRAM_VIRTUALLY_FRAME" val="{&quot;height&quot;:267.59992125984246,&quot;left&quot;:49.19992125984252,&quot;top&quot;:162.59992125984252,&quot;width&quot;:866.3999212598426}"/>
</p:tagLst>
</file>

<file path=ppt/tags/tag19.xml><?xml version="1.0" encoding="utf-8"?>
<p:tagLst xmlns:p="http://schemas.openxmlformats.org/presentationml/2006/main">
  <p:tag name="KSO_WM_DIAGRAM_VIRTUALLY_FRAME" val="{&quot;height&quot;:267.59992125984246,&quot;left&quot;:49.19992125984252,&quot;top&quot;:162.59992125984252,&quot;width&quot;:866.3999212598426}"/>
</p:tagLst>
</file>

<file path=ppt/tags/tag20.xml><?xml version="1.0" encoding="utf-8"?>
<p:tagLst xmlns:p="http://schemas.openxmlformats.org/presentationml/2006/main">
  <p:tag name="KSO_WM_DIAGRAM_VIRTUALLY_FRAME" val="{&quot;height&quot;:267.59992125984246,&quot;left&quot;:49.19992125984252,&quot;top&quot;:162.59992125984252,&quot;width&quot;:866.3999212598426}"/>
</p:tagLst>
</file>

<file path=ppt/tags/tag21.xml><?xml version="1.0" encoding="utf-8"?>
<p:tagLst xmlns:p="http://schemas.openxmlformats.org/presentationml/2006/main">
  <p:tag name="KSO_WM_DIAGRAM_VIRTUALLY_FRAME" val="{&quot;height&quot;:267.59992125984246,&quot;left&quot;:49.19992125984252,&quot;top&quot;:162.59992125984252,&quot;width&quot;:866.3999212598426}"/>
</p:tagLst>
</file>

<file path=ppt/tags/tag22.xml><?xml version="1.0" encoding="utf-8"?>
<p:tagLst xmlns:p="http://schemas.openxmlformats.org/presentationml/2006/main">
  <p:tag name="KSO_WM_DIAGRAM_VIRTUALLY_FRAME" val="{&quot;height&quot;:267.59992125984246,&quot;left&quot;:49.19992125984252,&quot;top&quot;:162.59992125984252,&quot;width&quot;:866.3999212598426}"/>
</p:tagLst>
</file>

<file path=ppt/tags/tag23.xml><?xml version="1.0" encoding="utf-8"?>
<p:tagLst xmlns:p="http://schemas.openxmlformats.org/presentationml/2006/main">
  <p:tag name="KSO_WM_DIAGRAM_VIRTUALLY_FRAME" val="{&quot;height&quot;:267.59992125984246,&quot;left&quot;:49.19992125984252,&quot;top&quot;:162.59992125984252,&quot;width&quot;:866.3999212598426}"/>
</p:tagLst>
</file>

<file path=ppt/tags/tag24.xml><?xml version="1.0" encoding="utf-8"?>
<p:tagLst xmlns:p="http://schemas.openxmlformats.org/presentationml/2006/main">
  <p:tag name="KSO_WM_DIAGRAM_VIRTUALLY_FRAME" val="{&quot;height&quot;:267.59992125984246,&quot;left&quot;:49.19992125984252,&quot;top&quot;:162.59992125984252,&quot;width&quot;:866.3999212598426}"/>
</p:tagLst>
</file>

<file path=ppt/tags/tag25.xml><?xml version="1.0" encoding="utf-8"?>
<p:tagLst xmlns:p="http://schemas.openxmlformats.org/presentationml/2006/main">
  <p:tag name="KSO_WM_DIAGRAM_VIRTUALLY_FRAME" val="{&quot;height&quot;:267.59992125984246,&quot;left&quot;:49.19992125984252,&quot;top&quot;:162.59992125984252,&quot;width&quot;:866.3999212598426}"/>
</p:tagLst>
</file>

<file path=ppt/tags/tag26.xml><?xml version="1.0" encoding="utf-8"?>
<p:tagLst xmlns:p="http://schemas.openxmlformats.org/presentationml/2006/main">
  <p:tag name="KSO_WM_DIAGRAM_VIRTUALLY_FRAME" val="{&quot;height&quot;:267.59992125984246,&quot;left&quot;:49.19992125984252,&quot;top&quot;:162.59992125984252,&quot;width&quot;:866.3999212598426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2203</Words>
  <Application>WPS 演示</Application>
  <PresentationFormat>宽屏</PresentationFormat>
  <Paragraphs>472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6" baseType="lpstr">
      <vt:lpstr>Arial</vt:lpstr>
      <vt:lpstr>宋体</vt:lpstr>
      <vt:lpstr>Wingdings</vt:lpstr>
      <vt:lpstr>Arial</vt:lpstr>
      <vt:lpstr>微软雅黑</vt:lpstr>
      <vt:lpstr>Noto Sans CJK SC</vt:lpstr>
      <vt:lpstr>Segoe Print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学术成果分享平台｜高自由度可编辑16页PPT</dc:title>
  <dc:creator>OpenAI</dc:creator>
  <dc:description>generated using python-pptx</dc:description>
  <dc:subject>由SVG拆解的原生文字、形状、连线、独立图标</dc:subject>
  <cp:lastModifiedBy>昌昂旺</cp:lastModifiedBy>
  <cp:revision>62</cp:revision>
  <dcterms:created xsi:type="dcterms:W3CDTF">2013-01-27T09:14:00Z</dcterms:created>
  <dcterms:modified xsi:type="dcterms:W3CDTF">2026-10-11T09:41:38Z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6946183A54274C90873BB9F7CAD959FC_12</vt:lpwstr>
  </property>
  <property fmtid="{D5CDD505-2E9C-101B-9397-08002B2CF9AE}" pid="3" name="KSOProductBuildVer">
    <vt:lpwstr>2052-12.1.0.28505</vt:lpwstr>
  </property>
</Properties>
</file>